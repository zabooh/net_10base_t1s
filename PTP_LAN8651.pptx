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5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 autoAdjust="0"/>
    <p:restoredTop sz="94830"/>
  </p:normalViewPr>
  <p:slideViewPr>
    <p:cSldViewPr snapToGrid="0" snapToObjects="1">
      <p:cViewPr varScale="1">
        <p:scale>
          <a:sx n="81" d="100"/>
          <a:sy n="81" d="100"/>
        </p:scale>
        <p:origin x="1018" y="67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3832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8/5/2020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  <a:t>Microchip Proprietary and Confidential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PTP over 10BASE-T1S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Theory · PHY Context · LAN8651 Specifics · Measurement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Martin Ruppert  |  Microchip WNET  |  2026-04-21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Demo Shows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645920"/>
            <a:ext cx="3291840" cy="11887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Board A
ATSAME54 + LAN8651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45920"/>
            <a:ext cx="3291840" cy="11887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Board B
ATSAME54 + LAN8651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965960"/>
            <a:ext cx="3108960" cy="5486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single-pair Ethernet  (10BASE-T1S)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80560" y="2240280"/>
            <a:ext cx="91440" cy="0"/>
          </a:xfrm>
          <a:prstGeom prst="line">
            <a:avLst/>
          </a:prstGeom>
          <a:ln w="38100">
            <a:solidFill>
              <a:srgbClr val="2C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635240" y="2240280"/>
            <a:ext cx="137160" cy="0"/>
          </a:xfrm>
          <a:prstGeom prst="line">
            <a:avLst/>
          </a:prstGeom>
          <a:ln w="38100">
            <a:solidFill>
              <a:srgbClr val="2CA0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3017520"/>
            <a:ext cx="5760720" cy="6400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↕  Shared notion of time  (PTP, IEEE 1588)  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D62728"/>
                </a:solidFill>
              </a:rPr>
              <a:t>Without synchronisation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3434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08960" y="43434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3434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8006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8006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8006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800600"/>
            <a:ext cx="457200" cy="3200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1208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Pulses on the two boards slowly drift apart.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2CA02C"/>
                </a:solidFill>
              </a:rPr>
              <a:t>With PTP synchronisation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3434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3434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3434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43434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006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8006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8006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49840" y="4800600"/>
            <a:ext cx="457200" cy="3200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12080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Pulses on both boards line up on the wire — within a few microseconds.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760720"/>
            <a:ext cx="11064240" cy="54864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1">
                <a:solidFill>
                  <a:srgbClr val="0B2E4F"/>
                </a:solidFill>
              </a:rPr>
              <a:t>Goal: two independent microcontrollers that agree on time well enough to act together.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Achieved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737360"/>
            <a:ext cx="2651760" cy="1554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1.  Hardware
timestamping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737360"/>
            <a:ext cx="2651760" cy="1554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2.  PTP protocol
(IEEE 1588)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79" y="1737360"/>
            <a:ext cx="2651760" cy="1554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3.  Software
wall-clock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799" y="1737360"/>
            <a:ext cx="2651760" cy="1554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4.  Cyclic Fire
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514600"/>
            <a:ext cx="1371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2514600"/>
            <a:ext cx="137159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2514600"/>
            <a:ext cx="137159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" y="3383279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LAN8651 latches the exact moment a packet crosses the wire.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383279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Boards exchange timestamps and compute offset + path delay.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79" y="3383279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A shared nanosecond clock runs on every 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799" y="3383279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Each board toggles a GPIO at scheduled clock values.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577840"/>
            <a:ext cx="11201400" cy="7315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Result: a cross-board edge delta of ~10 µs median — inside the 100 µs product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Standalone Button-LED Demo — 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25880"/>
            <a:ext cx="1143000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1">
                <a:solidFill>
                  <a:srgbClr val="0B2E4F"/>
                </a:solidFill>
              </a:rPr>
              <a:t>Self-contained: two boards, a T1S cable, two buttons (SW1 / SW2), two LEDs (LED1 / LED2) — no PC, no CLI.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65960"/>
            <a:ext cx="370332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 Boot  —  Unsynchronised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965960"/>
            <a:ext cx="370332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 Role Selection via Buttons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965960"/>
            <a:ext cx="370332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3.  Synchronised  —  Lock-Step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60320"/>
            <a:ext cx="36118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• Both boards boot with PTP OFF.</a:t>
            </a:r>
          </a:p>
          <a:p>
            <a:r>
              <a:rPr sz="1200">
                <a:solidFill>
                  <a:srgbClr val="0B2E4F"/>
                </a:solidFill>
              </a:rPr>
              <a:t>• LED1 blinks at 1 Hz on each board (500 ms on / 500 ms off).</a:t>
            </a:r>
          </a:p>
          <a:p>
            <a:r>
              <a:rPr sz="1200">
                <a:solidFill>
                  <a:srgbClr val="0B2E4F"/>
                </a:solidFill>
              </a:rPr>
              <a:t>• LED2 is off.</a:t>
            </a:r>
          </a:p>
          <a:p>
            <a:r>
              <a:rPr sz="1200">
                <a:solidFill>
                  <a:srgbClr val="0B2E4F"/>
                </a:solidFill>
              </a:rPr>
              <a:t>• Because the two crystals differ by ~100 ppm, the two LED1 blinks visibly drift apart.</a:t>
            </a:r>
          </a:p>
          <a:p>
            <a:r>
              <a:rPr sz="1200">
                <a:solidFill>
                  <a:srgbClr val="0B2E4F"/>
                </a:solidFill>
              </a:rPr>
              <a:t>• PD10 mirrors LED1 — a scope can watch the drift quantitatively.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560320"/>
            <a:ext cx="36118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• One board: press SW1 → becomes PTP Follower.</a:t>
            </a:r>
          </a:p>
          <a:p>
            <a:r>
              <a:rPr sz="1200">
                <a:solidFill>
                  <a:srgbClr val="0B2E4F"/>
                </a:solidFill>
              </a:rPr>
              <a:t>• Other board: press SW2 → becomes PTP Master.</a:t>
            </a:r>
          </a:p>
          <a:p>
            <a:r>
              <a:rPr sz="1200">
                <a:solidFill>
                  <a:srgbClr val="0B2E4F"/>
                </a:solidFill>
              </a:rPr>
              <a:t>• On each board, LED2 starts blinking fast (4 Hz) to signal 'syncing'.</a:t>
            </a:r>
          </a:p>
          <a:p>
            <a:r>
              <a:rPr sz="1200">
                <a:solidFill>
                  <a:srgbClr val="0B2E4F"/>
                </a:solidFill>
              </a:rPr>
              <a:t>• The Follower's servo runs until it reaches FINE lock.</a:t>
            </a:r>
          </a:p>
          <a:p>
            <a:r>
              <a:rPr sz="1200">
                <a:solidFill>
                  <a:srgbClr val="0B2E4F"/>
                </a:solidFill>
              </a:rPr>
              <a:t>• The Master waits ~2 s (visual symmetry with the Follower).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2560320"/>
            <a:ext cx="36118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• Master:   LED2 solid ON  (full brightness).</a:t>
            </a:r>
          </a:p>
          <a:p>
            <a:r>
              <a:rPr sz="1200">
                <a:solidFill>
                  <a:srgbClr val="0B2E4F"/>
                </a:solidFill>
              </a:rPr>
              <a:t>• Follower: LED2 noticeably dimmer  (~6 % PWM @ 250 Hz, no flicker).</a:t>
            </a:r>
          </a:p>
          <a:p>
            <a:r>
              <a:rPr sz="1200">
                <a:solidFill>
                  <a:srgbClr val="0B2E4F"/>
                </a:solidFill>
              </a:rPr>
              <a:t>• → The darker LED2 is the 'this is the follower' marker — visible from across the room.</a:t>
            </a:r>
          </a:p>
          <a:p>
            <a:r>
              <a:rPr sz="1200">
                <a:solidFill>
                  <a:srgbClr val="0B2E4F"/>
                </a:solidFill>
              </a:rPr>
              <a:t>• LED1 on both boards now blinks in lock-step at 1 Hz — drift is gone.</a:t>
            </a:r>
          </a:p>
          <a:p>
            <a:r>
              <a:rPr sz="1200">
                <a:solidFill>
                  <a:srgbClr val="0B2E4F"/>
                </a:solidFill>
              </a:rPr>
              <a:t>• PD10 on a scope shows the two 1 Hz edges co-aligned within microseconds.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5623560"/>
            <a:ext cx="11430000" cy="41148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SW1 = PD00   SW2 = PD01   LED1 = PC21 (1 Hz blink)   LED2 = PA16 (status)   PD10 = LED1 mirror (scope)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807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Source: apps/tcpip_iperf_lan865x/firmware/src/standalone_demo.c  (branch: ptp-standlone-demo)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Standalone Demo — Why the LEDs Blink in Sync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17320"/>
            <a:ext cx="2651760" cy="100584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PTP software
wall-clock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417320"/>
            <a:ext cx="265176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cyclic_fire
callback
every 250 µs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17320"/>
            <a:ext cx="2651760" cy="100584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Decimator
÷ 2000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17320"/>
            <a:ext cx="2560320" cy="100584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LED1 toggles
every 500 ms
(= 1 Hz blink)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920240"/>
            <a:ext cx="3657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943600" y="1920240"/>
            <a:ext cx="3657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61120" y="1920240"/>
            <a:ext cx="365760" cy="0"/>
          </a:xfrm>
          <a:prstGeom prst="bentConnector3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2468880"/>
            <a:ext cx="1188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4 kHz callback  →  ÷ 2000  →  1 Hz visible blink.  Every step is derived from the same PTP wall-clock.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971800"/>
            <a:ext cx="5715000" cy="50292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Without PTP lock  (drifting)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71800"/>
            <a:ext cx="571500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With PTP lock  (synchronised)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566160"/>
            <a:ext cx="56692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• Each board's callback is driven only by its own TC0 crystal.</a:t>
            </a:r>
          </a:p>
          <a:p>
            <a:r>
              <a:rPr sz="1300">
                <a:solidFill>
                  <a:srgbClr val="0B2E4F"/>
                </a:solidFill>
              </a:rPr>
              <a:t>• Two crystals differ by ~100 ppm  →  the 4 kHz callback instants drift.</a:t>
            </a:r>
          </a:p>
          <a:p>
            <a:r>
              <a:rPr sz="1300">
                <a:solidFill>
                  <a:srgbClr val="0B2E4F"/>
                </a:solidFill>
              </a:rPr>
              <a:t>• The ÷ 2000 divider faithfully inherits that drift.</a:t>
            </a:r>
          </a:p>
          <a:p>
            <a:r>
              <a:rPr sz="1300">
                <a:solidFill>
                  <a:srgbClr val="0B2E4F"/>
                </a:solidFill>
              </a:rPr>
              <a:t>• LED1 on the two boards therefore blinks a little slower / faster.</a:t>
            </a:r>
          </a:p>
          <a:p>
            <a:r>
              <a:rPr sz="1300">
                <a:solidFill>
                  <a:srgbClr val="0B2E4F"/>
                </a:solidFill>
              </a:rPr>
              <a:t>• Over 10 s the LED1 edges separate by tens of ms — clearly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66160"/>
            <a:ext cx="56692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• Both boards' PTP_CLOCK anchors are pinned to the same wall-clock.</a:t>
            </a:r>
          </a:p>
          <a:p>
            <a:r>
              <a:rPr sz="1300">
                <a:solidFill>
                  <a:srgbClr val="0B2E4F"/>
                </a:solidFill>
              </a:rPr>
              <a:t>• cyclic_fire schedules each callback at an absolute PTP-ns time.</a:t>
            </a:r>
          </a:p>
          <a:p>
            <a:r>
              <a:rPr sz="1300">
                <a:solidFill>
                  <a:srgbClr val="0B2E4F"/>
                </a:solidFill>
              </a:rPr>
              <a:t>• The 4 kHz callback fires at the identical PTP instant on both boards.</a:t>
            </a:r>
          </a:p>
          <a:p>
            <a:r>
              <a:rPr sz="1300">
                <a:solidFill>
                  <a:srgbClr val="0B2E4F"/>
                </a:solidFill>
              </a:rPr>
              <a:t>• The ÷ 2000 divider converts that into a common 1 Hz LED edge.</a:t>
            </a:r>
          </a:p>
          <a:p>
            <a:r>
              <a:rPr sz="1300">
                <a:solidFill>
                  <a:srgbClr val="0B2E4F"/>
                </a:solidFill>
              </a:rPr>
              <a:t>• LED1 on both boards toggles together — the human eye sees one blink.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5760720"/>
            <a:ext cx="11612880" cy="59436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1">
                <a:solidFill>
                  <a:srgbClr val="0B2E4F"/>
                </a:solidFill>
              </a:rPr>
              <a:t>Key idea: decimating a fast, PTP-anchored callback is what turns sub-µs network time into a slow, human-visible LED blink.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Standalone Demo — Live Flow &amp; Auto-Recovery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17320"/>
            <a:ext cx="1161288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Role indicator  —  LED2 brightness tells master from follower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2CA02C"/>
                </a:solidFill>
              </a:rPr>
              <a:t>Master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0B2E4F"/>
                </a:solidFill>
              </a:rPr>
              <a:t>LED2 = solid ON  (full brightness)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659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F77B4"/>
                </a:solidFill>
              </a:rPr>
              <a:t>Follower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0B2E4F"/>
                </a:solidFill>
              </a:rPr>
              <a:t>LED2 = ~6 % PWM @ 250 Hz  (dimmed, no flicker)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88920"/>
            <a:ext cx="1161288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SW2 is a master on/off toggle  —  lets you live-demonstrate sync-loss and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• Press SW2 on the master again → master stops sending Sync, returns to FREE.</a:t>
            </a:r>
          </a:p>
          <a:p>
            <a:r>
              <a:rPr sz="1300">
                <a:solidFill>
                  <a:srgbClr val="0B2E4F"/>
                </a:solidFill>
              </a:rPr>
              <a:t>• Follower notices no Sync for &gt; 1000 ms → enters DEMO_LOST → LED2 turns OFF.</a:t>
            </a:r>
          </a:p>
          <a:p>
            <a:r>
              <a:rPr sz="1300">
                <a:solidFill>
                  <a:srgbClr val="0B2E4F"/>
                </a:solidFill>
              </a:rPr>
              <a:t>• Press SW2 on the master once more → master re-arms → follower auto-recovers → LED2 dimmed again.</a:t>
            </a:r>
          </a:p>
          <a:p>
            <a:r>
              <a:rPr sz="1300">
                <a:solidFill>
                  <a:srgbClr val="0B2E4F"/>
                </a:solidFill>
              </a:rPr>
              <a:t>• SW1 stays one-shot: the follower self-recovers, no manual off-switch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663440"/>
            <a:ext cx="1161288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Three recovery mechanisms cover the failure modes seen on the 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1.  Stale sync-sequence-id  →  PTP_FOL_Reset() on DEMO_LOST entry so the first fresh Sync is accepted.</a:t>
            </a:r>
          </a:p>
          <a:p>
            <a:r>
              <a:rPr sz="1200">
                <a:solidFill>
                  <a:srgbClr val="0B2E4F"/>
                </a:solidFill>
              </a:rPr>
              <a:t>2.  PTP_CLOCK backward-jump at restart  →  cyclic_fire watchdog samples cycle count every 500 ms and re-arms with a fresh 'now+period' anchor if the chain stalls.</a:t>
            </a:r>
          </a:p>
          <a:p>
            <a:r>
              <a:rPr sz="1200">
                <a:solidFill>
                  <a:srgbClr val="0B2E4F"/>
                </a:solidFill>
              </a:rPr>
              <a:t>3.  Grandmaster liveness  →  PTP_FOL_GetLastSyncTick() latched at the top of processSync() — even rejected Syncs count as 'heard from GM'.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Companion: standalone_demo_test.py walks the operator through the run + gates the result with a Saleae capture.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Standalone Demo — iperf Payload over Synchronised Link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25880"/>
            <a:ext cx="11612880" cy="45720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1">
                <a:solidFill>
                  <a:srgbClr val="0B2E4F"/>
                </a:solidFill>
              </a:rPr>
              <a:t>After PTP lock, the opposite-role button launches iperf over the T1S link — real TCP traffic, no PC needed.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3749039" cy="155448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Master board
192.168.0.10/24
iperf TCP server :5001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965960"/>
            <a:ext cx="3017520" cy="1554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10BASE-T1S
shared pair
rate-capped 4 Mbps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965960"/>
            <a:ext cx="3749039" cy="1554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Follower board
192.168.0.20/24
iperf TCP client →  .10:5001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06240" y="2743200"/>
            <a:ext cx="274320" cy="0"/>
          </a:xfrm>
          <a:prstGeom prst="line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2743200"/>
            <a:ext cx="274321" cy="0"/>
          </a:xfrm>
          <a:prstGeom prst="line">
            <a:avLst/>
          </a:prstGeom>
          <a:ln w="381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" y="3749039"/>
            <a:ext cx="11612880" cy="45720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Button usage after role selection  (primary button already stayed the way it was)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• Master  (SW2 was pressed first):  SW1 → start iperf server.  SW1 again → stop server.</a:t>
            </a:r>
          </a:p>
          <a:p>
            <a:r>
              <a:rPr sz="1300">
                <a:solidFill>
                  <a:srgbClr val="0B2E4F"/>
                </a:solidFill>
              </a:rPr>
              <a:t>• Follower (SW1 was pressed first): SW2 → start iperf client (streams 4 Mbps to .10:5001).  SW2 again → stop client.</a:t>
            </a:r>
          </a:p>
          <a:p>
            <a:r>
              <a:rPr sz="1300">
                <a:solidFill>
                  <a:srgbClr val="0B2E4F"/>
                </a:solidFill>
              </a:rPr>
              <a:t>• Pressing the primary button to leave the role also stops any iperf session that role owned.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• 4 Mbps cap: keeps the client inside the observed 4–6 Mbps sustainable T1S goodput and avoids PLCA back-pressure / TCPIPStack_Assert warnings.</a:t>
            </a:r>
          </a:p>
          <a:p>
            <a:r>
              <a:rPr sz="1200">
                <a:solidFill>
                  <a:srgbClr val="0B2E4F"/>
                </a:solidFill>
              </a:rPr>
              <a:t>• iperf banner and bandwidth reports are routed to the same UART as the PTP logs — one console for everything, no second serial window.</a:t>
            </a:r>
          </a:p>
          <a:p>
            <a:r>
              <a:rPr sz="1200">
                <a:solidFill>
                  <a:srgbClr val="0B2E4F"/>
                </a:solidFill>
              </a:rPr>
              <a:t>• Proves the sync is not cosmetic: the two boards exchange real, timed TCP payload on the very link PTP disciplined.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Source: src/iperf_control.{c,h}  +  src/standalone_demo.c  (branch: iperf-payload-test, commit e360177)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Reproducing the Project — Prerequisites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0B2E4F"/>
                </a:solidFill>
              </a:rPr>
              <a:t>2 × ATSAME54 Curiosity Ultra  +  2 × LAN865x click board  —  connected pair-to-pair over 10BASE-T1S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USB (EDBG) cables from each board to the PC for flashing and for the serial console (115200 8N1).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88036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Software on the 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B2E4F"/>
                </a:solidFill>
              </a:rPr>
              <a:t>• MPLAB XC32 v4.60 or v5.x  (default path  C:\Program Files\Microchip\xc32\)</a:t>
            </a:r>
          </a:p>
          <a:p>
            <a:r>
              <a:rPr sz="1400">
                <a:solidFill>
                  <a:srgbClr val="0B2E4F"/>
                </a:solidFill>
              </a:rPr>
              <a:t>• MPLAB X IDE / MDB  (used by flash.py to program the boards)</a:t>
            </a:r>
          </a:p>
          <a:p>
            <a:r>
              <a:rPr sz="1400">
                <a:solidFill>
                  <a:srgbClr val="0B2E4F"/>
                </a:solidFill>
              </a:rPr>
              <a:t>• CMake ≥ 4.1  +  Ninja  (both on PATH)</a:t>
            </a:r>
          </a:p>
          <a:p>
            <a:r>
              <a:rPr sz="1400">
                <a:solidFill>
                  <a:srgbClr val="0B2E4F"/>
                </a:solidFill>
              </a:rPr>
              <a:t>• Python 3.9+   with   pip install pyserial   (plus python-pptx only if you rebuild this deck)</a:t>
            </a:r>
          </a:p>
          <a:p>
            <a:r>
              <a:rPr sz="1400">
                <a:solidFill>
                  <a:srgbClr val="0B2E4F"/>
                </a:solidFill>
              </a:rPr>
              <a:t>• Two terminal windows — one per board — e.g. PuTTY or Tera Term  (115200 8N1)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532120"/>
            <a:ext cx="11247120" cy="502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80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  <a:latin typeface="Consolas"/>
              </a:rPr>
              <a:t>git clone https://github.com/zabooh/net_10base_t1s.git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cd net_10base_t1s\apps\tcpip_iperf_lan865x\firmware\tcpip_iperf_lan865x.X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Reproducing the Project — Setup, Build,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11247120" cy="502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Quick path — no build required (just run the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After  git clone  and  python setup_flasher.py,  simply run:</a:t>
            </a:r>
          </a:p>
          <a:p>
            <a:r>
              <a:rPr sz="1300">
                <a:solidFill>
                  <a:srgbClr val="0B2E4F"/>
                </a:solidFill>
                <a:latin typeface="Consolas"/>
              </a:rPr>
              <a:t>    python flash.py</a:t>
            </a:r>
          </a:p>
          <a:p>
            <a:r>
              <a:rPr sz="1300">
                <a:solidFill>
                  <a:srgbClr val="0B2E4F"/>
                </a:solidFill>
              </a:rPr>
              <a:t>flash.py finds the newest pre-built HEX under  out/…/image/*.hex  (checked into the repo) and programmes it onto both boards — no XC32 / CMake / build step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063240"/>
            <a:ext cx="11247120" cy="411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rebuild  —  1.  One-time tool setup  (run once per machine)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python setup_compiler.py      # pick the installed XC32 version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python setup_flasher.py       # assign Board 1 (GM) and Board 2 (FOL) to their EDBG debuggers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python setup_debug.py         # fix SAME54_DFP tool-pack (needed for VS Code debugging)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526280"/>
            <a:ext cx="11247120" cy="41148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 Build and flash both 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  <a:latin typeface="Consolas"/>
              </a:rPr>
              <a:t>build.bat                     # incremental build   (build.bat rebuild for a clean build)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python flash.py               # flash Board 1 and Board 2 in sequence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760720"/>
            <a:ext cx="11247120" cy="411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 Run the Cyclic Fire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B2E4F"/>
                </a:solidFill>
              </a:rPr>
              <a:t>Open two terminals (115200 8N1).  Wait for PTP state = FINE.  On each:</a:t>
            </a:r>
          </a:p>
          <a:p>
            <a:r>
              <a:rPr sz="1200">
                <a:solidFill>
                  <a:srgbClr val="0B2E4F"/>
                </a:solidFill>
                <a:latin typeface="Consolas"/>
              </a:rPr>
              <a:t>    cyclic_start_marker 5000 &lt;anchor_ns&gt;    # or:  python cyclic_fire_hw_test.py --marker --period-us 5000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Part 0 — Overview &amp; standalone button-LED demo</a:t>
            </a:r>
          </a:p>
          <a:p>
            <a:pPr/>
            <a:r>
              <a:rPr sz="1800"/>
              <a:t>Part 1 — Reproduce the demo on your own machine</a:t>
            </a:r>
          </a:p>
          <a:p>
            <a:pPr/>
            <a:r>
              <a:rPr sz="1800"/>
              <a:t>Part 2 — PTP theory (IEEE 1588)</a:t>
            </a:r>
          </a:p>
          <a:p>
            <a:pPr lvl="1"/>
            <a:r>
              <a:rPr sz="1600"/>
              <a:t>Clock model, message exchange, timestamp accuracy, error sources</a:t>
            </a:r>
          </a:p>
          <a:p>
            <a:pPr/>
            <a:r>
              <a:rPr sz="1800"/>
              <a:t>Part 3 — 10BASE-T1S context</a:t>
            </a:r>
          </a:p>
          <a:p>
            <a:pPr lvl="1"/>
            <a:r>
              <a:rPr sz="1600"/>
              <a:t>Single-pair multidrop PHY, PLCA, implications for PTP</a:t>
            </a:r>
          </a:p>
          <a:p>
            <a:pPr/>
            <a:r>
              <a:rPr sz="1800"/>
              <a:t>Part 4 — LAN8651 specifics</a:t>
            </a:r>
          </a:p>
          <a:p>
            <a:pPr lvl="1"/>
            <a:r>
              <a:rPr sz="1600"/>
              <a:t>SPI MAC-PHY, timestamp engine, SFD-to-IRQ latency</a:t>
            </a:r>
          </a:p>
          <a:p>
            <a:pPr/>
            <a:r>
              <a:rPr sz="1800"/>
              <a:t>Part 5 — Cyclic Fire application</a:t>
            </a:r>
          </a:p>
          <a:p>
            <a:pPr lvl="1"/>
            <a:r>
              <a:rPr sz="1600"/>
              <a:t>Concept, use cases, API and patterns</a:t>
            </a:r>
          </a:p>
          <a:p>
            <a:pPr/>
            <a:r>
              <a:rPr sz="1800"/>
              <a:t>Part 6 — PTP_CLOCK for firmware event logging</a:t>
            </a:r>
          </a:p>
          <a:p>
            <a:pPr lvl="1"/>
            <a:r>
              <a:rPr sz="1600"/>
              <a:t>API, usage pattern, cross-board correlation</a:t>
            </a:r>
          </a:p>
          <a:p>
            <a:pPr/>
            <a:r>
              <a:rPr sz="1800"/>
              <a:t>Part 7 — Measurement results, open issues &amp; outlook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 — Purpose &amp; Clock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Goal: distribute a common notion of time across networked nodes</a:t>
            </a:r>
          </a:p>
          <a:p>
            <a:pPr lvl="1"/>
            <a:r>
              <a:rPr sz="1600"/>
              <a:t>Target accuracy: sub-microsecond on a LAN — not reachable with NTP</a:t>
            </a:r>
          </a:p>
          <a:p>
            <a:pPr/>
            <a:r>
              <a:rPr sz="1800"/>
              <a:t>Roles within a PTP domain:</a:t>
            </a:r>
          </a:p>
          <a:p>
            <a:pPr lvl="1"/>
            <a:r>
              <a:rPr sz="1600"/>
              <a:t>Grandmaster (GM) — reference clock, source of truth</a:t>
            </a:r>
          </a:p>
          <a:p>
            <a:pPr lvl="1"/>
            <a:r>
              <a:rPr sz="1600"/>
              <a:t>Ordinary / Boundary clock — follower, steers local clock to GM</a:t>
            </a:r>
          </a:p>
          <a:p>
            <a:pPr lvl="1"/>
            <a:r>
              <a:rPr sz="1600"/>
              <a:t>Transparent clock — forwards and corrects for residence time</a:t>
            </a:r>
          </a:p>
          <a:p>
            <a:pPr/>
            <a:r>
              <a:rPr sz="1800"/>
              <a:t>Best Master Clock Algorithm (BMCA) elects the GM automatically</a:t>
            </a:r>
          </a:p>
          <a:p>
            <a:pPr/>
            <a:r>
              <a:rPr sz="1800"/>
              <a:t>Local clock corrected in two dimensions:</a:t>
            </a:r>
          </a:p>
          <a:p>
            <a:pPr lvl="1"/>
            <a:r>
              <a:rPr sz="1600"/>
              <a:t>Phase — absolute offset to GM (ns)</a:t>
            </a:r>
          </a:p>
          <a:p>
            <a:pPr lvl="1"/>
            <a:r>
              <a:rPr sz="1600"/>
              <a:t>Rate — frequency ratio between local and GM oscillator (ppb)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 — Message Exchange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103120" y="1828800"/>
            <a:ext cx="0" cy="3566160"/>
          </a:xfrm>
          <a:prstGeom prst="line">
            <a:avLst/>
          </a:prstGeom>
          <a:ln w="38100">
            <a:solidFill>
              <a:srgbClr val="0B2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601200" y="1828800"/>
            <a:ext cx="0" cy="3566160"/>
          </a:xfrm>
          <a:prstGeom prst="line">
            <a:avLst/>
          </a:prstGeom>
          <a:ln w="38100">
            <a:solidFill>
              <a:srgbClr val="0B2E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97279" y="1417320"/>
            <a:ext cx="2011680" cy="36576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Grandmaster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417320"/>
            <a:ext cx="2011680" cy="36576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Follower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194560"/>
            <a:ext cx="7498080" cy="457200"/>
          </a:xfrm>
          <a:prstGeom prst="bentConnector3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0" y="21488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F77B4"/>
                </a:solidFill>
              </a:rPr>
              <a:t>Sync   (t1 on TX, t2 on RX)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926080"/>
            <a:ext cx="7498080" cy="182880"/>
          </a:xfrm>
          <a:prstGeom prst="bentConnector3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657600" y="27889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F77B4"/>
                </a:solidFill>
              </a:rPr>
              <a:t>Follow_Up  (carries t1)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03120" y="3566160"/>
            <a:ext cx="7498080" cy="365760"/>
          </a:xfrm>
          <a:prstGeom prst="bentConnector3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0" y="3703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F77B4"/>
                </a:solidFill>
              </a:rPr>
              <a:t>Delay_Req   (t3 on TX, t4 on RX)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03120" y="4297680"/>
            <a:ext cx="7498080" cy="274320"/>
          </a:xfrm>
          <a:prstGeom prst="bentConnector3">
            <a:avLst/>
          </a:prstGeom>
          <a:ln w="25400">
            <a:solidFill>
              <a:srgbClr val="1F7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0" y="41605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F77B4"/>
                </a:solidFill>
              </a:rPr>
              <a:t>Delay_Resp  (carries t4)</a:t>
            </a:r>
          </a:p>
        </p:txBody>
      </p:sp>
      <p:sp>
        <p:nvSpPr>
          <p:cNvPr id="15" name="Oval 14"/>
          <p:cNvSpPr/>
          <p:nvPr/>
        </p:nvSpPr>
        <p:spPr>
          <a:xfrm>
            <a:off x="2029967" y="2121408"/>
            <a:ext cx="146304" cy="146304"/>
          </a:xfrm>
          <a:prstGeom prst="ellipse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0279" y="2029967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D62728"/>
                </a:solidFill>
              </a:rPr>
              <a:t>t1</a:t>
            </a:r>
          </a:p>
        </p:txBody>
      </p:sp>
      <p:sp>
        <p:nvSpPr>
          <p:cNvPr id="17" name="Oval 16"/>
          <p:cNvSpPr/>
          <p:nvPr/>
        </p:nvSpPr>
        <p:spPr>
          <a:xfrm>
            <a:off x="9528048" y="2578608"/>
            <a:ext cx="146304" cy="146304"/>
          </a:xfrm>
          <a:prstGeom prst="ellipse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48716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D62728"/>
                </a:solidFill>
              </a:rPr>
              <a:t>t2</a:t>
            </a:r>
          </a:p>
        </p:txBody>
      </p:sp>
      <p:sp>
        <p:nvSpPr>
          <p:cNvPr id="19" name="Oval 18"/>
          <p:cNvSpPr/>
          <p:nvPr/>
        </p:nvSpPr>
        <p:spPr>
          <a:xfrm>
            <a:off x="9528048" y="3493008"/>
            <a:ext cx="146304" cy="146304"/>
          </a:xfrm>
          <a:prstGeom prst="ellipse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340156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D62728"/>
                </a:solidFill>
              </a:rPr>
              <a:t>t3</a:t>
            </a:r>
          </a:p>
        </p:txBody>
      </p:sp>
      <p:sp>
        <p:nvSpPr>
          <p:cNvPr id="21" name="Oval 20"/>
          <p:cNvSpPr/>
          <p:nvPr/>
        </p:nvSpPr>
        <p:spPr>
          <a:xfrm>
            <a:off x="2029967" y="3858768"/>
            <a:ext cx="146304" cy="146304"/>
          </a:xfrm>
          <a:prstGeom prst="ellipse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79" y="37673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D62728"/>
                </a:solidFill>
              </a:rPr>
              <a:t>t4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0972800" cy="502920"/>
          </a:xfrm>
          <a:prstGeom prst="roundRect">
            <a:avLst/>
          </a:prstGeom>
          <a:solidFill>
            <a:srgbClr val="E8EEF5"/>
          </a:solidFill>
          <a:ln>
            <a:solidFill>
              <a:srgbClr val="E8EE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0B2E4F"/>
                </a:solidFill>
              </a:rPr>
              <a:t>mean_path_delay = ((t2 − t1) + (t4 − t3)) / 2       offset_from_master = (t2 − t1) − mean_path_delay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 — Hardware Timestamping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Where the timestamp is taken dictates the achievable accuracy</a:t>
            </a:r>
          </a:p>
          <a:p>
            <a:pPr/>
            <a:r>
              <a:rPr sz="1800"/>
              <a:t>Software timestamping (at socket layer):</a:t>
            </a:r>
          </a:p>
          <a:p>
            <a:pPr lvl="1"/>
            <a:r>
              <a:rPr sz="1600"/>
              <a:t>Jitter from kernel scheduling, stack queues, cache effects</a:t>
            </a:r>
          </a:p>
          <a:p>
            <a:pPr lvl="1"/>
            <a:r>
              <a:rPr sz="1600"/>
              <a:t>Typical accuracy: tens of microseconds to low milliseconds</a:t>
            </a:r>
          </a:p>
          <a:p>
            <a:pPr/>
            <a:r>
              <a:rPr sz="1800"/>
              <a:t>Hardware timestamping (at PHY/MAC Start-of-Frame):</a:t>
            </a:r>
          </a:p>
          <a:p>
            <a:pPr lvl="1"/>
            <a:r>
              <a:rPr sz="1600"/>
              <a:t>Timestamp latched on the SFD bit — ideal reference point</a:t>
            </a:r>
          </a:p>
          <a:p>
            <a:pPr lvl="1"/>
            <a:r>
              <a:rPr sz="1600"/>
              <a:t>Removes OS/driver jitter from the measurement</a:t>
            </a:r>
          </a:p>
          <a:p>
            <a:pPr lvl="1"/>
            <a:r>
              <a:rPr sz="1600"/>
              <a:t>Typical accuracy: tens of nanoseconds, limited by counter resolution</a:t>
            </a:r>
          </a:p>
          <a:p>
            <a:pPr/>
            <a:r>
              <a:rPr sz="1800"/>
              <a:t>IEEE 1588 assumes path symmetry — PTP cannot measure asymmetry directly</a:t>
            </a:r>
          </a:p>
          <a:p>
            <a:pPr lvl="1"/>
            <a:r>
              <a:rPr sz="1600"/>
              <a:t>Any TX/RX pipeline asymmetry becomes a constant offset → must be calibrated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 — Error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Oscillator rate offset and wander (short- and long-term)</a:t>
            </a:r>
          </a:p>
          <a:p>
            <a:pPr/>
            <a:r>
              <a:rPr sz="1800"/>
              <a:t>Quantisation of hardware timestamps (timestamp counter tick period)</a:t>
            </a:r>
          </a:p>
          <a:p>
            <a:pPr/>
            <a:r>
              <a:rPr sz="1800"/>
              <a:t>Asymmetric TX vs RX datapath latency — not observable by PTP math</a:t>
            </a:r>
          </a:p>
          <a:p>
            <a:pPr/>
            <a:r>
              <a:rPr sz="1800"/>
              <a:t>Link-layer residence time variance (queuing, media access)</a:t>
            </a:r>
          </a:p>
          <a:p>
            <a:pPr lvl="1"/>
            <a:r>
              <a:rPr sz="1600"/>
              <a:t>Especially relevant on shared media such as 10BASE-T1S PLCA</a:t>
            </a:r>
          </a:p>
          <a:p>
            <a:pPr/>
            <a:r>
              <a:rPr sz="1800"/>
              <a:t>Temperature drift of crystals → rate changes slowly over minutes/hours</a:t>
            </a:r>
          </a:p>
          <a:p>
            <a:pPr/>
            <a:r>
              <a:rPr sz="1800"/>
              <a:t>Servo dynamics:</a:t>
            </a:r>
          </a:p>
          <a:p>
            <a:pPr lvl="1"/>
            <a:r>
              <a:rPr sz="1600"/>
              <a:t>Fast servo → tracks wander, amplifies measurement noise</a:t>
            </a:r>
          </a:p>
          <a:p>
            <a:pPr lvl="1"/>
            <a:r>
              <a:rPr sz="1600"/>
              <a:t>Slow servo → quiet but sluggish against temperature transients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10BASE-T1S — PHY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10 Mbit/s full-duplex-equivalent over a single unshielded twisted pair</a:t>
            </a:r>
          </a:p>
          <a:p>
            <a:pPr/>
            <a:r>
              <a:rPr sz="1800"/>
              <a:t>Two physical topologies supported:</a:t>
            </a:r>
          </a:p>
          <a:p>
            <a:pPr lvl="1"/>
            <a:r>
              <a:rPr sz="1600"/>
              <a:t>Point-to-point — two nodes sharing one pair</a:t>
            </a:r>
          </a:p>
          <a:p>
            <a:pPr lvl="1"/>
            <a:r>
              <a:rPr sz="1600"/>
              <a:t>Multidrop — many nodes on one shared segment (up to 8+ specified)</a:t>
            </a:r>
          </a:p>
          <a:p>
            <a:pPr/>
            <a:r>
              <a:rPr sz="1800"/>
              <a:t>Targets automotive in-vehicle networking and industrial sensor aggregation</a:t>
            </a:r>
          </a:p>
          <a:p>
            <a:pPr/>
            <a:r>
              <a:rPr sz="1800"/>
              <a:t>Cable reach up to ~25 m on a shared segment, low EMI, low cost wiring</a:t>
            </a:r>
          </a:p>
          <a:p>
            <a:pPr/>
            <a:r>
              <a:rPr sz="1800"/>
              <a:t>Media access arbitration via PLCA (Physical Layer Collision Avoidance):</a:t>
            </a:r>
          </a:p>
          <a:p>
            <a:pPr lvl="1"/>
            <a:r>
              <a:rPr sz="1600"/>
              <a:t>Time-slotted, deterministic round-robin transmit opportunities</a:t>
            </a:r>
          </a:p>
          <a:p>
            <a:pPr lvl="1"/>
            <a:r>
              <a:rPr sz="1600"/>
              <a:t>No CSMA/CD backoff → bounded worst-case access latency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10BASE-T1S — PTP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PTP works over 10BASE-T1S the same way as over ordinary Ethernet</a:t>
            </a:r>
          </a:p>
          <a:p>
            <a:pPr/>
            <a:r>
              <a:rPr sz="1800"/>
              <a:t>Favourable properties:</a:t>
            </a:r>
          </a:p>
          <a:p>
            <a:pPr lvl="1"/>
            <a:r>
              <a:rPr sz="1600"/>
              <a:t>PLCA bounds media-access jitter — residence time is predictable</a:t>
            </a:r>
          </a:p>
          <a:p>
            <a:pPr lvl="1"/>
            <a:r>
              <a:rPr sz="1600"/>
              <a:t>Physical medium is symmetric by construction (same pair, same direction)</a:t>
            </a:r>
          </a:p>
          <a:p>
            <a:pPr/>
            <a:r>
              <a:rPr sz="1800"/>
              <a:t>Challenges:</a:t>
            </a:r>
          </a:p>
          <a:p>
            <a:pPr lvl="1"/>
            <a:r>
              <a:rPr sz="1600"/>
              <a:t>10 Mbit/s → one byte takes 800 ns, lower timestamp resolution than 1 GbE</a:t>
            </a:r>
          </a:p>
          <a:p>
            <a:pPr lvl="1"/>
            <a:r>
              <a:rPr sz="1600"/>
              <a:t>PLCA slot wait adds variable queuing before TX</a:t>
            </a:r>
          </a:p>
          <a:p>
            <a:pPr lvl="2"/>
            <a:r>
              <a:rPr sz="1400"/>
              <a:t>→ hardware SFD timestamping removes this from the PTP measurement</a:t>
            </a:r>
          </a:p>
          <a:p>
            <a:pPr lvl="1"/>
            <a:r>
              <a:rPr sz="1600"/>
              <a:t>MAC-PHY vendor implementations vary — must characterise the specific chip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LAN8651 — Device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Microchip 10BASE-T1S MAC-PHY with SPI host interface</a:t>
            </a:r>
          </a:p>
          <a:p>
            <a:pPr/>
            <a:r>
              <a:rPr sz="1800"/>
              <a:t>Integrated MAC + PHY in a single package</a:t>
            </a:r>
          </a:p>
          <a:p>
            <a:pPr lvl="1"/>
            <a:r>
              <a:rPr sz="1600"/>
              <a:t>MCU needs no on-chip Ethernet MAC</a:t>
            </a:r>
          </a:p>
          <a:p>
            <a:pPr lvl="1"/>
            <a:r>
              <a:rPr sz="1600"/>
              <a:t>OPEN Alliance TC6 SPI protocol — data chunks over SPI</a:t>
            </a:r>
          </a:p>
          <a:p>
            <a:pPr/>
            <a:r>
              <a:rPr sz="1800"/>
              <a:t>Supports PLCA for multidrop topologies</a:t>
            </a:r>
          </a:p>
          <a:p>
            <a:pPr/>
            <a:r>
              <a:rPr sz="1800"/>
              <a:t>Hardware timestamp engine latches TX-SFD and RX-SFD events</a:t>
            </a:r>
          </a:p>
          <a:p>
            <a:pPr lvl="1"/>
            <a:r>
              <a:rPr sz="1600"/>
              <a:t>Raw material for PTP — accuracy depends on SFD latch point</a:t>
            </a:r>
          </a:p>
          <a:p>
            <a:pPr/>
            <a:r>
              <a:rPr sz="1800"/>
              <a:t>Interrupt-driven host signalling via nIRQ</a:t>
            </a:r>
          </a:p>
          <a:p>
            <a:pPr/>
            <a:r>
              <a:rPr sz="1800"/>
              <a:t>Pin-count and BOM optimised for automotive and industrial edge nodes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LAN8651 — Timestamping Signal Path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920240"/>
            <a:ext cx="1920240" cy="91440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T1S wire
SFD bit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920240"/>
            <a:ext cx="1920240" cy="91440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LAN8651 PHY
SFD 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920240"/>
            <a:ext cx="1920240" cy="91440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LAN8651 MAC
timestamp latch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920240"/>
            <a:ext cx="1920240" cy="91440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SPI readout
to MCU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920240"/>
            <a:ext cx="1920240" cy="914400"/>
          </a:xfrm>
          <a:prstGeom prst="roundRect">
            <a:avLst/>
          </a:prstGeom>
          <a:solidFill>
            <a:srgbClr val="D62728"/>
          </a:solidFill>
          <a:ln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nIRQ
to MCU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377440"/>
            <a:ext cx="27432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2377440"/>
            <a:ext cx="274319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377440"/>
            <a:ext cx="27432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52560" y="2377440"/>
            <a:ext cx="27432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1089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B2E4F"/>
                </a:solidFill>
              </a:rPr>
              <a:t>• TX path: MCU writes frame over SPI → MAC transmits → SFD on wire = t1 latched</a:t>
            </a:r>
          </a:p>
          <a:p>
            <a:r>
              <a:rPr sz="1600">
                <a:solidFill>
                  <a:srgbClr val="0B2E4F"/>
                </a:solidFill>
              </a:rPr>
              <a:t>• RX path: SFD on wire = t2 latched → MAC stores timestamp → nIRQ → MCU reads over SPI</a:t>
            </a:r>
          </a:p>
          <a:p>
            <a:r>
              <a:rPr sz="1600">
                <a:solidFill>
                  <a:srgbClr val="0B2E4F"/>
                </a:solidFill>
              </a:rPr>
              <a:t>• TX: ~800 µs from SFD-on-wire to the TX-timestamp-available nIRQ  (pipeline + SPI)</a:t>
            </a:r>
          </a:p>
          <a:p>
            <a:r>
              <a:rPr sz="1600">
                <a:solidFill>
                  <a:srgbClr val="0B2E4F"/>
                </a:solidFill>
              </a:rPr>
              <a:t>• RX: ~10 ms from SFD-on-wire to the RX-nIRQ   (LAN8651 behaviour)</a:t>
            </a:r>
          </a:p>
          <a:p>
            <a:r>
              <a:rPr sz="1600">
                <a:solidFill>
                  <a:srgbClr val="0B2E4F"/>
                </a:solidFill>
              </a:rPr>
              <a:t>• Both biases must be compensated outside PTP — protocol cannot see them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LAN8651 — Calibrating the Biases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Project design: ISR-captured anchor pair  (wall-clock_ns, TC0_tick)</a:t>
            </a:r>
          </a:p>
          <a:p>
            <a:pPr/>
            <a:r>
              <a:rPr sz="1800"/>
              <a:t>Anchor offsets shift the wall-clock timestamp forward to the ISR moment:</a:t>
            </a:r>
          </a:p>
          <a:p>
            <a:pPr lvl="1"/>
            <a:r>
              <a:rPr sz="1600"/>
              <a:t>PTP_GM_ANCHOR_OFFSET_NS  = 800 000 ns     (TX pipeline)</a:t>
            </a:r>
          </a:p>
          <a:p>
            <a:pPr lvl="1"/>
            <a:r>
              <a:rPr sz="1600"/>
              <a:t>PTP_FOL_ANCHOR_OFFSET_NS = 10 000 000 ns  (RX pipeline)</a:t>
            </a:r>
          </a:p>
          <a:p>
            <a:pPr/>
            <a:r>
              <a:rPr sz="1800"/>
              <a:t>Calibration is empirical:</a:t>
            </a:r>
          </a:p>
          <a:p>
            <a:pPr lvl="1"/>
            <a:r>
              <a:rPr sz="1600"/>
              <a:t>Measure cross-board edge delta D with cyclic_fire_hw_test.py</a:t>
            </a:r>
          </a:p>
          <a:p>
            <a:pPr lvl="1"/>
            <a:r>
              <a:rPr sz="1600"/>
              <a:t>new_offset = old_offset + D    (positive D means FOL lags GM)</a:t>
            </a:r>
          </a:p>
          <a:p>
            <a:pPr/>
            <a:r>
              <a:rPr sz="1800"/>
              <a:t>Effect of the 10 ms compensation (commit deb2773):</a:t>
            </a:r>
          </a:p>
          <a:p>
            <a:pPr lvl="1"/>
            <a:r>
              <a:rPr sz="1600"/>
              <a:t>Cross-board median delta:  +10 005 µs  →  +10 µs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Integration — Firmware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3474720" cy="105156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ptp_gm_task.c
Grandmaster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554480"/>
            <a:ext cx="3474720" cy="105156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ptp_fol_task.c
Follower PI servo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554480"/>
            <a:ext cx="3474720" cy="105156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ptp_clock.c
Nanosecond software clock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0789920" cy="8686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drv_lan865x_api.c — SPI MAC-PHY driver + TX/RX timestamp capture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10789920" cy="82296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Harmony 3 TCP/IP stack  (net_10base_t1s v1.4.3)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63440"/>
            <a:ext cx="10789920" cy="82296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ATSAME54P20A — TC0 @ 60 MHz timestamp counter, SPI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Grandmaster and Follower run identical firmware — role is configuration, not code.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Fire — 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A firmware module that fires a periodic GPIO pulse train on PD10</a:t>
            </a:r>
          </a:p>
          <a:p>
            <a:pPr lvl="1"/>
            <a:r>
              <a:rPr sz="1600"/>
              <a:t>Pin sits on the EXT1 Xplained-Pro header — directly scope-clippable</a:t>
            </a:r>
          </a:p>
          <a:p>
            <a:pPr/>
            <a:r>
              <a:rPr sz="1800"/>
              <a:t>Each pulse edge is scheduled against the PTP software clock, not a local timer</a:t>
            </a:r>
          </a:p>
          <a:p>
            <a:pPr lvl="1"/>
            <a:r>
              <a:rPr sz="1600"/>
              <a:t>Implemented with tfuture — single-shot timer re-armed from its own callback</a:t>
            </a:r>
          </a:p>
          <a:p>
            <a:pPr/>
            <a:r>
              <a:rPr sz="1800"/>
              <a:t>The scheduling time is given in absolute PTP wall-clock nanoseconds</a:t>
            </a:r>
          </a:p>
          <a:p>
            <a:pPr lvl="1"/>
            <a:r>
              <a:rPr sz="1600"/>
              <a:t>cyclic_fire_start(period_us, phase_anchor_ns)</a:t>
            </a:r>
          </a:p>
          <a:p>
            <a:pPr lvl="1"/>
            <a:r>
              <a:rPr sz="1600"/>
              <a:t>phase_anchor_ns = the PTP moment at which the very first edge should fire</a:t>
            </a:r>
          </a:p>
          <a:p>
            <a:pPr/>
            <a:r>
              <a:rPr sz="1800"/>
              <a:t>Identical firmware, identical API call on both boards</a:t>
            </a:r>
          </a:p>
          <a:p>
            <a:pPr lvl="1"/>
            <a:r>
              <a:rPr sz="1600"/>
              <a:t>→ a shared anchor_ns produces wire-level coincident edges across boards</a:t>
            </a:r>
          </a:p>
          <a:p>
            <a:pPr/>
            <a:r>
              <a:rPr sz="1800"/>
              <a:t>A CPU-cheap, direct-from-wire way to observe whether two PTP clocks really agree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Fire — What You Can Achieve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Sync quality measurement: cross-board rising-edge delta quantifies PTP accuracy</a:t>
            </a:r>
          </a:p>
          <a:p>
            <a:pPr lvl="1"/>
            <a:r>
              <a:rPr sz="1600"/>
              <a:t>Median → static bias (calibration target)</a:t>
            </a:r>
          </a:p>
          <a:p>
            <a:pPr lvl="1"/>
            <a:r>
              <a:rPr sz="1600"/>
              <a:t>MAD / extrema → short-term wander, filter behaviour</a:t>
            </a:r>
          </a:p>
          <a:p>
            <a:pPr/>
            <a:r>
              <a:rPr sz="1800"/>
              <a:t>Calibration feedback loop: run test → read D → update anchor offset → rerun</a:t>
            </a:r>
          </a:p>
          <a:p>
            <a:pPr/>
            <a:r>
              <a:rPr sz="1800"/>
              <a:t>PTP regression test: a single gated CI metric (|median| + MAD ≤ 100 µs)</a:t>
            </a:r>
          </a:p>
          <a:p>
            <a:pPr/>
            <a:r>
              <a:rPr sz="1800"/>
              <a:t>Sub-µs demonstration target: visible proof that two independent MCUs tick together</a:t>
            </a:r>
          </a:p>
          <a:p>
            <a:pPr/>
            <a:r>
              <a:rPr sz="1800"/>
              <a:t>Distributed actuation reference: template for real coordinated outputs</a:t>
            </a:r>
          </a:p>
          <a:p>
            <a:pPr lvl="1"/>
            <a:r>
              <a:rPr sz="1600"/>
              <a:t>Sensor sampling on N nodes at the same nanosecond</a:t>
            </a:r>
          </a:p>
          <a:p>
            <a:pPr lvl="1"/>
            <a:r>
              <a:rPr sz="1600"/>
              <a:t>Time-slotted TX windows (TDMA over T1S)</a:t>
            </a:r>
          </a:p>
          <a:p>
            <a:pPr lvl="1"/>
            <a:r>
              <a:rPr sz="1600"/>
              <a:t>Synchronised ADC trigger / actuator pulse</a:t>
            </a:r>
          </a:p>
          <a:p>
            <a:pPr/>
            <a:r>
              <a:rPr sz="1800"/>
              <a:t>Failure detection: PLCA starvation, MAC wedge, clock drift all show up as edge drift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Fire — API &amp; Output Patterns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bool cyclic_fire_start(uint32_t period_us, uint64_t phase_anchor_ns);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bool cyclic_fire_start_ex(uint32_t period_us, uint64_t phase_anchor_ns, cyclic_fire_pattern_t pattern);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5486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void cyclic_fire_stop(void);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14600"/>
            <a:ext cx="5486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bool cyclic_fire_is_running(void);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63240"/>
            <a:ext cx="5486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uint64_t cyclic_fire_get_cycle_count(void);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063240"/>
            <a:ext cx="548640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uint64_t cyclic_fire_get_missed_count(void);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86400" cy="411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PATTERN_SQUARE  — 50/50 rectangle (default)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486400" cy="41148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PATTERN_MARKER  — 1-high + 4-low isolated 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B2E4F"/>
                </a:solidFill>
              </a:rPr>
              <a:t>• period_us is the FULL rectangle period — callback fires every period_us/2</a:t>
            </a:r>
          </a:p>
          <a:p>
            <a:r>
              <a:rPr sz="1400">
                <a:solidFill>
                  <a:srgbClr val="0B2E4F"/>
                </a:solidFill>
              </a:rPr>
              <a:t>• Default 1000 µs → 1 kHz square wave</a:t>
            </a:r>
          </a:p>
          <a:p>
            <a:r>
              <a:rPr sz="1400">
                <a:solidFill>
                  <a:srgbClr val="0B2E4F"/>
                </a:solidFill>
              </a:rPr>
              <a:t>• Periods below ~400 µs not recommended (half-period ≈ tfuture spin threshold)</a:t>
            </a:r>
          </a:p>
          <a:p>
            <a:r>
              <a:rPr sz="1400">
                <a:solidFill>
                  <a:srgbClr val="0B2E4F"/>
                </a:solidFill>
              </a:rPr>
              <a:t>• MARKER pattern isolates the rising edge — makes 'which board fires first?' unambiguous</a:t>
            </a:r>
          </a:p>
          <a:p>
            <a:r>
              <a:rPr sz="1400">
                <a:solidFill>
                  <a:srgbClr val="0B2E4F"/>
                </a:solidFill>
              </a:rPr>
              <a:t>• CLI wrappers: cyclic_start, cyclic_start_marker, cyclic_start_free, cyclic_stop, cyclic_status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Fire — Wire-Level View</a:t>
            </a:r>
          </a:p>
        </p:txBody>
      </p:sp>
      <p:pic>
        <p:nvPicPr>
          <p:cNvPr id="3" name="Picture 2" descr="Pi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325880"/>
            <a:ext cx="606044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E4F"/>
                </a:solidFill>
              </a:rPr>
              <a:t>Saleae Logic 2 capture — Ch0 (top) = Grandmaster PD10,  Ch1 (bottom) = Follower PD10.</a:t>
            </a:r>
          </a:p>
          <a:p>
            <a:r>
              <a:rPr sz="1400" b="0">
                <a:solidFill>
                  <a:srgbClr val="0B2E4F"/>
                </a:solidFill>
              </a:rPr>
              <a:t>MARKER pattern: 1 high half-period + 9 low half-periods → one isolated rising edge every 5 full periods.</a:t>
            </a:r>
          </a:p>
          <a:p>
            <a:r>
              <a:rPr sz="1400" b="0">
                <a:solidFill>
                  <a:srgbClr val="0B2E4F"/>
                </a:solidFill>
              </a:rPr>
              <a:t>Both channels fire coincident edges over 0.3 s — visible evidence that the two boards share a single PTP time base.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Cyclic Fire — Zoom-In: Cross-Board Edge Delta</a:t>
            </a:r>
          </a:p>
        </p:txBody>
      </p:sp>
      <p:pic>
        <p:nvPicPr>
          <p:cNvPr id="3" name="Picture 2" descr="Pict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096" y="1325880"/>
            <a:ext cx="608076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0749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E4F"/>
                </a:solidFill>
              </a:rPr>
              <a:t>Zoomed Logic 2 view of a single MARKER pulse pair  (period_us = 5000 → 20 % duty, 40 Hz).</a:t>
            </a:r>
          </a:p>
          <a:p>
            <a:r>
              <a:rPr sz="1400" b="0">
                <a:solidFill>
                  <a:srgbClr val="0B2E4F"/>
                </a:solidFill>
              </a:rPr>
              <a:t>Cursor tool ΔT = 34.98 µs — time between the Grandmaster rising edge (Ch0) and the Follower rising edge (Ch1).</a:t>
            </a:r>
          </a:p>
          <a:p>
            <a:r>
              <a:rPr sz="1400" b="0">
                <a:solidFill>
                  <a:srgbClr val="0B2E4F"/>
                </a:solidFill>
              </a:rPr>
              <a:t>Well inside the 100 µs product window — this single wire-level frame corroborates the automated 10 µs median statistic.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PTP_CLOCK — Application API for PTP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1732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uint64_t PTP_CLOCK_GetTime_ns(void);         // current wall-clock, interpolated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65960"/>
            <a:ext cx="11247120" cy="502920"/>
          </a:xfrm>
          <a:prstGeom prst="roundRect">
            <a:avLst/>
          </a:prstGeom>
          <a:solidFill>
            <a:srgbClr val="0B2E4F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bool     PTP_CLOCK_IsValid(void);            // true once first anchor was 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1124712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int32_t  PTP_CLOCK_GetDriftPPB(void);        // measured MCU vs PTP rate offset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63240"/>
            <a:ext cx="11247120" cy="502920"/>
          </a:xfrm>
          <a:prstGeom prst="roundRect">
            <a:avLst/>
          </a:prstGeom>
          <a:solidFill>
            <a:srgbClr val="555555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void     PTP_CLOCK_ForceSet(uint64_t ns);    // standalone set (no PTP sync)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9476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B2E4F"/>
                </a:solidFill>
              </a:rPr>
              <a:t>• Any context — no SPI, no mutex, no blocking.  Safe from ISR and main loop.</a:t>
            </a:r>
          </a:p>
          <a:p>
            <a:r>
              <a:rPr sz="1400">
                <a:solidFill>
                  <a:srgbClr val="0B2E4F"/>
                </a:solidFill>
              </a:rPr>
              <a:t>• Interpolates between anchors via TC0 (60 MHz) + drift IIR filter.</a:t>
            </a:r>
          </a:p>
          <a:p>
            <a:r>
              <a:rPr sz="1400">
                <a:solidFill>
                  <a:srgbClr val="0B2E4F"/>
                </a:solidFill>
              </a:rPr>
              <a:t>• One anchor is refreshed on every PTP Sync (≈ 8 Hz).</a:t>
            </a:r>
          </a:p>
          <a:p>
            <a:r>
              <a:rPr sz="1400">
                <a:solidFill>
                  <a:srgbClr val="0B2E4F"/>
                </a:solidFill>
              </a:rPr>
              <a:t>• Returns 0 until the first anchor has been set — always check PTP_CLOCK_IsValid() first.</a:t>
            </a:r>
          </a:p>
          <a:p>
            <a:r>
              <a:rPr sz="1400">
                <a:solidFill>
                  <a:srgbClr val="0B2E4F"/>
                </a:solidFill>
              </a:rPr>
              <a:t>• GM and Follower expose the same API — application code is role-agnostic.</a:t>
            </a:r>
          </a:p>
          <a:p>
            <a:r>
              <a:rPr sz="1400">
                <a:solidFill>
                  <a:srgbClr val="0B2E4F"/>
                </a:solidFill>
              </a:rPr>
              <a:t>• Resolution ≈ 16.7 ns (TC0 tick); short-term jitter dominated by filter wander.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PTP_CLOCK — Logging Firmware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B2E4F"/>
                </a:solidFill>
                <a:latin typeface="Consolas"/>
              </a:rPr>
              <a:t>#include "ptp_clock.h"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static void on_frame_received(void) {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uint64_t t_ns = PTP_CLOCK_GetTime_ns();     // synchronised wall-clock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SYS_CONSOLE_PRINT("RX %llu.%09llu  seq=%u\r\n",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                  t_ns / 1000000000ull,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                  t_ns % 1000000000ull,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                  rx_seq);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}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void actuator_fire(uint64_t at_ns) {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while (PTP_CLOCK_GetTime_ns() &lt; at_ns) { /* tight spin */ }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    GPIO_PinSet(ACT_PIN);</a:t>
            </a:r>
          </a:p>
          <a:p>
            <a:r>
              <a:rPr sz="1400">
                <a:solidFill>
                  <a:srgbClr val="0B2E4F"/>
                </a:solidFill>
                <a:latin typeface="Consolas"/>
              </a:rP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463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B2E4F"/>
                </a:solidFill>
              </a:rPr>
              <a:t>• Pattern: call PTP_CLOCK_GetTime_ns() at the moment of interest, store alongside the event.</a:t>
            </a:r>
          </a:p>
          <a:p>
            <a:r>
              <a:rPr sz="1300">
                <a:solidFill>
                  <a:srgbClr val="0B2E4F"/>
                </a:solidFill>
              </a:rPr>
              <a:t>• Log to console, ring buffer, or CLI — the timestamp is portable across boards.</a:t>
            </a:r>
          </a:p>
          <a:p>
            <a:r>
              <a:rPr sz="1300">
                <a:solidFill>
                  <a:srgbClr val="0B2E4F"/>
                </a:solidFill>
              </a:rPr>
              <a:t>• For event correlation across nodes: compare two logs directly; no relative-time conversion.</a:t>
            </a:r>
          </a:p>
          <a:p>
            <a:r>
              <a:rPr sz="1300">
                <a:solidFill>
                  <a:srgbClr val="0B2E4F"/>
                </a:solidFill>
              </a:rPr>
              <a:t>• For scheduled actions: give the target time to the action, spin or sleep until reached.</a:t>
            </a:r>
          </a:p>
          <a:p>
            <a:r>
              <a:rPr sz="1300">
                <a:solidFill>
                  <a:srgbClr val="0B2E4F"/>
                </a:solidFill>
              </a:rPr>
              <a:t>• Always guard with PTP_CLOCK_IsValid() during startup to avoid 0-timestamps.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PTP_CLOCK — Cross-Board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Every event stamped with PTP_CLOCK_GetTime_ns() lives on a common timeline</a:t>
            </a:r>
          </a:p>
          <a:p>
            <a:pPr/>
            <a:r>
              <a:rPr sz="1800"/>
              <a:t>Typical workflows the API enables:</a:t>
            </a:r>
          </a:p>
          <a:p>
            <a:pPr lvl="1"/>
            <a:r>
              <a:rPr sz="1600"/>
              <a:t>Distributed trace — collect logs from N nodes, sort by PTP timestamp</a:t>
            </a:r>
          </a:p>
          <a:p>
            <a:pPr lvl="1"/>
            <a:r>
              <a:rPr sz="1600"/>
              <a:t>Race analysis — precise order of events on nodes A, B, C</a:t>
            </a:r>
          </a:p>
          <a:p>
            <a:pPr lvl="1"/>
            <a:r>
              <a:rPr sz="1600"/>
              <a:t>Latency measurement — PTP_CLOCK_ns at TX on A vs RX on B</a:t>
            </a:r>
          </a:p>
          <a:p>
            <a:pPr lvl="1"/>
            <a:r>
              <a:rPr sz="1600"/>
              <a:t>Scheduled output — compute target ns, hand to application, pin fires synchronously</a:t>
            </a:r>
          </a:p>
          <a:p>
            <a:pPr lvl="1"/>
            <a:r>
              <a:rPr sz="1600"/>
              <a:t>Drift surveillance — log PTP_CLOCK_GetDriftPPB() over long runs</a:t>
            </a:r>
          </a:p>
          <a:p>
            <a:pPr/>
            <a:r>
              <a:rPr sz="1800"/>
              <a:t>Accuracy envelope (current firmware):</a:t>
            </a:r>
          </a:p>
          <a:p>
            <a:pPr lvl="1"/>
            <a:r>
              <a:rPr sz="1600"/>
              <a:t>Static bias between boards: ~10 µs after calibration</a:t>
            </a:r>
          </a:p>
          <a:p>
            <a:pPr lvl="1"/>
            <a:r>
              <a:rPr sz="1600"/>
              <a:t>Short-term wander: ~40 µs RMS within a 0.7 s window</a:t>
            </a:r>
          </a:p>
          <a:p>
            <a:pPr lvl="1"/>
            <a:r>
              <a:rPr sz="1600"/>
              <a:t>Long-term rate agreement: 1.2 ppm over 60 s</a:t>
            </a:r>
          </a:p>
          <a:p>
            <a:pPr/>
            <a:r>
              <a:rPr sz="1800"/>
              <a:t>Cyclic Fire is the canonical consumer of this API — any feature using PTP time follows the same pattern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Saleae Logic 8 — Ch0 = GM board PD10, Ch1 = Follower board PD10</a:t>
            </a:r>
          </a:p>
          <a:p>
            <a:pPr/>
            <a:r>
              <a:rPr sz="1800"/>
              <a:t>cyclic_fire_hw_test.py orchestrates the full run:</a:t>
            </a:r>
          </a:p>
          <a:p>
            <a:pPr lvl="1"/>
            <a:r>
              <a:rPr sz="1600"/>
              <a:t>Reset both boards → wait for FINE PTP state</a:t>
            </a:r>
          </a:p>
          <a:p>
            <a:pPr lvl="1"/>
            <a:r>
              <a:rPr sz="1600"/>
              <a:t>Issue cyclic_start with a shared future anchor_ns</a:t>
            </a:r>
          </a:p>
          <a:p>
            <a:pPr lvl="1"/>
            <a:r>
              <a:rPr sz="1600"/>
              <a:t>Capture ~0.7 s via the Logic 2 scripting socket</a:t>
            </a:r>
          </a:p>
          <a:p>
            <a:pPr lvl="1"/>
            <a:r>
              <a:rPr sz="1600"/>
              <a:t>Extract rising edges, pair cross-board edges, compute delta distribution</a:t>
            </a:r>
          </a:p>
          <a:p>
            <a:pPr/>
            <a:r>
              <a:rPr sz="1800"/>
              <a:t>Reported statistics: median, MAD, extrema, per-edge CSV dump</a:t>
            </a:r>
          </a:p>
          <a:p>
            <a:pPr/>
            <a:r>
              <a:rPr sz="1800"/>
              <a:t>Pass gate:  |median| ≤ 50 µs  AND  MAD ≤ 50 µs    →    sum ≤ 100 µs window</a:t>
            </a:r>
          </a:p>
          <a:p>
            <a:pPr/>
            <a:r>
              <a:rPr sz="1800"/>
              <a:t>Spot-check: Logic 2 cursor measurements cross-validated the script output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— Measurement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38328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Median
+10 µs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737360"/>
            <a:ext cx="3383280" cy="1645920"/>
          </a:xfrm>
          <a:prstGeom prst="roundRect">
            <a:avLst/>
          </a:prstGeom>
          <a:solidFill>
            <a:srgbClr val="1F77B4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MAD
38 µs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737360"/>
            <a:ext cx="3383280" cy="1645920"/>
          </a:xfrm>
          <a:prstGeom prst="roundRect">
            <a:avLst/>
          </a:prstGeom>
          <a:solidFill>
            <a:srgbClr val="2CA02C"/>
          </a:solidFill>
          <a:ln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Verdict
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0B2E4F"/>
                </a:solidFill>
              </a:rPr>
              <a:t>• Before RX-IRQ compensation:  median +10 005 µs  →  FAIL</a:t>
            </a:r>
          </a:p>
          <a:p>
            <a:r>
              <a:rPr sz="1700">
                <a:solidFill>
                  <a:srgbClr val="0B2E4F"/>
                </a:solidFill>
              </a:rPr>
              <a:t>• After the fix:  median +10 µs  →  inside the 100 µs product window</a:t>
            </a:r>
          </a:p>
          <a:p>
            <a:r>
              <a:rPr sz="1700">
                <a:solidFill>
                  <a:srgbClr val="0B2E4F"/>
                </a:solidFill>
              </a:rPr>
              <a:t>• Long-term (60 s) cross-board rate residual:  1.2 ppm</a:t>
            </a:r>
          </a:p>
          <a:p>
            <a:r>
              <a:rPr sz="1700">
                <a:solidFill>
                  <a:srgbClr val="0B2E4F"/>
                </a:solidFill>
              </a:rPr>
              <a:t>• MAD dominated by short-term drift-filter wander, not stack asymmetry</a:t>
            </a:r>
          </a:p>
          <a:p>
            <a:r>
              <a:rPr sz="1700">
                <a:solidFill>
                  <a:srgbClr val="0B2E4F"/>
                </a:solidFill>
              </a:rPr>
              <a:t>• Drift IIR raised from N=32 to N=128 → halved filter stddev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 Issues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pPr/>
            <a:r>
              <a:rPr sz="1800"/>
              <a:t>Short-term wander within 0.7 s capture windows: 50…200 µs/s drift bursts</a:t>
            </a:r>
          </a:p>
          <a:p>
            <a:pPr lvl="1"/>
            <a:r>
              <a:rPr sz="1600"/>
              <a:t>Drift filter random-walks (lag-1 autocorrelation &gt; 0.9)</a:t>
            </a:r>
          </a:p>
          <a:p>
            <a:pPr/>
            <a:r>
              <a:rPr sz="1800"/>
              <a:t>Paths forward:</a:t>
            </a:r>
          </a:p>
          <a:p>
            <a:pPr lvl="1"/>
            <a:r>
              <a:rPr sz="1600"/>
              <a:t>Longer averaging window (N = 256) — trades response speed for variance</a:t>
            </a:r>
          </a:p>
          <a:p>
            <a:pPr lvl="1"/>
            <a:r>
              <a:rPr sz="1600"/>
              <a:t>Median-of-N filter instead of IIR for outlier resilience</a:t>
            </a:r>
          </a:p>
          <a:p>
            <a:pPr lvl="1"/>
            <a:r>
              <a:rPr sz="1600"/>
              <a:t>Hardware-scheduled GPIO anchored to the LAN8651 1PPS / MAC timer</a:t>
            </a:r>
          </a:p>
          <a:p>
            <a:pPr lvl="2"/>
            <a:r>
              <a:rPr sz="1400"/>
              <a:t>→ bypasses software PTP_CLOCK, opens the sub-microsecond regime</a:t>
            </a:r>
          </a:p>
          <a:p>
            <a:pPr/>
            <a:r>
              <a:rPr sz="1800"/>
              <a:t>Known failure mode: LAN8651 MAC occasionally wedges after long runs</a:t>
            </a:r>
          </a:p>
          <a:p>
            <a:pPr lvl="1"/>
            <a:r>
              <a:rPr sz="1600"/>
              <a:t>Soft reset insufficient; USB power-cycle required</a:t>
            </a:r>
          </a:p>
          <a:p>
            <a:pPr/>
            <a:r>
              <a:rPr sz="1800"/>
              <a:t>References in-tree: README_PTP §§4.3, 11, 12  and  README_NTP §8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_x0020_Archived xmlns="df7acb31-37ac-40e2-81bb-c44e3630f613">false</Content_x0020_Archived>
    <_dlc_DocId xmlns="38ef598d-997c-498b-b737-2f6b2c50ccab">SV5CHKDEWJXD-84-133</_dlc_DocId>
    <_dlc_DocIdUrl xmlns="38ef598d-997c-498b-b737-2f6b2c50ccab">
      <Url>http://mchpweb-2010/marcom/home/Resources/_layouts/DocIdRedir.aspx?ID=SV5CHKDEWJXD-84-133</Url>
      <Description>SV5CHKDEWJXD-84-133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EF9829FE6FB94D84D3D1D5B1820991" ma:contentTypeVersion="2" ma:contentTypeDescription="Create a new document." ma:contentTypeScope="" ma:versionID="84d427fd2fb92a215479da5b0fe5e4ad">
  <xsd:schema xmlns:xsd="http://www.w3.org/2001/XMLSchema" xmlns:xs="http://www.w3.org/2001/XMLSchema" xmlns:p="http://schemas.microsoft.com/office/2006/metadata/properties" xmlns:ns2="38ef598d-997c-498b-b737-2f6b2c50ccab" xmlns:ns3="df7acb31-37ac-40e2-81bb-c44e3630f613" targetNamespace="http://schemas.microsoft.com/office/2006/metadata/properties" ma:root="true" ma:fieldsID="156788901a84a305ff90b9b24ba2d9fb" ns2:_="" ns3:_="">
    <xsd:import namespace="38ef598d-997c-498b-b737-2f6b2c50ccab"/>
    <xsd:import namespace="df7acb31-37ac-40e2-81bb-c44e3630f61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Content_x0020_Archiv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ef598d-997c-498b-b737-2f6b2c50ccab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acb31-37ac-40e2-81bb-c44e3630f613" elementFormDefault="qualified">
    <xsd:import namespace="http://schemas.microsoft.com/office/2006/documentManagement/types"/>
    <xsd:import namespace="http://schemas.microsoft.com/office/infopath/2007/PartnerControls"/>
    <xsd:element name="Content_x0020_Archived" ma:index="11" nillable="true" ma:displayName="Content Archived" ma:internalName="Content_x0020_Archived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15774815-801A-4D0C-AAC8-304A8EA5EAE0}">
  <ds:schemaRefs>
    <ds:schemaRef ds:uri="http://schemas.microsoft.com/office/2006/metadata/properties"/>
    <ds:schemaRef ds:uri="http://schemas.microsoft.com/office/infopath/2007/PartnerControls"/>
    <ds:schemaRef ds:uri="df7acb31-37ac-40e2-81bb-c44e3630f613"/>
    <ds:schemaRef ds:uri="38ef598d-997c-498b-b737-2f6b2c50ccab"/>
  </ds:schemaRefs>
</ds:datastoreItem>
</file>

<file path=customXml/itemProps2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9647E8-EA5A-4469-8198-396AF1DA17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ef598d-997c-498b-b737-2f6b2c50ccab"/>
    <ds:schemaRef ds:uri="df7acb31-37ac-40e2-81bb-c44e3630f6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36ECED7C-7E24-4B80-B6AD-5BF0A508FB7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SMSC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Template 2020</dc:title>
  <dc:creator>Michael Wikan</dc:creator>
  <cp:lastModifiedBy>Martin Ruppert - M91221</cp:lastModifiedBy>
  <cp:revision>227</cp:revision>
  <dcterms:created xsi:type="dcterms:W3CDTF">2019-09-10T21:33:18Z</dcterms:created>
  <dcterms:modified xsi:type="dcterms:W3CDTF">2020-08-05T09:50:09Z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6b1d4785-8f50-4d6b-8c29-4627085ae703</vt:lpwstr>
  </property>
  <property fmtid="{D5CDD505-2E9C-101B-9397-08002B2CF9AE}" pid="3" name="ContentTypeId">
    <vt:lpwstr>0x01010006EF9829FE6FB94D84D3D1D5B1820991</vt:lpwstr>
  </property>
</Properties>
</file>