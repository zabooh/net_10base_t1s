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7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8.xml" ContentType="application/vnd.openxmlformats-officedocument.presentationml.tags+xml"/>
  <Override PartName="/ppt/notesSlides/notesSlide18.xml" ContentType="application/vnd.openxmlformats-officedocument.presentationml.notesSlide+xml"/>
  <Override PartName="/ppt/tags/tag9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737" r:id="rId5"/>
    <p:sldMasterId id="2147483741" r:id="rId6"/>
  </p:sldMasterIdLst>
  <p:notesMasterIdLst>
    <p:notesMasterId r:id="rId72"/>
  </p:notesMasterIdLst>
  <p:handoutMasterIdLst>
    <p:handoutMasterId r:id="rId73"/>
  </p:handoutMasterIdLst>
  <p:sldIdLst>
    <p:sldId id="1954" r:id="rId7"/>
    <p:sldId id="1962" r:id="rId8"/>
    <p:sldId id="1965" r:id="rId9"/>
    <p:sldId id="1964" r:id="rId10"/>
    <p:sldId id="1963" r:id="rId11"/>
    <p:sldId id="1969" r:id="rId12"/>
    <p:sldId id="1970" r:id="rId13"/>
    <p:sldId id="1966" r:id="rId14"/>
    <p:sldId id="1967" r:id="rId15"/>
    <p:sldId id="1968" r:id="rId16"/>
    <p:sldId id="1979" r:id="rId17"/>
    <p:sldId id="1974" r:id="rId18"/>
    <p:sldId id="1976" r:id="rId19"/>
    <p:sldId id="1972" r:id="rId20"/>
    <p:sldId id="1978" r:id="rId21"/>
    <p:sldId id="1980" r:id="rId22"/>
    <p:sldId id="1982" r:id="rId23"/>
    <p:sldId id="1983" r:id="rId24"/>
    <p:sldId id="1984" r:id="rId25"/>
    <p:sldId id="1985" r:id="rId26"/>
    <p:sldId id="1987" r:id="rId27"/>
    <p:sldId id="1986" r:id="rId28"/>
    <p:sldId id="1981" r:id="rId29"/>
    <p:sldId id="1988" r:id="rId30"/>
    <p:sldId id="1989" r:id="rId31"/>
    <p:sldId id="1991" r:id="rId32"/>
    <p:sldId id="1990" r:id="rId33"/>
    <p:sldId id="1993" r:id="rId34"/>
    <p:sldId id="1977" r:id="rId35"/>
    <p:sldId id="1994" r:id="rId36"/>
    <p:sldId id="1995" r:id="rId37"/>
    <p:sldId id="1996" r:id="rId38"/>
    <p:sldId id="1997" r:id="rId39"/>
    <p:sldId id="2002" r:id="rId40"/>
    <p:sldId id="1998" r:id="rId41"/>
    <p:sldId id="2001" r:id="rId42"/>
    <p:sldId id="1999" r:id="rId43"/>
    <p:sldId id="2000" r:id="rId44"/>
    <p:sldId id="1961" r:id="rId45"/>
    <p:sldId id="2005" r:id="rId46"/>
    <p:sldId id="2004" r:id="rId47"/>
    <p:sldId id="2006" r:id="rId48"/>
    <p:sldId id="2007" r:id="rId49"/>
    <p:sldId id="2008" r:id="rId50"/>
    <p:sldId id="2009" r:id="rId51"/>
    <p:sldId id="2010" r:id="rId52"/>
    <p:sldId id="2020" r:id="rId53"/>
    <p:sldId id="2014" r:id="rId54"/>
    <p:sldId id="2015" r:id="rId55"/>
    <p:sldId id="2016" r:id="rId56"/>
    <p:sldId id="2012" r:id="rId57"/>
    <p:sldId id="2017" r:id="rId58"/>
    <p:sldId id="2018" r:id="rId59"/>
    <p:sldId id="2030" r:id="rId60"/>
    <p:sldId id="2023" r:id="rId61"/>
    <p:sldId id="2024" r:id="rId62"/>
    <p:sldId id="2031" r:id="rId63"/>
    <p:sldId id="2025" r:id="rId64"/>
    <p:sldId id="2026" r:id="rId65"/>
    <p:sldId id="2103812814" r:id="rId66"/>
    <p:sldId id="2103812806" r:id="rId67"/>
    <p:sldId id="2103812809" r:id="rId68"/>
    <p:sldId id="2103812807" r:id="rId69"/>
    <p:sldId id="2103812815" r:id="rId70"/>
    <p:sldId id="2028" r:id="rId71"/>
  </p:sldIdLst>
  <p:sldSz cx="12188825" cy="6858000"/>
  <p:notesSz cx="6858000" cy="9144000"/>
  <p:defaultTextStyle>
    <a:defPPr>
      <a:defRPr lang="en-US"/>
    </a:defPPr>
    <a:lvl1pPr marL="0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" userDrawn="1">
          <p15:clr>
            <a:srgbClr val="A4A3A4"/>
          </p15:clr>
        </p15:guide>
        <p15:guide id="2" pos="24" userDrawn="1">
          <p15:clr>
            <a:srgbClr val="A4A3A4"/>
          </p15:clr>
        </p15:guide>
        <p15:guide id="3" orient="horz" pos="80">
          <p15:clr>
            <a:srgbClr val="A4A3A4"/>
          </p15:clr>
        </p15:guide>
        <p15:guide id="4" pos="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77777"/>
    <a:srgbClr val="070707"/>
    <a:srgbClr val="0E3689"/>
    <a:srgbClr val="1D9CE4"/>
    <a:srgbClr val="FFD53A"/>
    <a:srgbClr val="702076"/>
    <a:srgbClr val="5EBF33"/>
    <a:srgbClr val="FD7F20"/>
    <a:srgbClr val="0E1454"/>
    <a:srgbClr val="CE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3AF9FB-F829-BD99-DE61-C26AB8997BBB}" v="17" dt="2024-06-25T12:45:35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60"/>
        <p:guide pos="24"/>
        <p:guide orient="horz" pos="80"/>
        <p:guide pos="32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handoutMaster" Target="handoutMasters/handoutMaster1.xml"/><Relationship Id="rId78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theme" Target="theme/theme1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customXml" Target="../customXml/item2.xml"/><Relationship Id="rId29" Type="http://schemas.openxmlformats.org/officeDocument/2006/relationships/slide" Target="slides/slide2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39C997-21E5-5348-AFE6-AB6F92264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7AC1D-5903-004B-A07D-BA6E3EE37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5C2D-FB91-8740-95C2-23C11A10F2F2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79EA0-CF08-6C46-9B0C-7A703F62F2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23A1-2359-A341-AFD4-DCB4B7D00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837C5-E66E-4749-8D3A-655388B1E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73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E49F-5C3A-ED4E-A68A-CCB3AA3B5D59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CB49-A7FB-5E4A-B599-DE2118135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414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6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36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0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872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4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80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275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74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Let’s come to the question: what is 10BASE-T1S ?</a:t>
            </a:r>
          </a:p>
          <a:p>
            <a:endParaRPr lang="en-DE"/>
          </a:p>
          <a:p>
            <a:r>
              <a:rPr lang="en-DE"/>
              <a:t>It </a:t>
            </a:r>
            <a:r>
              <a:rPr lang="en-US"/>
              <a:t>is a technology to connect Ethernet devices using a balance pair of connectors as a bus line. </a:t>
            </a:r>
            <a:endParaRPr lang="en-DE"/>
          </a:p>
          <a:p>
            <a:r>
              <a:rPr lang="en-US"/>
              <a:t>10BASE-T1S </a:t>
            </a:r>
            <a:r>
              <a:rPr lang="en-DE"/>
              <a:t>supports a bandwidth of </a:t>
            </a:r>
            <a:r>
              <a:rPr lang="en-US"/>
              <a:t>10 megabits per second </a:t>
            </a:r>
            <a:r>
              <a:rPr lang="en-DE"/>
              <a:t>on a </a:t>
            </a:r>
            <a:r>
              <a:rPr lang="en-US"/>
              <a:t>shared connection. </a:t>
            </a:r>
            <a:endParaRPr lang="en-DE"/>
          </a:p>
          <a:p>
            <a:endParaRPr lang="en-DE"/>
          </a:p>
          <a:p>
            <a:r>
              <a:rPr lang="en-DE"/>
              <a:t>On a bus line,  </a:t>
            </a:r>
            <a:r>
              <a:rPr lang="en-DE" err="1"/>
              <a:t>i</a:t>
            </a:r>
            <a:r>
              <a:rPr lang="en-US"/>
              <a:t>t uses half-duplex data transmission</a:t>
            </a:r>
            <a:r>
              <a:rPr lang="en-DE"/>
              <a:t>, </a:t>
            </a:r>
          </a:p>
          <a:p>
            <a:r>
              <a:rPr lang="en-US"/>
              <a:t>Up to </a:t>
            </a:r>
            <a:r>
              <a:rPr lang="en-DE"/>
              <a:t>at least 8</a:t>
            </a:r>
            <a:r>
              <a:rPr lang="en-US"/>
              <a:t> nodes, depending on the environment</a:t>
            </a:r>
            <a:r>
              <a:rPr lang="en-DE"/>
              <a:t> and </a:t>
            </a:r>
            <a:r>
              <a:rPr lang="en-DE" err="1"/>
              <a:t>cableing</a:t>
            </a:r>
            <a:r>
              <a:rPr lang="en-US"/>
              <a:t>, can be connected </a:t>
            </a:r>
            <a:r>
              <a:rPr lang="en-DE"/>
              <a:t>via a multidrop bus.</a:t>
            </a:r>
          </a:p>
          <a:p>
            <a:r>
              <a:rPr lang="en-DE"/>
              <a:t>The </a:t>
            </a:r>
            <a:r>
              <a:rPr lang="en-US"/>
              <a:t>bus length</a:t>
            </a:r>
            <a:r>
              <a:rPr lang="en-DE"/>
              <a:t> can go up from a few cm to at least 25m, and even higher.</a:t>
            </a:r>
            <a:endParaRPr lang="de-DE"/>
          </a:p>
          <a:p>
            <a:endParaRPr lang="en-DE"/>
          </a:p>
          <a:p>
            <a:r>
              <a:rPr lang="en-US"/>
              <a:t>A</a:t>
            </a:r>
            <a:r>
              <a:rPr lang="en-DE" err="1"/>
              <a:t>lternatively</a:t>
            </a:r>
            <a:r>
              <a:rPr lang="en-DE"/>
              <a:t>, on a point-to-point connection,  the 10BASE-T1S standard specifies a half-duplex or full-duplex mode,  with up to 15m connection length.</a:t>
            </a:r>
          </a:p>
          <a:p>
            <a:endParaRPr lang="en-DE"/>
          </a:p>
          <a:p>
            <a:r>
              <a:rPr lang="en-US"/>
              <a:t>The technology is being developed as the IEEE 802.3cg standard, </a:t>
            </a:r>
            <a:endParaRPr lang="en-DE"/>
          </a:p>
          <a:p>
            <a:r>
              <a:rPr lang="en-US"/>
              <a:t>which envisions low power physical layer transceivers </a:t>
            </a:r>
            <a:endParaRPr lang="en-DE"/>
          </a:p>
          <a:p>
            <a:r>
              <a:rPr lang="en-US"/>
              <a:t>and a bus line connection without collisions.</a:t>
            </a:r>
            <a:endParaRPr lang="en-DE"/>
          </a:p>
          <a:p>
            <a:endParaRPr lang="en-DE"/>
          </a:p>
          <a:p>
            <a:pPr marL="0" marR="0" lvl="0" indent="0" algn="l" defTabSz="1213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10BASE-T1S </a:t>
            </a:r>
            <a:r>
              <a:rPr lang="en-US" b="0"/>
              <a:t>supports </a:t>
            </a:r>
            <a:r>
              <a:rPr lang="en-DE" b="0"/>
              <a:t>AEC-Q100 Temperature Grade 1 and</a:t>
            </a:r>
          </a:p>
          <a:p>
            <a:pPr defTabSz="1213085">
              <a:defRPr/>
            </a:pPr>
            <a:r>
              <a:rPr lang="en-US"/>
              <a:t>Functional Safety requirements</a:t>
            </a:r>
            <a:r>
              <a:rPr lang="en-DE"/>
              <a:t>,</a:t>
            </a:r>
            <a:r>
              <a:rPr lang="en-US"/>
              <a:t> </a:t>
            </a:r>
            <a:r>
              <a:rPr lang="en-DE"/>
              <a:t>as </a:t>
            </a:r>
            <a:r>
              <a:rPr lang="en-US"/>
              <a:t>needed for high-reliability applications.</a:t>
            </a:r>
            <a:endParaRPr lang="en-DE"/>
          </a:p>
          <a:p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CE19D870-9B2B-91C6-857C-E8B2C3CBA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47F54F-813B-E604-7ADB-20D5A566E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US"/>
              <a:t>10BASE-T1S  Technology  Introduction  p.</a:t>
            </a:r>
            <a:fld id="{BFF8CB49-A7FB-5E4A-B599-DE2118135120}" type="slidenum">
              <a:rPr lang="en-US" smtClean="0"/>
              <a:pPr algn="ctr"/>
              <a:t>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9563997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LAN8670/1/2 is a high-performance 10BASE-T1S</a:t>
            </a:r>
            <a:r>
              <a:rPr lang="en-DE"/>
              <a:t> </a:t>
            </a:r>
            <a:r>
              <a:rPr lang="en-US"/>
              <a:t>single-pair Ethernet PHY transceiver for 10 Mbit/s </a:t>
            </a:r>
            <a:r>
              <a:rPr lang="en-US" err="1"/>
              <a:t>halfduplex</a:t>
            </a:r>
            <a:r>
              <a:rPr lang="en-DE"/>
              <a:t> </a:t>
            </a:r>
            <a:r>
              <a:rPr lang="en-US"/>
              <a:t>networking over a single pair of conductors</a:t>
            </a:r>
            <a:r>
              <a:rPr lang="en-DE"/>
              <a:t>, d</a:t>
            </a:r>
            <a:r>
              <a:rPr lang="en-US" err="1"/>
              <a:t>esigned</a:t>
            </a:r>
            <a:r>
              <a:rPr lang="en-US"/>
              <a:t> according to </a:t>
            </a:r>
            <a:r>
              <a:rPr lang="en-DE"/>
              <a:t>the </a:t>
            </a:r>
            <a:r>
              <a:rPr lang="en-US"/>
              <a:t>IEEE Std 802.3cg-2019™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The LAN8670/1/2 </a:t>
            </a:r>
            <a:r>
              <a:rPr lang="en-DE"/>
              <a:t>connects via an MII or RMII interface to an Ethernet MAC Layer, running on an external MCU. </a:t>
            </a:r>
            <a:r>
              <a:rPr lang="en-US"/>
              <a:t>The LAN8670/1/2 </a:t>
            </a:r>
            <a:r>
              <a:rPr lang="en-DE"/>
              <a:t>can be configured via a standard SMI-interface by the external MCU, and connects to the 10BASE-T1S network using 2 differential pins.</a:t>
            </a:r>
          </a:p>
          <a:p>
            <a:r>
              <a:rPr lang="en-DE"/>
              <a:t>The MCU itself may be connected to several sensors or actuators, collecting and processing their data, or may be connected to any other application.</a:t>
            </a:r>
          </a:p>
          <a:p>
            <a:r>
              <a:rPr lang="en-DE"/>
              <a:t>Similarly, the LAN8670/1/2 may be connected via MII or RMII to an Ethernet switch application which passes the data to/from the 10BASE-T1S network to other network segments having higher speed.</a:t>
            </a:r>
          </a:p>
          <a:p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F38242AE-8ED5-4655-7D44-072347E31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CDA6B8-EF42-A582-DA08-5FF9247AE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Overview  LAN8670/1/2  and  LAN8650/1  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33304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46750AD9-036F-E4E6-BC9A-81307BB4F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6B69A46A-A2F1-3C72-1D33-E3610AFF4F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LAN86</a:t>
            </a:r>
            <a:r>
              <a:rPr lang="en-DE"/>
              <a:t>50/1</a:t>
            </a:r>
            <a:r>
              <a:rPr lang="en-US"/>
              <a:t> is a high-performance 10BASE-T1S</a:t>
            </a:r>
            <a:r>
              <a:rPr lang="en-DE"/>
              <a:t> MAC-PHY </a:t>
            </a:r>
            <a:r>
              <a:rPr lang="en-US"/>
              <a:t>for 10 Mbit/s </a:t>
            </a:r>
            <a:r>
              <a:rPr lang="en-US" err="1"/>
              <a:t>halfduplex</a:t>
            </a:r>
            <a:r>
              <a:rPr lang="en-DE"/>
              <a:t> </a:t>
            </a:r>
            <a:r>
              <a:rPr lang="en-US"/>
              <a:t>networking over a single pair of conductors</a:t>
            </a:r>
            <a:r>
              <a:rPr lang="en-DE"/>
              <a:t>, d</a:t>
            </a:r>
            <a:r>
              <a:rPr lang="en-US" err="1"/>
              <a:t>esigned</a:t>
            </a:r>
            <a:r>
              <a:rPr lang="en-US"/>
              <a:t> according to </a:t>
            </a:r>
            <a:r>
              <a:rPr lang="en-DE"/>
              <a:t>the </a:t>
            </a:r>
            <a:r>
              <a:rPr lang="en-US"/>
              <a:t>IEEE Std 802.3cg-2019™</a:t>
            </a:r>
            <a:r>
              <a:rPr lang="en-DE"/>
              <a:t>.</a:t>
            </a:r>
          </a:p>
          <a:p>
            <a:pPr marL="0" marR="0" lvl="0" indent="0" algn="l" defTabSz="12189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LAN86</a:t>
            </a:r>
            <a:r>
              <a:rPr lang="en-DE"/>
              <a:t>5</a:t>
            </a:r>
            <a:r>
              <a:rPr lang="en-US"/>
              <a:t>0/1 </a:t>
            </a:r>
            <a:r>
              <a:rPr lang="en-DE"/>
              <a:t>connects via an SPI interface to an external MCU. </a:t>
            </a:r>
            <a:r>
              <a:rPr lang="en-US"/>
              <a:t>The LAN86</a:t>
            </a:r>
            <a:r>
              <a:rPr lang="en-DE"/>
              <a:t>5</a:t>
            </a:r>
            <a:r>
              <a:rPr lang="en-US"/>
              <a:t>0/1 </a:t>
            </a:r>
            <a:r>
              <a:rPr lang="en-DE"/>
              <a:t>can as well be configured via the SPI interface by the external MCU, and connects to the 10BASE-T1S network using 2 differential pins.</a:t>
            </a:r>
          </a:p>
          <a:p>
            <a:pPr marL="0" marR="0" lvl="0" indent="0" algn="l" defTabSz="12189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DE"/>
              <a:t>The MCU itself may be connected to several sensors or actuators, collecting and processing their data, or may be connected to any other application.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714BFA-E4F5-EB6D-5DD1-190055980A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Overview  LAN8670/1/2  and  LAN8650/1  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5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687408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54D98F-166A-021A-BC3B-F91F05BF6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LAN867x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6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5454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</a:t>
            </a:r>
            <a:r>
              <a:rPr lang="en-DE"/>
              <a:t>he key </a:t>
            </a:r>
            <a:r>
              <a:rPr lang="en-US"/>
              <a:t>is to avoid physical collisions </a:t>
            </a:r>
            <a:r>
              <a:rPr lang="en-DE"/>
              <a:t>by </a:t>
            </a:r>
            <a:r>
              <a:rPr lang="en-US" err="1"/>
              <a:t>organiz</a:t>
            </a:r>
            <a:r>
              <a:rPr lang="en-DE" err="1"/>
              <a:t>ing</a:t>
            </a:r>
            <a:r>
              <a:rPr lang="en-US"/>
              <a:t> the media access</a:t>
            </a:r>
            <a:r>
              <a:rPr lang="en-DE"/>
              <a:t>,</a:t>
            </a:r>
          </a:p>
          <a:p>
            <a:endParaRPr lang="en-DE"/>
          </a:p>
          <a:p>
            <a:r>
              <a:rPr lang="en-US"/>
              <a:t>This  </a:t>
            </a:r>
            <a:r>
              <a:rPr lang="en-DE"/>
              <a:t>IEEE standard is </a:t>
            </a:r>
            <a:r>
              <a:rPr lang="en-US"/>
              <a:t>called Physical layer collision avoidance</a:t>
            </a:r>
            <a:r>
              <a:rPr lang="en-DE"/>
              <a:t>,</a:t>
            </a:r>
            <a:r>
              <a:rPr lang="en-US"/>
              <a:t> or </a:t>
            </a:r>
            <a:r>
              <a:rPr lang="en-DE"/>
              <a:t>just </a:t>
            </a:r>
            <a:r>
              <a:rPr lang="en-US"/>
              <a:t>PLCA in short</a:t>
            </a:r>
            <a:r>
              <a:rPr lang="en-DE"/>
              <a:t>.</a:t>
            </a:r>
            <a:r>
              <a:rPr lang="en-US"/>
              <a:t> </a:t>
            </a:r>
          </a:p>
          <a:p>
            <a:endParaRPr lang="en-US"/>
          </a:p>
          <a:p>
            <a:endParaRPr lang="en-DE"/>
          </a:p>
          <a:p>
            <a:r>
              <a:rPr lang="en-US"/>
              <a:t>O</a:t>
            </a:r>
            <a:r>
              <a:rPr lang="en-DE"/>
              <a:t>ne of the basics for PLCA is that each node has its unique </a:t>
            </a:r>
            <a:r>
              <a:rPr lang="en-DE" err="1"/>
              <a:t>NodeID</a:t>
            </a:r>
            <a:r>
              <a:rPr lang="en-DE"/>
              <a:t>, but the order of the I</a:t>
            </a:r>
            <a:r>
              <a:rPr lang="en-US"/>
              <a:t>d</a:t>
            </a:r>
            <a:r>
              <a:rPr lang="en-DE"/>
              <a:t>s in the network is not relevant.</a:t>
            </a:r>
            <a:endParaRPr lang="de-DE"/>
          </a:p>
        </p:txBody>
      </p:sp>
      <p:sp>
        <p:nvSpPr>
          <p:cNvPr id="5" name="Slide Image Placeholder 4">
            <a:extLst>
              <a:ext uri="{FF2B5EF4-FFF2-40B4-BE49-F238E27FC236}">
                <a16:creationId xmlns:a16="http://schemas.microsoft.com/office/drawing/2014/main" id="{94C02FFB-129C-3590-428E-FF3BD52DC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9DF338-475A-3F6A-5379-22D3B29BF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US"/>
              <a:t>10BASE-T1S  Technology  Introduction  p.</a:t>
            </a:r>
            <a:fld id="{BFF8CB49-A7FB-5E4A-B599-DE2118135120}" type="slidenum">
              <a:rPr lang="en-US" smtClean="0"/>
              <a:pPr algn="ctr"/>
              <a:t>8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875591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Transmit opportunities are given </a:t>
            </a:r>
            <a:r>
              <a:rPr lang="en-DE"/>
              <a:t>in a </a:t>
            </a:r>
            <a:r>
              <a:rPr lang="en-US"/>
              <a:t>round robin </a:t>
            </a:r>
            <a:r>
              <a:rPr lang="en-DE"/>
              <a:t>manner </a:t>
            </a:r>
            <a:r>
              <a:rPr lang="en-US"/>
              <a:t>to each node.</a:t>
            </a:r>
            <a:endParaRPr lang="en-DE"/>
          </a:p>
          <a:p>
            <a:endParaRPr lang="en-DE"/>
          </a:p>
          <a:p>
            <a:r>
              <a:rPr lang="en-US"/>
              <a:t>And only the node that owns a </a:t>
            </a:r>
            <a:r>
              <a:rPr lang="en-DE"/>
              <a:t>certain transmit opportunity </a:t>
            </a:r>
            <a:r>
              <a:rPr lang="en-US"/>
              <a:t> is allowed to send its data </a:t>
            </a:r>
            <a:r>
              <a:rPr lang="en-DE"/>
              <a:t>.</a:t>
            </a:r>
          </a:p>
          <a:p>
            <a:r>
              <a:rPr lang="en-DE"/>
              <a:t>This rule avoids collisions on the bus line.</a:t>
            </a:r>
            <a:endParaRPr lang="en-US"/>
          </a:p>
        </p:txBody>
      </p:sp>
      <p:sp>
        <p:nvSpPr>
          <p:cNvPr id="5" name="Slide Image Placeholder 4">
            <a:extLst>
              <a:ext uri="{FF2B5EF4-FFF2-40B4-BE49-F238E27FC236}">
                <a16:creationId xmlns:a16="http://schemas.microsoft.com/office/drawing/2014/main" id="{C26AB5FD-1671-B87D-AFAD-1B2476B127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0453E4-0D57-F93D-87B4-928626FC9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US"/>
              <a:t>10BASE-T1S  Technology  Introduction  p.</a:t>
            </a:r>
            <a:fld id="{BFF8CB49-A7FB-5E4A-B599-DE2118135120}" type="slidenum">
              <a:rPr lang="en-US" smtClean="0"/>
              <a:pPr algn="ctr"/>
              <a:t>9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843956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otes Placeholder 10">
            <a:extLst>
              <a:ext uri="{FF2B5EF4-FFF2-40B4-BE49-F238E27FC236}">
                <a16:creationId xmlns:a16="http://schemas.microsoft.com/office/drawing/2014/main" id="{D1E15814-98BE-4EA6-8D25-CF6620540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E</a:t>
            </a:r>
            <a:r>
              <a:rPr lang="en-US"/>
              <a:t>very transmit opportunity is followed by a short </a:t>
            </a:r>
            <a:r>
              <a:rPr lang="en-DE"/>
              <a:t>silence to make sure that all </a:t>
            </a:r>
            <a:r>
              <a:rPr lang="en-US"/>
              <a:t>nodes </a:t>
            </a:r>
            <a:r>
              <a:rPr lang="en-DE"/>
              <a:t>have </a:t>
            </a:r>
            <a:r>
              <a:rPr lang="en-US"/>
              <a:t>recognized the beginning of the next transmit opportunity 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Once all transmit opportunities have passed</a:t>
            </a:r>
            <a:r>
              <a:rPr lang="en-DE"/>
              <a:t>,</a:t>
            </a:r>
            <a:r>
              <a:rPr lang="en-US"/>
              <a:t> </a:t>
            </a:r>
            <a:r>
              <a:rPr lang="en-DE"/>
              <a:t>this is called a </a:t>
            </a:r>
            <a:r>
              <a:rPr lang="en-US"/>
              <a:t>PLC</a:t>
            </a:r>
            <a:r>
              <a:rPr lang="en-DE"/>
              <a:t>A</a:t>
            </a:r>
            <a:r>
              <a:rPr lang="en-US"/>
              <a:t> bus cycle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DE"/>
              <a:t>A new </a:t>
            </a:r>
            <a:r>
              <a:rPr lang="en-US"/>
              <a:t>PLC</a:t>
            </a:r>
            <a:r>
              <a:rPr lang="en-DE"/>
              <a:t>A</a:t>
            </a:r>
            <a:r>
              <a:rPr lang="en-US"/>
              <a:t> bus cycle </a:t>
            </a:r>
            <a:r>
              <a:rPr lang="en-DE"/>
              <a:t>is started right away </a:t>
            </a:r>
            <a:r>
              <a:rPr lang="en-US"/>
              <a:t>by sending out a beacon signal </a:t>
            </a:r>
            <a:r>
              <a:rPr lang="en-DE"/>
              <a:t>from </a:t>
            </a:r>
            <a:r>
              <a:rPr lang="en-US"/>
              <a:t>the PLC</a:t>
            </a:r>
            <a:r>
              <a:rPr lang="en-DE"/>
              <a:t>A</a:t>
            </a:r>
            <a:r>
              <a:rPr lang="en-US"/>
              <a:t> coordinator device which is node zero</a:t>
            </a:r>
            <a:r>
              <a:rPr lang="en-DE"/>
              <a:t>.</a:t>
            </a:r>
            <a:r>
              <a:rPr lang="en-US"/>
              <a:t> </a:t>
            </a:r>
            <a:endParaRPr lang="en-DE"/>
          </a:p>
          <a:p>
            <a:endParaRPr lang="en-DE"/>
          </a:p>
          <a:p>
            <a:r>
              <a:rPr lang="en-DE"/>
              <a:t>All other devices, called PLCA-Followers, synchronize their internal timings to this BEACON, to know when their TO starts.</a:t>
            </a:r>
          </a:p>
          <a:p>
            <a:endParaRPr lang="en-DE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D439B02-7933-CB67-6284-E505118AD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B3781E-2CC9-9688-6D61-70EBD21DD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US"/>
              <a:t>10BASE-T1S  Technology  Introduction  p.</a:t>
            </a:r>
            <a:fld id="{BFF8CB49-A7FB-5E4A-B599-DE2118135120}" type="slidenum">
              <a:rPr lang="en-US" smtClean="0"/>
              <a:pPr algn="ctr"/>
              <a:t>10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827100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otes Placeholder 10">
            <a:extLst>
              <a:ext uri="{FF2B5EF4-FFF2-40B4-BE49-F238E27FC236}">
                <a16:creationId xmlns:a16="http://schemas.microsoft.com/office/drawing/2014/main" id="{D1E15814-98BE-4EA6-8D25-CF6620540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Burst Mode is feature of PLCA , to enhance the bandwidth which can be used by a specific node.</a:t>
            </a:r>
          </a:p>
          <a:p>
            <a:endParaRPr lang="en-DE"/>
          </a:p>
          <a:p>
            <a:r>
              <a:rPr lang="en-DE"/>
              <a:t>In this example </a:t>
            </a:r>
            <a:r>
              <a:rPr lang="en-US"/>
              <a:t>Node</a:t>
            </a:r>
            <a:r>
              <a:rPr lang="en-DE"/>
              <a:t>-</a:t>
            </a:r>
            <a:r>
              <a:rPr lang="en-US"/>
              <a:t>1 can send three Ethernet frames </a:t>
            </a:r>
            <a:r>
              <a:rPr lang="en-DE"/>
              <a:t>(the yellow ones) without interruption </a:t>
            </a:r>
            <a:r>
              <a:rPr lang="en-US"/>
              <a:t>in the same TO</a:t>
            </a:r>
            <a:r>
              <a:rPr lang="en-DE"/>
              <a:t>. The node just needs to be configured with a</a:t>
            </a:r>
            <a:r>
              <a:rPr lang="en-US"/>
              <a:t> Max</a:t>
            </a:r>
            <a:r>
              <a:rPr lang="en-DE" err="1"/>
              <a:t>imum</a:t>
            </a:r>
            <a:r>
              <a:rPr lang="en-US"/>
              <a:t> Burst Count set</a:t>
            </a:r>
            <a:r>
              <a:rPr lang="en-DE"/>
              <a:t>ting</a:t>
            </a:r>
            <a:r>
              <a:rPr lang="en-US"/>
              <a:t> </a:t>
            </a:r>
            <a:r>
              <a:rPr lang="en-DE"/>
              <a:t>of</a:t>
            </a:r>
            <a:r>
              <a:rPr lang="en-US"/>
              <a:t> 2</a:t>
            </a:r>
            <a:r>
              <a:rPr lang="en-DE"/>
              <a:t>, and that means 2 </a:t>
            </a:r>
            <a:r>
              <a:rPr lang="en-US"/>
              <a:t>additional frames</a:t>
            </a:r>
            <a:r>
              <a:rPr lang="en-DE"/>
              <a:t>.</a:t>
            </a:r>
          </a:p>
          <a:p>
            <a:r>
              <a:rPr lang="en-DE"/>
              <a:t>As a result, Node-1 can potentially send 3 times as many frames per cycle compared to the other nodes.</a:t>
            </a:r>
            <a:endParaRPr lang="en-US"/>
          </a:p>
          <a:p>
            <a:endParaRPr lang="en-DE"/>
          </a:p>
          <a:p>
            <a:r>
              <a:rPr lang="en-DE"/>
              <a:t>Note that there is no silence between the frames of a burst, but at the end of the 3 frames.</a:t>
            </a:r>
          </a:p>
          <a:p>
            <a:endParaRPr lang="en-DE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975D0F7-E565-AC03-CD4A-F35B93B19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A65DBB-64DC-6377-B454-6026AECA4E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US"/>
              <a:t>10BASE-T1S  Technology  Introduction  p.</a:t>
            </a:r>
            <a:fld id="{BFF8CB49-A7FB-5E4A-B599-DE2118135120}" type="slidenum">
              <a:rPr lang="en-US" smtClean="0"/>
              <a:pPr algn="ctr"/>
              <a:t>12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001180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E22A4733-03D6-B056-AD9D-97C04E248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0AAB2F-25FE-CA79-DE16-7A921BF31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13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909927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otes Placeholder 10">
            <a:extLst>
              <a:ext uri="{FF2B5EF4-FFF2-40B4-BE49-F238E27FC236}">
                <a16:creationId xmlns:a16="http://schemas.microsoft.com/office/drawing/2014/main" id="{D1E15814-98BE-4EA6-8D25-CF6620540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DE"/>
              <a:t>Assigning Multiple </a:t>
            </a:r>
            <a:r>
              <a:rPr lang="en-DE" err="1"/>
              <a:t>NodeIDs</a:t>
            </a:r>
            <a:r>
              <a:rPr lang="en-DE"/>
              <a:t> to a single node is an advanced feature of the LAN867x and LAN865x, to enhance the latency and bandwidth for a specific node.</a:t>
            </a:r>
          </a:p>
          <a:p>
            <a:pPr lvl="0"/>
            <a:r>
              <a:rPr lang="en-DE"/>
              <a:t>In the example one of the devices has been assigned the three </a:t>
            </a:r>
            <a:r>
              <a:rPr lang="en-DE" err="1"/>
              <a:t>nodeIDs</a:t>
            </a:r>
            <a:r>
              <a:rPr lang="en-DE"/>
              <a:t>, #1, #3 and #5 (the yellow ones).</a:t>
            </a:r>
          </a:p>
          <a:p>
            <a:r>
              <a:rPr lang="en-DE"/>
              <a:t>After the transmission in TO-1, followed by a short silence, the TO-2 is used by some other device. However, our local device can use already TO-3 for its next frame, instead of waiting for a full PLCA bus-cycle. This reduces the latency for the local device, even if TO-0, 2, and 4 are used by other devices. Also the available bandwidth for the local device increases.</a:t>
            </a: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1B4BE705-5841-E457-8169-321FEC6432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0090C2-9BE8-AEBA-88FC-90D176E12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US"/>
              <a:t>10BASE-T1S  Technology  Introduction  p.</a:t>
            </a:r>
            <a:fld id="{BFF8CB49-A7FB-5E4A-B599-DE2118135120}" type="slidenum">
              <a:rPr lang="en-US" smtClean="0"/>
              <a:pPr algn="ctr"/>
              <a:t>14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281451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1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109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almost</a:t>
            </a:r>
            <a:r>
              <a:rPr lang="de-DE"/>
              <a:t> </a:t>
            </a:r>
            <a:r>
              <a:rPr lang="de-DE" err="1"/>
              <a:t>always</a:t>
            </a:r>
            <a:r>
              <a:rPr lang="de-DE"/>
              <a:t> possible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adjust</a:t>
            </a:r>
            <a:r>
              <a:rPr lang="de-DE"/>
              <a:t> </a:t>
            </a:r>
            <a:r>
              <a:rPr lang="de-DE" err="1"/>
              <a:t>bandwidth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giving</a:t>
            </a:r>
            <a:r>
              <a:rPr lang="de-DE"/>
              <a:t> </a:t>
            </a:r>
            <a:r>
              <a:rPr lang="de-DE" err="1"/>
              <a:t>some</a:t>
            </a:r>
            <a:r>
              <a:rPr lang="de-DE"/>
              <a:t> </a:t>
            </a:r>
            <a:r>
              <a:rPr lang="de-DE" err="1"/>
              <a:t>nodes</a:t>
            </a:r>
            <a:r>
              <a:rPr lang="de-DE"/>
              <a:t>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bandwidth</a:t>
            </a:r>
            <a:r>
              <a:rPr lang="de-DE"/>
              <a:t> </a:t>
            </a:r>
            <a:r>
              <a:rPr lang="de-DE" err="1"/>
              <a:t>using</a:t>
            </a:r>
            <a:r>
              <a:rPr lang="de-DE"/>
              <a:t> </a:t>
            </a:r>
            <a:r>
              <a:rPr lang="de-DE" err="1"/>
              <a:t>either</a:t>
            </a:r>
            <a:r>
              <a:rPr lang="de-DE"/>
              <a:t> Burst </a:t>
            </a:r>
            <a:r>
              <a:rPr lang="de-DE" err="1"/>
              <a:t>or</a:t>
            </a:r>
            <a:r>
              <a:rPr lang="de-DE"/>
              <a:t> Multiple </a:t>
            </a:r>
            <a:r>
              <a:rPr lang="de-DE" err="1"/>
              <a:t>Transmit</a:t>
            </a:r>
            <a:r>
              <a:rPr lang="de-DE"/>
              <a:t> </a:t>
            </a:r>
            <a:r>
              <a:rPr lang="de-DE" err="1"/>
              <a:t>Opportunities</a:t>
            </a:r>
            <a:r>
              <a:rPr lang="de-DE"/>
              <a:t>. Given </a:t>
            </a:r>
            <a:r>
              <a:rPr lang="de-DE" err="1"/>
              <a:t>that</a:t>
            </a:r>
            <a:r>
              <a:rPr lang="de-DE"/>
              <a:t> Ethernet </a:t>
            </a:r>
            <a:r>
              <a:rPr lang="de-DE" err="1"/>
              <a:t>won‘t</a:t>
            </a:r>
            <a:r>
              <a:rPr lang="de-DE"/>
              <a:t> </a:t>
            </a:r>
            <a:r>
              <a:rPr lang="de-DE" err="1"/>
              <a:t>try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transmit</a:t>
            </a:r>
            <a:r>
              <a:rPr lang="de-DE"/>
              <a:t>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doesn‘t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something</a:t>
            </a:r>
            <a:r>
              <a:rPr lang="de-DE"/>
              <a:t>,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rare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need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reduce</a:t>
            </a:r>
            <a:r>
              <a:rPr lang="de-DE"/>
              <a:t> </a:t>
            </a:r>
            <a:r>
              <a:rPr lang="de-DE" err="1"/>
              <a:t>bandwidth</a:t>
            </a:r>
            <a:r>
              <a:rPr lang="de-DE"/>
              <a:t>. The </a:t>
            </a:r>
            <a:r>
              <a:rPr lang="de-DE" err="1"/>
              <a:t>easiest</a:t>
            </a:r>
            <a:r>
              <a:rPr lang="de-DE"/>
              <a:t> </a:t>
            </a:r>
            <a:r>
              <a:rPr lang="de-DE" err="1"/>
              <a:t>ways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reduce</a:t>
            </a:r>
            <a:r>
              <a:rPr lang="de-DE"/>
              <a:t> </a:t>
            </a:r>
            <a:r>
              <a:rPr lang="de-DE" err="1"/>
              <a:t>bandwidth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transmit</a:t>
            </a:r>
            <a:r>
              <a:rPr lang="de-DE"/>
              <a:t> </a:t>
            </a:r>
            <a:r>
              <a:rPr lang="de-DE" err="1"/>
              <a:t>opportunity</a:t>
            </a:r>
            <a:r>
              <a:rPr lang="de-DE"/>
              <a:t> </a:t>
            </a:r>
            <a:r>
              <a:rPr lang="de-DE" err="1"/>
              <a:t>skipping</a:t>
            </a:r>
            <a:r>
              <a:rPr lang="de-DE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349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/>
              <a:t>The LAN8670/1/2 and LAN8650/1 implements a hardware credit based traffic shaper (CBS) to control the station’s</a:t>
            </a:r>
            <a:r>
              <a:rPr lang="en-DE"/>
              <a:t> </a:t>
            </a:r>
            <a:r>
              <a:rPr lang="en-US"/>
              <a:t>transmit bandwidth. A hardware credit counter is used to enable and disable the ability to transmit</a:t>
            </a:r>
            <a:r>
              <a:rPr lang="en-DE"/>
              <a:t> </a:t>
            </a:r>
            <a:r>
              <a:rPr lang="en-US"/>
              <a:t>packets onto the medium. The PHY decrements the credit counter during transmit and increments</a:t>
            </a:r>
            <a:r>
              <a:rPr lang="en-DE"/>
              <a:t> </a:t>
            </a:r>
            <a:r>
              <a:rPr lang="en-US"/>
              <a:t>the counter when the PHY is receiving data or the medium is idle. When the credit counter is</a:t>
            </a:r>
            <a:r>
              <a:rPr lang="en-DE"/>
              <a:t> </a:t>
            </a:r>
            <a:r>
              <a:rPr lang="en-US"/>
              <a:t>below the stop threshold, the PHY does not have enough credits to begin transmitting a packet, however it will complete the current packet, regardless of length. Once below the threshold and no longer </a:t>
            </a:r>
            <a:r>
              <a:rPr lang="en-US" err="1"/>
              <a:t>transmittion</a:t>
            </a:r>
            <a:r>
              <a:rPr lang="en-US"/>
              <a:t>, the PHY will then</a:t>
            </a:r>
            <a:r>
              <a:rPr lang="en-DE"/>
              <a:t> </a:t>
            </a:r>
            <a:r>
              <a:rPr lang="en-US"/>
              <a:t>hold the MAC off from transmitting by asserting carrier sense (creating a logical collision). When the PHY</a:t>
            </a:r>
            <a:r>
              <a:rPr lang="en-DE"/>
              <a:t> </a:t>
            </a:r>
            <a:r>
              <a:rPr lang="en-US"/>
              <a:t>is not transmitting, it will accumulate credits. Once the credit counter exceeds the start threshold,</a:t>
            </a:r>
            <a:r>
              <a:rPr lang="en-DE"/>
              <a:t> </a:t>
            </a:r>
            <a:r>
              <a:rPr lang="en-US"/>
              <a:t>carrier sense will operate normally. </a:t>
            </a:r>
          </a:p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The CBS is harder to debug and configure than transmit opportunity skipping. Nodes cannot use burst mode (so that may need to be disabled in a driver). </a:t>
            </a:r>
          </a:p>
          <a:p>
            <a:pPr>
              <a:lnSpc>
                <a:spcPct val="150000"/>
              </a:lnSpc>
            </a:pPr>
            <a:endParaRPr lang="en-US"/>
          </a:p>
          <a:p>
            <a:pPr>
              <a:lnSpc>
                <a:spcPct val="150000"/>
              </a:lnSpc>
            </a:pPr>
            <a:r>
              <a:rPr lang="en-US"/>
              <a:t>Because PLCA uses bandwidth more efficiently than CSMA/CD, CSMA/CD should only be used during start-up or error recovery. During these phases, there is no need for bandwidth control.</a:t>
            </a:r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2394309C-089C-9306-62CB-6DE067376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8CDDEF-A287-B496-7BEF-D53A60AE8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19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392880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The PHY can only start transmitting when its credits are higher than the start threshold. </a:t>
            </a:r>
            <a:r>
              <a:rPr lang="en-US"/>
              <a:t>Once the PHY allows the MAC to begin transmitting a packet, the</a:t>
            </a:r>
            <a:r>
              <a:rPr lang="en-DE"/>
              <a:t> </a:t>
            </a:r>
            <a:r>
              <a:rPr lang="en-US"/>
              <a:t>entire packet will be transmitted even if the credit counter decrements below the stop threshold</a:t>
            </a:r>
            <a:r>
              <a:rPr lang="en-DE"/>
              <a:t> </a:t>
            </a:r>
            <a:r>
              <a:rPr lang="en-US"/>
              <a:t>while it is transmitting.</a:t>
            </a:r>
            <a:endParaRPr lang="en-DE"/>
          </a:p>
          <a:p>
            <a:endParaRPr lang="en-DE"/>
          </a:p>
          <a:p>
            <a:r>
              <a:rPr lang="en-US"/>
              <a:t>The Falling Slope (FALLSLP) field of the Credit Based Shaper Slope Control (CBSSLPCTL) register</a:t>
            </a:r>
            <a:r>
              <a:rPr lang="en-DE"/>
              <a:t> </a:t>
            </a:r>
            <a:r>
              <a:rPr lang="en-US"/>
              <a:t>configures the rate at which the credit counter loses credits when transmitting. Similarly, the Rising</a:t>
            </a:r>
            <a:r>
              <a:rPr lang="en-DE"/>
              <a:t> </a:t>
            </a:r>
            <a:r>
              <a:rPr lang="en-US"/>
              <a:t>Slope (RISESLP) field configures the rate at which the credit counter will accumulate credits when</a:t>
            </a:r>
            <a:r>
              <a:rPr lang="en-DE"/>
              <a:t> </a:t>
            </a:r>
            <a:r>
              <a:rPr lang="en-US"/>
              <a:t>the medium is idle or the PHY is receiving data. </a:t>
            </a:r>
            <a:endParaRPr lang="en-DE"/>
          </a:p>
          <a:p>
            <a:r>
              <a:rPr lang="en-US"/>
              <a:t>When PLCA is enabled, credits may additionally be</a:t>
            </a:r>
            <a:r>
              <a:rPr lang="en-DE"/>
              <a:t> </a:t>
            </a:r>
            <a:r>
              <a:rPr lang="en-US"/>
              <a:t>accumulated at an accelerated rate when no </a:t>
            </a:r>
            <a:r>
              <a:rPr lang="en-DE"/>
              <a:t>t</a:t>
            </a:r>
            <a:r>
              <a:rPr lang="en-US" err="1"/>
              <a:t>ransmission</a:t>
            </a:r>
            <a:r>
              <a:rPr lang="en-US"/>
              <a:t> is detected within each PLCA bus cycle.</a:t>
            </a:r>
            <a:r>
              <a:rPr lang="en-DE"/>
              <a:t> </a:t>
            </a:r>
            <a:r>
              <a:rPr lang="en-US"/>
              <a:t>The rate at which credits are accumulated for each empty PLCA bus cycle is configured by the Empty</a:t>
            </a:r>
            <a:r>
              <a:rPr lang="en-DE"/>
              <a:t> </a:t>
            </a:r>
            <a:r>
              <a:rPr lang="en-US"/>
              <a:t>Cycle Credits (ECCRDS) field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The credit counter will saturate and stop accumulating credits when the limit set by the Top Limit</a:t>
            </a:r>
            <a:r>
              <a:rPr lang="en-DE"/>
              <a:t> </a:t>
            </a:r>
            <a:r>
              <a:rPr lang="en-US"/>
              <a:t>(TOPLIMIT) field in the Credit Based Shaper Top Limit High/Low (CBSTPLMTH/CBSTPLMTL) registers</a:t>
            </a:r>
            <a:r>
              <a:rPr lang="en-DE"/>
              <a:t> </a:t>
            </a:r>
            <a:r>
              <a:rPr lang="en-US"/>
              <a:t>is reached. Likewise, the credit counter will saturate and stop losing credits at the limit set by</a:t>
            </a:r>
            <a:r>
              <a:rPr lang="en-DE"/>
              <a:t> </a:t>
            </a:r>
            <a:r>
              <a:rPr lang="en-US"/>
              <a:t>the Bottom Limit (BOTLIMIT) field. This prevents the credit counter from incrementing or decrementing into</a:t>
            </a:r>
            <a:r>
              <a:rPr lang="en-DE"/>
              <a:t> </a:t>
            </a:r>
            <a:r>
              <a:rPr lang="en-US"/>
              <a:t>an overflow condition. The saturation of the credit counter also prevents the PHY from delaying</a:t>
            </a:r>
            <a:r>
              <a:rPr lang="en-DE"/>
              <a:t> </a:t>
            </a:r>
            <a:r>
              <a:rPr lang="en-US"/>
              <a:t>transmission of a packet too long or transmitting a burst of packets. For example, the PHY may lose</a:t>
            </a:r>
            <a:r>
              <a:rPr lang="en-DE"/>
              <a:t> </a:t>
            </a:r>
            <a:r>
              <a:rPr lang="en-US"/>
              <a:t>a significant number of credits by transmitting a maximal size packet. If the credit counter were not</a:t>
            </a:r>
            <a:r>
              <a:rPr lang="en-DE"/>
              <a:t> </a:t>
            </a:r>
            <a:r>
              <a:rPr lang="en-US"/>
              <a:t>limited by a lower bound, it may take a significant amount of time for the PHY to accumulate enough</a:t>
            </a:r>
            <a:r>
              <a:rPr lang="en-DE"/>
              <a:t> </a:t>
            </a:r>
            <a:r>
              <a:rPr lang="en-US"/>
              <a:t>credits to transmit another packet. Similarly, if the PHY has not transmitted in a long time, it may</a:t>
            </a:r>
            <a:r>
              <a:rPr lang="en-DE"/>
              <a:t> </a:t>
            </a:r>
            <a:r>
              <a:rPr lang="en-US"/>
              <a:t>accumulate too many credits allowing it to transmit multiple frames if the credit counter were not</a:t>
            </a:r>
            <a:r>
              <a:rPr lang="en-DE"/>
              <a:t> </a:t>
            </a:r>
            <a:r>
              <a:rPr lang="en-US"/>
              <a:t>limited by an upper bound. By controlling the top and bottom limits of the credit counter, the credit</a:t>
            </a:r>
            <a:r>
              <a:rPr lang="en-DE"/>
              <a:t> </a:t>
            </a:r>
            <a:r>
              <a:rPr lang="en-US"/>
              <a:t>based shaper may be configured to transmit at the desired rate.</a:t>
            </a:r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7AD8024E-E64B-3A45-8D3A-9D83488B6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E7E18B-34CE-C4A7-701A-71E58D161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20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457822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340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/>
          </a:p>
        </p:txBody>
      </p:sp>
      <p:sp>
        <p:nvSpPr>
          <p:cNvPr id="7" name="Slide Image Placeholder 6">
            <a:extLst>
              <a:ext uri="{FF2B5EF4-FFF2-40B4-BE49-F238E27FC236}">
                <a16:creationId xmlns:a16="http://schemas.microsoft.com/office/drawing/2014/main" id="{2394309C-089C-9306-62CB-6DE067376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77AB4A-EF14-7354-9285-DF80E18B61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9174286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otes Placeholder 10">
            <a:extLst>
              <a:ext uri="{FF2B5EF4-FFF2-40B4-BE49-F238E27FC236}">
                <a16:creationId xmlns:a16="http://schemas.microsoft.com/office/drawing/2014/main" id="{D1E15814-98BE-4EA6-8D25-CF6620540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E</a:t>
            </a:r>
            <a:r>
              <a:rPr lang="en-US"/>
              <a:t>very transmit opportunity is followed by a short </a:t>
            </a:r>
            <a:r>
              <a:rPr lang="en-DE"/>
              <a:t>silence to make sure that all </a:t>
            </a:r>
            <a:r>
              <a:rPr lang="en-US"/>
              <a:t>nodes </a:t>
            </a:r>
            <a:r>
              <a:rPr lang="en-DE"/>
              <a:t>have </a:t>
            </a:r>
            <a:r>
              <a:rPr lang="en-US"/>
              <a:t>recognized the beginning of the next transmit opportunity 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Once all transmit opportunities have passed</a:t>
            </a:r>
            <a:r>
              <a:rPr lang="en-DE"/>
              <a:t>,</a:t>
            </a:r>
            <a:r>
              <a:rPr lang="en-US"/>
              <a:t> </a:t>
            </a:r>
            <a:r>
              <a:rPr lang="en-DE"/>
              <a:t>this is called a </a:t>
            </a:r>
            <a:r>
              <a:rPr lang="en-US"/>
              <a:t>PLC</a:t>
            </a:r>
            <a:r>
              <a:rPr lang="en-DE"/>
              <a:t>A</a:t>
            </a:r>
            <a:r>
              <a:rPr lang="en-US"/>
              <a:t> bus cycle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DE"/>
              <a:t>A new </a:t>
            </a:r>
            <a:r>
              <a:rPr lang="en-US"/>
              <a:t>PLC</a:t>
            </a:r>
            <a:r>
              <a:rPr lang="en-DE"/>
              <a:t>A</a:t>
            </a:r>
            <a:r>
              <a:rPr lang="en-US"/>
              <a:t> bus cycle </a:t>
            </a:r>
            <a:r>
              <a:rPr lang="en-DE"/>
              <a:t>is started right away </a:t>
            </a:r>
            <a:r>
              <a:rPr lang="en-US"/>
              <a:t>by sending out a beacon signal </a:t>
            </a:r>
            <a:r>
              <a:rPr lang="en-DE"/>
              <a:t>from </a:t>
            </a:r>
            <a:r>
              <a:rPr lang="en-US"/>
              <a:t>the PLC</a:t>
            </a:r>
            <a:r>
              <a:rPr lang="en-DE"/>
              <a:t>A</a:t>
            </a:r>
            <a:r>
              <a:rPr lang="en-US"/>
              <a:t> coordinator device which is node zero</a:t>
            </a:r>
            <a:r>
              <a:rPr lang="en-DE"/>
              <a:t>.</a:t>
            </a:r>
            <a:r>
              <a:rPr lang="en-US"/>
              <a:t> </a:t>
            </a:r>
            <a:endParaRPr lang="en-DE"/>
          </a:p>
          <a:p>
            <a:endParaRPr lang="en-DE"/>
          </a:p>
          <a:p>
            <a:r>
              <a:rPr lang="en-DE"/>
              <a:t>All other devices, called PLCA-Followers, synchronize their internal timings to this BEACON, to know when their TO starts.</a:t>
            </a:r>
          </a:p>
          <a:p>
            <a:endParaRPr lang="en-DE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D439B02-7933-CB67-6284-E505118AD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B3781E-2CC9-9688-6D61-70EBD21DD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US"/>
              <a:t>10BASE-T1S  Technology  Introduction  p.</a:t>
            </a:r>
            <a:fld id="{BFF8CB49-A7FB-5E4A-B599-DE2118135120}" type="slidenum">
              <a:rPr lang="en-US" smtClean="0"/>
              <a:pPr algn="ctr"/>
              <a:t>24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8304568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otes Placeholder 10">
            <a:extLst>
              <a:ext uri="{FF2B5EF4-FFF2-40B4-BE49-F238E27FC236}">
                <a16:creationId xmlns:a16="http://schemas.microsoft.com/office/drawing/2014/main" id="{D1E15814-98BE-4EA6-8D25-CF6620540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err="1"/>
              <a:t>Each</a:t>
            </a:r>
            <a:r>
              <a:rPr lang="de-DE"/>
              <a:t> </a:t>
            </a:r>
            <a:r>
              <a:rPr lang="de-DE" err="1"/>
              <a:t>device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begin</a:t>
            </a:r>
            <a:r>
              <a:rPr lang="de-DE"/>
              <a:t> </a:t>
            </a:r>
            <a:r>
              <a:rPr lang="de-DE" err="1"/>
              <a:t>transmission</a:t>
            </a:r>
            <a:r>
              <a:rPr lang="de-DE"/>
              <a:t>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its</a:t>
            </a:r>
            <a:r>
              <a:rPr lang="de-DE"/>
              <a:t> ACMA </a:t>
            </a:r>
            <a:r>
              <a:rPr lang="de-DE" err="1"/>
              <a:t>pin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asserted</a:t>
            </a:r>
            <a:r>
              <a:rPr lang="de-DE"/>
              <a:t>. ACMA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set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active</a:t>
            </a:r>
            <a:r>
              <a:rPr lang="de-DE"/>
              <a:t> high in </a:t>
            </a:r>
            <a:r>
              <a:rPr lang="de-DE" err="1"/>
              <a:t>this</a:t>
            </a:r>
            <a:r>
              <a:rPr lang="de-DE"/>
              <a:t> </a:t>
            </a:r>
            <a:r>
              <a:rPr lang="de-DE" err="1"/>
              <a:t>example</a:t>
            </a:r>
            <a:r>
              <a:rPr lang="de-DE"/>
              <a:t>.</a:t>
            </a:r>
          </a:p>
          <a:p>
            <a:endParaRPr lang="de-DE"/>
          </a:p>
          <a:p>
            <a:r>
              <a:rPr lang="de-DE"/>
              <a:t>Device 1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start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transmit</a:t>
            </a:r>
            <a:r>
              <a:rPr lang="de-DE"/>
              <a:t> </a:t>
            </a:r>
            <a:r>
              <a:rPr lang="de-DE" err="1"/>
              <a:t>when</a:t>
            </a:r>
            <a:r>
              <a:rPr lang="de-DE"/>
              <a:t> ist ACMA </a:t>
            </a:r>
            <a:r>
              <a:rPr lang="de-DE" err="1"/>
              <a:t>input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high. </a:t>
            </a:r>
          </a:p>
          <a:p>
            <a:r>
              <a:rPr lang="de-DE"/>
              <a:t>So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device</a:t>
            </a:r>
            <a:r>
              <a:rPr lang="de-DE"/>
              <a:t> 2.</a:t>
            </a:r>
          </a:p>
          <a:p>
            <a:r>
              <a:rPr lang="de-DE"/>
              <a:t>And so on.</a:t>
            </a:r>
          </a:p>
          <a:p>
            <a:endParaRPr lang="de-DE"/>
          </a:p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see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device</a:t>
            </a:r>
            <a:r>
              <a:rPr lang="de-DE"/>
              <a:t> N,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doesn‘t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something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transmit</a:t>
            </a:r>
            <a:r>
              <a:rPr lang="de-DE"/>
              <a:t>,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still </a:t>
            </a:r>
            <a:r>
              <a:rPr lang="de-DE" err="1"/>
              <a:t>begin</a:t>
            </a:r>
            <a:r>
              <a:rPr lang="de-DE"/>
              <a:t> </a:t>
            </a:r>
            <a:r>
              <a:rPr lang="de-DE" err="1"/>
              <a:t>tranmitting</a:t>
            </a:r>
            <a:r>
              <a:rPr lang="de-DE"/>
              <a:t> </a:t>
            </a:r>
            <a:r>
              <a:rPr lang="de-DE" err="1"/>
              <a:t>any</a:t>
            </a:r>
            <a:r>
              <a:rPr lang="de-DE"/>
              <a:t> time </a:t>
            </a:r>
            <a:r>
              <a:rPr lang="de-DE" err="1"/>
              <a:t>that</a:t>
            </a:r>
            <a:r>
              <a:rPr lang="de-DE"/>
              <a:t> ACMA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asserted</a:t>
            </a:r>
            <a:r>
              <a:rPr lang="de-DE"/>
              <a:t>.</a:t>
            </a:r>
          </a:p>
          <a:p>
            <a:r>
              <a:rPr lang="de-DE"/>
              <a:t>And </a:t>
            </a:r>
            <a:r>
              <a:rPr lang="de-DE" err="1"/>
              <a:t>it</a:t>
            </a:r>
            <a:r>
              <a:rPr lang="de-DE"/>
              <a:t> will </a:t>
            </a:r>
            <a:r>
              <a:rPr lang="de-DE" err="1"/>
              <a:t>transmit</a:t>
            </a:r>
            <a:r>
              <a:rPr lang="de-DE"/>
              <a:t> a </a:t>
            </a:r>
            <a:r>
              <a:rPr lang="de-DE" err="1"/>
              <a:t>complete</a:t>
            </a:r>
            <a:r>
              <a:rPr lang="de-DE"/>
              <a:t> packet, </a:t>
            </a:r>
            <a:r>
              <a:rPr lang="de-DE" err="1"/>
              <a:t>regardless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length</a:t>
            </a:r>
            <a:r>
              <a:rPr lang="de-DE"/>
              <a:t>. So </a:t>
            </a:r>
            <a:r>
              <a:rPr lang="de-DE" err="1"/>
              <a:t>the</a:t>
            </a:r>
            <a:r>
              <a:rPr lang="de-DE"/>
              <a:t> ACMA pulse </a:t>
            </a:r>
            <a:r>
              <a:rPr lang="de-DE" err="1"/>
              <a:t>timing</a:t>
            </a:r>
            <a:r>
              <a:rPr lang="de-DE"/>
              <a:t> </a:t>
            </a:r>
            <a:r>
              <a:rPr lang="de-DE" err="1"/>
              <a:t>must</a:t>
            </a:r>
            <a:r>
              <a:rPr lang="de-DE"/>
              <a:t> </a:t>
            </a:r>
            <a:r>
              <a:rPr lang="de-DE" err="1"/>
              <a:t>allow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worst</a:t>
            </a:r>
            <a:r>
              <a:rPr lang="de-DE"/>
              <a:t> </a:t>
            </a:r>
            <a:r>
              <a:rPr lang="de-DE" err="1"/>
              <a:t>case</a:t>
            </a:r>
            <a:r>
              <a:rPr lang="de-DE"/>
              <a:t> packet </a:t>
            </a:r>
            <a:r>
              <a:rPr lang="de-DE" err="1"/>
              <a:t>length</a:t>
            </a:r>
            <a:r>
              <a:rPr lang="de-DE"/>
              <a:t>, plus </a:t>
            </a:r>
            <a:r>
              <a:rPr lang="de-DE" err="1"/>
              <a:t>some</a:t>
            </a:r>
            <a:r>
              <a:rPr lang="de-DE"/>
              <a:t> extra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jitter</a:t>
            </a:r>
            <a:r>
              <a:rPr lang="de-DE"/>
              <a:t>.</a:t>
            </a:r>
          </a:p>
          <a:p>
            <a:endParaRPr lang="de-DE"/>
          </a:p>
          <a:p>
            <a:r>
              <a:rPr lang="de-DE"/>
              <a:t>The ACMA </a:t>
            </a:r>
            <a:r>
              <a:rPr lang="de-DE" err="1"/>
              <a:t>pulses</a:t>
            </a:r>
            <a:r>
              <a:rPr lang="de-DE"/>
              <a:t> </a:t>
            </a:r>
            <a:r>
              <a:rPr lang="de-DE" err="1"/>
              <a:t>need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synchronized</a:t>
            </a:r>
            <a:r>
              <a:rPr lang="de-DE"/>
              <a:t>, so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either</a:t>
            </a:r>
            <a:r>
              <a:rPr lang="de-DE"/>
              <a:t> </a:t>
            </a:r>
            <a:r>
              <a:rPr lang="de-DE" err="1"/>
              <a:t>need</a:t>
            </a:r>
            <a:r>
              <a:rPr lang="de-DE"/>
              <a:t> and external </a:t>
            </a:r>
            <a:r>
              <a:rPr lang="de-DE" err="1"/>
              <a:t>clock</a:t>
            </a:r>
            <a:r>
              <a:rPr lang="de-DE"/>
              <a:t>, </a:t>
            </a:r>
            <a:r>
              <a:rPr lang="de-DE" err="1"/>
              <a:t>or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need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run</a:t>
            </a:r>
            <a:r>
              <a:rPr lang="de-DE"/>
              <a:t> a </a:t>
            </a:r>
            <a:r>
              <a:rPr lang="de-DE" err="1"/>
              <a:t>clock</a:t>
            </a:r>
            <a:r>
              <a:rPr lang="de-DE"/>
              <a:t> </a:t>
            </a:r>
            <a:r>
              <a:rPr lang="de-DE" err="1"/>
              <a:t>sychronization</a:t>
            </a:r>
            <a:r>
              <a:rPr lang="de-DE"/>
              <a:t> </a:t>
            </a:r>
            <a:r>
              <a:rPr lang="de-DE" err="1"/>
              <a:t>algorithm</a:t>
            </a:r>
            <a:r>
              <a:rPr lang="de-DE"/>
              <a:t>. This </a:t>
            </a:r>
            <a:r>
              <a:rPr lang="de-DE" err="1"/>
              <a:t>take</a:t>
            </a:r>
            <a:r>
              <a:rPr lang="de-DE"/>
              <a:t> </a:t>
            </a:r>
            <a:r>
              <a:rPr lang="de-DE" err="1"/>
              <a:t>development</a:t>
            </a:r>
            <a:r>
              <a:rPr lang="de-DE"/>
              <a:t> </a:t>
            </a:r>
            <a:r>
              <a:rPr lang="de-DE" err="1"/>
              <a:t>effort</a:t>
            </a:r>
            <a:r>
              <a:rPr lang="de-DE"/>
              <a:t>, </a:t>
            </a:r>
            <a:r>
              <a:rPr lang="de-DE" err="1"/>
              <a:t>debug</a:t>
            </a:r>
            <a:r>
              <a:rPr lang="de-DE"/>
              <a:t> time, plus code and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memory</a:t>
            </a:r>
            <a:r>
              <a:rPr lang="de-DE"/>
              <a:t> and </a:t>
            </a:r>
            <a:r>
              <a:rPr lang="de-DE" err="1"/>
              <a:t>processor</a:t>
            </a:r>
            <a:r>
              <a:rPr lang="de-DE"/>
              <a:t> </a:t>
            </a:r>
            <a:r>
              <a:rPr lang="de-DE" err="1"/>
              <a:t>cycles</a:t>
            </a:r>
            <a:r>
              <a:rPr lang="de-DE"/>
              <a:t>. </a:t>
            </a:r>
          </a:p>
          <a:p>
            <a:endParaRPr lang="de-DE"/>
          </a:p>
          <a:p>
            <a:r>
              <a:rPr lang="de-DE" err="1"/>
              <a:t>For</a:t>
            </a:r>
            <a:r>
              <a:rPr lang="de-DE"/>
              <a:t> Watson, ACMA </a:t>
            </a:r>
            <a:r>
              <a:rPr lang="de-DE" err="1"/>
              <a:t>uses</a:t>
            </a:r>
            <a:r>
              <a:rPr lang="de-DE"/>
              <a:t> IO </a:t>
            </a:r>
            <a:r>
              <a:rPr lang="de-DE" err="1"/>
              <a:t>pins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may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better</a:t>
            </a:r>
            <a:r>
              <a:rPr lang="de-DE"/>
              <a:t> </a:t>
            </a:r>
            <a:r>
              <a:rPr lang="de-DE" err="1"/>
              <a:t>used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something</a:t>
            </a:r>
            <a:r>
              <a:rPr lang="de-DE"/>
              <a:t> </a:t>
            </a:r>
            <a:r>
              <a:rPr lang="de-DE" err="1"/>
              <a:t>else</a:t>
            </a:r>
            <a:r>
              <a:rPr lang="de-DE"/>
              <a:t>.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using</a:t>
            </a:r>
            <a:r>
              <a:rPr lang="de-DE"/>
              <a:t> ACMA,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need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make</a:t>
            </a:r>
            <a:r>
              <a:rPr lang="de-DE"/>
              <a:t> </a:t>
            </a:r>
            <a:r>
              <a:rPr lang="de-DE" err="1"/>
              <a:t>sure</a:t>
            </a:r>
            <a:r>
              <a:rPr lang="de-DE"/>
              <a:t> </a:t>
            </a:r>
            <a:r>
              <a:rPr lang="de-DE" err="1"/>
              <a:t>that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a </a:t>
            </a:r>
            <a:r>
              <a:rPr lang="de-DE" err="1"/>
              <a:t>pin</a:t>
            </a:r>
            <a:r>
              <a:rPr lang="de-DE"/>
              <a:t> </a:t>
            </a:r>
            <a:r>
              <a:rPr lang="de-DE" err="1"/>
              <a:t>available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RXPI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will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using</a:t>
            </a:r>
            <a:r>
              <a:rPr lang="de-DE"/>
              <a:t> PTP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synchronize</a:t>
            </a:r>
            <a:r>
              <a:rPr lang="de-DE"/>
              <a:t>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clock</a:t>
            </a:r>
            <a:r>
              <a:rPr lang="de-DE"/>
              <a:t>.</a:t>
            </a:r>
          </a:p>
          <a:p>
            <a:endParaRPr lang="de-DE"/>
          </a:p>
          <a:p>
            <a:r>
              <a:rPr lang="de-DE" err="1"/>
              <a:t>For</a:t>
            </a:r>
            <a:r>
              <a:rPr lang="de-DE"/>
              <a:t> Galileo,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use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internal </a:t>
            </a:r>
            <a:r>
              <a:rPr lang="de-DE" err="1"/>
              <a:t>event</a:t>
            </a:r>
            <a:r>
              <a:rPr lang="de-DE"/>
              <a:t> </a:t>
            </a:r>
            <a:r>
              <a:rPr lang="de-DE" err="1"/>
              <a:t>generator</a:t>
            </a:r>
            <a:r>
              <a:rPr lang="de-DE"/>
              <a:t> 0 </a:t>
            </a:r>
            <a:r>
              <a:rPr lang="de-DE" err="1"/>
              <a:t>as</a:t>
            </a:r>
            <a:r>
              <a:rPr lang="de-DE"/>
              <a:t> a source </a:t>
            </a:r>
            <a:r>
              <a:rPr lang="de-DE" err="1"/>
              <a:t>for</a:t>
            </a:r>
            <a:r>
              <a:rPr lang="de-DE"/>
              <a:t> ACMA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synchronize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wall </a:t>
            </a:r>
            <a:r>
              <a:rPr lang="de-DE" err="1"/>
              <a:t>clock</a:t>
            </a:r>
            <a:r>
              <a:rPr lang="de-DE"/>
              <a:t>. </a:t>
            </a:r>
            <a:endParaRPr lang="en-DE"/>
          </a:p>
          <a:p>
            <a:endParaRPr lang="en-DE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D439B02-7933-CB67-6284-E505118AD4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B3781E-2CC9-9688-6D61-70EBD21DD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US"/>
              <a:t>10BASE-T1S  Technology  Introduction  p.</a:t>
            </a:r>
            <a:fld id="{BFF8CB49-A7FB-5E4A-B599-DE2118135120}" type="slidenum">
              <a:rPr lang="en-US" smtClean="0"/>
              <a:pPr algn="ctr"/>
              <a:t>25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2282311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058FFA0-122B-709A-EDBC-E87DDFB8C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4F1A20-23E3-0267-33FA-18B6C0431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26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4081135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  <a:p>
            <a:r>
              <a:rPr lang="en-DE"/>
              <a:t>The LAN8670 supports a dedicated ACMA pin in SC-MII mode and in RMII mode.</a:t>
            </a:r>
            <a:endParaRPr lang="en-US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3058FFA0-122B-709A-EDBC-E87DDFB8C2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AFBB0E-F62D-6997-C29B-D16A99D20B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27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04504499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LAN8650/1  MAC-PHY  -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28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678849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Time </a:t>
            </a:r>
            <a:r>
              <a:rPr lang="de-DE" err="1"/>
              <a:t>Synchronization</a:t>
            </a:r>
            <a:r>
              <a:rPr lang="de-DE"/>
              <a:t> </a:t>
            </a:r>
            <a:r>
              <a:rPr lang="de-DE" err="1"/>
              <a:t>enables</a:t>
            </a:r>
            <a:r>
              <a:rPr lang="de-DE"/>
              <a:t> all </a:t>
            </a:r>
            <a:r>
              <a:rPr lang="de-DE" err="1"/>
              <a:t>devices</a:t>
            </a:r>
            <a:r>
              <a:rPr lang="de-DE"/>
              <a:t> on a network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a </a:t>
            </a:r>
            <a:r>
              <a:rPr lang="de-DE" err="1"/>
              <a:t>common</a:t>
            </a:r>
            <a:r>
              <a:rPr lang="de-DE"/>
              <a:t> time </a:t>
            </a:r>
            <a:r>
              <a:rPr lang="de-DE" err="1"/>
              <a:t>reference</a:t>
            </a:r>
            <a:r>
              <a:rPr lang="de-DE"/>
              <a:t>. This </a:t>
            </a:r>
            <a:r>
              <a:rPr lang="de-DE" err="1"/>
              <a:t>allows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sampled</a:t>
            </a:r>
            <a:r>
              <a:rPr lang="de-DE"/>
              <a:t> and </a:t>
            </a:r>
            <a:r>
              <a:rPr lang="de-DE" err="1"/>
              <a:t>events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occur</a:t>
            </a:r>
            <a:r>
              <a:rPr lang="de-DE"/>
              <a:t> at </a:t>
            </a:r>
            <a:r>
              <a:rPr lang="de-DE" err="1"/>
              <a:t>known</a:t>
            </a:r>
            <a:r>
              <a:rPr lang="de-DE"/>
              <a:t> </a:t>
            </a:r>
            <a:r>
              <a:rPr lang="de-DE" err="1"/>
              <a:t>times</a:t>
            </a:r>
            <a:r>
              <a:rPr lang="de-DE"/>
              <a:t>. </a:t>
            </a:r>
          </a:p>
          <a:p>
            <a:endParaRPr lang="de-DE"/>
          </a:p>
          <a:p>
            <a:r>
              <a:rPr lang="de-DE"/>
              <a:t>The </a:t>
            </a:r>
            <a:r>
              <a:rPr lang="de-DE" err="1"/>
              <a:t>reference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several</a:t>
            </a:r>
            <a:r>
              <a:rPr lang="de-DE"/>
              <a:t> hops </a:t>
            </a:r>
            <a:r>
              <a:rPr lang="de-DE" err="1"/>
              <a:t>away</a:t>
            </a:r>
            <a:r>
              <a:rPr lang="de-DE"/>
              <a:t> </a:t>
            </a:r>
            <a:r>
              <a:rPr lang="de-DE" err="1"/>
              <a:t>provided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bridges</a:t>
            </a:r>
            <a:r>
              <a:rPr lang="de-DE"/>
              <a:t> </a:t>
            </a:r>
            <a:r>
              <a:rPr lang="de-DE" err="1"/>
              <a:t>between</a:t>
            </a:r>
            <a:r>
              <a:rPr lang="de-DE"/>
              <a:t> </a:t>
            </a:r>
            <a:r>
              <a:rPr lang="de-DE" err="1"/>
              <a:t>segments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time </a:t>
            </a:r>
            <a:r>
              <a:rPr lang="de-DE" err="1"/>
              <a:t>aware</a:t>
            </a:r>
            <a:r>
              <a:rPr lang="de-DE"/>
              <a:t>. All time </a:t>
            </a:r>
            <a:r>
              <a:rPr lang="de-DE" err="1"/>
              <a:t>aware</a:t>
            </a:r>
            <a:r>
              <a:rPr lang="de-DE"/>
              <a:t> </a:t>
            </a:r>
            <a:r>
              <a:rPr lang="de-DE" err="1"/>
              <a:t>endpoints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synchronize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wallclock</a:t>
            </a:r>
            <a:r>
              <a:rPr lang="de-DE"/>
              <a:t> </a:t>
            </a:r>
            <a:r>
              <a:rPr lang="de-DE" err="1"/>
              <a:t>provided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time </a:t>
            </a:r>
            <a:r>
              <a:rPr lang="de-DE" err="1"/>
              <a:t>aware</a:t>
            </a:r>
            <a:r>
              <a:rPr lang="de-DE"/>
              <a:t> </a:t>
            </a:r>
            <a:r>
              <a:rPr lang="de-DE" err="1"/>
              <a:t>bridge</a:t>
            </a:r>
            <a:r>
              <a:rPr lang="de-DE"/>
              <a:t>, </a:t>
            </a:r>
            <a:r>
              <a:rPr lang="de-DE" err="1"/>
              <a:t>which</a:t>
            </a:r>
            <a:r>
              <a:rPr lang="de-DE"/>
              <a:t> </a:t>
            </a:r>
            <a:r>
              <a:rPr lang="de-DE" err="1"/>
              <a:t>synchronizes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grandmaster</a:t>
            </a:r>
            <a:r>
              <a:rPr lang="de-DE"/>
              <a:t>.</a:t>
            </a:r>
          </a:p>
          <a:p>
            <a:endParaRPr lang="de-DE"/>
          </a:p>
          <a:p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any</a:t>
            </a:r>
            <a:r>
              <a:rPr lang="de-DE"/>
              <a:t> </a:t>
            </a:r>
            <a:r>
              <a:rPr lang="de-DE" err="1"/>
              <a:t>endpoint</a:t>
            </a:r>
            <a:r>
              <a:rPr lang="de-DE"/>
              <a:t>, </a:t>
            </a:r>
            <a:r>
              <a:rPr lang="de-DE" err="1"/>
              <a:t>we</a:t>
            </a:r>
            <a:r>
              <a:rPr lang="de-DE"/>
              <a:t> just </a:t>
            </a:r>
            <a:r>
              <a:rPr lang="de-DE" err="1"/>
              <a:t>need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look</a:t>
            </a:r>
            <a:r>
              <a:rPr lang="de-DE"/>
              <a:t> at </a:t>
            </a:r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gets</a:t>
            </a:r>
            <a:r>
              <a:rPr lang="de-DE"/>
              <a:t> ist </a:t>
            </a:r>
            <a:r>
              <a:rPr lang="de-DE" err="1"/>
              <a:t>clock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it‘s</a:t>
            </a:r>
            <a:r>
              <a:rPr lang="de-DE"/>
              <a:t> </a:t>
            </a:r>
            <a:r>
              <a:rPr lang="de-DE" err="1"/>
              <a:t>local</a:t>
            </a:r>
            <a:r>
              <a:rPr lang="de-DE"/>
              <a:t> </a:t>
            </a:r>
            <a:r>
              <a:rPr lang="de-DE" err="1"/>
              <a:t>clock</a:t>
            </a:r>
            <a:r>
              <a:rPr lang="de-DE"/>
              <a:t> source.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1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665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330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020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7061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F9A59E41-D2A9-AC92-B241-496406580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DA98C53D-2D58-4932-F9BC-91E2FE28F8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100" b="0" i="0" u="none" strike="noStrike" baseline="0">
                <a:latin typeface="OpenSans"/>
              </a:rPr>
              <a:t>The LAN86</a:t>
            </a:r>
            <a:r>
              <a:rPr lang="en-DE" sz="1100" b="0" i="0" u="none" strike="noStrike" baseline="0">
                <a:latin typeface="OpenSans"/>
              </a:rPr>
              <a:t>xx</a:t>
            </a:r>
            <a:r>
              <a:rPr lang="en-US" sz="1100" b="0" i="0" u="none" strike="noStrike" baseline="0">
                <a:latin typeface="OpenSans"/>
              </a:rPr>
              <a:t> supports the implementation of PTP over Ethernet within the station controller by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being able to detect the exact time of transmission and reception of PTP messages. This is done by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examining the bytes of a packet that contain the </a:t>
            </a:r>
            <a:r>
              <a:rPr lang="en-US" sz="1100" b="0" i="0" u="none" strike="noStrike" baseline="0" err="1">
                <a:latin typeface="OpenSans"/>
              </a:rPr>
              <a:t>EtherType</a:t>
            </a:r>
            <a:r>
              <a:rPr lang="en-US" sz="1100" b="0" i="0" u="none" strike="noStrike" baseline="0">
                <a:latin typeface="OpenSans"/>
              </a:rPr>
              <a:t> and the first 2 bytes of the PTP header,</a:t>
            </a:r>
            <a:r>
              <a:rPr lang="en-DE" sz="1100" b="0" i="0" u="none" strike="noStrike" baseline="0">
                <a:latin typeface="OpenSans"/>
              </a:rPr>
              <a:t> </a:t>
            </a:r>
            <a:r>
              <a:rPr lang="en-US" sz="1100" b="0" i="0" u="none" strike="noStrike" baseline="0">
                <a:latin typeface="OpenSans"/>
              </a:rPr>
              <a:t>and signaling when the correct pattern is detected.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To configure the desired pattern on transmitted packets, the most significant byte of the desired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value is written into the Transmit Match Pattern High (TXMPATH) register and the lower two octets of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the match value is written into the Transmit Match Pattern Low (TXMPATL) register. As an example,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to match on a SYNC message, the </a:t>
            </a:r>
            <a:r>
              <a:rPr lang="en-US" sz="1100" b="0" i="0" u="none" strike="noStrike" baseline="0" err="1">
                <a:latin typeface="OpenSans"/>
              </a:rPr>
              <a:t>EtherType</a:t>
            </a:r>
            <a:r>
              <a:rPr lang="en-US" sz="1100" b="0" i="0" u="none" strike="noStrike" baseline="0">
                <a:latin typeface="OpenSans"/>
              </a:rPr>
              <a:t> value of 0x88F7 and PTP header value of 0x10 creates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a 24-bit match value of 0x88F710. The value 0x88 is written into TXMPATH and the value 0xF710 is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written into TXMPATL.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Configuring the receive pattern matcher is done in a similar manner but using Receive Match</a:t>
            </a:r>
            <a:r>
              <a:rPr lang="en-DE" sz="1100" b="0" i="0" u="none" strike="noStrike" baseline="0">
                <a:latin typeface="OpenSans"/>
              </a:rPr>
              <a:t> </a:t>
            </a:r>
            <a:r>
              <a:rPr lang="en-US" sz="1100" b="0" i="0" u="none" strike="noStrike" baseline="0">
                <a:latin typeface="OpenSans"/>
              </a:rPr>
              <a:t>Pattern High (RXMPATH) register and Receive Match Pattern Low (RXMPATL) register.</a:t>
            </a:r>
          </a:p>
          <a:p>
            <a:pPr algn="l"/>
            <a:r>
              <a:rPr lang="en-US" sz="1100" b="0" i="0" u="none" strike="noStrike" baseline="0">
                <a:latin typeface="OpenSans"/>
              </a:rPr>
              <a:t>Pattern match</a:t>
            </a:r>
            <a:r>
              <a:rPr lang="en-DE" sz="1100" b="0" i="0" u="none" strike="noStrike" baseline="0">
                <a:latin typeface="OpenSans"/>
              </a:rPr>
              <a:t> </a:t>
            </a:r>
            <a:r>
              <a:rPr lang="en-US" sz="1100" b="0" i="0" u="none" strike="noStrike" baseline="0">
                <a:latin typeface="OpenSans"/>
              </a:rPr>
              <a:t>output pins can be used on both transmitted and received packets.</a:t>
            </a:r>
            <a:endParaRPr lang="en-US" sz="7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9F5666-F864-4033-6D68-C1CE73E99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40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5545252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841C3-1E94-2D78-7287-13FA27940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41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659830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BD453834-7F2C-583B-974C-0274D4AE3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421F86AE-1FF9-C22E-14F9-4903BB85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437BA1-6BE1-DE5B-CBFB-C5939B473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42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9078766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BD453834-7F2C-583B-974C-0274D4AE3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421F86AE-1FF9-C22E-14F9-4903BB85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575390-E6C7-D40B-B37C-6423EEE3F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43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1322504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BD453834-7F2C-583B-974C-0274D4AE3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421F86AE-1FF9-C22E-14F9-4903BB85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374E8B-E975-6D1D-D583-03225A154D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44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15709818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BD453834-7F2C-583B-974C-0274D4AE3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7" name="Notes Placeholder 6">
            <a:extLst>
              <a:ext uri="{FF2B5EF4-FFF2-40B4-BE49-F238E27FC236}">
                <a16:creationId xmlns:a16="http://schemas.microsoft.com/office/drawing/2014/main" id="{421F86AE-1FF9-C22E-14F9-4903BB85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303B6A-079A-AF1A-284A-F9C2C8A2D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ctr"/>
            <a:r>
              <a:rPr lang="en-DE"/>
              <a:t>LAN8670/1/2  PHY  </a:t>
            </a:r>
            <a:r>
              <a:rPr lang="en-US"/>
              <a:t>p.</a:t>
            </a:r>
            <a:fld id="{BFF8CB49-A7FB-5E4A-B599-DE2118135120}" type="slidenum">
              <a:rPr lang="en-US" smtClean="0"/>
              <a:pPr algn="ctr"/>
              <a:t>45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55391028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800" b="1" i="0" u="none" strike="noStrike" baseline="0">
                <a:latin typeface="OpenSans-Bold"/>
              </a:rPr>
              <a:t>Note: </a:t>
            </a:r>
            <a:r>
              <a:rPr lang="en-US" sz="1800" b="0" i="0" u="none" strike="noStrike" baseline="0">
                <a:latin typeface="OpenSans"/>
              </a:rPr>
              <a:t>In the LAN8670/1/2</a:t>
            </a:r>
            <a:r>
              <a:rPr lang="en-DE" sz="1800" b="0" i="0" u="none" strike="noStrike" baseline="0">
                <a:latin typeface="OpenSans"/>
              </a:rPr>
              <a:t> and LAN8650/1 </a:t>
            </a:r>
            <a:r>
              <a:rPr lang="en-US" sz="1800" b="0" i="0" u="none" strike="noStrike" baseline="0">
                <a:latin typeface="OpenSans"/>
              </a:rPr>
              <a:t>MDI wake detection was not designed to meet the OPEN Alliance</a:t>
            </a:r>
          </a:p>
          <a:p>
            <a:pPr algn="l"/>
            <a:r>
              <a:rPr lang="en-US" sz="1800" b="0" i="0" u="none" strike="noStrike" baseline="0">
                <a:latin typeface="OpenSans"/>
              </a:rPr>
              <a:t>10BASE-T1S Sleep/Wake-up Specification, version 1.0. Received energy that is of sufficient length</a:t>
            </a:r>
          </a:p>
          <a:p>
            <a:pPr algn="l"/>
            <a:r>
              <a:rPr lang="en-US" sz="1800" b="0" i="0" u="none" strike="noStrike" baseline="0">
                <a:latin typeface="OpenSans"/>
              </a:rPr>
              <a:t>that is detected either from other nodes transmitting onto the segment or from noise will trigger the</a:t>
            </a:r>
          </a:p>
          <a:p>
            <a:pPr algn="l"/>
            <a:r>
              <a:rPr lang="en-US" sz="1800" b="0" i="0" u="none" strike="noStrike" baseline="0">
                <a:latin typeface="OpenSans"/>
              </a:rPr>
              <a:t>device to wake when MDI wake-up is enabled.</a:t>
            </a:r>
            <a:endParaRPr lang="en-DE"/>
          </a:p>
          <a:p>
            <a:endParaRPr lang="en-DE"/>
          </a:p>
          <a:p>
            <a:endParaRPr lang="en-DE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A6581-499D-EAB6-F6BA-2F49BE4706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Overview  LAN8670/1/2  and  LAN8650/1  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p.</a:t>
            </a:r>
            <a:fld id="{BFF8CB49-A7FB-5E4A-B599-DE2118135120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32D3D448-2B1D-FBFA-73E4-907CAE3D2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</p:spTree>
    <p:extLst>
      <p:ext uri="{BB962C8B-B14F-4D97-AF65-F5344CB8AC3E}">
        <p14:creationId xmlns:p14="http://schemas.microsoft.com/office/powerpoint/2010/main" val="255511187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35B00C-7AD8-E664-4B87-87D5AEC19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LAN867x  PHY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p.</a:t>
            </a:r>
            <a:fld id="{BFF8CB49-A7FB-5E4A-B599-DE2118135120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045453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/>
              <a:t>This slide </a:t>
            </a:r>
            <a:r>
              <a:rPr lang="en-US"/>
              <a:t>shows an example of how power should be supplied in a system that will use the</a:t>
            </a:r>
            <a:r>
              <a:rPr lang="en-DE"/>
              <a:t> </a:t>
            </a:r>
            <a:r>
              <a:rPr lang="en-US"/>
              <a:t>low-power sleep mode of the LAN8670/1/2</a:t>
            </a:r>
            <a:r>
              <a:rPr lang="en-DE"/>
              <a:t> and LAN865/1</a:t>
            </a:r>
            <a:r>
              <a:rPr lang="en-US"/>
              <a:t>. In this diagram, VDDAU is provided by a constant supply,</a:t>
            </a:r>
            <a:r>
              <a:rPr lang="en-DE"/>
              <a:t> </a:t>
            </a:r>
            <a:r>
              <a:rPr lang="en-US"/>
              <a:t>so that it is always enabled, even during sleep mode. On system power-up, once this supply is active,</a:t>
            </a:r>
            <a:r>
              <a:rPr lang="en-DE"/>
              <a:t> </a:t>
            </a:r>
            <a:r>
              <a:rPr lang="en-US"/>
              <a:t>the INH pin will be asserted so that its active high output can drive the enable pins of the external</a:t>
            </a:r>
            <a:r>
              <a:rPr lang="en-DE"/>
              <a:t> </a:t>
            </a:r>
            <a:r>
              <a:rPr lang="en-US"/>
              <a:t>switchable supplies for VDDA and VDDP.</a:t>
            </a:r>
            <a:endParaRPr lang="en-DE"/>
          </a:p>
          <a:p>
            <a:r>
              <a:rPr lang="en-US"/>
              <a:t>After the device enters sleep mode, the INH pin will enter a high-impedance state. The external</a:t>
            </a:r>
            <a:r>
              <a:rPr lang="en-DE"/>
              <a:t> </a:t>
            </a:r>
            <a:r>
              <a:rPr lang="en-US"/>
              <a:t>resistor will pull the signal down to ground, which will then disable any voltage sources controlled</a:t>
            </a:r>
            <a:r>
              <a:rPr lang="en-DE"/>
              <a:t> </a:t>
            </a:r>
            <a:r>
              <a:rPr lang="en-US"/>
              <a:t>by INH. This can be used to disable power to additional devices, including, when needed, the station</a:t>
            </a:r>
            <a:r>
              <a:rPr lang="en-DE"/>
              <a:t> </a:t>
            </a:r>
            <a:r>
              <a:rPr lang="en-US"/>
              <a:t>controller.</a:t>
            </a:r>
            <a:endParaRPr lang="en-DE"/>
          </a:p>
          <a:p>
            <a:r>
              <a:rPr lang="en-US"/>
              <a:t>The sleep/wake module is powered by the externally protected continuous VDDAU supply and</a:t>
            </a:r>
            <a:r>
              <a:rPr lang="en-DE"/>
              <a:t> </a:t>
            </a:r>
            <a:r>
              <a:rPr lang="en-US"/>
              <a:t>detects a wake condition when the device is in the SLEEP state. This module monitors activity energy</a:t>
            </a:r>
            <a:r>
              <a:rPr lang="en-DE"/>
              <a:t> </a:t>
            </a:r>
            <a:r>
              <a:rPr lang="en-US"/>
              <a:t>on the MDI interface and/or wake pulses on the WAKE_IN pin to determine if the device has received</a:t>
            </a:r>
            <a:r>
              <a:rPr lang="en-DE"/>
              <a:t> </a:t>
            </a:r>
            <a:r>
              <a:rPr lang="en-US"/>
              <a:t>wake-up signaling. Once wake-up signaling has been received and validated, this module will drive</a:t>
            </a:r>
            <a:r>
              <a:rPr lang="en-DE"/>
              <a:t> </a:t>
            </a:r>
            <a:r>
              <a:rPr lang="en-US"/>
              <a:t>the INH pin high to the VDDAU supply to enable the external switched power supplies.</a:t>
            </a:r>
            <a:endParaRPr lang="en-DE"/>
          </a:p>
          <a:p>
            <a:endParaRPr lang="en-DE"/>
          </a:p>
          <a:p>
            <a:r>
              <a:rPr lang="en-US"/>
              <a:t>If wake from the WAKE_IN pin is enabled (WKIEN=1), the WAKE_IN pin must</a:t>
            </a:r>
            <a:r>
              <a:rPr lang="en-DE"/>
              <a:t> </a:t>
            </a:r>
            <a:r>
              <a:rPr lang="en-US"/>
              <a:t>be </a:t>
            </a:r>
            <a:r>
              <a:rPr lang="en-US" err="1"/>
              <a:t>deasserted</a:t>
            </a:r>
            <a:r>
              <a:rPr lang="en-US"/>
              <a:t> before the Sleep Inhibit Delay timer will be started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Wake from MDI is enabled by writing a ’1’ to the MDI Wake Enable (MDIWKEN) bit in the Sleep</a:t>
            </a:r>
          </a:p>
          <a:p>
            <a:r>
              <a:rPr lang="en-US"/>
              <a:t>Control 0 (SLPCTL0) register prior to entering the SLEEP state.</a:t>
            </a:r>
            <a:endParaRPr lang="en-DE"/>
          </a:p>
          <a:p>
            <a:endParaRPr lang="en-DE"/>
          </a:p>
          <a:p>
            <a:r>
              <a:rPr lang="en-US"/>
              <a:t>The device may be configured to generate activity signaling on the MDI upon wake from SLEEP</a:t>
            </a:r>
            <a:r>
              <a:rPr lang="en-DE"/>
              <a:t> </a:t>
            </a:r>
            <a:r>
              <a:rPr lang="en-US"/>
              <a:t>due to a </a:t>
            </a:r>
            <a:r>
              <a:rPr lang="en-DE"/>
              <a:t>w</a:t>
            </a:r>
            <a:r>
              <a:rPr lang="en-US" err="1"/>
              <a:t>ake</a:t>
            </a:r>
            <a:r>
              <a:rPr lang="en-US"/>
              <a:t> pulse on WAKE_IN. The wake signaling consists of a 1 </a:t>
            </a:r>
            <a:r>
              <a:rPr lang="en-US" err="1"/>
              <a:t>ms</a:t>
            </a:r>
            <a:r>
              <a:rPr lang="en-US"/>
              <a:t> transmission of differential</a:t>
            </a:r>
            <a:r>
              <a:rPr lang="en-DE"/>
              <a:t> </a:t>
            </a:r>
            <a:r>
              <a:rPr lang="en-US"/>
              <a:t>Manchester encoded pseudo-random binary data. The device will not listen for activity on the</a:t>
            </a:r>
            <a:r>
              <a:rPr lang="en-DE"/>
              <a:t> </a:t>
            </a:r>
            <a:r>
              <a:rPr lang="en-US"/>
              <a:t>network prior to transmitting the wake signaling.</a:t>
            </a:r>
          </a:p>
          <a:p>
            <a:r>
              <a:rPr lang="en-US"/>
              <a:t>Enabling of MDI wake activity forwarding is accomplished by setting the MDI Forward Enable</a:t>
            </a:r>
          </a:p>
          <a:p>
            <a:r>
              <a:rPr lang="en-US"/>
              <a:t>(MDIFWDEN) bit of the Sleep Control 1 (SLPCTL1) register.</a:t>
            </a:r>
            <a:endParaRPr lang="en-DE"/>
          </a:p>
          <a:p>
            <a:endParaRPr lang="en-DE"/>
          </a:p>
          <a:p>
            <a:r>
              <a:rPr lang="en-US"/>
              <a:t>The WAKE_OUT pin may be configured to assert for 90 </a:t>
            </a:r>
            <a:r>
              <a:rPr lang="en-US" err="1"/>
              <a:t>μs</a:t>
            </a:r>
            <a:r>
              <a:rPr lang="en-US"/>
              <a:t> upon wake from SLEEP due to MDI activity</a:t>
            </a:r>
            <a:r>
              <a:rPr lang="en-DE"/>
              <a:t> </a:t>
            </a:r>
            <a:r>
              <a:rPr lang="en-US"/>
              <a:t>or a wake pulse on WAKE_IN. Enabling of WAKE_OUT pin forwarding is accomplished by setting</a:t>
            </a:r>
            <a:r>
              <a:rPr lang="en-DE"/>
              <a:t> </a:t>
            </a:r>
            <a:r>
              <a:rPr lang="en-US"/>
              <a:t>the WAKE_OUT Forward Enable (WKOFWDEN) bit of the Sleep Control 1 (SLPCTL1) register prior</a:t>
            </a:r>
            <a:r>
              <a:rPr lang="en-DE"/>
              <a:t> </a:t>
            </a:r>
            <a:r>
              <a:rPr lang="en-US"/>
              <a:t>to entering the SLEEP state.</a:t>
            </a:r>
            <a:endParaRPr lang="en-DE"/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1DF17-AF3C-DD08-6BAE-7B3E8D6344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LAN867x  PHY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p.</a:t>
            </a:r>
            <a:fld id="{BFF8CB49-A7FB-5E4A-B599-DE2118135120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68690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entering SLEEP mode, the desired wake configuration must be</a:t>
            </a:r>
          </a:p>
          <a:p>
            <a:r>
              <a:rPr lang="en-US"/>
              <a:t>configured in the LAN8670/1/2 and LAN8650/1. It is recommended that this mode is configured</a:t>
            </a:r>
          </a:p>
          <a:p>
            <a:r>
              <a:rPr lang="en-US"/>
              <a:t>immediately after a reset.</a:t>
            </a:r>
            <a:endParaRPr lang="en-DE"/>
          </a:p>
          <a:p>
            <a:r>
              <a:rPr lang="en-US"/>
              <a:t>Some systems may require a delay between the trigger for the start of sleep mode and disable</a:t>
            </a:r>
          </a:p>
          <a:p>
            <a:r>
              <a:rPr lang="en-US"/>
              <a:t>of the local power supplies, for example, to allow for other nodes on the mixing segment to go</a:t>
            </a:r>
          </a:p>
          <a:p>
            <a:r>
              <a:rPr lang="en-US"/>
              <a:t>quiet. Delay timing is configured with the Sleep Inhibit Delay (SLPINHDLY) field of the Sleep Control</a:t>
            </a:r>
          </a:p>
          <a:p>
            <a:r>
              <a:rPr lang="en-US"/>
              <a:t>0 (SLPCTL0) register.</a:t>
            </a:r>
            <a:endParaRPr lang="en-DE"/>
          </a:p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AA5FF-0AF5-C763-8FC2-47ED2D816A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LAN867x  PHY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p.</a:t>
            </a:r>
            <a:fld id="{BFF8CB49-A7FB-5E4A-B599-DE2118135120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52158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After wake-up has been configured, the device may at any time be commanded to enter the SLEEP</a:t>
            </a:r>
          </a:p>
          <a:p>
            <a:r>
              <a:rPr lang="en-US"/>
              <a:t>state. This may be done in one of two ways. The station controller may initiate a transition to SLEEP</a:t>
            </a:r>
          </a:p>
          <a:p>
            <a:r>
              <a:rPr lang="en-US"/>
              <a:t>by writing a ‘1’ to the Sleep Enable (SLPEN) bit in the Sleep Control 0 (SLPCTL0) register. Alternatively,</a:t>
            </a:r>
          </a:p>
          <a:p>
            <a:r>
              <a:rPr lang="en-US"/>
              <a:t>the device may be configured to enter SLEEP automatically upon expiration of an inactivity watchdog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The inactivity watchdog can be configured to trigger on inactivity of three sources: no receive</a:t>
            </a:r>
          </a:p>
          <a:p>
            <a:r>
              <a:rPr lang="en-US"/>
              <a:t>packets from the network, no transmit packets from the MAC, and no SMI access by the controller.</a:t>
            </a:r>
          </a:p>
          <a:p>
            <a:r>
              <a:rPr lang="en-US"/>
              <a:t>Each of these three inactivity sources may be enabled separately or together in any combination.</a:t>
            </a:r>
          </a:p>
          <a:p>
            <a:r>
              <a:rPr lang="en-US"/>
              <a:t>Once enabled, the watchdog timer will be reset upon detected activity on any of the selected</a:t>
            </a:r>
          </a:p>
          <a:p>
            <a:r>
              <a:rPr lang="en-US"/>
              <a:t>watchdog sources. When the watchdog expires, the Inactivity Watchdog Timeout (IWDTO) bit in</a:t>
            </a:r>
          </a:p>
          <a:p>
            <a:r>
              <a:rPr lang="en-US"/>
              <a:t>the Status 2 (STS2) register will be set commanding the transition to the SLEEP state and initiating</a:t>
            </a:r>
          </a:p>
          <a:p>
            <a:r>
              <a:rPr lang="en-US"/>
              <a:t>the Sleep Inhibit Delay timer.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5C89B-8AFD-F20E-32EA-BFB337435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LAN867x  PHY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p.</a:t>
            </a:r>
            <a:fld id="{BFF8CB49-A7FB-5E4A-B599-DE2118135120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01943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1AF73-9F4B-7C28-A456-1055E6E40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LAN867x  PHY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p.</a:t>
            </a:r>
            <a:fld id="{BFF8CB49-A7FB-5E4A-B599-DE2118135120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222338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After wake-up has been configured, the device may at any time be commanded to enter the SLEEP</a:t>
            </a:r>
          </a:p>
          <a:p>
            <a:r>
              <a:rPr lang="en-US"/>
              <a:t>state. This may be done in one of two ways. The station controller may initiate a transition to SLEEP</a:t>
            </a:r>
          </a:p>
          <a:p>
            <a:r>
              <a:rPr lang="en-US"/>
              <a:t>by writing a ‘1’ to the Sleep Enable (SLPEN) bit in the Sleep Control 0 (SLPCTL0) register. Alternatively,</a:t>
            </a:r>
          </a:p>
          <a:p>
            <a:r>
              <a:rPr lang="en-US"/>
              <a:t>the device may be configured to enter SLEEP automatically upon expiration of an inactivity watchdog</a:t>
            </a:r>
            <a:r>
              <a:rPr lang="en-DE"/>
              <a:t>.</a:t>
            </a:r>
          </a:p>
          <a:p>
            <a:endParaRPr lang="en-DE"/>
          </a:p>
          <a:p>
            <a:r>
              <a:rPr lang="en-US"/>
              <a:t>The inactivity watchdog can be configured to trigger on inactivity of three sources: no receive</a:t>
            </a:r>
          </a:p>
          <a:p>
            <a:r>
              <a:rPr lang="en-US"/>
              <a:t>packets from the network, no transmit packets from the MAC, and no SMI access by the controller.</a:t>
            </a:r>
          </a:p>
          <a:p>
            <a:r>
              <a:rPr lang="en-US"/>
              <a:t>Each of these three inactivity sources may be enabled separately or together in any combination.</a:t>
            </a:r>
          </a:p>
          <a:p>
            <a:r>
              <a:rPr lang="en-US"/>
              <a:t>Once enabled, the watchdog timer will be reset upon detected activity on any of the selected</a:t>
            </a:r>
          </a:p>
          <a:p>
            <a:r>
              <a:rPr lang="en-US"/>
              <a:t>watchdog sources. When the watchdog expires, the Inactivity Watchdog Timeout (IWDTO) bit in</a:t>
            </a:r>
          </a:p>
          <a:p>
            <a:r>
              <a:rPr lang="en-US"/>
              <a:t>the Status 2 (STS2) register will be set commanding the transition to the SLEEP state and initiating</a:t>
            </a:r>
          </a:p>
          <a:p>
            <a:r>
              <a:rPr lang="en-US"/>
              <a:t>the Sleep Inhibit Delay timer.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5C89B-8AFD-F20E-32EA-BFB337435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LAN867x  PHY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p.</a:t>
            </a:r>
            <a:fld id="{BFF8CB49-A7FB-5E4A-B599-DE2118135120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4658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1AF73-9F4B-7C28-A456-1055E6E40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LAN867x  PHY 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p.</a:t>
            </a:r>
            <a:fld id="{BFF8CB49-A7FB-5E4A-B599-DE2118135120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1170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165" y="2474260"/>
            <a:ext cx="6437455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1530" y="6331942"/>
            <a:ext cx="2777297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2849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7363" y="3799832"/>
            <a:ext cx="7411397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5143" y="6123667"/>
            <a:ext cx="6419850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5142" y="5763412"/>
            <a:ext cx="6420245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55" y="5139766"/>
            <a:ext cx="1630420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621" y="2635935"/>
            <a:ext cx="3584711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7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0606" y="2034289"/>
            <a:ext cx="790916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0606" y="3824300"/>
            <a:ext cx="790916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8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FD760F-7C5E-4E44-B69C-EB85837D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1704FFC-4F15-324D-96E6-976EE1494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42D503-9A96-D64F-9F2A-686838B59E92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DA906-E77A-5240-98D3-F3FA40331838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B651317-B18C-E948-B990-13010FE9F46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C4F890-E5A4-0844-9DAE-418C6FA03CF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47B63C-8A0B-7B43-8B1E-3F2EE21776C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077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626375"/>
            <a:ext cx="1140066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AD67FA37-0073-AF47-8F1C-C046BC1C2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FA29F-D3D1-B743-BF1F-4F74E9BFBE96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D98CAA-53AB-CA40-BB99-AC8568C9C965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93471D4-F779-B244-9C40-C480DA421F1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5653C1-7F81-CF47-B063-A8C4BC3DF14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3EB453-955B-B940-9782-A882942161A9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971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5505846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929270"/>
            <a:ext cx="5505846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78986A39-4957-2843-AFDE-E6160A6C0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C2564-89A5-B045-B11D-EC2B6C4EF263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6810D8-1F1D-2E44-98D2-9655BDEBA9A9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5B9D91C-B319-6740-B041-91E92A828C26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D45905-001C-3245-A3FD-ABDBA73B7BBC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045E37-2F57-AB4C-8037-7C0BF70F4E15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0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1408546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D0980E6-4C36-ED4A-BBAC-FCB3FD47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4F5BD-A8B2-8A43-8F9D-27796637426D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AB45CE-9A16-9D42-B335-40FCBA3C7672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A8F7AB5-BFE5-D543-9ED3-50EAB714655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272549-DB7B-3E4B-A9DF-41399001725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593CC7-18E5-1E4B-B493-BCCB1352C41B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095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7" y="923075"/>
            <a:ext cx="5474569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5192" y="941660"/>
            <a:ext cx="5387630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561175"/>
            <a:ext cx="5474567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561175"/>
            <a:ext cx="5387630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884F7A06-CF40-064F-B9BE-F69B2DFE5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D839D-F08B-6B46-82B5-51DE2326DF5F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C1BBAD-8C56-A04F-899C-5B4188A5F5D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25B9A85-EE0A-E54F-AA18-41FF007C6B2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AC621-04E4-3B47-A37C-31D012718AE9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66AC5E-3B4D-524B-B3AE-A5267FAD281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310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381004"/>
            <a:ext cx="5474569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5192" y="1381003"/>
            <a:ext cx="5387630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6087" y="6490880"/>
            <a:ext cx="129209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988634"/>
            <a:ext cx="5474567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988634"/>
            <a:ext cx="5387630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099EDC09-5657-6C4E-AE82-350208BA5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DC922F-64A0-A245-9B54-7182667660D0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28C046-B8FC-994F-85A4-8FD25DF19D2F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B520446-FD47-794F-A313-0EC6DBF6114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B0F66-0524-644B-A3CD-BA2A1489128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85BC8B-986D-8044-8033-3156B5F78D3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731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54FF79-E97B-4A45-8531-09115531EF4A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C4752-EFF3-2B44-8E4B-F4DEFD9A25AA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3BFC65E3-DBEB-1842-AA6D-2998A3A3FD5B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E21974-58F0-B847-85B6-BB315041D59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A98491-2152-B244-BD39-4FE185E36846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212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29115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CCBDF1D-727A-8D40-8A82-92589DBBC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604027-1BF3-C14F-877E-5C7EE39F69C0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34F8B5-2138-234E-903C-B35966BCD117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9AB5E9E-CCD6-9040-9CA1-3DCB3C4DE5FC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94146-079F-A945-B1E9-105CEE8A4D91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7A5633-2AD4-2D44-AC80-6A32A00CAC6A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43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025A1E1-D99B-A04E-A12E-D4E8E63C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C8A96F-9EB8-7740-A265-0BBDA7FB1BFC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354E03-A149-934A-8EE2-DADBA3C644C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7A855CC-F7C0-7640-82CB-E23B5A29FE53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3E9907-5B53-D94D-B91B-5D80BFCB4C3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8318FC-FB83-DD43-9569-4DB052814862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89313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70970D-D44F-4FDE-934D-225B6FC5F4CE}"/>
              </a:ext>
            </a:extLst>
          </p:cNvPr>
          <p:cNvSpPr/>
          <p:nvPr userDrawn="1"/>
        </p:nvSpPr>
        <p:spPr>
          <a:xfrm>
            <a:off x="0" y="0"/>
            <a:ext cx="285225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222" y="1999957"/>
            <a:ext cx="7422132" cy="77724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12222" y="3028405"/>
            <a:ext cx="7422132" cy="2874948"/>
          </a:xfrm>
          <a:prstGeom prst="rect">
            <a:avLst/>
          </a:prstGeom>
        </p:spPr>
        <p:txBody>
          <a:bodyPr/>
          <a:lstStyle>
            <a:lvl1pPr marL="252000" indent="-360000">
              <a:defRPr>
                <a:solidFill>
                  <a:schemeClr val="accent1"/>
                </a:solidFill>
              </a:defRPr>
            </a:lvl1pPr>
            <a:lvl2pPr marL="720000" indent="-324000">
              <a:defRPr>
                <a:solidFill>
                  <a:schemeClr val="accent1"/>
                </a:solidFill>
              </a:defRPr>
            </a:lvl2pPr>
            <a:lvl3pPr marL="868680" indent="-468000">
              <a:defRPr>
                <a:solidFill>
                  <a:schemeClr val="accent1"/>
                </a:solidFill>
              </a:defRPr>
            </a:lvl3pPr>
            <a:lvl4pPr marL="1143000" indent="-468000">
              <a:defRPr>
                <a:solidFill>
                  <a:schemeClr val="accent1"/>
                </a:solidFill>
              </a:defRPr>
            </a:lvl4pPr>
            <a:lvl5pPr marL="1435608" indent="-468000"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042" y="1826084"/>
            <a:ext cx="2692195" cy="322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576072" indent="-274320">
              <a:defRPr sz="2000" b="1">
                <a:solidFill>
                  <a:schemeClr val="bg1"/>
                </a:solidFill>
              </a:defRPr>
            </a:lvl2pPr>
            <a:lvl3pPr marL="868680" indent="-274320">
              <a:defRPr sz="1800" b="1">
                <a:solidFill>
                  <a:schemeClr val="bg1"/>
                </a:solidFill>
              </a:defRPr>
            </a:lvl3pPr>
            <a:lvl4pPr marL="1143000" indent="-274320">
              <a:defRPr sz="1600" b="1">
                <a:solidFill>
                  <a:schemeClr val="bg1"/>
                </a:solidFill>
              </a:defRPr>
            </a:lvl4pPr>
            <a:lvl5pPr marL="1435608" indent="-274320"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9A6798-DA08-638A-E64E-82051A669C0D}"/>
              </a:ext>
            </a:extLst>
          </p:cNvPr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64232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xed 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E19786-1C86-4015-82FB-2A4C31C0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5D80E8-9083-42EB-8610-CE895C692521}"/>
              </a:ext>
            </a:extLst>
          </p:cNvPr>
          <p:cNvSpPr/>
          <p:nvPr userDrawn="1"/>
        </p:nvSpPr>
        <p:spPr>
          <a:xfrm>
            <a:off x="869342" y="1153662"/>
            <a:ext cx="6092825" cy="473636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US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Introduction to 10BASE-T1S</a:t>
            </a: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 / PLCA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Collaterals (internal only)</a:t>
            </a:r>
            <a:endParaRPr lang="en-US" sz="2400" b="1" kern="120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LAN867x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LAN865x Overview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PLCA Summary</a:t>
            </a: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r>
              <a:rPr lang="en-DE" sz="2400" b="1" kern="1200">
                <a:solidFill>
                  <a:srgbClr val="0070C0"/>
                </a:solidFill>
                <a:latin typeface="+mn-lt"/>
                <a:ea typeface="+mn-ea"/>
                <a:cs typeface="+mn-cs"/>
              </a:rPr>
              <a:t>10BASE-T1S Demo</a:t>
            </a:r>
          </a:p>
          <a:p>
            <a:pPr marL="0" marR="0" lvl="0" indent="-307691" algn="l" defTabSz="609443" rtl="0" eaLnBrk="1" fontAlgn="auto" latinLnBrk="0" hangingPunct="1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1D9CE4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DE" sz="2400" b="1" kern="1200" err="1">
                <a:solidFill>
                  <a:srgbClr val="0070C0"/>
                </a:solidFill>
                <a:latin typeface="+mn-lt"/>
                <a:ea typeface="+mn-ea"/>
                <a:cs typeface="+mn-cs"/>
              </a:rPr>
              <a:t>PoDL</a:t>
            </a:r>
            <a:endParaRPr lang="en-DE" sz="2400" b="1" kern="1200">
              <a:solidFill>
                <a:srgbClr val="0070C0"/>
              </a:solidFill>
              <a:latin typeface="+mn-lt"/>
              <a:ea typeface="+mn-ea"/>
              <a:cs typeface="+mn-cs"/>
            </a:endParaRPr>
          </a:p>
          <a:p>
            <a:pPr marL="0" lvl="0" indent="-307691" algn="l" defTabSz="609443" rtl="0" eaLnBrk="1" latinLnBrk="0" hangingPunct="1">
              <a:lnSpc>
                <a:spcPct val="150000"/>
              </a:lnSpc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</a:pPr>
            <a:endParaRPr lang="en-US" sz="2400" b="1" kern="1200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232DDA7-7531-4324-A8CE-CB416029C864}"/>
              </a:ext>
            </a:extLst>
          </p:cNvPr>
          <p:cNvSpPr txBox="1">
            <a:spLocks/>
          </p:cNvSpPr>
          <p:nvPr userDrawn="1"/>
        </p:nvSpPr>
        <p:spPr>
          <a:xfrm>
            <a:off x="2414355" y="6492875"/>
            <a:ext cx="69038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09443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10BASE-T1S Introduction      </a:t>
            </a:r>
            <a:r>
              <a:rPr lang="en-US"/>
              <a:t>© 202</a:t>
            </a:r>
            <a:r>
              <a:rPr lang="en-DE"/>
              <a:t>2</a:t>
            </a:r>
            <a:r>
              <a:rPr lang="en-US"/>
              <a:t>  Microchip Technology  Inc.     All Rights Reserved</a:t>
            </a:r>
            <a:r>
              <a:rPr lang="en-DE"/>
              <a:t>       CONFIDENTIAL</a:t>
            </a:r>
            <a:r>
              <a:rPr lang="en-US"/>
              <a:t> </a:t>
            </a:r>
            <a:endParaRPr lang="de-DE"/>
          </a:p>
        </p:txBody>
      </p:sp>
      <p:pic>
        <p:nvPicPr>
          <p:cNvPr id="7" name="Content Placeholder 6" descr="A picture containing yellow, several&#10;&#10;Description automatically generated">
            <a:extLst>
              <a:ext uri="{FF2B5EF4-FFF2-40B4-BE49-F238E27FC236}">
                <a16:creationId xmlns:a16="http://schemas.microsoft.com/office/drawing/2014/main" id="{52F92035-824C-1BA9-0BA5-88CAC2AA95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0121" y="2137770"/>
            <a:ext cx="4709534" cy="2768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4906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656474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851953"/>
            <a:ext cx="11400660" cy="5385963"/>
          </a:xfrm>
          <a:prstGeom prst="rect">
            <a:avLst/>
          </a:prstGeom>
        </p:spPr>
        <p:txBody>
          <a:bodyPr>
            <a:normAutofit/>
          </a:bodyPr>
          <a:lstStyle>
            <a:lvl1pPr marL="274201" indent="-274201">
              <a:defRPr sz="2000" b="0"/>
            </a:lvl1pPr>
            <a:lvl2pPr marL="576072" indent="-274320">
              <a:defRPr sz="2000"/>
            </a:lvl2pPr>
            <a:lvl3pPr marL="868680" indent="-274320">
              <a:defRPr sz="20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27 April 2026</a:t>
              </a:fld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E691D0C-8067-4FA5-020F-F5402E5063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4297" y="6457950"/>
            <a:ext cx="4735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6879F-7EC0-41E4-BD68-03C263C11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48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>
            <a:noAutofit/>
          </a:bodyPr>
          <a:lstStyle>
            <a:lvl1pPr marL="360000" indent="-360000">
              <a:defRPr sz="2000"/>
            </a:lvl1pPr>
            <a:lvl2pPr marL="720000" indent="-360000">
              <a:defRPr sz="2000"/>
            </a:lvl2pPr>
            <a:lvl3pPr marL="868680" indent="-274320">
              <a:defRPr sz="1600"/>
            </a:lvl3pPr>
            <a:lvl4pPr marL="1143000" indent="-274320">
              <a:defRPr sz="1400"/>
            </a:lvl4pPr>
            <a:lvl5pPr marL="1435608" indent="-274320">
              <a:defRPr sz="1400"/>
            </a:lvl5pPr>
          </a:lstStyle>
          <a:p>
            <a:pPr lvl="0"/>
            <a:r>
              <a:rPr lang="en-US"/>
              <a:t>First level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E19786-1C86-4015-82FB-2A4C31C0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0F1EA-8213-48AD-9872-F1D91E74D1F2}"/>
              </a:ext>
            </a:extLst>
          </p:cNvPr>
          <p:cNvSpPr txBox="1">
            <a:spLocks/>
          </p:cNvSpPr>
          <p:nvPr userDrawn="1"/>
        </p:nvSpPr>
        <p:spPr>
          <a:xfrm>
            <a:off x="2414355" y="6599583"/>
            <a:ext cx="6903815" cy="258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09443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/>
              <a:t>© 202</a:t>
            </a:r>
            <a:r>
              <a:rPr lang="en-DE" sz="1050"/>
              <a:t>3</a:t>
            </a:r>
            <a:r>
              <a:rPr lang="en-US" sz="1050"/>
              <a:t>  Microchip Technology  Inc.     All Rights Reserved</a:t>
            </a:r>
            <a:endParaRPr lang="de-DE" sz="1050"/>
          </a:p>
        </p:txBody>
      </p: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970970D-D44F-4FDE-934D-225B6FC5F4CE}"/>
              </a:ext>
            </a:extLst>
          </p:cNvPr>
          <p:cNvSpPr/>
          <p:nvPr userDrawn="1"/>
        </p:nvSpPr>
        <p:spPr>
          <a:xfrm>
            <a:off x="0" y="0"/>
            <a:ext cx="2852257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222" y="1999957"/>
            <a:ext cx="7422132" cy="77724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012222" y="3028405"/>
            <a:ext cx="7422132" cy="2874948"/>
          </a:xfrm>
          <a:prstGeom prst="rect">
            <a:avLst/>
          </a:prstGeom>
        </p:spPr>
        <p:txBody>
          <a:bodyPr/>
          <a:lstStyle>
            <a:lvl1pPr marL="252000" indent="-360000">
              <a:defRPr>
                <a:solidFill>
                  <a:schemeClr val="accent1"/>
                </a:solidFill>
              </a:defRPr>
            </a:lvl1pPr>
            <a:lvl2pPr marL="720000" indent="-324000">
              <a:defRPr>
                <a:solidFill>
                  <a:schemeClr val="accent1"/>
                </a:solidFill>
              </a:defRPr>
            </a:lvl2pPr>
            <a:lvl3pPr marL="868680" indent="-468000">
              <a:defRPr>
                <a:solidFill>
                  <a:schemeClr val="accent1"/>
                </a:solidFill>
              </a:defRPr>
            </a:lvl3pPr>
            <a:lvl4pPr marL="1143000" indent="-468000">
              <a:defRPr>
                <a:solidFill>
                  <a:schemeClr val="accent1"/>
                </a:solidFill>
              </a:defRPr>
            </a:lvl4pPr>
            <a:lvl5pPr marL="1435608" indent="-468000"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0042" y="1826084"/>
            <a:ext cx="2692195" cy="322488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576072" indent="-274320">
              <a:defRPr sz="2000" b="1">
                <a:solidFill>
                  <a:schemeClr val="bg1"/>
                </a:solidFill>
              </a:defRPr>
            </a:lvl2pPr>
            <a:lvl3pPr marL="868680" indent="-274320">
              <a:defRPr sz="1800" b="1">
                <a:solidFill>
                  <a:schemeClr val="bg1"/>
                </a:solidFill>
              </a:defRPr>
            </a:lvl3pPr>
            <a:lvl4pPr marL="1143000" indent="-274320">
              <a:defRPr sz="1600" b="1">
                <a:solidFill>
                  <a:schemeClr val="bg1"/>
                </a:solidFill>
              </a:defRPr>
            </a:lvl4pPr>
            <a:lvl5pPr marL="1435608" indent="-274320"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9A6798-DA08-638A-E64E-82051A669C0D}"/>
              </a:ext>
            </a:extLst>
          </p:cNvPr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21484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>
            <a:noAutofit/>
          </a:bodyPr>
          <a:lstStyle>
            <a:lvl1pPr marL="274201" indent="-274201">
              <a:defRPr sz="2000"/>
            </a:lvl1pPr>
            <a:lvl2pPr marL="576072" indent="-274320">
              <a:defRPr sz="2000"/>
            </a:lvl2pPr>
            <a:lvl3pPr marL="868680" indent="-274320">
              <a:defRPr sz="1600"/>
            </a:lvl3pPr>
            <a:lvl4pPr marL="1143000" indent="-274320">
              <a:defRPr sz="1400"/>
            </a:lvl4pPr>
            <a:lvl5pPr marL="1435608" indent="-274320">
              <a:defRPr sz="1400"/>
            </a:lvl5pPr>
          </a:lstStyle>
          <a:p>
            <a:pPr lvl="0"/>
            <a:r>
              <a:rPr lang="en-US"/>
              <a:t>First level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E19786-1C86-4015-82FB-2A4C31C0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70F1EA-8213-48AD-9872-F1D91E74D1F2}"/>
              </a:ext>
            </a:extLst>
          </p:cNvPr>
          <p:cNvSpPr txBox="1">
            <a:spLocks/>
          </p:cNvSpPr>
          <p:nvPr userDrawn="1"/>
        </p:nvSpPr>
        <p:spPr>
          <a:xfrm>
            <a:off x="2414355" y="6599583"/>
            <a:ext cx="6903815" cy="258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609443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050"/>
              <a:t>LAN8650/1 </a:t>
            </a:r>
            <a:r>
              <a:rPr lang="en-DE" sz="1050"/>
              <a:t>MAC-PHY  </a:t>
            </a:r>
            <a:r>
              <a:rPr lang="en-US" sz="1050"/>
              <a:t>© 202</a:t>
            </a:r>
            <a:r>
              <a:rPr lang="en-DE" sz="1050"/>
              <a:t>3</a:t>
            </a:r>
            <a:r>
              <a:rPr lang="en-US" sz="1050"/>
              <a:t>  Microchip Technology  Inc.     All Rights Reserved</a:t>
            </a:r>
            <a:endParaRPr lang="de-DE" sz="1050"/>
          </a:p>
        </p:txBody>
      </p: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436" y="6396138"/>
            <a:ext cx="1447127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039091"/>
            <a:ext cx="1140066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65650-0440-F143-8EFF-C6F819EF3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6" r:id="rId4"/>
    <p:sldLayoutId id="2147483660" r:id="rId5"/>
    <p:sldLayoutId id="2147483652" r:id="rId6"/>
    <p:sldLayoutId id="2147483657" r:id="rId7"/>
    <p:sldLayoutId id="2147483653" r:id="rId8"/>
    <p:sldLayoutId id="2147483658" r:id="rId9"/>
    <p:sldLayoutId id="2147483654" r:id="rId10"/>
    <p:sldLayoutId id="2147483659" r:id="rId11"/>
    <p:sldLayoutId id="2147483655" r:id="rId12"/>
    <p:sldLayoutId id="2147483661" r:id="rId13"/>
    <p:sldLayoutId id="2147483662" r:id="rId14"/>
  </p:sldLayoutIdLst>
  <p:hf sldNum="0"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 userDrawn="1">
          <p15:clr>
            <a:srgbClr val="F26B43"/>
          </p15:clr>
        </p15:guide>
        <p15:guide id="2" pos="16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436" y="6396138"/>
            <a:ext cx="1447127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039091"/>
            <a:ext cx="11400661" cy="5412311"/>
          </a:xfrm>
          <a:prstGeom prst="rect">
            <a:avLst/>
          </a:prstGeom>
        </p:spPr>
        <p:txBody>
          <a:bodyPr vert="horz" lIns="121888" tIns="60944" rIns="121888" bIns="60944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D6B1D-7121-53C0-C9F5-B99E7D8B2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3" y="6457950"/>
            <a:ext cx="4735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6879F-7EC0-41E4-BD68-03C263C11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7263" y="6532886"/>
            <a:ext cx="1101725" cy="2774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6491" y="96296"/>
            <a:ext cx="11509679" cy="633617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6491" y="866693"/>
            <a:ext cx="11784072" cy="5584710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167033" y="6495408"/>
            <a:ext cx="539496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fld id="{3A89BA97-E076-0C46-96C3-2C5079BFCB08}" type="slidenum">
              <a:rPr lang="en-US" sz="1300" smtClean="0">
                <a:solidFill>
                  <a:schemeClr val="bg1">
                    <a:lumMod val="50000"/>
                  </a:schemeClr>
                </a:solidFill>
              </a:rPr>
              <a:pPr algn="l"/>
              <a:t>‹#›</a:t>
            </a:fld>
            <a:endParaRPr lang="en-US" sz="13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BCAF6-27B2-4B52-BA3B-D43D4F9758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62200" y="6588183"/>
            <a:ext cx="6779870" cy="2594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202</a:t>
            </a:r>
            <a:r>
              <a:rPr lang="en-DE"/>
              <a:t>3</a:t>
            </a:r>
            <a:r>
              <a:rPr lang="en-US"/>
              <a:t>  Microchip Technology  Inc.     All Rights Reserved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34" r:id="rId2"/>
    <p:sldLayoutId id="2147483742" r:id="rId3"/>
  </p:sldLayoutIdLst>
  <p:hf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36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324000" indent="-288000" algn="l" defTabSz="609443" rtl="0" eaLnBrk="1" latinLnBrk="0" hangingPunct="1">
        <a:spcBef>
          <a:spcPts val="300"/>
        </a:spcBef>
        <a:buClr>
          <a:schemeClr val="bg2"/>
        </a:buClr>
        <a:buFont typeface="Arial"/>
        <a:buChar char="•"/>
        <a:defRPr sz="2000" b="0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Symbol" panose="05050102010706020507" pitchFamily="18" charset="2"/>
        <a:buChar char="-"/>
        <a:defRPr sz="20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16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14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14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>
          <p15:clr>
            <a:srgbClr val="F26B43"/>
          </p15:clr>
        </p15:guide>
        <p15:guide id="2" pos="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hyperlink" Target="https://mu.microchip.com/10base-t1s-single-pair-ethernet-system-integration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0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7.sv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0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sv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854E-F0FA-DA43-9468-0509537A2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Special Features </a:t>
            </a:r>
            <a:r>
              <a:rPr lang="de-DE" err="1"/>
              <a:t>of</a:t>
            </a:r>
            <a:r>
              <a:rPr lang="de-DE"/>
              <a:t> LAN8670/1/2 and LAN8650/1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3D081-4997-FF4D-B75C-F6275A20E9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e-DE"/>
              <a:t>June 2024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F16D4-E23A-8B42-AEFF-22E5AFC9F8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b" anchorCtr="0"/>
          <a:lstStyle/>
          <a:p>
            <a:endParaRPr lang="de-DE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652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70540D-EC30-B4A8-F0DF-403E7AD9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E6F4A2-FB8C-A1C1-9A63-F5A7D4DB18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/>
              <a:t>LAN8670/1/2 and LAN8650/1 Review</a:t>
            </a:r>
          </a:p>
          <a:p>
            <a:r>
              <a:rPr lang="de-DE"/>
              <a:t>Features </a:t>
            </a:r>
            <a:r>
              <a:rPr lang="de-DE" err="1"/>
              <a:t>to</a:t>
            </a:r>
            <a:r>
              <a:rPr lang="de-DE"/>
              <a:t> Tune </a:t>
            </a:r>
            <a:r>
              <a:rPr lang="de-DE" err="1"/>
              <a:t>Bandwidth</a:t>
            </a:r>
            <a:endParaRPr lang="de-DE"/>
          </a:p>
          <a:p>
            <a:r>
              <a:rPr lang="de-DE" err="1"/>
              <a:t>Supporting</a:t>
            </a:r>
            <a:r>
              <a:rPr lang="de-DE"/>
              <a:t> Time Sensitive Networking</a:t>
            </a:r>
          </a:p>
          <a:p>
            <a:r>
              <a:rPr lang="de-DE"/>
              <a:t>Wake/Sleep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7700E6F0-B5D5-F635-147C-7511A0FA72C6}"/>
              </a:ext>
            </a:extLst>
          </p:cNvPr>
          <p:cNvSpPr/>
          <p:nvPr/>
        </p:nvSpPr>
        <p:spPr bwMode="auto">
          <a:xfrm rot="5400000">
            <a:off x="3857130" y="-2600927"/>
            <a:ext cx="633619" cy="7627850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486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F8BBFCB-AFAF-FF5C-8C24-73AF9908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10BASE-T1S</a:t>
            </a:r>
            <a:r>
              <a:rPr lang="en-DE"/>
              <a:t>?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7BA5B6-8914-4290-9722-88D8301C714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4298" y="1259657"/>
            <a:ext cx="11400660" cy="5242743"/>
          </a:xfrm>
        </p:spPr>
        <p:txBody>
          <a:bodyPr numCol="1">
            <a:normAutofit lnSpcReduction="10000"/>
          </a:bodyPr>
          <a:lstStyle/>
          <a:p>
            <a:pPr marL="324000" indent="-288000">
              <a:lnSpc>
                <a:spcPct val="140000"/>
              </a:lnSpc>
              <a:defRPr/>
            </a:pPr>
            <a:r>
              <a:rPr lang="en-DE">
                <a:solidFill>
                  <a:srgbClr val="0E3689"/>
                </a:solidFill>
              </a:rPr>
              <a:t>IEEE 802.3</a:t>
            </a:r>
            <a:r>
              <a:rPr lang="de-DE">
                <a:solidFill>
                  <a:srgbClr val="0E3689"/>
                </a:solidFill>
              </a:rPr>
              <a:t>-2022</a:t>
            </a:r>
            <a:endParaRPr kumimoji="0" lang="de-DE" b="1" i="0" u="none" strike="noStrike" kern="1200" cap="none" spc="0" normalizeH="0" baseline="0" noProof="0">
              <a:ln>
                <a:noFill/>
              </a:ln>
              <a:solidFill>
                <a:srgbClr val="0E36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24000" marR="0" lvl="0" indent="-288000" algn="l" defTabSz="609443" rtl="0" eaLnBrk="1" fontAlgn="auto" latinLnBrk="0" hangingPunct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SzTx/>
              <a:buFont typeface="Arial"/>
              <a:buChar char="•"/>
              <a:tabLst/>
              <a:defRPr/>
            </a:pPr>
            <a:r>
              <a:rPr kumimoji="0" lang="en-DE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Ethernet over </a:t>
            </a: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de-DE" b="1" i="0" u="none" strike="noStrike" kern="1200" cap="none" spc="0" normalizeH="0" baseline="0" noProof="0" err="1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balanced</a:t>
            </a:r>
            <a:r>
              <a:rPr kumimoji="0" lang="de-DE" b="1" i="0" u="none" strike="noStrike" kern="1200" cap="none" spc="0" normalizeH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pair </a:t>
            </a:r>
            <a:r>
              <a:rPr kumimoji="0" lang="de-DE" b="1" i="0" u="none" strike="noStrike" kern="1200" cap="none" spc="0" normalizeH="0" noProof="0" err="1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</a:t>
            </a:r>
            <a:r>
              <a:rPr kumimoji="0" lang="de-DE" b="1" i="0" u="none" strike="noStrike" kern="1200" cap="none" spc="0" normalizeH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de-DE" b="1" i="0" u="none" strike="noStrike" kern="1200" cap="none" spc="0" normalizeH="0" noProof="0" err="1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conductors</a:t>
            </a:r>
            <a:endParaRPr kumimoji="0" lang="en-DE" b="1" i="0" u="none" strike="noStrike" kern="1200" cap="none" spc="0" normalizeH="0" baseline="0" noProof="0">
              <a:ln>
                <a:noFill/>
              </a:ln>
              <a:solidFill>
                <a:srgbClr val="0E36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24000" marR="0" lvl="0" indent="-288000" algn="l" defTabSz="609443" rtl="0" eaLnBrk="1" fontAlgn="auto" latinLnBrk="0" hangingPunct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SzTx/>
              <a:buFont typeface="Arial"/>
              <a:buChar char="•"/>
              <a:tabLst/>
              <a:defRPr/>
            </a:pPr>
            <a:r>
              <a:rPr kumimoji="0" lang="en-DE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 Mbps shared</a:t>
            </a:r>
          </a:p>
          <a:p>
            <a:pPr marL="324000" marR="0" lvl="0" indent="-288000" algn="l" defTabSz="609443" rtl="0" eaLnBrk="1" fontAlgn="auto" latinLnBrk="0" hangingPunct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SzTx/>
              <a:buFont typeface="Arial"/>
              <a:buChar char="•"/>
              <a:tabLst/>
              <a:defRPr/>
            </a:pPr>
            <a:endParaRPr kumimoji="0" lang="en-DE" b="1" i="0" u="none" strike="noStrike" kern="1200" cap="none" spc="0" normalizeH="0" baseline="0" noProof="0">
              <a:ln>
                <a:noFill/>
              </a:ln>
              <a:solidFill>
                <a:srgbClr val="0E36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24000" marR="0" lvl="0" indent="-288000" algn="l" defTabSz="609443" rtl="0" eaLnBrk="1" fontAlgn="auto" latinLnBrk="0" hangingPunct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SzTx/>
              <a:buFont typeface="Arial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</a:t>
            </a:r>
            <a:r>
              <a:rPr kumimoji="0" lang="en-DE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alf duplex multidrop bus line</a:t>
            </a: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de-DE" b="1" i="0" u="none" strike="noStrike" kern="1200" cap="none" spc="0" normalizeH="0" baseline="0" noProof="0" err="1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</a:t>
            </a:r>
            <a:r>
              <a:rPr kumimoji="0" lang="de-DE" b="1" i="0" u="none" strike="noStrike" kern="1200" cap="none" spc="0" normalizeH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PLCA</a:t>
            </a:r>
            <a:endParaRPr kumimoji="0" lang="en-DE" b="1" i="0" u="none" strike="noStrike" kern="1200" cap="none" spc="0" normalizeH="0" baseline="0" noProof="0">
              <a:ln>
                <a:noFill/>
              </a:ln>
              <a:solidFill>
                <a:srgbClr val="0E36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24000" marR="0" lvl="0" indent="-288000" algn="l" defTabSz="609443" rtl="0" eaLnBrk="1" fontAlgn="auto" latinLnBrk="0" hangingPunct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SzTx/>
              <a:buFont typeface="Arial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DE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 to at least 8 nodes</a:t>
            </a: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*</a:t>
            </a:r>
            <a:endParaRPr kumimoji="0" lang="en-DE" b="1" i="0" u="none" strike="noStrike" kern="1200" cap="none" spc="0" normalizeH="0" baseline="0" noProof="0">
              <a:ln>
                <a:noFill/>
              </a:ln>
              <a:solidFill>
                <a:srgbClr val="0E36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24000" marR="0" lvl="0" indent="-288000" algn="l" defTabSz="609443" rtl="0" eaLnBrk="1" fontAlgn="auto" latinLnBrk="0" hangingPunct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SzTx/>
              <a:buFont typeface="Arial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</a:t>
            </a:r>
            <a:r>
              <a:rPr kumimoji="0" lang="en-DE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 to at least 25m bus length</a:t>
            </a:r>
            <a:r>
              <a:rPr kumimoji="0" lang="de-DE" b="1" i="0" u="none" strike="noStrike" kern="1200" cap="none" spc="0" normalizeH="0" baseline="0" noProof="0">
                <a:ln>
                  <a:noFill/>
                </a:ln>
                <a:solidFill>
                  <a:srgbClr val="0E36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*</a:t>
            </a:r>
          </a:p>
          <a:p>
            <a:pPr marL="1197407" lvl="4" indent="0">
              <a:lnSpc>
                <a:spcPct val="140000"/>
              </a:lnSpc>
              <a:buNone/>
              <a:defRPr/>
            </a:pPr>
            <a:r>
              <a:rPr lang="de-DE" b="1">
                <a:solidFill>
                  <a:srgbClr val="0E3689"/>
                </a:solidFill>
                <a:latin typeface="Calibri"/>
              </a:rPr>
              <a:t>*AN1829 </a:t>
            </a:r>
            <a:r>
              <a:rPr lang="de-DE" b="1" err="1">
                <a:solidFill>
                  <a:srgbClr val="0E3689"/>
                </a:solidFill>
                <a:latin typeface="Calibri"/>
              </a:rPr>
              <a:t>demonstrates</a:t>
            </a:r>
            <a:r>
              <a:rPr lang="de-DE" b="1">
                <a:solidFill>
                  <a:srgbClr val="0E3689"/>
                </a:solidFill>
                <a:latin typeface="Calibri"/>
              </a:rPr>
              <a:t> </a:t>
            </a:r>
            <a:r>
              <a:rPr lang="de-DE" b="1" err="1">
                <a:solidFill>
                  <a:srgbClr val="0E3689"/>
                </a:solidFill>
                <a:latin typeface="Calibri"/>
              </a:rPr>
              <a:t>up</a:t>
            </a:r>
            <a:r>
              <a:rPr lang="de-DE" b="1">
                <a:solidFill>
                  <a:srgbClr val="0E3689"/>
                </a:solidFill>
                <a:latin typeface="Calibri"/>
              </a:rPr>
              <a:t> </a:t>
            </a:r>
            <a:r>
              <a:rPr lang="de-DE" b="1" err="1">
                <a:solidFill>
                  <a:srgbClr val="0E3689"/>
                </a:solidFill>
                <a:latin typeface="Calibri"/>
              </a:rPr>
              <a:t>to</a:t>
            </a:r>
            <a:r>
              <a:rPr lang="de-DE" b="1">
                <a:solidFill>
                  <a:srgbClr val="0E3689"/>
                </a:solidFill>
                <a:latin typeface="Calibri"/>
              </a:rPr>
              <a:t> 50 </a:t>
            </a:r>
            <a:r>
              <a:rPr lang="de-DE" b="1" err="1">
                <a:solidFill>
                  <a:srgbClr val="0E3689"/>
                </a:solidFill>
                <a:latin typeface="Calibri"/>
              </a:rPr>
              <a:t>nodes</a:t>
            </a:r>
            <a:r>
              <a:rPr lang="de-DE" b="1">
                <a:solidFill>
                  <a:srgbClr val="0E3689"/>
                </a:solidFill>
                <a:latin typeface="Calibri"/>
              </a:rPr>
              <a:t> and 100 </a:t>
            </a:r>
            <a:r>
              <a:rPr lang="de-DE" b="1" err="1">
                <a:solidFill>
                  <a:srgbClr val="0E3689"/>
                </a:solidFill>
                <a:latin typeface="Calibri"/>
              </a:rPr>
              <a:t>meters</a:t>
            </a:r>
            <a:r>
              <a:rPr lang="de-DE" b="1">
                <a:solidFill>
                  <a:srgbClr val="0E3689"/>
                </a:solidFill>
                <a:latin typeface="Calibri"/>
              </a:rPr>
              <a:t> </a:t>
            </a:r>
            <a:endParaRPr lang="en-DE" b="1">
              <a:solidFill>
                <a:srgbClr val="0E3689"/>
              </a:solidFill>
              <a:latin typeface="Calibri"/>
            </a:endParaRPr>
          </a:p>
          <a:p>
            <a:pPr marL="324000" marR="0" lvl="0" indent="-288000" algn="l" defTabSz="609443" rtl="0" eaLnBrk="1" fontAlgn="auto" latinLnBrk="0" hangingPunct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SzTx/>
              <a:buFont typeface="Arial"/>
              <a:buChar char="•"/>
              <a:tabLst/>
              <a:defRPr/>
            </a:pPr>
            <a:endParaRPr lang="en-DE" b="1">
              <a:solidFill>
                <a:srgbClr val="0E3689"/>
              </a:solidFill>
              <a:latin typeface="Calibri"/>
            </a:endParaRPr>
          </a:p>
          <a:p>
            <a:pPr marL="324000" marR="0" lvl="0" indent="-288000" algn="l" defTabSz="609443" rtl="0" eaLnBrk="1" fontAlgn="auto" latinLnBrk="0" hangingPunct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SzTx/>
              <a:buFont typeface="Arial"/>
              <a:buChar char="•"/>
              <a:tabLst/>
              <a:defRPr/>
            </a:pPr>
            <a:endParaRPr kumimoji="0" lang="en-DE" b="1" i="0" u="none" strike="noStrike" kern="1200" cap="none" spc="0" normalizeH="0" baseline="0" noProof="0">
              <a:ln>
                <a:noFill/>
              </a:ln>
              <a:solidFill>
                <a:srgbClr val="0E36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6000" marR="0" lvl="0" indent="0" algn="l" defTabSz="609443" rtl="0" eaLnBrk="1" fontAlgn="auto" latinLnBrk="0" hangingPunct="1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SzTx/>
              <a:buNone/>
              <a:tabLst/>
              <a:defRPr/>
            </a:pPr>
            <a:endParaRPr kumimoji="0" lang="en-DE" b="1" i="0" u="none" strike="noStrike" kern="1200" cap="none" spc="0" normalizeH="0" baseline="0" noProof="0">
              <a:ln>
                <a:noFill/>
              </a:ln>
              <a:solidFill>
                <a:srgbClr val="0E3689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4" name="Picture 2" descr="C:\Users\WWittmer\Desktop\icons &amp; logos\physical layer\twisted-pair.png">
            <a:extLst>
              <a:ext uri="{FF2B5EF4-FFF2-40B4-BE49-F238E27FC236}">
                <a16:creationId xmlns:a16="http://schemas.microsoft.com/office/drawing/2014/main" id="{C5F72A12-5CC0-46C5-B529-500D61CD4649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959117" y="1912574"/>
            <a:ext cx="2200702" cy="165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39B7CAE-F575-477B-88AC-60EE0E6388DF}"/>
              </a:ext>
            </a:extLst>
          </p:cNvPr>
          <p:cNvGrpSpPr/>
          <p:nvPr/>
        </p:nvGrpSpPr>
        <p:grpSpPr>
          <a:xfrm rot="5400000">
            <a:off x="8825054" y="3535026"/>
            <a:ext cx="1026227" cy="2997108"/>
            <a:chOff x="8611963" y="1001439"/>
            <a:chExt cx="1305090" cy="437804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71628CC-5B36-4E1C-BFCE-5430FA1F21BE}"/>
                </a:ext>
              </a:extLst>
            </p:cNvPr>
            <p:cNvSpPr txBox="1"/>
            <p:nvPr/>
          </p:nvSpPr>
          <p:spPr>
            <a:xfrm>
              <a:off x="8611963" y="1001439"/>
              <a:ext cx="975669" cy="747109"/>
            </a:xfrm>
            <a:prstGeom prst="rect">
              <a:avLst/>
            </a:prstGeom>
            <a:solidFill>
              <a:srgbClr val="D5D7D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tIns="0" bIns="0" rtlCol="0" anchor="t" anchorCtr="0">
              <a:noAutofit/>
            </a:bodyPr>
            <a:lstStyle>
              <a:defPPr>
                <a:defRPr lang="en-US"/>
              </a:defPPr>
              <a:lvl1pPr marL="0" algn="ctr" defTabSz="457200" eaLnBrk="1" latinLnBrk="0" hangingPunct="1">
                <a:defRPr sz="1200">
                  <a:latin typeface="Arial"/>
                  <a:cs typeface="Arial"/>
                </a:defRPr>
              </a:lvl1pPr>
              <a:lvl2pPr defTabSz="457200" eaLnBrk="1" latinLnBrk="0" hangingPunct="1">
                <a:defRPr sz="1800">
                  <a:latin typeface="+mn-lt"/>
                </a:defRPr>
              </a:lvl2pPr>
              <a:lvl3pPr defTabSz="457200" eaLnBrk="1" latinLnBrk="0" hangingPunct="1">
                <a:defRPr sz="1800">
                  <a:latin typeface="+mn-lt"/>
                </a:defRPr>
              </a:lvl3pPr>
              <a:lvl4pPr defTabSz="457200" eaLnBrk="1" latinLnBrk="0" hangingPunct="1">
                <a:defRPr sz="1800">
                  <a:latin typeface="+mn-lt"/>
                </a:defRPr>
              </a:lvl4pPr>
              <a:lvl5pPr defTabSz="457200" eaLnBrk="1" latinLnBrk="0" hangingPunct="1">
                <a:defRPr sz="1800">
                  <a:latin typeface="+mn-lt"/>
                </a:defRPr>
              </a:lvl5pPr>
              <a:lvl6pPr defTabSz="457200">
                <a:defRPr sz="1800">
                  <a:latin typeface="+mn-lt"/>
                </a:defRPr>
              </a:lvl6pPr>
              <a:lvl7pPr defTabSz="457200">
                <a:defRPr sz="1800">
                  <a:latin typeface="+mn-lt"/>
                </a:defRPr>
              </a:lvl7pPr>
              <a:lvl8pPr defTabSz="457200">
                <a:defRPr sz="1800">
                  <a:latin typeface="+mn-lt"/>
                </a:defRPr>
              </a:lvl8pPr>
              <a:lvl9pPr defTabSz="457200">
                <a:defRPr sz="1800">
                  <a:latin typeface="+mn-lt"/>
                </a:defRPr>
              </a:lvl9pPr>
            </a:lstStyle>
            <a:p>
              <a:pPr algn="l"/>
              <a:r>
                <a:rPr lang="en-US" b="1"/>
                <a:t>ECU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E540282-1956-43FE-B42C-EAEC11AD51A0}"/>
                </a:ext>
              </a:extLst>
            </p:cNvPr>
            <p:cNvSpPr txBox="1"/>
            <p:nvPr/>
          </p:nvSpPr>
          <p:spPr>
            <a:xfrm>
              <a:off x="8985982" y="1504559"/>
              <a:ext cx="220791" cy="240938"/>
            </a:xfrm>
            <a:prstGeom prst="rect">
              <a:avLst/>
            </a:prstGeom>
            <a:solidFill>
              <a:srgbClr val="FD7F2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ctr"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1pPr>
              <a:lvl2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2pPr>
              <a:lvl3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3pPr>
              <a:lvl4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4pPr>
              <a:lvl5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5pPr>
              <a:lvl6pPr defTabSz="457200">
                <a:defRPr sz="1800">
                  <a:solidFill>
                    <a:schemeClr val="lt1"/>
                  </a:solidFill>
                  <a:latin typeface="+mn-lt"/>
                </a:defRPr>
              </a:lvl6pPr>
              <a:lvl7pPr defTabSz="457200">
                <a:defRPr sz="1800">
                  <a:solidFill>
                    <a:schemeClr val="lt1"/>
                  </a:solidFill>
                  <a:latin typeface="+mn-lt"/>
                </a:defRPr>
              </a:lvl7pPr>
              <a:lvl8pPr defTabSz="457200">
                <a:defRPr sz="1800">
                  <a:solidFill>
                    <a:schemeClr val="lt1"/>
                  </a:solidFill>
                  <a:latin typeface="+mn-lt"/>
                </a:defRPr>
              </a:lvl8pPr>
              <a:lvl9pPr defTabSz="457200">
                <a:defRPr sz="1800">
                  <a:solidFill>
                    <a:schemeClr val="lt1"/>
                  </a:solidFill>
                  <a:latin typeface="+mn-lt"/>
                </a:defRPr>
              </a:lvl9pPr>
            </a:lstStyle>
            <a:p>
              <a:endParaRPr lang="en-US" sz="100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46F7C54-B19E-4D1D-91E1-4B5AE8F8DB2D}"/>
                </a:ext>
              </a:extLst>
            </p:cNvPr>
            <p:cNvCxnSpPr>
              <a:cxnSpLocks/>
            </p:cNvCxnSpPr>
            <p:nvPr/>
          </p:nvCxnSpPr>
          <p:spPr>
            <a:xfrm>
              <a:off x="9087838" y="1751648"/>
              <a:ext cx="0" cy="3273032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133A85C-E462-45BD-B714-CA8E83E4C7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87843" y="2433155"/>
              <a:ext cx="336931" cy="2125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3075E6-F8C7-4D10-8FCA-BCE8DD45CC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87839" y="3286882"/>
              <a:ext cx="344895" cy="3096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E009FE5-4A8F-4C17-B65D-975A6B823C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7839" y="4160169"/>
              <a:ext cx="344895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3512463-EC56-48F3-BF3E-B5ACC7E835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87839" y="5021580"/>
              <a:ext cx="344895" cy="3098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FA35DB1-B3B2-495A-B93C-10C35C9372E9}"/>
                </a:ext>
              </a:extLst>
            </p:cNvPr>
            <p:cNvSpPr txBox="1"/>
            <p:nvPr/>
          </p:nvSpPr>
          <p:spPr>
            <a:xfrm rot="16200000">
              <a:off x="9264664" y="2139132"/>
              <a:ext cx="750725" cy="554052"/>
            </a:xfrm>
            <a:prstGeom prst="rect">
              <a:avLst/>
            </a:prstGeom>
            <a:solidFill>
              <a:srgbClr val="D5D7D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b" anchorCtr="0">
              <a:noAutofit/>
            </a:bodyPr>
            <a:lstStyle>
              <a:defPPr>
                <a:defRPr lang="en-US"/>
              </a:defPPr>
              <a:lvl1pPr marL="0" defTabSz="457200" eaLnBrk="1" latinLnBrk="0" hangingPunct="1">
                <a:defRPr sz="1200" b="1">
                  <a:latin typeface="Arial"/>
                  <a:cs typeface="Arial"/>
                </a:defRPr>
              </a:lvl1pPr>
              <a:lvl2pPr defTabSz="457200" eaLnBrk="1" latinLnBrk="0" hangingPunct="1">
                <a:defRPr sz="1800">
                  <a:latin typeface="+mn-lt"/>
                </a:defRPr>
              </a:lvl2pPr>
              <a:lvl3pPr defTabSz="457200" eaLnBrk="1" latinLnBrk="0" hangingPunct="1">
                <a:defRPr sz="1800">
                  <a:latin typeface="+mn-lt"/>
                </a:defRPr>
              </a:lvl3pPr>
              <a:lvl4pPr defTabSz="457200" eaLnBrk="1" latinLnBrk="0" hangingPunct="1">
                <a:defRPr sz="1800">
                  <a:latin typeface="+mn-lt"/>
                </a:defRPr>
              </a:lvl4pPr>
              <a:lvl5pPr defTabSz="457200" eaLnBrk="1" latinLnBrk="0" hangingPunct="1">
                <a:defRPr sz="1800">
                  <a:latin typeface="+mn-lt"/>
                </a:defRPr>
              </a:lvl5pPr>
              <a:lvl6pPr defTabSz="457200">
                <a:defRPr sz="1800">
                  <a:latin typeface="+mn-lt"/>
                </a:defRPr>
              </a:lvl6pPr>
              <a:lvl7pPr defTabSz="457200">
                <a:defRPr sz="1800">
                  <a:latin typeface="+mn-lt"/>
                </a:defRPr>
              </a:lvl7pPr>
              <a:lvl8pPr defTabSz="457200">
                <a:defRPr sz="1800">
                  <a:latin typeface="+mn-lt"/>
                </a:defRPr>
              </a:lvl8pPr>
              <a:lvl9pPr defTabSz="457200">
                <a:defRPr sz="1800">
                  <a:latin typeface="+mn-lt"/>
                </a:defRPr>
              </a:lvl9pPr>
            </a:lstStyle>
            <a:p>
              <a:pPr algn="ctr"/>
              <a:r>
                <a:rPr lang="en-US" sz="1000"/>
                <a:t>Sensor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B7CAA9-943E-439D-9C9C-412B3D08F902}"/>
                </a:ext>
              </a:extLst>
            </p:cNvPr>
            <p:cNvSpPr txBox="1"/>
            <p:nvPr/>
          </p:nvSpPr>
          <p:spPr>
            <a:xfrm rot="16200000">
              <a:off x="9356792" y="2315372"/>
              <a:ext cx="240371" cy="221311"/>
            </a:xfrm>
            <a:prstGeom prst="rect">
              <a:avLst/>
            </a:prstGeom>
            <a:solidFill>
              <a:srgbClr val="FD7F2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ctr"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1pPr>
              <a:lvl2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2pPr>
              <a:lvl3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3pPr>
              <a:lvl4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4pPr>
              <a:lvl5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5pPr>
              <a:lvl6pPr defTabSz="457200">
                <a:defRPr sz="1800">
                  <a:solidFill>
                    <a:schemeClr val="lt1"/>
                  </a:solidFill>
                  <a:latin typeface="+mn-lt"/>
                </a:defRPr>
              </a:lvl6pPr>
              <a:lvl7pPr defTabSz="457200">
                <a:defRPr sz="1800">
                  <a:solidFill>
                    <a:schemeClr val="lt1"/>
                  </a:solidFill>
                  <a:latin typeface="+mn-lt"/>
                </a:defRPr>
              </a:lvl7pPr>
              <a:lvl8pPr defTabSz="457200">
                <a:defRPr sz="1800">
                  <a:solidFill>
                    <a:schemeClr val="lt1"/>
                  </a:solidFill>
                  <a:latin typeface="+mn-lt"/>
                </a:defRPr>
              </a:lvl8pPr>
              <a:lvl9pPr defTabSz="457200">
                <a:defRPr sz="1800">
                  <a:solidFill>
                    <a:schemeClr val="lt1"/>
                  </a:solidFill>
                  <a:latin typeface="+mn-lt"/>
                </a:defRPr>
              </a:lvl9pPr>
            </a:lstStyle>
            <a:p>
              <a:endParaRPr lang="en-US" sz="1000" b="1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7508C2-1FB7-446C-A2E8-8F08092AF698}"/>
                </a:ext>
              </a:extLst>
            </p:cNvPr>
            <p:cNvSpPr txBox="1"/>
            <p:nvPr/>
          </p:nvSpPr>
          <p:spPr>
            <a:xfrm rot="16200000">
              <a:off x="9264664" y="3001786"/>
              <a:ext cx="750725" cy="554052"/>
            </a:xfrm>
            <a:prstGeom prst="rect">
              <a:avLst/>
            </a:prstGeom>
            <a:solidFill>
              <a:srgbClr val="D5D7D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b" anchorCtr="0">
              <a:noAutofit/>
            </a:bodyPr>
            <a:lstStyle>
              <a:defPPr>
                <a:defRPr lang="en-US"/>
              </a:defPPr>
              <a:lvl1pPr marL="0" defTabSz="457200" eaLnBrk="1" latinLnBrk="0" hangingPunct="1">
                <a:defRPr sz="1200" b="1">
                  <a:latin typeface="Arial"/>
                  <a:cs typeface="Arial"/>
                </a:defRPr>
              </a:lvl1pPr>
              <a:lvl2pPr defTabSz="457200" eaLnBrk="1" latinLnBrk="0" hangingPunct="1">
                <a:defRPr sz="1800">
                  <a:latin typeface="+mn-lt"/>
                </a:defRPr>
              </a:lvl2pPr>
              <a:lvl3pPr defTabSz="457200" eaLnBrk="1" latinLnBrk="0" hangingPunct="1">
                <a:defRPr sz="1800">
                  <a:latin typeface="+mn-lt"/>
                </a:defRPr>
              </a:lvl3pPr>
              <a:lvl4pPr defTabSz="457200" eaLnBrk="1" latinLnBrk="0" hangingPunct="1">
                <a:defRPr sz="1800">
                  <a:latin typeface="+mn-lt"/>
                </a:defRPr>
              </a:lvl4pPr>
              <a:lvl5pPr defTabSz="457200" eaLnBrk="1" latinLnBrk="0" hangingPunct="1">
                <a:defRPr sz="1800">
                  <a:latin typeface="+mn-lt"/>
                </a:defRPr>
              </a:lvl5pPr>
              <a:lvl6pPr defTabSz="457200">
                <a:defRPr sz="1800">
                  <a:latin typeface="+mn-lt"/>
                </a:defRPr>
              </a:lvl6pPr>
              <a:lvl7pPr defTabSz="457200">
                <a:defRPr sz="1800">
                  <a:latin typeface="+mn-lt"/>
                </a:defRPr>
              </a:lvl7pPr>
              <a:lvl8pPr defTabSz="457200">
                <a:defRPr sz="1800">
                  <a:latin typeface="+mn-lt"/>
                </a:defRPr>
              </a:lvl8pPr>
              <a:lvl9pPr defTabSz="457200">
                <a:defRPr sz="1800">
                  <a:latin typeface="+mn-lt"/>
                </a:defRPr>
              </a:lvl9pPr>
            </a:lstStyle>
            <a:p>
              <a:pPr algn="ctr"/>
              <a:r>
                <a:rPr lang="en-US" sz="1000"/>
                <a:t>Sensor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4D11B95-7A33-454E-AAA8-74EBDCB9BB72}"/>
                </a:ext>
              </a:extLst>
            </p:cNvPr>
            <p:cNvSpPr txBox="1"/>
            <p:nvPr/>
          </p:nvSpPr>
          <p:spPr>
            <a:xfrm rot="16200000">
              <a:off x="9356792" y="3178025"/>
              <a:ext cx="240371" cy="221311"/>
            </a:xfrm>
            <a:prstGeom prst="rect">
              <a:avLst/>
            </a:prstGeom>
            <a:solidFill>
              <a:srgbClr val="FD7F2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ctr"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1pPr>
              <a:lvl2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2pPr>
              <a:lvl3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3pPr>
              <a:lvl4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4pPr>
              <a:lvl5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5pPr>
              <a:lvl6pPr defTabSz="457200">
                <a:defRPr sz="1800">
                  <a:solidFill>
                    <a:schemeClr val="lt1"/>
                  </a:solidFill>
                  <a:latin typeface="+mn-lt"/>
                </a:defRPr>
              </a:lvl6pPr>
              <a:lvl7pPr defTabSz="457200">
                <a:defRPr sz="1800">
                  <a:solidFill>
                    <a:schemeClr val="lt1"/>
                  </a:solidFill>
                  <a:latin typeface="+mn-lt"/>
                </a:defRPr>
              </a:lvl7pPr>
              <a:lvl8pPr defTabSz="457200">
                <a:defRPr sz="1800">
                  <a:solidFill>
                    <a:schemeClr val="lt1"/>
                  </a:solidFill>
                  <a:latin typeface="+mn-lt"/>
                </a:defRPr>
              </a:lvl8pPr>
              <a:lvl9pPr defTabSz="457200">
                <a:defRPr sz="1800">
                  <a:solidFill>
                    <a:schemeClr val="lt1"/>
                  </a:solidFill>
                  <a:latin typeface="+mn-lt"/>
                </a:defRPr>
              </a:lvl9pPr>
            </a:lstStyle>
            <a:p>
              <a:endParaRPr lang="en-US" sz="1000" b="1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7C81C5-F4E8-4A0E-AFF5-E090A4D42262}"/>
                </a:ext>
              </a:extLst>
            </p:cNvPr>
            <p:cNvSpPr txBox="1"/>
            <p:nvPr/>
          </p:nvSpPr>
          <p:spPr>
            <a:xfrm rot="16200000">
              <a:off x="9264664" y="3864440"/>
              <a:ext cx="750725" cy="554052"/>
            </a:xfrm>
            <a:prstGeom prst="rect">
              <a:avLst/>
            </a:prstGeom>
            <a:solidFill>
              <a:srgbClr val="D5D7D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b" anchorCtr="0">
              <a:noAutofit/>
            </a:bodyPr>
            <a:lstStyle>
              <a:defPPr>
                <a:defRPr lang="en-US"/>
              </a:defPPr>
              <a:lvl1pPr marL="0" defTabSz="457200" eaLnBrk="1" latinLnBrk="0" hangingPunct="1">
                <a:defRPr sz="1200" b="1">
                  <a:latin typeface="Arial"/>
                  <a:cs typeface="Arial"/>
                </a:defRPr>
              </a:lvl1pPr>
              <a:lvl2pPr defTabSz="457200" eaLnBrk="1" latinLnBrk="0" hangingPunct="1">
                <a:defRPr sz="1800">
                  <a:latin typeface="+mn-lt"/>
                </a:defRPr>
              </a:lvl2pPr>
              <a:lvl3pPr defTabSz="457200" eaLnBrk="1" latinLnBrk="0" hangingPunct="1">
                <a:defRPr sz="1800">
                  <a:latin typeface="+mn-lt"/>
                </a:defRPr>
              </a:lvl3pPr>
              <a:lvl4pPr defTabSz="457200" eaLnBrk="1" latinLnBrk="0" hangingPunct="1">
                <a:defRPr sz="1800">
                  <a:latin typeface="+mn-lt"/>
                </a:defRPr>
              </a:lvl4pPr>
              <a:lvl5pPr defTabSz="457200" eaLnBrk="1" latinLnBrk="0" hangingPunct="1">
                <a:defRPr sz="1800">
                  <a:latin typeface="+mn-lt"/>
                </a:defRPr>
              </a:lvl5pPr>
              <a:lvl6pPr defTabSz="457200">
                <a:defRPr sz="1800">
                  <a:latin typeface="+mn-lt"/>
                </a:defRPr>
              </a:lvl6pPr>
              <a:lvl7pPr defTabSz="457200">
                <a:defRPr sz="1800">
                  <a:latin typeface="+mn-lt"/>
                </a:defRPr>
              </a:lvl7pPr>
              <a:lvl8pPr defTabSz="457200">
                <a:defRPr sz="1800">
                  <a:latin typeface="+mn-lt"/>
                </a:defRPr>
              </a:lvl8pPr>
              <a:lvl9pPr defTabSz="457200">
                <a:defRPr sz="1800">
                  <a:latin typeface="+mn-lt"/>
                </a:defRPr>
              </a:lvl9pPr>
            </a:lstStyle>
            <a:p>
              <a:pPr algn="ctr"/>
              <a:r>
                <a:rPr lang="en-US" sz="1000"/>
                <a:t>Sensor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05F0FF5-7579-436A-AA50-25EFE9F95AE0}"/>
                </a:ext>
              </a:extLst>
            </p:cNvPr>
            <p:cNvSpPr txBox="1"/>
            <p:nvPr/>
          </p:nvSpPr>
          <p:spPr>
            <a:xfrm rot="16200000">
              <a:off x="9356792" y="4040680"/>
              <a:ext cx="240371" cy="221311"/>
            </a:xfrm>
            <a:prstGeom prst="rect">
              <a:avLst/>
            </a:prstGeom>
            <a:solidFill>
              <a:srgbClr val="FD7F2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ctr"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1pPr>
              <a:lvl2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2pPr>
              <a:lvl3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3pPr>
              <a:lvl4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4pPr>
              <a:lvl5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5pPr>
              <a:lvl6pPr defTabSz="457200">
                <a:defRPr sz="1800">
                  <a:solidFill>
                    <a:schemeClr val="lt1"/>
                  </a:solidFill>
                  <a:latin typeface="+mn-lt"/>
                </a:defRPr>
              </a:lvl6pPr>
              <a:lvl7pPr defTabSz="457200">
                <a:defRPr sz="1800">
                  <a:solidFill>
                    <a:schemeClr val="lt1"/>
                  </a:solidFill>
                  <a:latin typeface="+mn-lt"/>
                </a:defRPr>
              </a:lvl7pPr>
              <a:lvl8pPr defTabSz="457200">
                <a:defRPr sz="1800">
                  <a:solidFill>
                    <a:schemeClr val="lt1"/>
                  </a:solidFill>
                  <a:latin typeface="+mn-lt"/>
                </a:defRPr>
              </a:lvl8pPr>
              <a:lvl9pPr defTabSz="457200">
                <a:defRPr sz="1800">
                  <a:solidFill>
                    <a:schemeClr val="lt1"/>
                  </a:solidFill>
                  <a:latin typeface="+mn-lt"/>
                </a:defRPr>
              </a:lvl9pPr>
            </a:lstStyle>
            <a:p>
              <a:endParaRPr lang="en-US" sz="1000" b="1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137F078-624C-4604-961C-3550B3944D7F}"/>
                </a:ext>
              </a:extLst>
            </p:cNvPr>
            <p:cNvSpPr txBox="1"/>
            <p:nvPr/>
          </p:nvSpPr>
          <p:spPr>
            <a:xfrm rot="16200000">
              <a:off x="9264664" y="4727094"/>
              <a:ext cx="750725" cy="554052"/>
            </a:xfrm>
            <a:prstGeom prst="rect">
              <a:avLst/>
            </a:prstGeom>
            <a:solidFill>
              <a:srgbClr val="D5D7D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lIns="0" tIns="0" rIns="0" bIns="0" rtlCol="0" anchor="b" anchorCtr="0">
              <a:noAutofit/>
            </a:bodyPr>
            <a:lstStyle>
              <a:defPPr>
                <a:defRPr lang="en-US"/>
              </a:defPPr>
              <a:lvl1pPr marL="0" defTabSz="457200" eaLnBrk="1" latinLnBrk="0" hangingPunct="1">
                <a:defRPr sz="1200" b="1">
                  <a:latin typeface="Arial"/>
                  <a:cs typeface="Arial"/>
                </a:defRPr>
              </a:lvl1pPr>
              <a:lvl2pPr defTabSz="457200" eaLnBrk="1" latinLnBrk="0" hangingPunct="1">
                <a:defRPr sz="1800">
                  <a:latin typeface="+mn-lt"/>
                </a:defRPr>
              </a:lvl2pPr>
              <a:lvl3pPr defTabSz="457200" eaLnBrk="1" latinLnBrk="0" hangingPunct="1">
                <a:defRPr sz="1800">
                  <a:latin typeface="+mn-lt"/>
                </a:defRPr>
              </a:lvl3pPr>
              <a:lvl4pPr defTabSz="457200" eaLnBrk="1" latinLnBrk="0" hangingPunct="1">
                <a:defRPr sz="1800">
                  <a:latin typeface="+mn-lt"/>
                </a:defRPr>
              </a:lvl4pPr>
              <a:lvl5pPr defTabSz="457200" eaLnBrk="1" latinLnBrk="0" hangingPunct="1">
                <a:defRPr sz="1800">
                  <a:latin typeface="+mn-lt"/>
                </a:defRPr>
              </a:lvl5pPr>
              <a:lvl6pPr defTabSz="457200">
                <a:defRPr sz="1800">
                  <a:latin typeface="+mn-lt"/>
                </a:defRPr>
              </a:lvl6pPr>
              <a:lvl7pPr defTabSz="457200">
                <a:defRPr sz="1800">
                  <a:latin typeface="+mn-lt"/>
                </a:defRPr>
              </a:lvl7pPr>
              <a:lvl8pPr defTabSz="457200">
                <a:defRPr sz="1800">
                  <a:latin typeface="+mn-lt"/>
                </a:defRPr>
              </a:lvl8pPr>
              <a:lvl9pPr defTabSz="457200">
                <a:defRPr sz="1800">
                  <a:latin typeface="+mn-lt"/>
                </a:defRPr>
              </a:lvl9pPr>
            </a:lstStyle>
            <a:p>
              <a:pPr algn="ctr"/>
              <a:r>
                <a:rPr lang="en-US" sz="1000"/>
                <a:t>Sensor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2D8339F-34A4-4220-A51A-DD5349CC794B}"/>
                </a:ext>
              </a:extLst>
            </p:cNvPr>
            <p:cNvSpPr txBox="1"/>
            <p:nvPr/>
          </p:nvSpPr>
          <p:spPr>
            <a:xfrm rot="16200000">
              <a:off x="9356792" y="4903333"/>
              <a:ext cx="240371" cy="221311"/>
            </a:xfrm>
            <a:prstGeom prst="rect">
              <a:avLst/>
            </a:prstGeom>
            <a:solidFill>
              <a:srgbClr val="FD7F2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ctr"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1pPr>
              <a:lvl2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2pPr>
              <a:lvl3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3pPr>
              <a:lvl4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4pPr>
              <a:lvl5pPr defTabSz="457200" eaLnBrk="1" latinLnBrk="0" hangingPunct="1">
                <a:defRPr sz="1800">
                  <a:solidFill>
                    <a:schemeClr val="lt1"/>
                  </a:solidFill>
                  <a:latin typeface="+mn-lt"/>
                </a:defRPr>
              </a:lvl5pPr>
              <a:lvl6pPr defTabSz="457200">
                <a:defRPr sz="1800">
                  <a:solidFill>
                    <a:schemeClr val="lt1"/>
                  </a:solidFill>
                  <a:latin typeface="+mn-lt"/>
                </a:defRPr>
              </a:lvl6pPr>
              <a:lvl7pPr defTabSz="457200">
                <a:defRPr sz="1800">
                  <a:solidFill>
                    <a:schemeClr val="lt1"/>
                  </a:solidFill>
                  <a:latin typeface="+mn-lt"/>
                </a:defRPr>
              </a:lvl7pPr>
              <a:lvl8pPr defTabSz="457200">
                <a:defRPr sz="1800">
                  <a:solidFill>
                    <a:schemeClr val="lt1"/>
                  </a:solidFill>
                  <a:latin typeface="+mn-lt"/>
                </a:defRPr>
              </a:lvl8pPr>
              <a:lvl9pPr defTabSz="457200">
                <a:defRPr sz="1800">
                  <a:solidFill>
                    <a:schemeClr val="lt1"/>
                  </a:solidFill>
                  <a:latin typeface="+mn-lt"/>
                </a:defRPr>
              </a:lvl9pPr>
            </a:lstStyle>
            <a:p>
              <a:endParaRPr lang="en-US" sz="1000" b="1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517A3-A86E-2049-354E-37368C12C7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63" y="6457950"/>
            <a:ext cx="473562" cy="365125"/>
          </a:xfrm>
        </p:spPr>
        <p:txBody>
          <a:bodyPr/>
          <a:lstStyle/>
          <a:p>
            <a:fld id="{0C16879F-7EC0-41E4-BD68-03C263C117F6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0496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10"/>
    </mc:Choice>
    <mc:Fallback xmlns="">
      <p:transition spd="slow" advTm="1231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6CCC5-BF6B-77B1-AC2A-FB231916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System Block Diagram  -  LAN8670/1/2 Family</a:t>
            </a:r>
            <a:br>
              <a:rPr lang="en-US"/>
            </a:b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03EE4FE1-31DB-891D-A98A-82A505B93E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C16879F-7EC0-41E4-BD68-03C263C117F6}" type="slidenum">
              <a:rPr lang="en-US" smtClean="0"/>
              <a:t>4</a:t>
            </a:fld>
            <a:endParaRPr lang="en-US"/>
          </a:p>
        </p:txBody>
      </p:sp>
      <p:sp>
        <p:nvSpPr>
          <p:cNvPr id="19" name="Textfeld 14">
            <a:extLst>
              <a:ext uri="{FF2B5EF4-FFF2-40B4-BE49-F238E27FC236}">
                <a16:creationId xmlns:a16="http://schemas.microsoft.com/office/drawing/2014/main" id="{4346BAC7-36A9-4A3B-9E87-3DC115E595B1}"/>
              </a:ext>
            </a:extLst>
          </p:cNvPr>
          <p:cNvSpPr txBox="1"/>
          <p:nvPr/>
        </p:nvSpPr>
        <p:spPr>
          <a:xfrm>
            <a:off x="5185294" y="5823678"/>
            <a:ext cx="1519583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10BASE-T1S</a:t>
            </a:r>
            <a:r>
              <a:rPr lang="en-DE" sz="1600"/>
              <a:t> bus</a:t>
            </a:r>
            <a:endParaRPr lang="en-US" sz="1600"/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263A6674-D5BC-950E-215C-7C4090B63682}"/>
              </a:ext>
            </a:extLst>
          </p:cNvPr>
          <p:cNvSpPr/>
          <p:nvPr/>
        </p:nvSpPr>
        <p:spPr bwMode="auto">
          <a:xfrm rot="5400000">
            <a:off x="6033317" y="1622499"/>
            <a:ext cx="2909735" cy="2175926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D64C6298-4806-D914-C066-BF0C453201E8}"/>
              </a:ext>
            </a:extLst>
          </p:cNvPr>
          <p:cNvSpPr/>
          <p:nvPr/>
        </p:nvSpPr>
        <p:spPr bwMode="auto">
          <a:xfrm rot="5400000">
            <a:off x="2851637" y="1622498"/>
            <a:ext cx="2909733" cy="2175926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2" name="Rechteck 3">
            <a:extLst>
              <a:ext uri="{FF2B5EF4-FFF2-40B4-BE49-F238E27FC236}">
                <a16:creationId xmlns:a16="http://schemas.microsoft.com/office/drawing/2014/main" id="{46DE8E3D-D1E2-4436-A0F9-2049C02BDD9D}"/>
              </a:ext>
            </a:extLst>
          </p:cNvPr>
          <p:cNvSpPr/>
          <p:nvPr/>
        </p:nvSpPr>
        <p:spPr>
          <a:xfrm>
            <a:off x="3605192" y="2946705"/>
            <a:ext cx="1428592" cy="9681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MCU</a:t>
            </a:r>
            <a:endParaRPr lang="en-DE" sz="1800">
              <a:solidFill>
                <a:schemeClr val="bg1"/>
              </a:solidFill>
            </a:endParaRPr>
          </a:p>
          <a:p>
            <a:pPr algn="ctr"/>
            <a:endParaRPr lang="en-DE" sz="1800">
              <a:solidFill>
                <a:schemeClr val="bg1"/>
              </a:solidFill>
            </a:endParaRPr>
          </a:p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AE675CB-B159-47E6-A219-523B7B720F00}"/>
              </a:ext>
            </a:extLst>
          </p:cNvPr>
          <p:cNvSpPr/>
          <p:nvPr/>
        </p:nvSpPr>
        <p:spPr>
          <a:xfrm>
            <a:off x="3605192" y="4640901"/>
            <a:ext cx="1428592" cy="96811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1800" b="1">
                <a:solidFill>
                  <a:schemeClr val="bg1"/>
                </a:solidFill>
              </a:rPr>
              <a:t>LAN8670/1/2</a:t>
            </a:r>
            <a:endParaRPr lang="en-US" sz="1600" b="1">
              <a:solidFill>
                <a:schemeClr val="bg1"/>
              </a:solidFill>
            </a:endParaRP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00C9AC39-D52C-44A8-8A8A-8395DBEE1F6F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4319488" y="3914816"/>
            <a:ext cx="0" cy="72608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feld 6">
            <a:extLst>
              <a:ext uri="{FF2B5EF4-FFF2-40B4-BE49-F238E27FC236}">
                <a16:creationId xmlns:a16="http://schemas.microsoft.com/office/drawing/2014/main" id="{A673A2FD-3A86-411E-A5C8-446B61CADF4C}"/>
              </a:ext>
            </a:extLst>
          </p:cNvPr>
          <p:cNvSpPr txBox="1"/>
          <p:nvPr/>
        </p:nvSpPr>
        <p:spPr>
          <a:xfrm>
            <a:off x="4339693" y="4226571"/>
            <a:ext cx="1455940" cy="4353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MII/RMII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59DDC3E-FD89-43D5-8C40-6CC5B9452546}"/>
              </a:ext>
            </a:extLst>
          </p:cNvPr>
          <p:cNvSpPr/>
          <p:nvPr/>
        </p:nvSpPr>
        <p:spPr>
          <a:xfrm>
            <a:off x="3605192" y="1494537"/>
            <a:ext cx="1428592" cy="9681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72000" rIns="72000" rtlCol="0" anchor="ctr"/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Sensor</a:t>
            </a:r>
            <a:r>
              <a:rPr lang="en-DE" sz="1800">
                <a:solidFill>
                  <a:schemeClr val="bg1"/>
                </a:solidFill>
              </a:rPr>
              <a:t>s &amp;</a:t>
            </a:r>
            <a:endParaRPr lang="en-US" sz="1800">
              <a:solidFill>
                <a:schemeClr val="bg1"/>
              </a:solidFill>
            </a:endParaRPr>
          </a:p>
          <a:p>
            <a:pPr algn="ctr"/>
            <a:r>
              <a:rPr lang="en-US" sz="1800">
                <a:solidFill>
                  <a:schemeClr val="bg1"/>
                </a:solidFill>
              </a:rPr>
              <a:t>Actuator</a:t>
            </a:r>
            <a:r>
              <a:rPr lang="en-DE" sz="1800">
                <a:solidFill>
                  <a:schemeClr val="bg1"/>
                </a:solidFill>
              </a:rPr>
              <a:t>s</a:t>
            </a:r>
            <a:endParaRPr lang="en-US" sz="1800">
              <a:solidFill>
                <a:schemeClr val="bg1"/>
              </a:solidFill>
            </a:endParaRP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B30BBF8F-49D8-4D8A-9D06-1AB661EAB6CC}"/>
              </a:ext>
            </a:extLst>
          </p:cNvPr>
          <p:cNvCxnSpPr>
            <a:cxnSpLocks/>
            <a:stCxn id="8" idx="2"/>
            <a:endCxn id="2" idx="0"/>
          </p:cNvCxnSpPr>
          <p:nvPr/>
        </p:nvCxnSpPr>
        <p:spPr>
          <a:xfrm>
            <a:off x="4319488" y="2462649"/>
            <a:ext cx="0" cy="484056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hteck 9">
            <a:extLst>
              <a:ext uri="{FF2B5EF4-FFF2-40B4-BE49-F238E27FC236}">
                <a16:creationId xmlns:a16="http://schemas.microsoft.com/office/drawing/2014/main" id="{F11097F1-BB2D-4EF8-80FF-2D85CAB2F467}"/>
              </a:ext>
            </a:extLst>
          </p:cNvPr>
          <p:cNvSpPr/>
          <p:nvPr/>
        </p:nvSpPr>
        <p:spPr>
          <a:xfrm>
            <a:off x="6779842" y="2946705"/>
            <a:ext cx="1428592" cy="968112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Switch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93E9F1E0-820B-41CE-B16B-0713A98A9D8E}"/>
              </a:ext>
            </a:extLst>
          </p:cNvPr>
          <p:cNvSpPr/>
          <p:nvPr/>
        </p:nvSpPr>
        <p:spPr>
          <a:xfrm>
            <a:off x="6779842" y="4640901"/>
            <a:ext cx="1428592" cy="96811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1800" b="1">
                <a:solidFill>
                  <a:schemeClr val="bg1"/>
                </a:solidFill>
              </a:rPr>
              <a:t>LAN8670/1/2</a:t>
            </a:r>
            <a:endParaRPr lang="en-US" sz="1800" b="1">
              <a:solidFill>
                <a:schemeClr val="bg1"/>
              </a:solidFill>
            </a:endParaRPr>
          </a:p>
        </p:txBody>
      </p:sp>
      <p:cxnSp>
        <p:nvCxnSpPr>
          <p:cNvPr id="13" name="Gerader Verbinder 11">
            <a:extLst>
              <a:ext uri="{FF2B5EF4-FFF2-40B4-BE49-F238E27FC236}">
                <a16:creationId xmlns:a16="http://schemas.microsoft.com/office/drawing/2014/main" id="{22BC4B38-9BF3-4F48-808C-6869069BF69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7494139" y="3914816"/>
            <a:ext cx="0" cy="72608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2">
            <a:extLst>
              <a:ext uri="{FF2B5EF4-FFF2-40B4-BE49-F238E27FC236}">
                <a16:creationId xmlns:a16="http://schemas.microsoft.com/office/drawing/2014/main" id="{A05A6EFD-B250-4832-A2C6-FE66CD25D121}"/>
              </a:ext>
            </a:extLst>
          </p:cNvPr>
          <p:cNvSpPr txBox="1"/>
          <p:nvPr/>
        </p:nvSpPr>
        <p:spPr>
          <a:xfrm>
            <a:off x="7514342" y="4216532"/>
            <a:ext cx="1455940" cy="43537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MII/RMII</a:t>
            </a:r>
          </a:p>
        </p:txBody>
      </p:sp>
      <p:cxnSp>
        <p:nvCxnSpPr>
          <p:cNvPr id="18" name="Gerader Verbinder 13">
            <a:extLst>
              <a:ext uri="{FF2B5EF4-FFF2-40B4-BE49-F238E27FC236}">
                <a16:creationId xmlns:a16="http://schemas.microsoft.com/office/drawing/2014/main" id="{9C8B72FF-3367-4594-94B0-C79AF585CB4A}"/>
              </a:ext>
            </a:extLst>
          </p:cNvPr>
          <p:cNvCxnSpPr>
            <a:cxnSpLocks/>
          </p:cNvCxnSpPr>
          <p:nvPr/>
        </p:nvCxnSpPr>
        <p:spPr>
          <a:xfrm>
            <a:off x="4320643" y="5609012"/>
            <a:ext cx="0" cy="588521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15">
            <a:extLst>
              <a:ext uri="{FF2B5EF4-FFF2-40B4-BE49-F238E27FC236}">
                <a16:creationId xmlns:a16="http://schemas.microsoft.com/office/drawing/2014/main" id="{CF6A2FD2-7988-458F-BD74-1F41AE92F12B}"/>
              </a:ext>
            </a:extLst>
          </p:cNvPr>
          <p:cNvCxnSpPr>
            <a:cxnSpLocks/>
          </p:cNvCxnSpPr>
          <p:nvPr/>
        </p:nvCxnSpPr>
        <p:spPr>
          <a:xfrm>
            <a:off x="7516112" y="5601921"/>
            <a:ext cx="0" cy="595612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13">
            <a:extLst>
              <a:ext uri="{FF2B5EF4-FFF2-40B4-BE49-F238E27FC236}">
                <a16:creationId xmlns:a16="http://schemas.microsoft.com/office/drawing/2014/main" id="{E4C6E3C4-CB10-35D6-2B99-7D0FF6C6CE7C}"/>
              </a:ext>
            </a:extLst>
          </p:cNvPr>
          <p:cNvCxnSpPr>
            <a:cxnSpLocks/>
          </p:cNvCxnSpPr>
          <p:nvPr/>
        </p:nvCxnSpPr>
        <p:spPr>
          <a:xfrm>
            <a:off x="3385270" y="6197533"/>
            <a:ext cx="5051218" cy="0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hteck 7">
            <a:extLst>
              <a:ext uri="{FF2B5EF4-FFF2-40B4-BE49-F238E27FC236}">
                <a16:creationId xmlns:a16="http://schemas.microsoft.com/office/drawing/2014/main" id="{005037EC-EB99-F4EF-720C-0076AA60E4EC}"/>
              </a:ext>
            </a:extLst>
          </p:cNvPr>
          <p:cNvSpPr/>
          <p:nvPr/>
        </p:nvSpPr>
        <p:spPr>
          <a:xfrm>
            <a:off x="3762901" y="3382312"/>
            <a:ext cx="1113174" cy="446210"/>
          </a:xfrm>
          <a:prstGeom prst="rect">
            <a:avLst/>
          </a:prstGeom>
          <a:solidFill>
            <a:srgbClr val="6D6E71"/>
          </a:solidFill>
          <a:ln w="19050">
            <a:solidFill>
              <a:schemeClr val="bg1"/>
            </a:solidFill>
            <a:prstDash val="solid"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lIns="72000" rIns="72000" rtlCol="0" anchor="ctr"/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DE" sz="1800">
                <a:solidFill>
                  <a:schemeClr val="bg1"/>
                </a:solidFill>
              </a:rPr>
              <a:t>MAC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6" name="Textfeld 16">
            <a:extLst>
              <a:ext uri="{FF2B5EF4-FFF2-40B4-BE49-F238E27FC236}">
                <a16:creationId xmlns:a16="http://schemas.microsoft.com/office/drawing/2014/main" id="{00F0599A-F483-037C-6B03-E06A90D8E3FB}"/>
              </a:ext>
            </a:extLst>
          </p:cNvPr>
          <p:cNvSpPr txBox="1"/>
          <p:nvPr/>
        </p:nvSpPr>
        <p:spPr>
          <a:xfrm>
            <a:off x="6546596" y="1816351"/>
            <a:ext cx="1945090" cy="3203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10</a:t>
            </a:r>
            <a:r>
              <a:rPr lang="en-DE" sz="1800"/>
              <a:t>0/1000</a:t>
            </a:r>
            <a:r>
              <a:rPr lang="en-US" sz="1800"/>
              <a:t>BASE-T</a:t>
            </a:r>
            <a:r>
              <a:rPr lang="en-DE" sz="1800"/>
              <a:t>X</a:t>
            </a:r>
            <a:endParaRPr lang="en-US" sz="1800"/>
          </a:p>
        </p:txBody>
      </p:sp>
      <p:cxnSp>
        <p:nvCxnSpPr>
          <p:cNvPr id="27" name="Gerader Verbinder 11">
            <a:extLst>
              <a:ext uri="{FF2B5EF4-FFF2-40B4-BE49-F238E27FC236}">
                <a16:creationId xmlns:a16="http://schemas.microsoft.com/office/drawing/2014/main" id="{AB6C31FD-99C3-A103-6D44-BFF31D17704C}"/>
              </a:ext>
            </a:extLst>
          </p:cNvPr>
          <p:cNvCxnSpPr>
            <a:cxnSpLocks/>
          </p:cNvCxnSpPr>
          <p:nvPr/>
        </p:nvCxnSpPr>
        <p:spPr>
          <a:xfrm>
            <a:off x="7047494" y="2230991"/>
            <a:ext cx="0" cy="72608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11">
            <a:extLst>
              <a:ext uri="{FF2B5EF4-FFF2-40B4-BE49-F238E27FC236}">
                <a16:creationId xmlns:a16="http://schemas.microsoft.com/office/drawing/2014/main" id="{154160EE-38F2-652F-26DF-6DAEC0506A26}"/>
              </a:ext>
            </a:extLst>
          </p:cNvPr>
          <p:cNvCxnSpPr>
            <a:cxnSpLocks/>
          </p:cNvCxnSpPr>
          <p:nvPr/>
        </p:nvCxnSpPr>
        <p:spPr>
          <a:xfrm>
            <a:off x="7486934" y="2220621"/>
            <a:ext cx="0" cy="72608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Gerader Verbinder 11">
            <a:extLst>
              <a:ext uri="{FF2B5EF4-FFF2-40B4-BE49-F238E27FC236}">
                <a16:creationId xmlns:a16="http://schemas.microsoft.com/office/drawing/2014/main" id="{C9B7FA8A-0FD9-0B50-9F6D-53C228D7DE1C}"/>
              </a:ext>
            </a:extLst>
          </p:cNvPr>
          <p:cNvCxnSpPr>
            <a:cxnSpLocks/>
          </p:cNvCxnSpPr>
          <p:nvPr/>
        </p:nvCxnSpPr>
        <p:spPr>
          <a:xfrm>
            <a:off x="7926375" y="2220621"/>
            <a:ext cx="0" cy="726084"/>
          </a:xfrm>
          <a:prstGeom prst="line">
            <a:avLst/>
          </a:prstGeom>
          <a:ln w="28575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401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40CB19D-CF2B-AD2B-7E71-2098A231F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LAN8650/1 MAC-PHY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F9101F18-3FBF-0FBC-85B6-FDB9E892C80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5505846" cy="3701725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DE" sz="1600">
                <a:solidFill>
                  <a:schemeClr val="tx1"/>
                </a:solidFill>
              </a:rPr>
            </a:br>
            <a:endParaRPr lang="en-DE" sz="1600">
              <a:solidFill>
                <a:schemeClr val="tx1"/>
              </a:solidFill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A352E24-C804-92AF-724B-FF2CBF03A9AB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DE" sz="3200"/>
              <a:t>SPI Interface, 5 pins</a:t>
            </a:r>
            <a:endParaRPr lang="de-DE" sz="3200"/>
          </a:p>
          <a:p>
            <a:pPr lvl="1">
              <a:lnSpc>
                <a:spcPct val="150000"/>
              </a:lnSpc>
            </a:pPr>
            <a:r>
              <a:rPr lang="en-US">
                <a:solidFill>
                  <a:schemeClr val="tx1"/>
                </a:solidFill>
              </a:rPr>
              <a:t>OA TC6</a:t>
            </a:r>
            <a:r>
              <a:rPr lang="en-DE">
                <a:solidFill>
                  <a:schemeClr val="tx1"/>
                </a:solidFill>
              </a:rPr>
              <a:t> V1.1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DE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SPI </a:t>
            </a:r>
            <a:r>
              <a:rPr lang="en-DE">
                <a:solidFill>
                  <a:schemeClr val="tx1"/>
                </a:solidFill>
              </a:rPr>
              <a:t>specification</a:t>
            </a:r>
            <a:endParaRPr lang="en-DE"/>
          </a:p>
          <a:p>
            <a:pPr>
              <a:lnSpc>
                <a:spcPct val="150000"/>
              </a:lnSpc>
            </a:pPr>
            <a:r>
              <a:rPr lang="en-US" sz="3200"/>
              <a:t>Works with almost all</a:t>
            </a:r>
            <a:r>
              <a:rPr lang="en-DE" sz="3200"/>
              <a:t> </a:t>
            </a:r>
            <a:r>
              <a:rPr lang="en-US" sz="3200"/>
              <a:t>MCUs</a:t>
            </a:r>
            <a:endParaRPr lang="en-US" sz="3200">
              <a:solidFill>
                <a:schemeClr val="tx1"/>
              </a:solidFill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de-DE" sz="3200">
              <a:solidFill>
                <a:schemeClr val="tx1"/>
              </a:solidFill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de-DE" sz="3200">
                <a:solidFill>
                  <a:schemeClr val="tx1"/>
                </a:solidFill>
              </a:rPr>
              <a:t>LAN8650: </a:t>
            </a:r>
            <a:r>
              <a:rPr lang="de-DE" sz="3200" err="1">
                <a:solidFill>
                  <a:schemeClr val="tx1"/>
                </a:solidFill>
              </a:rPr>
              <a:t>Requires</a:t>
            </a:r>
            <a:r>
              <a:rPr lang="de-DE" sz="3200">
                <a:solidFill>
                  <a:schemeClr val="tx1"/>
                </a:solidFill>
              </a:rPr>
              <a:t> 3.3 and 1.8V </a:t>
            </a:r>
            <a:r>
              <a:rPr lang="de-DE" sz="3200" err="1">
                <a:solidFill>
                  <a:schemeClr val="tx1"/>
                </a:solidFill>
              </a:rPr>
              <a:t>supplies</a:t>
            </a:r>
            <a:endParaRPr lang="de-DE" sz="3200">
              <a:solidFill>
                <a:schemeClr val="tx1"/>
              </a:solidFill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DE" sz="3200">
                <a:solidFill>
                  <a:schemeClr val="tx1"/>
                </a:solidFill>
              </a:rPr>
              <a:t>LAN8651: </a:t>
            </a:r>
            <a:r>
              <a:rPr lang="en-US" sz="3200">
                <a:solidFill>
                  <a:schemeClr val="tx1"/>
                </a:solidFill>
              </a:rPr>
              <a:t>Single 3.3V supply with integrated 1.8V regulator</a:t>
            </a:r>
            <a:endParaRPr lang="en-DE" sz="320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EB29DF-8916-346F-A355-FBD70DA06C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C16879F-7EC0-41E4-BD68-03C263C117F6}" type="slidenum">
              <a:rPr lang="en-US" smtClean="0"/>
              <a:t>5</a:t>
            </a:fld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8DB5CB35-2AEF-ADC6-80CE-930A6188494F}"/>
              </a:ext>
            </a:extLst>
          </p:cNvPr>
          <p:cNvGrpSpPr/>
          <p:nvPr/>
        </p:nvGrpSpPr>
        <p:grpSpPr>
          <a:xfrm>
            <a:off x="3707187" y="2030573"/>
            <a:ext cx="1425183" cy="2881307"/>
            <a:chOff x="6363353" y="1685314"/>
            <a:chExt cx="1121154" cy="25749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D957B10-5C21-4AD9-B7D8-4E029FF9F605}"/>
                </a:ext>
              </a:extLst>
            </p:cNvPr>
            <p:cNvGrpSpPr/>
            <p:nvPr/>
          </p:nvGrpSpPr>
          <p:grpSpPr>
            <a:xfrm>
              <a:off x="6363353" y="3115552"/>
              <a:ext cx="1116623" cy="1144742"/>
              <a:chOff x="7099082" y="2016812"/>
              <a:chExt cx="1116623" cy="1144742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6BA24DE-8AD3-4F6E-968F-D675E9552C58}"/>
                  </a:ext>
                </a:extLst>
              </p:cNvPr>
              <p:cNvSpPr/>
              <p:nvPr/>
            </p:nvSpPr>
            <p:spPr>
              <a:xfrm>
                <a:off x="7099082" y="2016812"/>
                <a:ext cx="1116623" cy="114474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094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MAC</a:t>
                </a:r>
                <a:r>
                  <a:rPr kumimoji="0" lang="en-DE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-</a:t>
                </a: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PHY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31C9CA4-1659-4130-A7D0-C46C085FC79C}"/>
                  </a:ext>
                </a:extLst>
              </p:cNvPr>
              <p:cNvSpPr/>
              <p:nvPr/>
            </p:nvSpPr>
            <p:spPr>
              <a:xfrm>
                <a:off x="7196889" y="2324895"/>
                <a:ext cx="931985" cy="246185"/>
              </a:xfrm>
              <a:prstGeom prst="rect">
                <a:avLst/>
              </a:prstGeom>
              <a:solidFill>
                <a:srgbClr val="E6E6E8"/>
              </a:solidFill>
              <a:ln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094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A0B0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MAC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5DD8BC3E-1100-41A8-989F-3A799B44BAE1}"/>
                  </a:ext>
                </a:extLst>
              </p:cNvPr>
              <p:cNvSpPr/>
              <p:nvPr/>
            </p:nvSpPr>
            <p:spPr>
              <a:xfrm>
                <a:off x="7196889" y="2578037"/>
                <a:ext cx="931985" cy="246185"/>
              </a:xfrm>
              <a:prstGeom prst="rect">
                <a:avLst/>
              </a:prstGeom>
              <a:solidFill>
                <a:srgbClr val="E6E6E8"/>
              </a:solidFill>
              <a:ln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094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A0B0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Digital PHY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B4B71FA-46E7-489B-B52C-3716281B749A}"/>
                  </a:ext>
                </a:extLst>
              </p:cNvPr>
              <p:cNvSpPr/>
              <p:nvPr/>
            </p:nvSpPr>
            <p:spPr>
              <a:xfrm>
                <a:off x="7196889" y="2810128"/>
                <a:ext cx="931985" cy="246185"/>
              </a:xfrm>
              <a:prstGeom prst="rect">
                <a:avLst/>
              </a:prstGeom>
              <a:solidFill>
                <a:srgbClr val="E6E6E8"/>
              </a:solidFill>
              <a:ln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094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A0B0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Analog PHY</a:t>
                </a:r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F76E368-82CF-4667-9E6F-A503CA372C5F}"/>
                </a:ext>
              </a:extLst>
            </p:cNvPr>
            <p:cNvSpPr/>
            <p:nvPr/>
          </p:nvSpPr>
          <p:spPr>
            <a:xfrm>
              <a:off x="6367884" y="1685314"/>
              <a:ext cx="1116623" cy="96693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MCU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E789F31-720D-42E6-9C59-521CDAC7B7E3}"/>
                </a:ext>
              </a:extLst>
            </p:cNvPr>
            <p:cNvCxnSpPr>
              <a:cxnSpLocks/>
              <a:stCxn id="22" idx="2"/>
              <a:endCxn id="13" idx="0"/>
            </p:cNvCxnSpPr>
            <p:nvPr/>
          </p:nvCxnSpPr>
          <p:spPr>
            <a:xfrm flipH="1">
              <a:off x="6921665" y="2652245"/>
              <a:ext cx="4531" cy="463307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feld 6">
              <a:extLst>
                <a:ext uri="{FF2B5EF4-FFF2-40B4-BE49-F238E27FC236}">
                  <a16:creationId xmlns:a16="http://schemas.microsoft.com/office/drawing/2014/main" id="{2460BBC6-71FB-4E91-9FF6-30C89A345230}"/>
                </a:ext>
              </a:extLst>
            </p:cNvPr>
            <p:cNvSpPr txBox="1"/>
            <p:nvPr/>
          </p:nvSpPr>
          <p:spPr>
            <a:xfrm>
              <a:off x="6424340" y="2725898"/>
              <a:ext cx="436338" cy="33855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A0B0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SPI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732750F-BD4E-80A3-B341-3B033ACBA2F7}"/>
              </a:ext>
            </a:extLst>
          </p:cNvPr>
          <p:cNvGrpSpPr/>
          <p:nvPr/>
        </p:nvGrpSpPr>
        <p:grpSpPr>
          <a:xfrm>
            <a:off x="814567" y="2030573"/>
            <a:ext cx="1419423" cy="2881307"/>
            <a:chOff x="790883" y="1657224"/>
            <a:chExt cx="1124565" cy="258172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97ED449-DB62-4577-8894-435850B3E5EE}"/>
                </a:ext>
              </a:extLst>
            </p:cNvPr>
            <p:cNvSpPr/>
            <p:nvPr/>
          </p:nvSpPr>
          <p:spPr>
            <a:xfrm>
              <a:off x="798825" y="1657224"/>
              <a:ext cx="1116623" cy="96693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MCU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A05A58B-4E98-45C0-9965-7EE9451EB329}"/>
                </a:ext>
              </a:extLst>
            </p:cNvPr>
            <p:cNvGrpSpPr/>
            <p:nvPr/>
          </p:nvGrpSpPr>
          <p:grpSpPr>
            <a:xfrm>
              <a:off x="798825" y="3272018"/>
              <a:ext cx="1116623" cy="966931"/>
              <a:chOff x="5865193" y="2040082"/>
              <a:chExt cx="1116623" cy="966931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B5E8A7A-70C1-4F9D-A24A-2E3F9E50C282}"/>
                  </a:ext>
                </a:extLst>
              </p:cNvPr>
              <p:cNvSpPr/>
              <p:nvPr/>
            </p:nvSpPr>
            <p:spPr>
              <a:xfrm>
                <a:off x="5865193" y="2040082"/>
                <a:ext cx="1116623" cy="96693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094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PHY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81FBC99-B093-4FE8-A4A7-60C0FAD2FEB8}"/>
                  </a:ext>
                </a:extLst>
              </p:cNvPr>
              <p:cNvSpPr/>
              <p:nvPr/>
            </p:nvSpPr>
            <p:spPr>
              <a:xfrm>
                <a:off x="5940884" y="2416060"/>
                <a:ext cx="931985" cy="246185"/>
              </a:xfrm>
              <a:prstGeom prst="rect">
                <a:avLst/>
              </a:prstGeom>
              <a:solidFill>
                <a:srgbClr val="E6E6E8"/>
              </a:solidFill>
              <a:ln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094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A0B0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Digital PHY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921C2AF-E528-4C9F-9517-75E24EE9ACF1}"/>
                  </a:ext>
                </a:extLst>
              </p:cNvPr>
              <p:cNvSpPr/>
              <p:nvPr/>
            </p:nvSpPr>
            <p:spPr>
              <a:xfrm>
                <a:off x="5940883" y="2655110"/>
                <a:ext cx="931985" cy="246185"/>
              </a:xfrm>
              <a:prstGeom prst="rect">
                <a:avLst/>
              </a:prstGeom>
              <a:solidFill>
                <a:srgbClr val="E6E6E8"/>
              </a:solidFill>
              <a:ln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60944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A0B0F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Analog PHY</a:t>
                </a:r>
              </a:p>
            </p:txBody>
          </p:sp>
        </p:grp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1DC72E7-E08F-48DE-A772-24EDD4F0D168}"/>
                </a:ext>
              </a:extLst>
            </p:cNvPr>
            <p:cNvCxnSpPr>
              <a:cxnSpLocks/>
              <a:stCxn id="5" idx="2"/>
              <a:endCxn id="9" idx="0"/>
            </p:cNvCxnSpPr>
            <p:nvPr/>
          </p:nvCxnSpPr>
          <p:spPr>
            <a:xfrm>
              <a:off x="1357137" y="2624155"/>
              <a:ext cx="0" cy="647863"/>
            </a:xfrm>
            <a:prstGeom prst="line">
              <a:avLst/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feld 6">
              <a:extLst>
                <a:ext uri="{FF2B5EF4-FFF2-40B4-BE49-F238E27FC236}">
                  <a16:creationId xmlns:a16="http://schemas.microsoft.com/office/drawing/2014/main" id="{B76B52DB-B979-4EE1-9881-DB1A92C5A323}"/>
                </a:ext>
              </a:extLst>
            </p:cNvPr>
            <p:cNvSpPr txBox="1"/>
            <p:nvPr/>
          </p:nvSpPr>
          <p:spPr>
            <a:xfrm>
              <a:off x="790883" y="2693294"/>
              <a:ext cx="574196" cy="584775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A0B0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MII 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A0B0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RMII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307CA01-38CB-B966-634D-23D8BF8C8E95}"/>
                </a:ext>
              </a:extLst>
            </p:cNvPr>
            <p:cNvSpPr/>
            <p:nvPr/>
          </p:nvSpPr>
          <p:spPr>
            <a:xfrm>
              <a:off x="874514" y="2258445"/>
              <a:ext cx="931985" cy="246185"/>
            </a:xfrm>
            <a:prstGeom prst="rect">
              <a:avLst/>
            </a:prstGeom>
            <a:solidFill>
              <a:srgbClr val="E6E6E8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A0B0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MAC</a:t>
              </a:r>
            </a:p>
          </p:txBody>
        </p:sp>
      </p:grp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F20B10E-EBED-D955-461D-9F2D2CEC6084}"/>
              </a:ext>
            </a:extLst>
          </p:cNvPr>
          <p:cNvCxnSpPr>
            <a:cxnSpLocks/>
          </p:cNvCxnSpPr>
          <p:nvPr/>
        </p:nvCxnSpPr>
        <p:spPr>
          <a:xfrm>
            <a:off x="2423531" y="2939848"/>
            <a:ext cx="1028851" cy="633929"/>
          </a:xfrm>
          <a:prstGeom prst="straightConnector1">
            <a:avLst/>
          </a:prstGeom>
          <a:ln w="38100"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r: 10 Points 16">
            <a:extLst>
              <a:ext uri="{FF2B5EF4-FFF2-40B4-BE49-F238E27FC236}">
                <a16:creationId xmlns:a16="http://schemas.microsoft.com/office/drawing/2014/main" id="{9ADE85F0-0450-11FE-EFBA-BA4966B0F462}"/>
              </a:ext>
            </a:extLst>
          </p:cNvPr>
          <p:cNvSpPr/>
          <p:nvPr/>
        </p:nvSpPr>
        <p:spPr>
          <a:xfrm>
            <a:off x="3641693" y="3102501"/>
            <a:ext cx="840700" cy="554923"/>
          </a:xfrm>
          <a:prstGeom prst="star10">
            <a:avLst>
              <a:gd name="adj" fmla="val 29717"/>
              <a:gd name="hf" fmla="val 105146"/>
            </a:avLst>
          </a:prstGeom>
          <a:solidFill>
            <a:srgbClr val="77C4EF">
              <a:alpha val="3922"/>
            </a:srgbClr>
          </a:solidFill>
          <a:ln w="28575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Star: 10 Points 19">
            <a:extLst>
              <a:ext uri="{FF2B5EF4-FFF2-40B4-BE49-F238E27FC236}">
                <a16:creationId xmlns:a16="http://schemas.microsoft.com/office/drawing/2014/main" id="{AED916A6-D14E-CE6F-79BD-FE4645EE4BDA}"/>
              </a:ext>
            </a:extLst>
          </p:cNvPr>
          <p:cNvSpPr/>
          <p:nvPr/>
        </p:nvSpPr>
        <p:spPr>
          <a:xfrm>
            <a:off x="3986222" y="3815027"/>
            <a:ext cx="840700" cy="554923"/>
          </a:xfrm>
          <a:prstGeom prst="star10">
            <a:avLst>
              <a:gd name="adj" fmla="val 29717"/>
              <a:gd name="hf" fmla="val 105146"/>
            </a:avLst>
          </a:prstGeom>
          <a:solidFill>
            <a:srgbClr val="77C4EF">
              <a:alpha val="3922"/>
            </a:srgbClr>
          </a:solidFill>
          <a:ln w="28575"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4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  <p:bldP spid="17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628C7A-6D8F-1562-A866-72615BD669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4528" y="5247780"/>
            <a:ext cx="4936152" cy="1494103"/>
          </a:xfrm>
        </p:spPr>
        <p:txBody>
          <a:bodyPr/>
          <a:lstStyle/>
          <a:p>
            <a:r>
              <a:rPr lang="en-DE" sz="1600" b="1">
                <a:solidFill>
                  <a:srgbClr val="0E3689"/>
                </a:solidFill>
              </a:rPr>
              <a:t>10BASE-T1S, </a:t>
            </a:r>
          </a:p>
          <a:p>
            <a:r>
              <a:rPr lang="en-DE" sz="1600" b="1">
                <a:solidFill>
                  <a:srgbClr val="0E3689"/>
                </a:solidFill>
              </a:rPr>
              <a:t>PLCA, </a:t>
            </a:r>
          </a:p>
          <a:p>
            <a:r>
              <a:rPr lang="en-DE" sz="1600" b="1">
                <a:solidFill>
                  <a:srgbClr val="0E3689"/>
                </a:solidFill>
              </a:rPr>
              <a:t>Live Demo using MCHP Eval Boards, </a:t>
            </a:r>
          </a:p>
          <a:p>
            <a:r>
              <a:rPr lang="en-DE" sz="1600" b="1">
                <a:solidFill>
                  <a:srgbClr val="0E3689"/>
                </a:solidFill>
              </a:rPr>
              <a:t>Analysis of Network Bandwidth</a:t>
            </a:r>
            <a:endParaRPr lang="en-US" sz="1600" b="1">
              <a:solidFill>
                <a:srgbClr val="0E3689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02853D-611E-8953-5432-DC07989DE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References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88ECCB-12C7-A702-D57D-A3931ADCA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566" y="1791690"/>
            <a:ext cx="5068069" cy="3031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44E7C7-9EAC-019D-3B21-7F08541CCB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561"/>
          <a:stretch/>
        </p:blipFill>
        <p:spPr>
          <a:xfrm>
            <a:off x="846277" y="1783692"/>
            <a:ext cx="2177802" cy="32905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9B2BAA87-902F-70C0-3174-F1C75A25A332}"/>
              </a:ext>
            </a:extLst>
          </p:cNvPr>
          <p:cNvSpPr/>
          <p:nvPr/>
        </p:nvSpPr>
        <p:spPr>
          <a:xfrm>
            <a:off x="884441" y="3950047"/>
            <a:ext cx="2139638" cy="1124193"/>
          </a:xfrm>
          <a:prstGeom prst="wedgeRoundRectCallout">
            <a:avLst>
              <a:gd name="adj1" fmla="val -6138"/>
              <a:gd name="adj2" fmla="val -582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10base-t1s-single-pair-ethernet-system-integration</a:t>
            </a:r>
            <a:r>
              <a:rPr lang="en-DE" sz="1600" b="1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DE" sz="1600" b="1">
                <a:solidFill>
                  <a:schemeClr val="bg1"/>
                </a:solidFill>
              </a:rPr>
              <a:t>~1 hour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8F067D7-E969-1631-2B4B-20C16790B4D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356" t="16247" r="59312" b="57119"/>
          <a:stretch/>
        </p:blipFill>
        <p:spPr>
          <a:xfrm>
            <a:off x="842079" y="992220"/>
            <a:ext cx="2310858" cy="77028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355A00F-10E8-E466-5FE0-C7156E9E4096}"/>
              </a:ext>
            </a:extLst>
          </p:cNvPr>
          <p:cNvSpPr txBox="1"/>
          <p:nvPr/>
        </p:nvSpPr>
        <p:spPr>
          <a:xfrm>
            <a:off x="4136686" y="3232127"/>
            <a:ext cx="1553994" cy="156966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DE" sz="9600" b="1">
                <a:solidFill>
                  <a:srgbClr val="0E3689"/>
                </a:solidFill>
              </a:rPr>
              <a:t>&amp;</a:t>
            </a:r>
            <a:endParaRPr lang="en-US" sz="96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9E2CF8-1EAC-E7E0-D122-7238B9EB689B}"/>
              </a:ext>
            </a:extLst>
          </p:cNvPr>
          <p:cNvSpPr txBox="1"/>
          <p:nvPr/>
        </p:nvSpPr>
        <p:spPr>
          <a:xfrm>
            <a:off x="6607566" y="1025970"/>
            <a:ext cx="31468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1" err="1">
                <a:solidFill>
                  <a:srgbClr val="0E3689"/>
                </a:solidFill>
              </a:rPr>
              <a:t>Presentation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586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70540D-EC30-B4A8-F0DF-403E7AD9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E6F4A2-FB8C-A1C1-9A63-F5A7D4DB18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/>
              <a:t>LAN8670/1/2 and LAN8650/1 Review</a:t>
            </a:r>
          </a:p>
          <a:p>
            <a:r>
              <a:rPr lang="de-DE"/>
              <a:t>Features </a:t>
            </a:r>
            <a:r>
              <a:rPr lang="de-DE" err="1"/>
              <a:t>to</a:t>
            </a:r>
            <a:r>
              <a:rPr lang="de-DE"/>
              <a:t> Tune </a:t>
            </a:r>
            <a:r>
              <a:rPr lang="de-DE" err="1"/>
              <a:t>Bandwidth</a:t>
            </a:r>
            <a:endParaRPr lang="de-DE"/>
          </a:p>
          <a:p>
            <a:r>
              <a:rPr lang="de-DE" err="1"/>
              <a:t>Supporting</a:t>
            </a:r>
            <a:r>
              <a:rPr lang="de-DE"/>
              <a:t> Time Sensitive Networking</a:t>
            </a:r>
          </a:p>
          <a:p>
            <a:r>
              <a:rPr lang="de-DE"/>
              <a:t>Wake/Sleep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7700E6F0-B5D5-F635-147C-7511A0FA72C6}"/>
              </a:ext>
            </a:extLst>
          </p:cNvPr>
          <p:cNvSpPr/>
          <p:nvPr/>
        </p:nvSpPr>
        <p:spPr bwMode="auto">
          <a:xfrm rot="5400000">
            <a:off x="3857130" y="-2062070"/>
            <a:ext cx="633619" cy="7627850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763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C86086-55A2-48B4-8756-20B585E83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</p:spPr>
        <p:txBody>
          <a:bodyPr/>
          <a:lstStyle/>
          <a:p>
            <a:r>
              <a:rPr lang="en-DE"/>
              <a:t>PLCA  - Basics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91B4B-0662-4E0D-B7C2-A3B8A4116AC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</p:spPr>
        <p:txBody>
          <a:bodyPr>
            <a:noAutofit/>
          </a:bodyPr>
          <a:lstStyle/>
          <a:p>
            <a:r>
              <a:rPr lang="en-DE"/>
              <a:t>Organize</a:t>
            </a:r>
            <a:r>
              <a:rPr lang="en-US"/>
              <a:t> </a:t>
            </a:r>
            <a:r>
              <a:rPr lang="en-DE"/>
              <a:t>M</a:t>
            </a:r>
            <a:r>
              <a:rPr lang="en-US" err="1"/>
              <a:t>edia</a:t>
            </a:r>
            <a:r>
              <a:rPr lang="en-US"/>
              <a:t> </a:t>
            </a:r>
            <a:r>
              <a:rPr lang="en-DE"/>
              <a:t>A</a:t>
            </a:r>
            <a:r>
              <a:rPr lang="en-US" err="1"/>
              <a:t>ccess</a:t>
            </a:r>
            <a:r>
              <a:rPr lang="en-US"/>
              <a:t> </a:t>
            </a:r>
            <a:endParaRPr lang="en-DE"/>
          </a:p>
          <a:p>
            <a:r>
              <a:rPr lang="en-US"/>
              <a:t>Physical Layer Collision Avoidance</a:t>
            </a:r>
            <a:endParaRPr lang="en-DE"/>
          </a:p>
          <a:p>
            <a:r>
              <a:rPr lang="en-US"/>
              <a:t>(PLCA) IEEE 802.3cg</a:t>
            </a:r>
            <a:endParaRPr lang="de-DE"/>
          </a:p>
          <a:p>
            <a:endParaRPr lang="de-DE"/>
          </a:p>
        </p:txBody>
      </p:sp>
      <p:sp>
        <p:nvSpPr>
          <p:cNvPr id="16" name="Slide Number Placeholder 22">
            <a:extLst>
              <a:ext uri="{FF2B5EF4-FFF2-40B4-BE49-F238E27FC236}">
                <a16:creationId xmlns:a16="http://schemas.microsoft.com/office/drawing/2014/main" id="{A79CBC1E-02EA-DEB5-01C7-BE7E30B96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</p:spPr>
        <p:txBody>
          <a:bodyPr/>
          <a:lstStyle/>
          <a:p>
            <a:fld id="{0C16879F-7EC0-41E4-BD68-03C263C117F6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CBBF3E-CFC1-4A64-AA55-A8DDF2940D48}"/>
              </a:ext>
            </a:extLst>
          </p:cNvPr>
          <p:cNvGrpSpPr/>
          <p:nvPr/>
        </p:nvGrpSpPr>
        <p:grpSpPr>
          <a:xfrm>
            <a:off x="4620104" y="4073995"/>
            <a:ext cx="6240320" cy="1068677"/>
            <a:chOff x="6658037" y="1317821"/>
            <a:chExt cx="2189913" cy="454186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846A48C-1F00-4468-ACD3-3896D967DA67}"/>
                </a:ext>
              </a:extLst>
            </p:cNvPr>
            <p:cNvCxnSpPr>
              <a:cxnSpLocks/>
            </p:cNvCxnSpPr>
            <p:nvPr/>
          </p:nvCxnSpPr>
          <p:spPr>
            <a:xfrm>
              <a:off x="6794196" y="1317821"/>
              <a:ext cx="1915354" cy="0"/>
            </a:xfrm>
            <a:prstGeom prst="line">
              <a:avLst/>
            </a:prstGeom>
            <a:grp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363CFFB-E547-4B67-AF96-60D3C071E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4196" y="1317821"/>
              <a:ext cx="0" cy="152400"/>
            </a:xfrm>
            <a:prstGeom prst="line">
              <a:avLst/>
            </a:prstGeom>
            <a:grp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A82904-7F20-4EE9-8E8E-43144330D786}"/>
                </a:ext>
              </a:extLst>
            </p:cNvPr>
            <p:cNvSpPr/>
            <p:nvPr/>
          </p:nvSpPr>
          <p:spPr>
            <a:xfrm>
              <a:off x="6658037" y="1467239"/>
              <a:ext cx="272318" cy="3047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>
                <a:solidFill>
                  <a:schemeClr val="tx1"/>
                </a:solidFill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38FEC33-3A0D-42E6-81C6-7223D1183B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5539" y="1317821"/>
              <a:ext cx="0" cy="152400"/>
            </a:xfrm>
            <a:prstGeom prst="line">
              <a:avLst/>
            </a:prstGeom>
            <a:grp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77B3BC-9251-4F1D-A79E-01F774FAD968}"/>
                </a:ext>
              </a:extLst>
            </p:cNvPr>
            <p:cNvSpPr/>
            <p:nvPr/>
          </p:nvSpPr>
          <p:spPr>
            <a:xfrm>
              <a:off x="7139380" y="1467239"/>
              <a:ext cx="272318" cy="3047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5EA6A32-E1BE-4926-B692-A57942AACC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5392" y="1317821"/>
              <a:ext cx="0" cy="152400"/>
            </a:xfrm>
            <a:prstGeom prst="line">
              <a:avLst/>
            </a:prstGeom>
            <a:grp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0D34384-44B2-48FA-9C08-33F5AE32A795}"/>
                </a:ext>
              </a:extLst>
            </p:cNvPr>
            <p:cNvSpPr/>
            <p:nvPr/>
          </p:nvSpPr>
          <p:spPr>
            <a:xfrm>
              <a:off x="7619233" y="1467239"/>
              <a:ext cx="272318" cy="3047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>
                <a:solidFill>
                  <a:schemeClr val="tx1"/>
                </a:solidFill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1771BC-6B68-4846-A30E-0C1ADA6FE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2470" y="1317821"/>
              <a:ext cx="0" cy="152400"/>
            </a:xfrm>
            <a:prstGeom prst="line">
              <a:avLst/>
            </a:prstGeom>
            <a:grp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0839CF1-1C1E-44F8-A242-182AD9AF84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791" y="1317821"/>
              <a:ext cx="0" cy="152400"/>
            </a:xfrm>
            <a:prstGeom prst="line">
              <a:avLst/>
            </a:prstGeom>
            <a:grpFill/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33F82B-5A16-4D6C-A5FE-B95B52725E0E}"/>
                </a:ext>
              </a:extLst>
            </p:cNvPr>
            <p:cNvSpPr/>
            <p:nvPr/>
          </p:nvSpPr>
          <p:spPr>
            <a:xfrm>
              <a:off x="8575632" y="1467239"/>
              <a:ext cx="272318" cy="3047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799">
                <a:solidFill>
                  <a:schemeClr val="tx1"/>
                </a:solidFill>
              </a:endParaRP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31655A6-C146-4C2F-9260-0B105311F7D1}"/>
              </a:ext>
            </a:extLst>
          </p:cNvPr>
          <p:cNvSpPr/>
          <p:nvPr/>
        </p:nvSpPr>
        <p:spPr>
          <a:xfrm>
            <a:off x="8713191" y="4425568"/>
            <a:ext cx="775991" cy="71710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799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08EFC1-7404-43A8-9EF5-9BD0AC870E8D}"/>
              </a:ext>
            </a:extLst>
          </p:cNvPr>
          <p:cNvSpPr txBox="1"/>
          <p:nvPr/>
        </p:nvSpPr>
        <p:spPr>
          <a:xfrm>
            <a:off x="4884784" y="4553287"/>
            <a:ext cx="250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/>
              <a:t>0</a:t>
            </a:r>
            <a:endParaRPr lang="en-US" b="1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400BD1A-F675-4521-8E3C-F11D34094730}"/>
              </a:ext>
            </a:extLst>
          </p:cNvPr>
          <p:cNvSpPr txBox="1"/>
          <p:nvPr/>
        </p:nvSpPr>
        <p:spPr>
          <a:xfrm>
            <a:off x="6254259" y="4553569"/>
            <a:ext cx="250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/>
              <a:t>1</a:t>
            </a:r>
            <a:endParaRPr lang="en-US" b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604569A-33D6-43AF-840D-5F8314ABCBF9}"/>
              </a:ext>
            </a:extLst>
          </p:cNvPr>
          <p:cNvSpPr txBox="1"/>
          <p:nvPr/>
        </p:nvSpPr>
        <p:spPr>
          <a:xfrm>
            <a:off x="7621636" y="4553568"/>
            <a:ext cx="250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/>
              <a:t>2</a:t>
            </a:r>
            <a:endParaRPr lang="en-US" b="1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7EAF88-67C4-4043-8B32-8E047BAB9216}"/>
              </a:ext>
            </a:extLst>
          </p:cNvPr>
          <p:cNvSpPr txBox="1"/>
          <p:nvPr/>
        </p:nvSpPr>
        <p:spPr>
          <a:xfrm>
            <a:off x="8981105" y="4553567"/>
            <a:ext cx="250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/>
              <a:t>3</a:t>
            </a:r>
            <a:endParaRPr lang="en-US" b="1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CC9926-D962-45BD-89D9-18D9B3D3BB75}"/>
              </a:ext>
            </a:extLst>
          </p:cNvPr>
          <p:cNvSpPr txBox="1"/>
          <p:nvPr/>
        </p:nvSpPr>
        <p:spPr>
          <a:xfrm>
            <a:off x="10346966" y="4553569"/>
            <a:ext cx="250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b="1"/>
              <a:t>4</a:t>
            </a:r>
            <a:endParaRPr lang="en-US" b="1"/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199E9E98-5280-4059-9A55-DE42924B042D}"/>
              </a:ext>
            </a:extLst>
          </p:cNvPr>
          <p:cNvSpPr/>
          <p:nvPr/>
        </p:nvSpPr>
        <p:spPr>
          <a:xfrm>
            <a:off x="1368196" y="4253290"/>
            <a:ext cx="1887185" cy="1161317"/>
          </a:xfrm>
          <a:prstGeom prst="wedgeRoundRectCallout">
            <a:avLst>
              <a:gd name="adj1" fmla="val 115103"/>
              <a:gd name="adj2" fmla="val 71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b="1"/>
              <a:t>U</a:t>
            </a:r>
            <a:r>
              <a:rPr lang="en-DE" sz="3200" b="1" err="1"/>
              <a:t>nique</a:t>
            </a:r>
            <a:r>
              <a:rPr lang="en-DE" sz="3200" b="1"/>
              <a:t> Node IDs</a:t>
            </a:r>
            <a:endParaRPr lang="en-US" sz="32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038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339"/>
    </mc:Choice>
    <mc:Fallback xmlns="">
      <p:transition spd="slow" advTm="1233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C86086-55A2-48B4-8756-20B585E83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sz="4000"/>
              <a:t>PLCA  - Basics</a:t>
            </a:r>
            <a:endParaRPr lang="de-DE" sz="40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6206E65-D340-A548-132C-75F83C7A07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1CBBF3E-CFC1-4A64-AA55-A8DDF2940D48}"/>
              </a:ext>
            </a:extLst>
          </p:cNvPr>
          <p:cNvGrpSpPr/>
          <p:nvPr/>
        </p:nvGrpSpPr>
        <p:grpSpPr>
          <a:xfrm>
            <a:off x="4620104" y="2971565"/>
            <a:ext cx="6240320" cy="1068677"/>
            <a:chOff x="6658037" y="1317821"/>
            <a:chExt cx="2189913" cy="45418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846A48C-1F00-4468-ACD3-3896D967DA67}"/>
                </a:ext>
              </a:extLst>
            </p:cNvPr>
            <p:cNvCxnSpPr>
              <a:cxnSpLocks/>
            </p:cNvCxnSpPr>
            <p:nvPr/>
          </p:nvCxnSpPr>
          <p:spPr>
            <a:xfrm>
              <a:off x="6794196" y="1317821"/>
              <a:ext cx="191535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363CFFB-E547-4B67-AF96-60D3C071E4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4196" y="1317821"/>
              <a:ext cx="0" cy="15240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0A82904-7F20-4EE9-8E8E-43144330D786}"/>
                </a:ext>
              </a:extLst>
            </p:cNvPr>
            <p:cNvSpPr/>
            <p:nvPr/>
          </p:nvSpPr>
          <p:spPr>
            <a:xfrm>
              <a:off x="6658037" y="1467239"/>
              <a:ext cx="272318" cy="30476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>
                  <a:solidFill>
                    <a:schemeClr val="tx1"/>
                  </a:solidFill>
                </a:rPr>
                <a:t>0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38FEC33-3A0D-42E6-81C6-7223D1183B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5539" y="1317821"/>
              <a:ext cx="0" cy="15240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77B3BC-9251-4F1D-A79E-01F774FAD968}"/>
                </a:ext>
              </a:extLst>
            </p:cNvPr>
            <p:cNvSpPr/>
            <p:nvPr/>
          </p:nvSpPr>
          <p:spPr>
            <a:xfrm>
              <a:off x="7139380" y="1467239"/>
              <a:ext cx="272318" cy="30476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>
                  <a:solidFill>
                    <a:schemeClr val="tx1"/>
                  </a:solidFill>
                </a:rPr>
                <a:t>1</a:t>
              </a: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5EA6A32-E1BE-4926-B692-A57942AACC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5392" y="1317821"/>
              <a:ext cx="0" cy="15240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0D34384-44B2-48FA-9C08-33F5AE32A795}"/>
                </a:ext>
              </a:extLst>
            </p:cNvPr>
            <p:cNvSpPr/>
            <p:nvPr/>
          </p:nvSpPr>
          <p:spPr>
            <a:xfrm>
              <a:off x="7619233" y="1467239"/>
              <a:ext cx="272318" cy="30476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>
                  <a:solidFill>
                    <a:schemeClr val="tx1"/>
                  </a:solidFill>
                </a:rPr>
                <a:t>2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21771BC-6B68-4846-A30E-0C1ADA6FEA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2470" y="1317821"/>
              <a:ext cx="0" cy="15240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0839CF1-1C1E-44F8-A242-182AD9AF84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791" y="1317821"/>
              <a:ext cx="0" cy="15240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D33F82B-5A16-4D6C-A5FE-B95B52725E0E}"/>
                </a:ext>
              </a:extLst>
            </p:cNvPr>
            <p:cNvSpPr/>
            <p:nvPr/>
          </p:nvSpPr>
          <p:spPr>
            <a:xfrm>
              <a:off x="8575632" y="1467239"/>
              <a:ext cx="272318" cy="304768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b="1">
                  <a:solidFill>
                    <a:schemeClr val="tx1"/>
                  </a:solidFill>
                </a:rPr>
                <a:t>N</a:t>
              </a:r>
            </a:p>
          </p:txBody>
        </p:sp>
        <p:sp>
          <p:nvSpPr>
            <p:cNvPr id="17" name="Textfeld 22">
              <a:extLst>
                <a:ext uri="{FF2B5EF4-FFF2-40B4-BE49-F238E27FC236}">
                  <a16:creationId xmlns:a16="http://schemas.microsoft.com/office/drawing/2014/main" id="{4D4077A6-7B0B-40A5-B48D-16D7A13CFA73}"/>
                </a:ext>
              </a:extLst>
            </p:cNvPr>
            <p:cNvSpPr txBox="1"/>
            <p:nvPr/>
          </p:nvSpPr>
          <p:spPr>
            <a:xfrm>
              <a:off x="8022728" y="1425492"/>
              <a:ext cx="419187" cy="3008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/>
                <a:t>…</a:t>
              </a:r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31655A6-C146-4C2F-9260-0B105311F7D1}"/>
              </a:ext>
            </a:extLst>
          </p:cNvPr>
          <p:cNvSpPr/>
          <p:nvPr/>
        </p:nvSpPr>
        <p:spPr>
          <a:xfrm>
            <a:off x="8713191" y="3323138"/>
            <a:ext cx="775991" cy="717104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4" name="Trapezoid 33">
            <a:extLst>
              <a:ext uri="{FF2B5EF4-FFF2-40B4-BE49-F238E27FC236}">
                <a16:creationId xmlns:a16="http://schemas.microsoft.com/office/drawing/2014/main" id="{32C4F171-3731-496E-B74E-000EA4D06D51}"/>
              </a:ext>
            </a:extLst>
          </p:cNvPr>
          <p:cNvSpPr/>
          <p:nvPr/>
        </p:nvSpPr>
        <p:spPr bwMode="auto">
          <a:xfrm>
            <a:off x="4796341" y="2845592"/>
            <a:ext cx="455835" cy="215844"/>
          </a:xfrm>
          <a:prstGeom prst="trapezoid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84E26DFD-A21E-4DB0-BA83-5449651DF768}"/>
              </a:ext>
            </a:extLst>
          </p:cNvPr>
          <p:cNvSpPr/>
          <p:nvPr/>
        </p:nvSpPr>
        <p:spPr bwMode="auto">
          <a:xfrm rot="16200000">
            <a:off x="4894471" y="3339255"/>
            <a:ext cx="208485" cy="215844"/>
          </a:xfrm>
          <a:prstGeom prst="rightArrow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36" name="Trapezoid 35">
            <a:extLst>
              <a:ext uri="{FF2B5EF4-FFF2-40B4-BE49-F238E27FC236}">
                <a16:creationId xmlns:a16="http://schemas.microsoft.com/office/drawing/2014/main" id="{73092644-35A4-4A9D-8DA1-0AFDBDB3DC92}"/>
              </a:ext>
            </a:extLst>
          </p:cNvPr>
          <p:cNvSpPr/>
          <p:nvPr/>
        </p:nvSpPr>
        <p:spPr bwMode="auto">
          <a:xfrm>
            <a:off x="6152348" y="2845592"/>
            <a:ext cx="455835" cy="215844"/>
          </a:xfrm>
          <a:prstGeom prst="trapezoid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A95B36B9-0798-46E8-B2CC-3519A20FEB9B}"/>
              </a:ext>
            </a:extLst>
          </p:cNvPr>
          <p:cNvSpPr/>
          <p:nvPr/>
        </p:nvSpPr>
        <p:spPr bwMode="auto">
          <a:xfrm rot="16200000">
            <a:off x="6282125" y="3339255"/>
            <a:ext cx="208485" cy="215844"/>
          </a:xfrm>
          <a:prstGeom prst="rightArrow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38" name="Trapezoid 37">
            <a:extLst>
              <a:ext uri="{FF2B5EF4-FFF2-40B4-BE49-F238E27FC236}">
                <a16:creationId xmlns:a16="http://schemas.microsoft.com/office/drawing/2014/main" id="{773CE070-E360-480B-93C0-94C6D6D3B6B3}"/>
              </a:ext>
            </a:extLst>
          </p:cNvPr>
          <p:cNvSpPr/>
          <p:nvPr/>
        </p:nvSpPr>
        <p:spPr bwMode="auto">
          <a:xfrm>
            <a:off x="7511818" y="2845592"/>
            <a:ext cx="455835" cy="215844"/>
          </a:xfrm>
          <a:prstGeom prst="trapezoid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8FB586B7-608A-4E12-B717-A96BE822DDF3}"/>
              </a:ext>
            </a:extLst>
          </p:cNvPr>
          <p:cNvSpPr/>
          <p:nvPr/>
        </p:nvSpPr>
        <p:spPr bwMode="auto">
          <a:xfrm rot="16200000">
            <a:off x="7641595" y="3339255"/>
            <a:ext cx="208485" cy="215844"/>
          </a:xfrm>
          <a:prstGeom prst="rightArrow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2256A918-8A51-454A-BDCC-029D21B2EAD6}"/>
              </a:ext>
            </a:extLst>
          </p:cNvPr>
          <p:cNvSpPr/>
          <p:nvPr/>
        </p:nvSpPr>
        <p:spPr bwMode="auto">
          <a:xfrm>
            <a:off x="8869341" y="2845592"/>
            <a:ext cx="455835" cy="215844"/>
          </a:xfrm>
          <a:prstGeom prst="trapezoid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752200DF-7326-4E7A-B982-ED2ACF60B860}"/>
              </a:ext>
            </a:extLst>
          </p:cNvPr>
          <p:cNvSpPr/>
          <p:nvPr/>
        </p:nvSpPr>
        <p:spPr bwMode="auto">
          <a:xfrm rot="16200000">
            <a:off x="8999119" y="3339255"/>
            <a:ext cx="208485" cy="215844"/>
          </a:xfrm>
          <a:prstGeom prst="rightArrow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42" name="Trapezoid 41">
            <a:extLst>
              <a:ext uri="{FF2B5EF4-FFF2-40B4-BE49-F238E27FC236}">
                <a16:creationId xmlns:a16="http://schemas.microsoft.com/office/drawing/2014/main" id="{B8243BDF-6C90-43D7-A263-A5FF865D3683}"/>
              </a:ext>
            </a:extLst>
          </p:cNvPr>
          <p:cNvSpPr/>
          <p:nvPr/>
        </p:nvSpPr>
        <p:spPr bwMode="auto">
          <a:xfrm>
            <a:off x="10252262" y="2845592"/>
            <a:ext cx="455835" cy="215844"/>
          </a:xfrm>
          <a:prstGeom prst="trapezoid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525040F8-2C83-4259-B1D8-90E7AD7174F3}"/>
              </a:ext>
            </a:extLst>
          </p:cNvPr>
          <p:cNvSpPr/>
          <p:nvPr/>
        </p:nvSpPr>
        <p:spPr bwMode="auto">
          <a:xfrm rot="16200000">
            <a:off x="10382039" y="3339255"/>
            <a:ext cx="208485" cy="215844"/>
          </a:xfrm>
          <a:prstGeom prst="rightArrow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29" name="Trapezoid 28">
            <a:extLst>
              <a:ext uri="{FF2B5EF4-FFF2-40B4-BE49-F238E27FC236}">
                <a16:creationId xmlns:a16="http://schemas.microsoft.com/office/drawing/2014/main" id="{F02C22FF-75E8-4B2B-A755-64024FFBD008}"/>
              </a:ext>
            </a:extLst>
          </p:cNvPr>
          <p:cNvSpPr/>
          <p:nvPr/>
        </p:nvSpPr>
        <p:spPr bwMode="auto">
          <a:xfrm>
            <a:off x="6153321" y="2856711"/>
            <a:ext cx="455835" cy="215844"/>
          </a:xfrm>
          <a:prstGeom prst="trapezoid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30" name="Trapezoid 29">
            <a:extLst>
              <a:ext uri="{FF2B5EF4-FFF2-40B4-BE49-F238E27FC236}">
                <a16:creationId xmlns:a16="http://schemas.microsoft.com/office/drawing/2014/main" id="{1860A2ED-70A0-41D6-B9A8-256677FB62C5}"/>
              </a:ext>
            </a:extLst>
          </p:cNvPr>
          <p:cNvSpPr/>
          <p:nvPr/>
        </p:nvSpPr>
        <p:spPr bwMode="auto">
          <a:xfrm>
            <a:off x="7453957" y="2845592"/>
            <a:ext cx="455835" cy="215844"/>
          </a:xfrm>
          <a:prstGeom prst="trapezoid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31" name="Trapezoid 30">
            <a:extLst>
              <a:ext uri="{FF2B5EF4-FFF2-40B4-BE49-F238E27FC236}">
                <a16:creationId xmlns:a16="http://schemas.microsoft.com/office/drawing/2014/main" id="{3EFD57FB-69FD-437A-8839-A54586A85222}"/>
              </a:ext>
            </a:extLst>
          </p:cNvPr>
          <p:cNvSpPr/>
          <p:nvPr/>
        </p:nvSpPr>
        <p:spPr bwMode="auto">
          <a:xfrm>
            <a:off x="9021701" y="2856475"/>
            <a:ext cx="455835" cy="215844"/>
          </a:xfrm>
          <a:prstGeom prst="trapezoid">
            <a:avLst/>
          </a:prstGeom>
          <a:solidFill>
            <a:srgbClr val="1879C5"/>
          </a:solidFill>
          <a:ln w="12700" algn="ctr">
            <a:solidFill>
              <a:schemeClr val="bg1">
                <a:lumMod val="8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65000"/>
              </a:schemeClr>
            </a:outerShdw>
          </a:effectLst>
          <a:scene3d>
            <a:camera prst="orthographicFront"/>
            <a:lightRig rig="threePt" dir="t"/>
          </a:scene3d>
          <a:sp3d>
            <a:bevelB w="0" h="0"/>
          </a:sp3d>
        </p:spPr>
        <p:txBody>
          <a:bodyPr lIns="35991" tIns="35991" rIns="35991" bIns="0" rtlCol="0" anchor="t" anchorCtr="0"/>
          <a:lstStyle/>
          <a:p>
            <a:pPr marL="287914" indent="-287914">
              <a:spcBef>
                <a:spcPct val="30000"/>
              </a:spcBef>
              <a:buClr>
                <a:srgbClr val="ED1B2E"/>
              </a:buClr>
              <a:buSzPct val="75000"/>
              <a:buFont typeface="Wingdings" pitchFamily="2" charset="2"/>
              <a:buChar char="n"/>
            </a:pPr>
            <a:endParaRPr lang="de-DE" sz="1799" b="1" kern="0">
              <a:solidFill>
                <a:srgbClr val="ED1B2E"/>
              </a:solidFill>
              <a:latin typeface="Arial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BC330F84-18C5-40AA-BF77-7113AA2D1FE9}"/>
              </a:ext>
            </a:extLst>
          </p:cNvPr>
          <p:cNvSpPr/>
          <p:nvPr/>
        </p:nvSpPr>
        <p:spPr>
          <a:xfrm>
            <a:off x="1147663" y="3101031"/>
            <a:ext cx="1887185" cy="1161317"/>
          </a:xfrm>
          <a:prstGeom prst="wedgeRoundRectCallout">
            <a:avLst>
              <a:gd name="adj1" fmla="val 115103"/>
              <a:gd name="adj2" fmla="val 71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b="1"/>
              <a:t>R</a:t>
            </a:r>
            <a:r>
              <a:rPr lang="en-DE" sz="3200" b="1" err="1"/>
              <a:t>ound</a:t>
            </a:r>
            <a:r>
              <a:rPr lang="en-DE" sz="3200" b="1"/>
              <a:t> Robin</a:t>
            </a:r>
            <a:endParaRPr lang="en-US" sz="3200" b="1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9F98C019-FA78-183B-5DC5-904A6E57BE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7950"/>
            <a:ext cx="473075" cy="365125"/>
          </a:xfrm>
        </p:spPr>
        <p:txBody>
          <a:bodyPr/>
          <a:lstStyle/>
          <a:p>
            <a:fld id="{0C16879F-7EC0-41E4-BD68-03C263C117F6}" type="slidenum">
              <a:rPr lang="en-US" smtClean="0"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944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223"/>
    </mc:Choice>
    <mc:Fallback xmlns="">
      <p:transition spd="slow" advTm="212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10000" decel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1915E-6 4.44444E-6 L 0.44647 4.44444E-6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324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"/>
                                            </p:cond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path" presetSubtype="0" accel="10000" decel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0511E-6 4.44444E-6 L 0.33512 0.00277 " pathEditMode="relative" rAng="0" ptsTypes="AA">
                                      <p:cBhvr>
                                        <p:cTn id="31" dur="1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49" y="139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0"/>
                                            </p:cond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path" presetSubtype="0" accel="10000" decel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0511E-6 4.07407E-6 L -0.11135 -0.00162 " pathEditMode="relative" rAng="0" ptsTypes="AA">
                                      <p:cBhvr>
                                        <p:cTn id="36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74" y="-9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5"/>
                                            </p:cond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75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250"/>
                            </p:stCondLst>
                            <p:childTnLst>
                              <p:par>
                                <p:cTn id="44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path" presetSubtype="0" accel="10000" decel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9.71607E-7 4.44444E-6 L 0.22493 4.44444E-6 " pathEditMode="relative" rAng="0" ptsTypes="AA">
                                      <p:cBhvr>
                                        <p:cTn id="48" dur="1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4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path" presetSubtype="0" accel="10000" decel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5059E-6 4.44444E-6 L -0.21815 4.44444E-6 " pathEditMode="relative" rAng="0" ptsTypes="AA">
                                      <p:cBhvr>
                                        <p:cTn id="53" dur="1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914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2"/>
                                            </p:cond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0"/>
                            </p:stCondLst>
                            <p:childTnLst>
                              <p:par>
                                <p:cTn id="61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2" presetClass="path" presetSubtype="0" accel="10000" decel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0414E-6 4.44444E-6 L -0.3342 4.44444E-6 " pathEditMode="relative" rAng="0" ptsTypes="AA">
                                      <p:cBhvr>
                                        <p:cTn id="65" dur="1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1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4"/>
                                            </p:cond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2" presetClass="path" presetSubtype="0" accel="10000" decel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5191E-6 4.07407E-6 L 0.10094 -0.00162 " pathEditMode="relative" rAng="0" ptsTypes="AA">
                                      <p:cBhvr>
                                        <p:cTn id="70" dur="1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40" y="-93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9"/>
                                            </p:cond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925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750"/>
                            </p:stCondLst>
                            <p:childTnLst>
                              <p:par>
                                <p:cTn id="78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2" presetClass="path" presetSubtype="0" accel="10000" decel="1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9.03881E-7 4.44444E-6 L -0.44764 4.44444E-6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389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1"/>
                                            </p:cond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  <p:bldP spid="35" grpId="0" animBg="1"/>
      <p:bldP spid="36" grpId="0" animBg="1"/>
      <p:bldP spid="36" grpId="1" animBg="1"/>
      <p:bldP spid="37" grpId="0" animBg="1"/>
      <p:bldP spid="38" grpId="0" animBg="1"/>
      <p:bldP spid="38" grpId="1" animBg="1"/>
      <p:bldP spid="39" grpId="0" animBg="1"/>
      <p:bldP spid="40" grpId="0" animBg="1"/>
      <p:bldP spid="40" grpId="1" animBg="1"/>
      <p:bldP spid="41" grpId="0" animBg="1"/>
      <p:bldP spid="42" grpId="0" animBg="1"/>
      <p:bldP spid="42" grpId="1" animBg="1"/>
      <p:bldP spid="43" grpId="0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3187-7403-4E7B-8E1D-922D2ABE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sz="4000"/>
              <a:t>PLCA  - Basics</a:t>
            </a:r>
            <a:endParaRPr lang="de-D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CAC46-6FA1-99E8-CDCF-BA8A94C26DB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Geschweifte Klammer links 13">
            <a:extLst>
              <a:ext uri="{FF2B5EF4-FFF2-40B4-BE49-F238E27FC236}">
                <a16:creationId xmlns:a16="http://schemas.microsoft.com/office/drawing/2014/main" id="{5430D5A2-41AE-42B7-9A5E-4471097874A7}"/>
              </a:ext>
            </a:extLst>
          </p:cNvPr>
          <p:cNvSpPr/>
          <p:nvPr/>
        </p:nvSpPr>
        <p:spPr>
          <a:xfrm rot="16200000">
            <a:off x="4811093" y="1208168"/>
            <a:ext cx="377157" cy="7475924"/>
          </a:xfrm>
          <a:prstGeom prst="leftBrace">
            <a:avLst>
              <a:gd name="adj1" fmla="val 39553"/>
              <a:gd name="adj2" fmla="val 50000"/>
            </a:avLst>
          </a:prstGeom>
          <a:ln w="28575">
            <a:solidFill>
              <a:srgbClr val="1879C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" name="Speech Bubble: Rectangle with Corners Rounded 68">
            <a:extLst>
              <a:ext uri="{FF2B5EF4-FFF2-40B4-BE49-F238E27FC236}">
                <a16:creationId xmlns:a16="http://schemas.microsoft.com/office/drawing/2014/main" id="{CA93DA68-347A-4E3D-ABAC-D624E30CCBF0}"/>
              </a:ext>
            </a:extLst>
          </p:cNvPr>
          <p:cNvSpPr/>
          <p:nvPr/>
        </p:nvSpPr>
        <p:spPr>
          <a:xfrm>
            <a:off x="6780488" y="1660267"/>
            <a:ext cx="2242718" cy="993517"/>
          </a:xfrm>
          <a:prstGeom prst="wedgeRoundRectCallout">
            <a:avLst>
              <a:gd name="adj1" fmla="val 42515"/>
              <a:gd name="adj2" fmla="val 136694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B</a:t>
            </a:r>
            <a:r>
              <a:rPr lang="en-DE" sz="2000" b="1"/>
              <a:t>EACON</a:t>
            </a:r>
          </a:p>
          <a:p>
            <a:pPr algn="ctr"/>
            <a:r>
              <a:rPr lang="en-DE" sz="2000" b="1"/>
              <a:t>PLCA Coordinator</a:t>
            </a:r>
          </a:p>
          <a:p>
            <a:pPr algn="ctr"/>
            <a:r>
              <a:rPr lang="en-DE" sz="2000" b="1"/>
              <a:t>Node-0</a:t>
            </a:r>
            <a:endParaRPr lang="en-US" sz="2000" b="1"/>
          </a:p>
        </p:txBody>
      </p:sp>
      <p:sp>
        <p:nvSpPr>
          <p:cNvPr id="71" name="Speech Bubble: Rectangle with Corners Rounded 70">
            <a:extLst>
              <a:ext uri="{FF2B5EF4-FFF2-40B4-BE49-F238E27FC236}">
                <a16:creationId xmlns:a16="http://schemas.microsoft.com/office/drawing/2014/main" id="{38128027-9CEF-4503-9D19-5BA51FC31E2F}"/>
              </a:ext>
            </a:extLst>
          </p:cNvPr>
          <p:cNvSpPr/>
          <p:nvPr/>
        </p:nvSpPr>
        <p:spPr>
          <a:xfrm>
            <a:off x="3437085" y="5459744"/>
            <a:ext cx="1944213" cy="497484"/>
          </a:xfrm>
          <a:prstGeom prst="wedgeRoundRectCallout">
            <a:avLst>
              <a:gd name="adj1" fmla="val 10895"/>
              <a:gd name="adj2" fmla="val -43315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000" b="1"/>
              <a:t>PLCA Bus Cycle</a:t>
            </a:r>
            <a:endParaRPr lang="en-US" sz="2000" b="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785091-6B96-4CC4-B0BE-0C57C3EFD94A}"/>
              </a:ext>
            </a:extLst>
          </p:cNvPr>
          <p:cNvGrpSpPr/>
          <p:nvPr/>
        </p:nvGrpSpPr>
        <p:grpSpPr>
          <a:xfrm>
            <a:off x="-145107" y="3567767"/>
            <a:ext cx="11865429" cy="755849"/>
            <a:chOff x="-487864" y="3476709"/>
            <a:chExt cx="12918766" cy="75584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748D795-3B69-4D84-86F7-A65DF81B1982}"/>
                </a:ext>
              </a:extLst>
            </p:cNvPr>
            <p:cNvGrpSpPr/>
            <p:nvPr/>
          </p:nvGrpSpPr>
          <p:grpSpPr>
            <a:xfrm>
              <a:off x="1040685" y="3530620"/>
              <a:ext cx="11151315" cy="626751"/>
              <a:chOff x="692342" y="3530620"/>
              <a:chExt cx="12117178" cy="626751"/>
            </a:xfrm>
          </p:grpSpPr>
          <p:sp>
            <p:nvSpPr>
              <p:cNvPr id="63" name="Rechteck 6">
                <a:extLst>
                  <a:ext uri="{FF2B5EF4-FFF2-40B4-BE49-F238E27FC236}">
                    <a16:creationId xmlns:a16="http://schemas.microsoft.com/office/drawing/2014/main" id="{6D277CE6-BC3B-4ED9-B4B7-6500C4EA1EB3}"/>
                  </a:ext>
                </a:extLst>
              </p:cNvPr>
              <p:cNvSpPr/>
              <p:nvPr/>
            </p:nvSpPr>
            <p:spPr>
              <a:xfrm>
                <a:off x="5449669" y="3564630"/>
                <a:ext cx="1208763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TO-2</a:t>
                </a:r>
              </a:p>
            </p:txBody>
          </p:sp>
          <p:sp>
            <p:nvSpPr>
              <p:cNvPr id="27" name="Rechteck 30">
                <a:extLst>
                  <a:ext uri="{FF2B5EF4-FFF2-40B4-BE49-F238E27FC236}">
                    <a16:creationId xmlns:a16="http://schemas.microsoft.com/office/drawing/2014/main" id="{68BF641D-3E82-41A5-89E8-63F1C888D0D8}"/>
                  </a:ext>
                </a:extLst>
              </p:cNvPr>
              <p:cNvSpPr/>
              <p:nvPr/>
            </p:nvSpPr>
            <p:spPr>
              <a:xfrm>
                <a:off x="10352867" y="3559560"/>
                <a:ext cx="920782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TO-0</a:t>
                </a:r>
              </a:p>
            </p:txBody>
          </p:sp>
          <p:sp>
            <p:nvSpPr>
              <p:cNvPr id="29" name="Rechteck 11">
                <a:extLst>
                  <a:ext uri="{FF2B5EF4-FFF2-40B4-BE49-F238E27FC236}">
                    <a16:creationId xmlns:a16="http://schemas.microsoft.com/office/drawing/2014/main" id="{DDBA3350-3E3B-4A21-8343-060CD2E0AE7B}"/>
                  </a:ext>
                </a:extLst>
              </p:cNvPr>
              <p:cNvSpPr/>
              <p:nvPr/>
            </p:nvSpPr>
            <p:spPr>
              <a:xfrm>
                <a:off x="7023227" y="3530620"/>
                <a:ext cx="554479" cy="5927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b="1">
                    <a:solidFill>
                      <a:srgbClr val="0070C0"/>
                    </a:solidFill>
                  </a:rPr>
                  <a:t>…</a:t>
                </a:r>
              </a:p>
            </p:txBody>
          </p:sp>
          <p:sp>
            <p:nvSpPr>
              <p:cNvPr id="30" name="Rechteck 3">
                <a:extLst>
                  <a:ext uri="{FF2B5EF4-FFF2-40B4-BE49-F238E27FC236}">
                    <a16:creationId xmlns:a16="http://schemas.microsoft.com/office/drawing/2014/main" id="{C668EA41-8250-4F48-A52D-31D45FE7CB64}"/>
                  </a:ext>
                </a:extLst>
              </p:cNvPr>
              <p:cNvSpPr/>
              <p:nvPr/>
            </p:nvSpPr>
            <p:spPr>
              <a:xfrm>
                <a:off x="692342" y="3564280"/>
                <a:ext cx="554479" cy="592741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/>
                  <a:t>B</a:t>
                </a:r>
                <a:endParaRPr lang="en-US"/>
              </a:p>
            </p:txBody>
          </p:sp>
          <p:sp>
            <p:nvSpPr>
              <p:cNvPr id="31" name="Rechteck 4">
                <a:extLst>
                  <a:ext uri="{FF2B5EF4-FFF2-40B4-BE49-F238E27FC236}">
                    <a16:creationId xmlns:a16="http://schemas.microsoft.com/office/drawing/2014/main" id="{994304AD-E62A-444B-A571-29BD69399184}"/>
                  </a:ext>
                </a:extLst>
              </p:cNvPr>
              <p:cNvSpPr/>
              <p:nvPr/>
            </p:nvSpPr>
            <p:spPr>
              <a:xfrm>
                <a:off x="1469048" y="3564280"/>
                <a:ext cx="2328810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TO-0</a:t>
                </a:r>
              </a:p>
            </p:txBody>
          </p:sp>
          <p:sp>
            <p:nvSpPr>
              <p:cNvPr id="33" name="Rechteck 6">
                <a:extLst>
                  <a:ext uri="{FF2B5EF4-FFF2-40B4-BE49-F238E27FC236}">
                    <a16:creationId xmlns:a16="http://schemas.microsoft.com/office/drawing/2014/main" id="{0174FF81-8642-4664-89D9-A2AF246AE559}"/>
                  </a:ext>
                </a:extLst>
              </p:cNvPr>
              <p:cNvSpPr/>
              <p:nvPr/>
            </p:nvSpPr>
            <p:spPr>
              <a:xfrm>
                <a:off x="4019382" y="3564280"/>
                <a:ext cx="1208763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TO-1</a:t>
                </a:r>
              </a:p>
            </p:txBody>
          </p:sp>
          <p:sp>
            <p:nvSpPr>
              <p:cNvPr id="36" name="Rechteck 9">
                <a:extLst>
                  <a:ext uri="{FF2B5EF4-FFF2-40B4-BE49-F238E27FC236}">
                    <a16:creationId xmlns:a16="http://schemas.microsoft.com/office/drawing/2014/main" id="{E3635F1F-0C85-49A9-B9D2-00E8207D359B}"/>
                  </a:ext>
                </a:extLst>
              </p:cNvPr>
              <p:cNvSpPr/>
              <p:nvPr/>
            </p:nvSpPr>
            <p:spPr>
              <a:xfrm>
                <a:off x="7741863" y="3560579"/>
                <a:ext cx="1607988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TO-N</a:t>
                </a:r>
              </a:p>
            </p:txBody>
          </p:sp>
          <p:sp>
            <p:nvSpPr>
              <p:cNvPr id="38" name="Rechteck 12">
                <a:extLst>
                  <a:ext uri="{FF2B5EF4-FFF2-40B4-BE49-F238E27FC236}">
                    <a16:creationId xmlns:a16="http://schemas.microsoft.com/office/drawing/2014/main" id="{15C0F4BF-C3AB-44E6-A112-8F77E169B693}"/>
                  </a:ext>
                </a:extLst>
              </p:cNvPr>
              <p:cNvSpPr/>
              <p:nvPr/>
            </p:nvSpPr>
            <p:spPr>
              <a:xfrm>
                <a:off x="9573868" y="3560657"/>
                <a:ext cx="554479" cy="592741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/>
                  <a:t>B</a:t>
                </a:r>
                <a:endParaRPr lang="en-US"/>
              </a:p>
            </p:txBody>
          </p:sp>
          <p:sp>
            <p:nvSpPr>
              <p:cNvPr id="58" name="Rechteck 3">
                <a:extLst>
                  <a:ext uri="{FF2B5EF4-FFF2-40B4-BE49-F238E27FC236}">
                    <a16:creationId xmlns:a16="http://schemas.microsoft.com/office/drawing/2014/main" id="{EE217C84-DAF2-453F-AEA9-4A9A3374A622}"/>
                  </a:ext>
                </a:extLst>
              </p:cNvPr>
              <p:cNvSpPr/>
              <p:nvPr/>
            </p:nvSpPr>
            <p:spPr>
              <a:xfrm>
                <a:off x="1247524" y="3564282"/>
                <a:ext cx="224515" cy="5927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59" name="Rechteck 3">
                <a:extLst>
                  <a:ext uri="{FF2B5EF4-FFF2-40B4-BE49-F238E27FC236}">
                    <a16:creationId xmlns:a16="http://schemas.microsoft.com/office/drawing/2014/main" id="{AB00AFEA-6B1D-434C-9750-C63C8C1A04EA}"/>
                  </a:ext>
                </a:extLst>
              </p:cNvPr>
              <p:cNvSpPr/>
              <p:nvPr/>
            </p:nvSpPr>
            <p:spPr>
              <a:xfrm>
                <a:off x="3802686" y="3564282"/>
                <a:ext cx="224515" cy="5927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65" name="Rechteck 3">
                <a:extLst>
                  <a:ext uri="{FF2B5EF4-FFF2-40B4-BE49-F238E27FC236}">
                    <a16:creationId xmlns:a16="http://schemas.microsoft.com/office/drawing/2014/main" id="{5B1879A5-8E51-40BC-98E4-6D146F886A55}"/>
                  </a:ext>
                </a:extLst>
              </p:cNvPr>
              <p:cNvSpPr/>
              <p:nvPr/>
            </p:nvSpPr>
            <p:spPr>
              <a:xfrm>
                <a:off x="5223070" y="3564281"/>
                <a:ext cx="224515" cy="5930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66" name="Rechteck 3">
                <a:extLst>
                  <a:ext uri="{FF2B5EF4-FFF2-40B4-BE49-F238E27FC236}">
                    <a16:creationId xmlns:a16="http://schemas.microsoft.com/office/drawing/2014/main" id="{44A4A8BA-0827-4130-AC79-3562BA84EB7B}"/>
                  </a:ext>
                </a:extLst>
              </p:cNvPr>
              <p:cNvSpPr/>
              <p:nvPr/>
            </p:nvSpPr>
            <p:spPr>
              <a:xfrm>
                <a:off x="6661391" y="3563542"/>
                <a:ext cx="224515" cy="5930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67" name="Rechteck 3">
                <a:extLst>
                  <a:ext uri="{FF2B5EF4-FFF2-40B4-BE49-F238E27FC236}">
                    <a16:creationId xmlns:a16="http://schemas.microsoft.com/office/drawing/2014/main" id="{75C922EB-C018-485F-8B14-08B67F8E1041}"/>
                  </a:ext>
                </a:extLst>
              </p:cNvPr>
              <p:cNvSpPr/>
              <p:nvPr/>
            </p:nvSpPr>
            <p:spPr>
              <a:xfrm>
                <a:off x="9349851" y="3560657"/>
                <a:ext cx="224515" cy="5930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68" name="Rechteck 3">
                <a:extLst>
                  <a:ext uri="{FF2B5EF4-FFF2-40B4-BE49-F238E27FC236}">
                    <a16:creationId xmlns:a16="http://schemas.microsoft.com/office/drawing/2014/main" id="{B14BD40F-039B-4EE6-9662-7BD57BB5FFD3}"/>
                  </a:ext>
                </a:extLst>
              </p:cNvPr>
              <p:cNvSpPr/>
              <p:nvPr/>
            </p:nvSpPr>
            <p:spPr>
              <a:xfrm>
                <a:off x="10128352" y="3559211"/>
                <a:ext cx="224515" cy="5930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72" name="Rechteck 3">
                <a:extLst>
                  <a:ext uri="{FF2B5EF4-FFF2-40B4-BE49-F238E27FC236}">
                    <a16:creationId xmlns:a16="http://schemas.microsoft.com/office/drawing/2014/main" id="{A4F7D828-ABCD-4EDE-975F-6047F81C072B}"/>
                  </a:ext>
                </a:extLst>
              </p:cNvPr>
              <p:cNvSpPr/>
              <p:nvPr/>
            </p:nvSpPr>
            <p:spPr>
              <a:xfrm>
                <a:off x="11271968" y="3559211"/>
                <a:ext cx="224515" cy="5930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73" name="Rechteck 6">
                <a:extLst>
                  <a:ext uri="{FF2B5EF4-FFF2-40B4-BE49-F238E27FC236}">
                    <a16:creationId xmlns:a16="http://schemas.microsoft.com/office/drawing/2014/main" id="{78493926-FE61-44CF-8DCA-B07AF6A5CDB5}"/>
                  </a:ext>
                </a:extLst>
              </p:cNvPr>
              <p:cNvSpPr/>
              <p:nvPr/>
            </p:nvSpPr>
            <p:spPr>
              <a:xfrm>
                <a:off x="11496483" y="3561006"/>
                <a:ext cx="1313037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TO-1</a:t>
                </a:r>
              </a:p>
            </p:txBody>
          </p:sp>
        </p:grpSp>
        <p:sp>
          <p:nvSpPr>
            <p:cNvPr id="28" name="Flussdiagramm: Lochstreifen 31">
              <a:extLst>
                <a:ext uri="{FF2B5EF4-FFF2-40B4-BE49-F238E27FC236}">
                  <a16:creationId xmlns:a16="http://schemas.microsoft.com/office/drawing/2014/main" id="{0E9B595E-D751-490D-8208-1998D8DFC774}"/>
                </a:ext>
              </a:extLst>
            </p:cNvPr>
            <p:cNvSpPr/>
            <p:nvPr/>
          </p:nvSpPr>
          <p:spPr>
            <a:xfrm rot="5400000" flipH="1">
              <a:off x="11787583" y="3589238"/>
              <a:ext cx="700562" cy="586077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hteck 30">
              <a:extLst>
                <a:ext uri="{FF2B5EF4-FFF2-40B4-BE49-F238E27FC236}">
                  <a16:creationId xmlns:a16="http://schemas.microsoft.com/office/drawing/2014/main" id="{9A60FD84-F128-4A9B-BF88-2727707B4C8E}"/>
                </a:ext>
              </a:extLst>
            </p:cNvPr>
            <p:cNvSpPr/>
            <p:nvPr/>
          </p:nvSpPr>
          <p:spPr>
            <a:xfrm>
              <a:off x="-165226" y="3564979"/>
              <a:ext cx="991817" cy="59274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TO-</a:t>
              </a:r>
              <a:r>
                <a:rPr lang="en-DE">
                  <a:solidFill>
                    <a:schemeClr val="tx1"/>
                  </a:solidFill>
                </a:rPr>
                <a:t>N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Rechteck 3">
              <a:extLst>
                <a:ext uri="{FF2B5EF4-FFF2-40B4-BE49-F238E27FC236}">
                  <a16:creationId xmlns:a16="http://schemas.microsoft.com/office/drawing/2014/main" id="{FDADFCEC-A285-4C7D-B7F9-5BC699D6AB85}"/>
                </a:ext>
              </a:extLst>
            </p:cNvPr>
            <p:cNvSpPr/>
            <p:nvPr/>
          </p:nvSpPr>
          <p:spPr>
            <a:xfrm>
              <a:off x="831844" y="3564630"/>
              <a:ext cx="206619" cy="59309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6" name="Flussdiagramm: Lochstreifen 31">
              <a:extLst>
                <a:ext uri="{FF2B5EF4-FFF2-40B4-BE49-F238E27FC236}">
                  <a16:creationId xmlns:a16="http://schemas.microsoft.com/office/drawing/2014/main" id="{F3F799A7-4D84-494D-B83A-96B45413D410}"/>
                </a:ext>
              </a:extLst>
            </p:cNvPr>
            <p:cNvSpPr/>
            <p:nvPr/>
          </p:nvSpPr>
          <p:spPr>
            <a:xfrm rot="5400000" flipH="1">
              <a:off x="-545106" y="3533951"/>
              <a:ext cx="700562" cy="586077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Speech Bubble: Rectangle with Corners Rounded 76">
            <a:extLst>
              <a:ext uri="{FF2B5EF4-FFF2-40B4-BE49-F238E27FC236}">
                <a16:creationId xmlns:a16="http://schemas.microsoft.com/office/drawing/2014/main" id="{44FC292E-50A1-4D72-9C20-CD81EEF83657}"/>
              </a:ext>
            </a:extLst>
          </p:cNvPr>
          <p:cNvSpPr/>
          <p:nvPr/>
        </p:nvSpPr>
        <p:spPr>
          <a:xfrm>
            <a:off x="1066998" y="1685218"/>
            <a:ext cx="2539884" cy="824630"/>
          </a:xfrm>
          <a:prstGeom prst="wedgeRoundRectCallout">
            <a:avLst>
              <a:gd name="adj1" fmla="val 37794"/>
              <a:gd name="adj2" fmla="val 173094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000" b="1"/>
              <a:t>Transmit Opportunity (TO) of Node N</a:t>
            </a:r>
            <a:endParaRPr lang="en-US" sz="2000" b="1"/>
          </a:p>
        </p:txBody>
      </p:sp>
      <p:sp>
        <p:nvSpPr>
          <p:cNvPr id="78" name="Speech Bubble: Rectangle with Corners Rounded 77">
            <a:extLst>
              <a:ext uri="{FF2B5EF4-FFF2-40B4-BE49-F238E27FC236}">
                <a16:creationId xmlns:a16="http://schemas.microsoft.com/office/drawing/2014/main" id="{F098A24C-BBE9-4E93-87E3-9EA4D35A73F8}"/>
              </a:ext>
            </a:extLst>
          </p:cNvPr>
          <p:cNvSpPr/>
          <p:nvPr/>
        </p:nvSpPr>
        <p:spPr>
          <a:xfrm>
            <a:off x="4728206" y="1958103"/>
            <a:ext cx="1229219" cy="551745"/>
          </a:xfrm>
          <a:prstGeom prst="wedgeRoundRectCallout">
            <a:avLst>
              <a:gd name="adj1" fmla="val -12232"/>
              <a:gd name="adj2" fmla="val 23584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S</a:t>
            </a:r>
            <a:r>
              <a:rPr lang="en-DE" sz="2000" b="1" err="1"/>
              <a:t>ilence</a:t>
            </a:r>
            <a:endParaRPr lang="en-US" sz="2000" b="1"/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8631EE82-2A00-49C6-82D5-64208B1DA379}"/>
              </a:ext>
            </a:extLst>
          </p:cNvPr>
          <p:cNvSpPr/>
          <p:nvPr/>
        </p:nvSpPr>
        <p:spPr>
          <a:xfrm>
            <a:off x="9671341" y="1678501"/>
            <a:ext cx="2053806" cy="999179"/>
          </a:xfrm>
          <a:prstGeom prst="wedgeRoundRectCallout">
            <a:avLst>
              <a:gd name="adj1" fmla="val 2394"/>
              <a:gd name="adj2" fmla="val 13551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000" b="1"/>
              <a:t>TO from</a:t>
            </a:r>
          </a:p>
          <a:p>
            <a:pPr algn="ctr"/>
            <a:r>
              <a:rPr lang="en-DE" sz="2000" b="1"/>
              <a:t>PLCA Follower</a:t>
            </a:r>
          </a:p>
          <a:p>
            <a:pPr algn="ctr"/>
            <a:r>
              <a:rPr lang="en-DE" sz="2000" b="1"/>
              <a:t>Node-1,2...N</a:t>
            </a:r>
            <a:endParaRPr lang="en-US" sz="2000" b="1"/>
          </a:p>
        </p:txBody>
      </p:sp>
      <p:sp>
        <p:nvSpPr>
          <p:cNvPr id="55" name="Textfeld 29">
            <a:extLst>
              <a:ext uri="{FF2B5EF4-FFF2-40B4-BE49-F238E27FC236}">
                <a16:creationId xmlns:a16="http://schemas.microsoft.com/office/drawing/2014/main" id="{381624E3-3ECD-48BC-82CE-EFBEDFC3BA3F}"/>
              </a:ext>
            </a:extLst>
          </p:cNvPr>
          <p:cNvSpPr txBox="1"/>
          <p:nvPr/>
        </p:nvSpPr>
        <p:spPr>
          <a:xfrm>
            <a:off x="11367514" y="3650269"/>
            <a:ext cx="663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t</a:t>
            </a:r>
            <a:r>
              <a:rPr lang="en-DE" sz="2000" err="1"/>
              <a:t>ime</a:t>
            </a:r>
            <a:endParaRPr lang="en-US" sz="2000"/>
          </a:p>
        </p:txBody>
      </p:sp>
      <p:cxnSp>
        <p:nvCxnSpPr>
          <p:cNvPr id="43" name="Gerade Verbindung mit Pfeil 28">
            <a:extLst>
              <a:ext uri="{FF2B5EF4-FFF2-40B4-BE49-F238E27FC236}">
                <a16:creationId xmlns:a16="http://schemas.microsoft.com/office/drawing/2014/main" id="{304FBE31-C43B-4B40-B53A-5DB807B17B03}"/>
              </a:ext>
            </a:extLst>
          </p:cNvPr>
          <p:cNvCxnSpPr/>
          <p:nvPr/>
        </p:nvCxnSpPr>
        <p:spPr>
          <a:xfrm>
            <a:off x="11449704" y="4094963"/>
            <a:ext cx="5544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C5539BD4-745A-265A-9432-8A3FD8B08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7950"/>
            <a:ext cx="473075" cy="365125"/>
          </a:xfrm>
        </p:spPr>
        <p:txBody>
          <a:bodyPr/>
          <a:lstStyle/>
          <a:p>
            <a:fld id="{0C16879F-7EC0-41E4-BD68-03C263C117F6}" type="slidenum">
              <a:rPr lang="en-US" smtClean="0"/>
              <a:t>10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15794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10"/>
    </mc:Choice>
    <mc:Fallback xmlns="">
      <p:transition spd="slow" advTm="342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69" grpId="0" animBg="1"/>
      <p:bldP spid="71" grpId="0" animBg="1"/>
      <p:bldP spid="77" grpId="0" animBg="1"/>
      <p:bldP spid="78" grpId="0" animBg="1"/>
      <p:bldP spid="3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F0CE35-A559-EF0C-B94F-88595720F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Increasing</a:t>
            </a:r>
            <a:r>
              <a:rPr lang="de-DE"/>
              <a:t> Node </a:t>
            </a:r>
            <a:r>
              <a:rPr lang="de-DE" err="1"/>
              <a:t>Bandwidth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D8A6AE-3C84-B731-3CFE-951A61FDB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Burst</a:t>
            </a:r>
          </a:p>
          <a:p>
            <a:r>
              <a:rPr lang="de-DE"/>
              <a:t>Multiple </a:t>
            </a:r>
            <a:r>
              <a:rPr lang="de-DE" err="1"/>
              <a:t>Transmit</a:t>
            </a:r>
            <a:r>
              <a:rPr lang="de-DE"/>
              <a:t> </a:t>
            </a:r>
            <a:r>
              <a:rPr lang="de-DE" err="1"/>
              <a:t>Opportunities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02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3187-7403-4E7B-8E1D-922D2ABE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B</a:t>
            </a:r>
            <a:r>
              <a:rPr lang="en-DE" sz="4000"/>
              <a:t>urst Mode</a:t>
            </a:r>
            <a:endParaRPr lang="de-DE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B4D47-FC20-EF73-47CC-017C6BF8D2A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8" name="Speech Bubble: Rectangle with Corners Rounded 77">
            <a:extLst>
              <a:ext uri="{FF2B5EF4-FFF2-40B4-BE49-F238E27FC236}">
                <a16:creationId xmlns:a16="http://schemas.microsoft.com/office/drawing/2014/main" id="{F098A24C-BBE9-4E93-87E3-9EA4D35A73F8}"/>
              </a:ext>
            </a:extLst>
          </p:cNvPr>
          <p:cNvSpPr/>
          <p:nvPr/>
        </p:nvSpPr>
        <p:spPr>
          <a:xfrm>
            <a:off x="3793895" y="1294312"/>
            <a:ext cx="3044656" cy="771526"/>
          </a:xfrm>
          <a:prstGeom prst="wedgeRoundRectCallout">
            <a:avLst>
              <a:gd name="adj1" fmla="val 7818"/>
              <a:gd name="adj2" fmla="val 21152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b="1"/>
              <a:t>3 frames in TO-1</a:t>
            </a:r>
            <a:endParaRPr lang="en-US" b="1"/>
          </a:p>
        </p:txBody>
      </p:sp>
      <p:sp>
        <p:nvSpPr>
          <p:cNvPr id="79" name="Speech Bubble: Rectangle with Corners Rounded 78">
            <a:extLst>
              <a:ext uri="{FF2B5EF4-FFF2-40B4-BE49-F238E27FC236}">
                <a16:creationId xmlns:a16="http://schemas.microsoft.com/office/drawing/2014/main" id="{06F413E8-0D14-4A14-AA4F-3D013BF10F42}"/>
              </a:ext>
            </a:extLst>
          </p:cNvPr>
          <p:cNvSpPr/>
          <p:nvPr/>
        </p:nvSpPr>
        <p:spPr>
          <a:xfrm>
            <a:off x="3800246" y="2265005"/>
            <a:ext cx="3038305" cy="777240"/>
          </a:xfrm>
          <a:prstGeom prst="wedgeRoundRectCallout">
            <a:avLst>
              <a:gd name="adj1" fmla="val -14922"/>
              <a:gd name="adj2" fmla="val 42656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/>
              <a:t>M</a:t>
            </a:r>
            <a:r>
              <a:rPr lang="en-DE" b="1" err="1"/>
              <a:t>ax</a:t>
            </a:r>
            <a:r>
              <a:rPr lang="en-DE" b="1"/>
              <a:t> Burst Count = 2 </a:t>
            </a:r>
            <a:br>
              <a:rPr lang="en-DE" b="1"/>
            </a:br>
            <a:r>
              <a:rPr lang="en-DE" b="1"/>
              <a:t>(additional frames)</a:t>
            </a:r>
            <a:endParaRPr lang="en-US" b="1"/>
          </a:p>
        </p:txBody>
      </p:sp>
      <p:sp>
        <p:nvSpPr>
          <p:cNvPr id="72" name="Geschweifte Klammer links 13">
            <a:extLst>
              <a:ext uri="{FF2B5EF4-FFF2-40B4-BE49-F238E27FC236}">
                <a16:creationId xmlns:a16="http://schemas.microsoft.com/office/drawing/2014/main" id="{CE39D4C9-7932-4D06-931E-B46EA3A3FA5F}"/>
              </a:ext>
            </a:extLst>
          </p:cNvPr>
          <p:cNvSpPr/>
          <p:nvPr/>
        </p:nvSpPr>
        <p:spPr>
          <a:xfrm rot="5400000">
            <a:off x="5130673" y="212124"/>
            <a:ext cx="377157" cy="6499806"/>
          </a:xfrm>
          <a:prstGeom prst="leftBrace">
            <a:avLst>
              <a:gd name="adj1" fmla="val 39553"/>
              <a:gd name="adj2" fmla="val 50000"/>
            </a:avLst>
          </a:prstGeom>
          <a:ln w="28575">
            <a:solidFill>
              <a:srgbClr val="1879C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02DD347-FFC8-4B21-B5A2-C39D4A3E3B3F}"/>
              </a:ext>
            </a:extLst>
          </p:cNvPr>
          <p:cNvGrpSpPr/>
          <p:nvPr/>
        </p:nvGrpSpPr>
        <p:grpSpPr>
          <a:xfrm>
            <a:off x="50450" y="3839104"/>
            <a:ext cx="12338816" cy="876069"/>
            <a:chOff x="-350" y="3445404"/>
            <a:chExt cx="12338816" cy="87606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2E11C22-079B-468C-90F8-6E17D6D31F0D}"/>
                </a:ext>
              </a:extLst>
            </p:cNvPr>
            <p:cNvGrpSpPr/>
            <p:nvPr/>
          </p:nvGrpSpPr>
          <p:grpSpPr>
            <a:xfrm>
              <a:off x="235519" y="3622192"/>
              <a:ext cx="1007845" cy="540641"/>
              <a:chOff x="257682" y="3559211"/>
              <a:chExt cx="1269384" cy="592741"/>
            </a:xfrm>
          </p:grpSpPr>
          <p:sp>
            <p:nvSpPr>
              <p:cNvPr id="74" name="Rechteck 30">
                <a:extLst>
                  <a:ext uri="{FF2B5EF4-FFF2-40B4-BE49-F238E27FC236}">
                    <a16:creationId xmlns:a16="http://schemas.microsoft.com/office/drawing/2014/main" id="{9A60FD84-F128-4A9B-BF88-2727707B4C8E}"/>
                  </a:ext>
                </a:extLst>
              </p:cNvPr>
              <p:cNvSpPr/>
              <p:nvPr/>
            </p:nvSpPr>
            <p:spPr>
              <a:xfrm>
                <a:off x="257682" y="3559211"/>
                <a:ext cx="1074788" cy="59274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TO-</a:t>
                </a:r>
                <a:r>
                  <a:rPr lang="en-DE">
                    <a:solidFill>
                      <a:schemeClr val="tx1"/>
                    </a:solidFill>
                  </a:rPr>
                  <a:t>5</a:t>
                </a:r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hteck 3">
                <a:extLst>
                  <a:ext uri="{FF2B5EF4-FFF2-40B4-BE49-F238E27FC236}">
                    <a16:creationId xmlns:a16="http://schemas.microsoft.com/office/drawing/2014/main" id="{FDADFCEC-A285-4C7D-B7F9-5BC699D6AB85}"/>
                  </a:ext>
                </a:extLst>
              </p:cNvPr>
              <p:cNvSpPr/>
              <p:nvPr/>
            </p:nvSpPr>
            <p:spPr>
              <a:xfrm>
                <a:off x="1332470" y="3559211"/>
                <a:ext cx="194596" cy="592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Rechteck 3">
              <a:extLst>
                <a:ext uri="{FF2B5EF4-FFF2-40B4-BE49-F238E27FC236}">
                  <a16:creationId xmlns:a16="http://schemas.microsoft.com/office/drawing/2014/main" id="{C668EA41-8250-4F48-A52D-31D45FE7CB64}"/>
                </a:ext>
              </a:extLst>
            </p:cNvPr>
            <p:cNvSpPr/>
            <p:nvPr/>
          </p:nvSpPr>
          <p:spPr>
            <a:xfrm>
              <a:off x="1245906" y="3622192"/>
              <a:ext cx="334975" cy="540641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/>
                <a:t>B</a:t>
              </a:r>
              <a:endParaRPr lang="en-US"/>
            </a:p>
          </p:txBody>
        </p:sp>
        <p:sp>
          <p:nvSpPr>
            <p:cNvPr id="34" name="Rechteck 3">
              <a:extLst>
                <a:ext uri="{FF2B5EF4-FFF2-40B4-BE49-F238E27FC236}">
                  <a16:creationId xmlns:a16="http://schemas.microsoft.com/office/drawing/2014/main" id="{4B536B78-6015-4701-AA25-E9C0B402E40E}"/>
                </a:ext>
              </a:extLst>
            </p:cNvPr>
            <p:cNvSpPr/>
            <p:nvPr/>
          </p:nvSpPr>
          <p:spPr>
            <a:xfrm>
              <a:off x="1584516" y="3622192"/>
              <a:ext cx="440383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>
                  <a:solidFill>
                    <a:schemeClr val="tx1"/>
                  </a:solidFill>
                </a:rPr>
                <a:t>0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Rechteck 3">
              <a:extLst>
                <a:ext uri="{FF2B5EF4-FFF2-40B4-BE49-F238E27FC236}">
                  <a16:creationId xmlns:a16="http://schemas.microsoft.com/office/drawing/2014/main" id="{DD2EC594-3014-4767-9838-DB2D30B7F753}"/>
                </a:ext>
              </a:extLst>
            </p:cNvPr>
            <p:cNvSpPr/>
            <p:nvPr/>
          </p:nvSpPr>
          <p:spPr>
            <a:xfrm>
              <a:off x="8548259" y="3622192"/>
              <a:ext cx="440383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>
                  <a:solidFill>
                    <a:schemeClr val="tx1"/>
                  </a:solidFill>
                </a:rPr>
                <a:t>2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0" name="Rechteck 3">
              <a:extLst>
                <a:ext uri="{FF2B5EF4-FFF2-40B4-BE49-F238E27FC236}">
                  <a16:creationId xmlns:a16="http://schemas.microsoft.com/office/drawing/2014/main" id="{2C388649-A237-4459-B732-6D91216C092F}"/>
                </a:ext>
              </a:extLst>
            </p:cNvPr>
            <p:cNvSpPr/>
            <p:nvPr/>
          </p:nvSpPr>
          <p:spPr>
            <a:xfrm>
              <a:off x="8988641" y="3622192"/>
              <a:ext cx="440383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>
                  <a:solidFill>
                    <a:schemeClr val="tx1"/>
                  </a:solidFill>
                </a:rPr>
                <a:t>3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Rechteck 4">
              <a:extLst>
                <a:ext uri="{FF2B5EF4-FFF2-40B4-BE49-F238E27FC236}">
                  <a16:creationId xmlns:a16="http://schemas.microsoft.com/office/drawing/2014/main" id="{5DE699F2-96E3-42EC-A189-B41C536A976A}"/>
                </a:ext>
              </a:extLst>
            </p:cNvPr>
            <p:cNvSpPr/>
            <p:nvPr/>
          </p:nvSpPr>
          <p:spPr>
            <a:xfrm>
              <a:off x="2028534" y="3622192"/>
              <a:ext cx="2339586" cy="540641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solidFill>
                    <a:schemeClr val="tx1"/>
                  </a:solidFill>
                </a:rPr>
                <a:t>TO-</a:t>
              </a:r>
              <a:r>
                <a:rPr lang="en-DE">
                  <a:solidFill>
                    <a:schemeClr val="tx1"/>
                  </a:solidFill>
                </a:rPr>
                <a:t>1:  </a:t>
              </a:r>
              <a:r>
                <a:rPr lang="en-DE" b="1">
                  <a:solidFill>
                    <a:srgbClr val="C00000"/>
                  </a:solidFill>
                </a:rPr>
                <a:t>#1</a:t>
              </a:r>
              <a:endParaRPr lang="en-US" b="1">
                <a:solidFill>
                  <a:srgbClr val="C00000"/>
                </a:solidFill>
              </a:endParaRPr>
            </a:p>
          </p:txBody>
        </p:sp>
        <p:sp>
          <p:nvSpPr>
            <p:cNvPr id="52" name="Rechteck 4">
              <a:extLst>
                <a:ext uri="{FF2B5EF4-FFF2-40B4-BE49-F238E27FC236}">
                  <a16:creationId xmlns:a16="http://schemas.microsoft.com/office/drawing/2014/main" id="{7F5F2CA7-6F7D-4FD0-9C9D-E340B9EAE20B}"/>
                </a:ext>
              </a:extLst>
            </p:cNvPr>
            <p:cNvSpPr/>
            <p:nvPr/>
          </p:nvSpPr>
          <p:spPr>
            <a:xfrm>
              <a:off x="9429024" y="3622192"/>
              <a:ext cx="1516942" cy="540641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</a:rPr>
                <a:t>TO-</a:t>
              </a:r>
              <a:r>
                <a:rPr lang="en-DE">
                  <a:solidFill>
                    <a:schemeClr val="tx1"/>
                  </a:solidFill>
                </a:rPr>
                <a:t>4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61" name="Rechteck 3">
              <a:extLst>
                <a:ext uri="{FF2B5EF4-FFF2-40B4-BE49-F238E27FC236}">
                  <a16:creationId xmlns:a16="http://schemas.microsoft.com/office/drawing/2014/main" id="{806C3A94-4A8E-4C28-8514-08A526EEB387}"/>
                </a:ext>
              </a:extLst>
            </p:cNvPr>
            <p:cNvSpPr/>
            <p:nvPr/>
          </p:nvSpPr>
          <p:spPr>
            <a:xfrm>
              <a:off x="11386666" y="3622192"/>
              <a:ext cx="334975" cy="540641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/>
                <a:t>B</a:t>
              </a:r>
              <a:endParaRPr lang="en-US"/>
            </a:p>
          </p:txBody>
        </p:sp>
        <p:sp>
          <p:nvSpPr>
            <p:cNvPr id="76" name="Flussdiagramm: Lochstreifen 31">
              <a:extLst>
                <a:ext uri="{FF2B5EF4-FFF2-40B4-BE49-F238E27FC236}">
                  <a16:creationId xmlns:a16="http://schemas.microsoft.com/office/drawing/2014/main" id="{F3F799A7-4D84-494D-B83A-96B45413D410}"/>
                </a:ext>
              </a:extLst>
            </p:cNvPr>
            <p:cNvSpPr/>
            <p:nvPr/>
          </p:nvSpPr>
          <p:spPr>
            <a:xfrm rot="6538834" flipH="1">
              <a:off x="3420315" y="3819786"/>
              <a:ext cx="850714" cy="152659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lussdiagramm: Lochstreifen 31">
              <a:extLst>
                <a:ext uri="{FF2B5EF4-FFF2-40B4-BE49-F238E27FC236}">
                  <a16:creationId xmlns:a16="http://schemas.microsoft.com/office/drawing/2014/main" id="{3E5C3F86-8E2D-4D14-886B-F004AEBC1862}"/>
                </a:ext>
              </a:extLst>
            </p:cNvPr>
            <p:cNvSpPr/>
            <p:nvPr/>
          </p:nvSpPr>
          <p:spPr>
            <a:xfrm rot="6538834" flipH="1">
              <a:off x="10292586" y="3813437"/>
              <a:ext cx="850714" cy="152659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195FB76-45BA-4401-90AB-7306D2F1958D}"/>
                </a:ext>
              </a:extLst>
            </p:cNvPr>
            <p:cNvGrpSpPr/>
            <p:nvPr/>
          </p:nvGrpSpPr>
          <p:grpSpPr>
            <a:xfrm>
              <a:off x="11638458" y="3519143"/>
              <a:ext cx="700008" cy="695915"/>
              <a:chOff x="10740783" y="3414290"/>
              <a:chExt cx="881662" cy="762979"/>
            </a:xfrm>
          </p:grpSpPr>
          <p:sp>
            <p:nvSpPr>
              <p:cNvPr id="28" name="Flussdiagramm: Lochstreifen 31">
                <a:extLst>
                  <a:ext uri="{FF2B5EF4-FFF2-40B4-BE49-F238E27FC236}">
                    <a16:creationId xmlns:a16="http://schemas.microsoft.com/office/drawing/2014/main" id="{0E9B595E-D751-490D-8208-1998D8DFC774}"/>
                  </a:ext>
                </a:extLst>
              </p:cNvPr>
              <p:cNvSpPr/>
              <p:nvPr/>
            </p:nvSpPr>
            <p:spPr>
              <a:xfrm rot="5400000" flipH="1">
                <a:off x="10659648" y="3557842"/>
                <a:ext cx="700562" cy="538291"/>
              </a:xfrm>
              <a:prstGeom prst="flowChartPunchedTap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hteck 11">
                <a:extLst>
                  <a:ext uri="{FF2B5EF4-FFF2-40B4-BE49-F238E27FC236}">
                    <a16:creationId xmlns:a16="http://schemas.microsoft.com/office/drawing/2014/main" id="{DDBA3350-3E3B-4A21-8343-060CD2E0AE7B}"/>
                  </a:ext>
                </a:extLst>
              </p:cNvPr>
              <p:cNvSpPr/>
              <p:nvPr/>
            </p:nvSpPr>
            <p:spPr>
              <a:xfrm>
                <a:off x="10872164" y="3414290"/>
                <a:ext cx="468675" cy="592741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b="1">
                    <a:solidFill>
                      <a:srgbClr val="0070C0"/>
                    </a:solidFill>
                  </a:rPr>
                  <a:t>…</a:t>
                </a:r>
              </a:p>
            </p:txBody>
          </p:sp>
          <p:sp>
            <p:nvSpPr>
              <p:cNvPr id="55" name="Textfeld 29">
                <a:extLst>
                  <a:ext uri="{FF2B5EF4-FFF2-40B4-BE49-F238E27FC236}">
                    <a16:creationId xmlns:a16="http://schemas.microsoft.com/office/drawing/2014/main" id="{381624E3-3ECD-48BC-82CE-EFBEDFC3BA3F}"/>
                  </a:ext>
                </a:extLst>
              </p:cNvPr>
              <p:cNvSpPr txBox="1"/>
              <p:nvPr/>
            </p:nvSpPr>
            <p:spPr>
              <a:xfrm>
                <a:off x="11389776" y="3465600"/>
                <a:ext cx="232669" cy="4386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200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E6F02D8-73C5-4231-8C4C-AFD89F8FC286}"/>
                </a:ext>
              </a:extLst>
            </p:cNvPr>
            <p:cNvGrpSpPr/>
            <p:nvPr/>
          </p:nvGrpSpPr>
          <p:grpSpPr>
            <a:xfrm>
              <a:off x="-350" y="3525493"/>
              <a:ext cx="739654" cy="695915"/>
              <a:chOff x="10690848" y="3414290"/>
              <a:chExt cx="931597" cy="762979"/>
            </a:xfrm>
          </p:grpSpPr>
          <p:sp>
            <p:nvSpPr>
              <p:cNvPr id="65" name="Flussdiagramm: Lochstreifen 31">
                <a:extLst>
                  <a:ext uri="{FF2B5EF4-FFF2-40B4-BE49-F238E27FC236}">
                    <a16:creationId xmlns:a16="http://schemas.microsoft.com/office/drawing/2014/main" id="{22AC9EA8-5355-435A-A6EC-9B60A0A85B81}"/>
                  </a:ext>
                </a:extLst>
              </p:cNvPr>
              <p:cNvSpPr/>
              <p:nvPr/>
            </p:nvSpPr>
            <p:spPr>
              <a:xfrm rot="5400000" flipH="1">
                <a:off x="10659648" y="3557842"/>
                <a:ext cx="700562" cy="538291"/>
              </a:xfrm>
              <a:prstGeom prst="flowChartPunchedTap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echteck 11">
                <a:extLst>
                  <a:ext uri="{FF2B5EF4-FFF2-40B4-BE49-F238E27FC236}">
                    <a16:creationId xmlns:a16="http://schemas.microsoft.com/office/drawing/2014/main" id="{ABCCFE16-F070-4338-8516-DC220C262177}"/>
                  </a:ext>
                </a:extLst>
              </p:cNvPr>
              <p:cNvSpPr/>
              <p:nvPr/>
            </p:nvSpPr>
            <p:spPr>
              <a:xfrm>
                <a:off x="10690848" y="3414290"/>
                <a:ext cx="468675" cy="5927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b="1">
                    <a:solidFill>
                      <a:srgbClr val="0070C0"/>
                    </a:solidFill>
                  </a:rPr>
                  <a:t>…</a:t>
                </a:r>
              </a:p>
            </p:txBody>
          </p:sp>
          <p:sp>
            <p:nvSpPr>
              <p:cNvPr id="67" name="Textfeld 29">
                <a:extLst>
                  <a:ext uri="{FF2B5EF4-FFF2-40B4-BE49-F238E27FC236}">
                    <a16:creationId xmlns:a16="http://schemas.microsoft.com/office/drawing/2014/main" id="{3F2A5B1B-E28D-482C-91EE-4129C1EDE5CC}"/>
                  </a:ext>
                </a:extLst>
              </p:cNvPr>
              <p:cNvSpPr txBox="1"/>
              <p:nvPr/>
            </p:nvSpPr>
            <p:spPr>
              <a:xfrm>
                <a:off x="11389776" y="3465600"/>
                <a:ext cx="232669" cy="4386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2000"/>
              </a:p>
            </p:txBody>
          </p:sp>
        </p:grpSp>
        <p:sp>
          <p:nvSpPr>
            <p:cNvPr id="36" name="Rechteck 4">
              <a:extLst>
                <a:ext uri="{FF2B5EF4-FFF2-40B4-BE49-F238E27FC236}">
                  <a16:creationId xmlns:a16="http://schemas.microsoft.com/office/drawing/2014/main" id="{126005F6-7546-40B4-9D30-9A20579355B1}"/>
                </a:ext>
              </a:extLst>
            </p:cNvPr>
            <p:cNvSpPr/>
            <p:nvPr/>
          </p:nvSpPr>
          <p:spPr>
            <a:xfrm>
              <a:off x="4368120" y="3622192"/>
              <a:ext cx="1682168" cy="540641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solidFill>
                    <a:schemeClr val="tx1"/>
                  </a:solidFill>
                </a:rPr>
                <a:t>TO-</a:t>
              </a:r>
              <a:r>
                <a:rPr lang="en-DE">
                  <a:solidFill>
                    <a:schemeClr val="tx1"/>
                  </a:solidFill>
                </a:rPr>
                <a:t>1:  </a:t>
              </a:r>
              <a:r>
                <a:rPr lang="en-DE" b="1">
                  <a:solidFill>
                    <a:srgbClr val="C00000"/>
                  </a:solidFill>
                </a:rPr>
                <a:t>#2</a:t>
              </a:r>
              <a:endParaRPr lang="en-US" b="1">
                <a:solidFill>
                  <a:srgbClr val="C00000"/>
                </a:solidFill>
              </a:endParaRPr>
            </a:p>
          </p:txBody>
        </p:sp>
        <p:sp>
          <p:nvSpPr>
            <p:cNvPr id="37" name="Flussdiagramm: Lochstreifen 31">
              <a:extLst>
                <a:ext uri="{FF2B5EF4-FFF2-40B4-BE49-F238E27FC236}">
                  <a16:creationId xmlns:a16="http://schemas.microsoft.com/office/drawing/2014/main" id="{FB023B40-D037-469C-932B-05E12DFB028C}"/>
                </a:ext>
              </a:extLst>
            </p:cNvPr>
            <p:cNvSpPr/>
            <p:nvPr/>
          </p:nvSpPr>
          <p:spPr>
            <a:xfrm rot="6538834" flipH="1">
              <a:off x="5353882" y="3819786"/>
              <a:ext cx="850714" cy="152659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/>
                <a:t> </a:t>
              </a:r>
              <a:endParaRPr lang="en-US"/>
            </a:p>
          </p:txBody>
        </p:sp>
        <p:sp>
          <p:nvSpPr>
            <p:cNvPr id="39" name="Rechteck 4">
              <a:extLst>
                <a:ext uri="{FF2B5EF4-FFF2-40B4-BE49-F238E27FC236}">
                  <a16:creationId xmlns:a16="http://schemas.microsoft.com/office/drawing/2014/main" id="{4024947D-837F-4AE9-AA61-D8B079A8B65B}"/>
                </a:ext>
              </a:extLst>
            </p:cNvPr>
            <p:cNvSpPr/>
            <p:nvPr/>
          </p:nvSpPr>
          <p:spPr>
            <a:xfrm>
              <a:off x="6050288" y="3622192"/>
              <a:ext cx="2496274" cy="540641"/>
            </a:xfrm>
            <a:prstGeom prst="rect">
              <a:avLst/>
            </a:prstGeom>
            <a:solidFill>
              <a:srgbClr val="FFD53A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>
                  <a:solidFill>
                    <a:schemeClr val="tx1"/>
                  </a:solidFill>
                </a:rPr>
                <a:t>TO-</a:t>
              </a:r>
              <a:r>
                <a:rPr lang="en-DE">
                  <a:solidFill>
                    <a:schemeClr val="tx1"/>
                  </a:solidFill>
                </a:rPr>
                <a:t>1:  </a:t>
              </a:r>
              <a:r>
                <a:rPr lang="en-DE" b="1">
                  <a:solidFill>
                    <a:srgbClr val="C00000"/>
                  </a:solidFill>
                </a:rPr>
                <a:t>#3</a:t>
              </a:r>
              <a:endParaRPr lang="en-US" b="1">
                <a:solidFill>
                  <a:srgbClr val="C00000"/>
                </a:solidFill>
              </a:endParaRPr>
            </a:p>
          </p:txBody>
        </p:sp>
        <p:sp>
          <p:nvSpPr>
            <p:cNvPr id="41" name="Flussdiagramm: Lochstreifen 31">
              <a:extLst>
                <a:ext uri="{FF2B5EF4-FFF2-40B4-BE49-F238E27FC236}">
                  <a16:creationId xmlns:a16="http://schemas.microsoft.com/office/drawing/2014/main" id="{114C745A-4CA0-4B56-BAA1-2D86F92221AE}"/>
                </a:ext>
              </a:extLst>
            </p:cNvPr>
            <p:cNvSpPr/>
            <p:nvPr/>
          </p:nvSpPr>
          <p:spPr>
            <a:xfrm rot="6538834" flipH="1">
              <a:off x="7628472" y="3794431"/>
              <a:ext cx="850714" cy="152659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hteck 3">
              <a:extLst>
                <a:ext uri="{FF2B5EF4-FFF2-40B4-BE49-F238E27FC236}">
                  <a16:creationId xmlns:a16="http://schemas.microsoft.com/office/drawing/2014/main" id="{772CE333-430B-47DC-A492-8DCBD357B230}"/>
                </a:ext>
              </a:extLst>
            </p:cNvPr>
            <p:cNvSpPr/>
            <p:nvPr/>
          </p:nvSpPr>
          <p:spPr>
            <a:xfrm>
              <a:off x="10945243" y="3622192"/>
              <a:ext cx="440383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>
                  <a:solidFill>
                    <a:schemeClr val="tx1"/>
                  </a:solidFill>
                </a:rPr>
                <a:t>5</a:t>
              </a:r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Speech Bubble: Rectangle with Corners Rounded 43">
            <a:extLst>
              <a:ext uri="{FF2B5EF4-FFF2-40B4-BE49-F238E27FC236}">
                <a16:creationId xmlns:a16="http://schemas.microsoft.com/office/drawing/2014/main" id="{13E36EFF-CA18-4A76-83FA-4B4F8CC11BAE}"/>
              </a:ext>
            </a:extLst>
          </p:cNvPr>
          <p:cNvSpPr/>
          <p:nvPr/>
        </p:nvSpPr>
        <p:spPr>
          <a:xfrm>
            <a:off x="2800350" y="5435246"/>
            <a:ext cx="1987550" cy="729346"/>
          </a:xfrm>
          <a:prstGeom prst="wedgeRoundRectCallout">
            <a:avLst>
              <a:gd name="adj1" fmla="val 31038"/>
              <a:gd name="adj2" fmla="val -13288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u="sng"/>
              <a:t>N</a:t>
            </a:r>
            <a:r>
              <a:rPr lang="en-DE" b="1" u="sng"/>
              <a:t>o</a:t>
            </a:r>
            <a:r>
              <a:rPr lang="en-DE" b="1"/>
              <a:t> Silence</a:t>
            </a:r>
            <a:endParaRPr lang="en-US" b="1"/>
          </a:p>
        </p:txBody>
      </p:sp>
      <p:sp>
        <p:nvSpPr>
          <p:cNvPr id="45" name="Speech Bubble: Rectangle with Corners Rounded 44">
            <a:extLst>
              <a:ext uri="{FF2B5EF4-FFF2-40B4-BE49-F238E27FC236}">
                <a16:creationId xmlns:a16="http://schemas.microsoft.com/office/drawing/2014/main" id="{89978686-E316-40F3-938B-62E747EE22CD}"/>
              </a:ext>
            </a:extLst>
          </p:cNvPr>
          <p:cNvSpPr/>
          <p:nvPr/>
        </p:nvSpPr>
        <p:spPr>
          <a:xfrm>
            <a:off x="7375205" y="5435246"/>
            <a:ext cx="1687447" cy="729346"/>
          </a:xfrm>
          <a:prstGeom prst="wedgeRoundRectCallout">
            <a:avLst>
              <a:gd name="adj1" fmla="val 31584"/>
              <a:gd name="adj2" fmla="val -137852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b="1"/>
              <a:t>Silence</a:t>
            </a:r>
            <a:endParaRPr lang="en-US" b="1"/>
          </a:p>
        </p:txBody>
      </p:sp>
      <p:sp>
        <p:nvSpPr>
          <p:cNvPr id="46" name="Speech Bubble: Rectangle with Corners Rounded 45">
            <a:extLst>
              <a:ext uri="{FF2B5EF4-FFF2-40B4-BE49-F238E27FC236}">
                <a16:creationId xmlns:a16="http://schemas.microsoft.com/office/drawing/2014/main" id="{24DB3962-C6F1-4DD1-B90F-1607667C41C3}"/>
              </a:ext>
            </a:extLst>
          </p:cNvPr>
          <p:cNvSpPr/>
          <p:nvPr/>
        </p:nvSpPr>
        <p:spPr>
          <a:xfrm>
            <a:off x="8018127" y="1294312"/>
            <a:ext cx="3038305" cy="1248505"/>
          </a:xfrm>
          <a:prstGeom prst="wedgeRoundRectCallout">
            <a:avLst>
              <a:gd name="adj1" fmla="val -52542"/>
              <a:gd name="adj2" fmla="val 109345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/>
              <a:t>3</a:t>
            </a:r>
            <a:r>
              <a:rPr lang="en-DE" b="1"/>
              <a:t> x more frames </a:t>
            </a:r>
          </a:p>
          <a:p>
            <a:pPr algn="ctr"/>
            <a:r>
              <a:rPr lang="en-DE" b="1"/>
              <a:t>per cycle</a:t>
            </a:r>
            <a:endParaRPr lang="en-US" b="1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420AE87A-1E15-C392-2C3D-A4F6416C1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7950"/>
            <a:ext cx="473075" cy="365125"/>
          </a:xfrm>
        </p:spPr>
        <p:txBody>
          <a:bodyPr/>
          <a:lstStyle/>
          <a:p>
            <a:fld id="{0C16879F-7EC0-41E4-BD68-03C263C117F6}" type="slidenum">
              <a:rPr lang="en-US" smtClean="0"/>
              <a:t>12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322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10"/>
    </mc:Choice>
    <mc:Fallback xmlns="">
      <p:transition spd="slow" advTm="342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  <p:bldP spid="72" grpId="0" animBg="1"/>
      <p:bldP spid="44" grpId="0" animBg="1"/>
      <p:bldP spid="45" grpId="0" animBg="1"/>
      <p:bldP spid="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59A6FB-00FC-BFC3-64EB-20584A4FD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Controlling Burst: PLCA_BURST Register</a:t>
            </a:r>
            <a:endParaRPr lang="en-US"/>
          </a:p>
        </p:txBody>
      </p:sp>
      <p:sp>
        <p:nvSpPr>
          <p:cNvPr id="44" name="Content Placeholder 43">
            <a:extLst>
              <a:ext uri="{FF2B5EF4-FFF2-40B4-BE49-F238E27FC236}">
                <a16:creationId xmlns:a16="http://schemas.microsoft.com/office/drawing/2014/main" id="{50F9115D-5C48-AF54-ABE3-A674E4E403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4168265"/>
            <a:ext cx="11400660" cy="2140772"/>
          </a:xfrm>
        </p:spPr>
        <p:txBody>
          <a:bodyPr/>
          <a:lstStyle/>
          <a:p>
            <a:r>
              <a:rPr lang="de-DE"/>
              <a:t>This feature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described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IEEE </a:t>
            </a:r>
            <a:r>
              <a:rPr lang="de-DE" err="1"/>
              <a:t>standard</a:t>
            </a:r>
            <a:r>
              <a:rPr lang="de-DE"/>
              <a:t>, but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registers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not. All PHYs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this</a:t>
            </a:r>
            <a:r>
              <a:rPr lang="de-DE"/>
              <a:t> feature.</a:t>
            </a:r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7CC01F-3DF9-CB98-2CE3-995AC7D60CD6}"/>
              </a:ext>
            </a:extLst>
          </p:cNvPr>
          <p:cNvGrpSpPr/>
          <p:nvPr/>
        </p:nvGrpSpPr>
        <p:grpSpPr>
          <a:xfrm>
            <a:off x="1242233" y="1731968"/>
            <a:ext cx="9704358" cy="1895463"/>
            <a:chOff x="1082812" y="2632523"/>
            <a:chExt cx="9704358" cy="189546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63082BD-A6EE-9FD6-8398-DA012E5AA6A5}"/>
                </a:ext>
              </a:extLst>
            </p:cNvPr>
            <p:cNvGrpSpPr/>
            <p:nvPr/>
          </p:nvGrpSpPr>
          <p:grpSpPr>
            <a:xfrm>
              <a:off x="2581959" y="2632523"/>
              <a:ext cx="6251298" cy="460266"/>
              <a:chOff x="3451169" y="3819613"/>
              <a:chExt cx="5246160" cy="37076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D9A15825-F49F-9FBD-1EEB-A2FFEB589C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3117" r="27102"/>
              <a:stretch/>
            </p:blipFill>
            <p:spPr>
              <a:xfrm>
                <a:off x="3451169" y="3819613"/>
                <a:ext cx="5246160" cy="365692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24" name="Rounded Rectangle 4">
                <a:extLst>
                  <a:ext uri="{FF2B5EF4-FFF2-40B4-BE49-F238E27FC236}">
                    <a16:creationId xmlns:a16="http://schemas.microsoft.com/office/drawing/2014/main" id="{04E45E1B-618C-D11E-6677-B08AB55648D5}"/>
                  </a:ext>
                </a:extLst>
              </p:cNvPr>
              <p:cNvSpPr/>
              <p:nvPr/>
            </p:nvSpPr>
            <p:spPr bwMode="auto">
              <a:xfrm>
                <a:off x="7446532" y="3820566"/>
                <a:ext cx="1104602" cy="184429"/>
              </a:xfrm>
              <a:prstGeom prst="roundRect">
                <a:avLst/>
              </a:prstGeom>
              <a:solidFill>
                <a:srgbClr val="FF0000">
                  <a:alpha val="1176"/>
                </a:srgbClr>
              </a:solidFill>
              <a:ln w="28575" algn="ctr">
                <a:solidFill>
                  <a:srgbClr val="ED1B2E"/>
                </a:solidFill>
                <a:round/>
                <a:headEnd/>
                <a:tailEnd/>
              </a:ln>
              <a:effectLst>
                <a:outerShdw blurRad="38100" dist="38100" dir="2700000" algn="tl" rotWithShape="0">
                  <a:schemeClr val="bg1">
                    <a:lumMod val="75000"/>
                  </a:schemeClr>
                </a:outerShdw>
              </a:effectLst>
            </p:spPr>
            <p:txBody>
              <a:bodyPr lIns="35991" tIns="0" rIns="35991" bIns="0" rtlCol="0" anchor="t" anchorCtr="0"/>
              <a:lstStyle/>
              <a:p>
                <a:pPr marL="1202039" lvl="2" indent="-287914" algn="ctr">
                  <a:spcBef>
                    <a:spcPct val="30000"/>
                  </a:spcBef>
                  <a:buClr>
                    <a:srgbClr val="C00000"/>
                  </a:buClr>
                  <a:buSzPct val="75000"/>
                  <a:buFont typeface="Wingdings" pitchFamily="2" charset="2"/>
                  <a:buChar char="n"/>
                </a:pPr>
                <a:endParaRPr lang="en-US" sz="1600">
                  <a:solidFill>
                    <a:srgbClr val="000000"/>
                  </a:solidFill>
                </a:endParaRPr>
              </a:p>
            </p:txBody>
          </p:sp>
          <p:sp>
            <p:nvSpPr>
              <p:cNvPr id="25" name="Rounded Rectangle 4">
                <a:extLst>
                  <a:ext uri="{FF2B5EF4-FFF2-40B4-BE49-F238E27FC236}">
                    <a16:creationId xmlns:a16="http://schemas.microsoft.com/office/drawing/2014/main" id="{69132B5A-85BA-53C7-E2F9-C79635AC5C7A}"/>
                  </a:ext>
                </a:extLst>
              </p:cNvPr>
              <p:cNvSpPr/>
              <p:nvPr/>
            </p:nvSpPr>
            <p:spPr bwMode="auto">
              <a:xfrm>
                <a:off x="7446532" y="4005947"/>
                <a:ext cx="1104602" cy="184429"/>
              </a:xfrm>
              <a:prstGeom prst="roundRect">
                <a:avLst/>
              </a:prstGeom>
              <a:solidFill>
                <a:srgbClr val="FF0000">
                  <a:alpha val="1176"/>
                </a:srgbClr>
              </a:solidFill>
              <a:ln w="28575" algn="ctr">
                <a:solidFill>
                  <a:srgbClr val="ED1B2E"/>
                </a:solidFill>
                <a:round/>
                <a:headEnd/>
                <a:tailEnd/>
              </a:ln>
              <a:effectLst>
                <a:outerShdw blurRad="38100" dist="38100" dir="2700000" algn="tl" rotWithShape="0">
                  <a:schemeClr val="bg1">
                    <a:lumMod val="75000"/>
                  </a:schemeClr>
                </a:outerShdw>
              </a:effectLst>
            </p:spPr>
            <p:txBody>
              <a:bodyPr lIns="35991" tIns="0" rIns="35991" bIns="0" rtlCol="0" anchor="t" anchorCtr="0"/>
              <a:lstStyle/>
              <a:p>
                <a:pPr marL="1202039" lvl="2" indent="-287914" algn="ctr">
                  <a:spcBef>
                    <a:spcPct val="30000"/>
                  </a:spcBef>
                  <a:buClr>
                    <a:srgbClr val="C00000"/>
                  </a:buClr>
                  <a:buSzPct val="75000"/>
                  <a:buFont typeface="Wingdings" pitchFamily="2" charset="2"/>
                  <a:buChar char="n"/>
                </a:pPr>
                <a:endParaRPr lang="en-US" sz="16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4A41F48-364C-CC8C-FC7E-5AD0219A98B2}"/>
                </a:ext>
              </a:extLst>
            </p:cNvPr>
            <p:cNvGrpSpPr/>
            <p:nvPr/>
          </p:nvGrpSpPr>
          <p:grpSpPr>
            <a:xfrm>
              <a:off x="8833257" y="3646218"/>
              <a:ext cx="1953913" cy="881768"/>
              <a:chOff x="9509541" y="447500"/>
              <a:chExt cx="2595986" cy="576147"/>
            </a:xfrm>
          </p:grpSpPr>
          <p:sp>
            <p:nvSpPr>
              <p:cNvPr id="32" name="Callout: Line with No Border 31">
                <a:extLst>
                  <a:ext uri="{FF2B5EF4-FFF2-40B4-BE49-F238E27FC236}">
                    <a16:creationId xmlns:a16="http://schemas.microsoft.com/office/drawing/2014/main" id="{3A639B9F-8DAC-099A-65A5-84AE143A7569}"/>
                  </a:ext>
                </a:extLst>
              </p:cNvPr>
              <p:cNvSpPr/>
              <p:nvPr/>
            </p:nvSpPr>
            <p:spPr>
              <a:xfrm>
                <a:off x="10380113" y="525046"/>
                <a:ext cx="723900" cy="421054"/>
              </a:xfrm>
              <a:prstGeom prst="callout1">
                <a:avLst>
                  <a:gd name="adj1" fmla="val -19698"/>
                  <a:gd name="adj2" fmla="val -14593"/>
                  <a:gd name="adj3" fmla="val -152648"/>
                  <a:gd name="adj4" fmla="val -142455"/>
                </a:avLst>
              </a:prstGeom>
              <a:no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33" name="Speech Bubble: Rectangle with Corners Rounded 32">
                <a:extLst>
                  <a:ext uri="{FF2B5EF4-FFF2-40B4-BE49-F238E27FC236}">
                    <a16:creationId xmlns:a16="http://schemas.microsoft.com/office/drawing/2014/main" id="{AEBCDD1F-B0EE-0E16-55A8-63AAD623605A}"/>
                  </a:ext>
                </a:extLst>
              </p:cNvPr>
              <p:cNvSpPr/>
              <p:nvPr/>
            </p:nvSpPr>
            <p:spPr>
              <a:xfrm>
                <a:off x="9509541" y="447500"/>
                <a:ext cx="2595986" cy="576147"/>
              </a:xfrm>
              <a:prstGeom prst="wedgeRoundRectCallout">
                <a:avLst>
                  <a:gd name="adj1" fmla="val -6014"/>
                  <a:gd name="adj2" fmla="val 10491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44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8885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328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777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721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6656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6097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554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DE" sz="1600" b="1"/>
                  <a:t>Max burst count</a:t>
                </a:r>
              </a:p>
              <a:p>
                <a:pPr algn="ctr"/>
                <a:r>
                  <a:rPr lang="en-DE" sz="1600" b="1"/>
                  <a:t>= number of add. frames per TO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C839782-30CE-2DF9-0808-FC8352E343AE}"/>
                </a:ext>
              </a:extLst>
            </p:cNvPr>
            <p:cNvGrpSpPr/>
            <p:nvPr/>
          </p:nvGrpSpPr>
          <p:grpSpPr>
            <a:xfrm>
              <a:off x="5984783" y="3639920"/>
              <a:ext cx="2272756" cy="881768"/>
              <a:chOff x="9509541" y="447500"/>
              <a:chExt cx="2595986" cy="576147"/>
            </a:xfrm>
          </p:grpSpPr>
          <p:sp>
            <p:nvSpPr>
              <p:cNvPr id="35" name="Callout: Line with No Border 34">
                <a:extLst>
                  <a:ext uri="{FF2B5EF4-FFF2-40B4-BE49-F238E27FC236}">
                    <a16:creationId xmlns:a16="http://schemas.microsoft.com/office/drawing/2014/main" id="{74278FAF-3805-3D50-DE42-84D406F24B80}"/>
                  </a:ext>
                </a:extLst>
              </p:cNvPr>
              <p:cNvSpPr/>
              <p:nvPr/>
            </p:nvSpPr>
            <p:spPr>
              <a:xfrm>
                <a:off x="10380113" y="525046"/>
                <a:ext cx="723900" cy="421054"/>
              </a:xfrm>
              <a:prstGeom prst="callout1">
                <a:avLst>
                  <a:gd name="adj1" fmla="val -19698"/>
                  <a:gd name="adj2" fmla="val 128989"/>
                  <a:gd name="adj3" fmla="val -97959"/>
                  <a:gd name="adj4" fmla="val 153193"/>
                </a:avLst>
              </a:prstGeom>
              <a:no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36" name="Speech Bubble: Rectangle with Corners Rounded 35">
                <a:extLst>
                  <a:ext uri="{FF2B5EF4-FFF2-40B4-BE49-F238E27FC236}">
                    <a16:creationId xmlns:a16="http://schemas.microsoft.com/office/drawing/2014/main" id="{4A21953A-B479-94E0-4813-2937086490BD}"/>
                  </a:ext>
                </a:extLst>
              </p:cNvPr>
              <p:cNvSpPr/>
              <p:nvPr/>
            </p:nvSpPr>
            <p:spPr>
              <a:xfrm>
                <a:off x="9509541" y="447500"/>
                <a:ext cx="2595986" cy="576147"/>
              </a:xfrm>
              <a:prstGeom prst="wedgeRoundRectCallout">
                <a:avLst>
                  <a:gd name="adj1" fmla="val -6014"/>
                  <a:gd name="adj2" fmla="val 10491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44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8885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328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777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721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6656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6097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554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DE" sz="1600" b="1"/>
                  <a:t>Burst timer</a:t>
                </a:r>
              </a:p>
              <a:p>
                <a:pPr algn="ctr"/>
                <a:r>
                  <a:rPr lang="en-DE" sz="1600" b="1"/>
                  <a:t>= max time between two frames of the burst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449A4BE9-294E-B1FE-310E-6E2599BC3DD5}"/>
                </a:ext>
              </a:extLst>
            </p:cNvPr>
            <p:cNvGrpSpPr/>
            <p:nvPr/>
          </p:nvGrpSpPr>
          <p:grpSpPr>
            <a:xfrm>
              <a:off x="1082812" y="3482642"/>
              <a:ext cx="2272756" cy="881768"/>
              <a:chOff x="9509541" y="447500"/>
              <a:chExt cx="2595986" cy="576147"/>
            </a:xfrm>
          </p:grpSpPr>
          <p:sp>
            <p:nvSpPr>
              <p:cNvPr id="17" name="Callout: Line with No Border 16">
                <a:extLst>
                  <a:ext uri="{FF2B5EF4-FFF2-40B4-BE49-F238E27FC236}">
                    <a16:creationId xmlns:a16="http://schemas.microsoft.com/office/drawing/2014/main" id="{5952AF8D-5F3F-B485-6349-5412EF9AAEF8}"/>
                  </a:ext>
                </a:extLst>
              </p:cNvPr>
              <p:cNvSpPr/>
              <p:nvPr/>
            </p:nvSpPr>
            <p:spPr>
              <a:xfrm>
                <a:off x="10380113" y="525046"/>
                <a:ext cx="723900" cy="421054"/>
              </a:xfrm>
              <a:prstGeom prst="callout1">
                <a:avLst>
                  <a:gd name="adj1" fmla="val -19698"/>
                  <a:gd name="adj2" fmla="val 128989"/>
                  <a:gd name="adj3" fmla="val -97959"/>
                  <a:gd name="adj4" fmla="val 153193"/>
                </a:avLst>
              </a:prstGeom>
              <a:noFill/>
              <a:ln w="38100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18" name="Speech Bubble: Rectangle with Corners Rounded 17">
                <a:extLst>
                  <a:ext uri="{FF2B5EF4-FFF2-40B4-BE49-F238E27FC236}">
                    <a16:creationId xmlns:a16="http://schemas.microsoft.com/office/drawing/2014/main" id="{4C68B63E-6983-2FC9-10EF-4FCD86A44E53}"/>
                  </a:ext>
                </a:extLst>
              </p:cNvPr>
              <p:cNvSpPr/>
              <p:nvPr/>
            </p:nvSpPr>
            <p:spPr>
              <a:xfrm>
                <a:off x="9509541" y="447500"/>
                <a:ext cx="2595986" cy="576147"/>
              </a:xfrm>
              <a:prstGeom prst="wedgeRoundRectCallout">
                <a:avLst>
                  <a:gd name="adj1" fmla="val -6014"/>
                  <a:gd name="adj2" fmla="val 10491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44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8885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328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777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721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6656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6097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554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de-DE" sz="1600" b="1"/>
                  <a:t>LAN8670/1/2: MMD 0x1F</a:t>
                </a:r>
              </a:p>
              <a:p>
                <a:pPr algn="ctr"/>
                <a:r>
                  <a:rPr lang="de-DE" sz="1600" b="1"/>
                  <a:t>LAN8650/1: MMS4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0976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3187-7403-4E7B-8E1D-922D2ABE9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656474"/>
          </a:xfrm>
        </p:spPr>
        <p:txBody>
          <a:bodyPr/>
          <a:lstStyle/>
          <a:p>
            <a:r>
              <a:rPr lang="en-US"/>
              <a:t>M</a:t>
            </a:r>
            <a:r>
              <a:rPr lang="en-DE"/>
              <a:t>ultiple Transmit Opportunities / Node IDs Example</a:t>
            </a:r>
            <a:br>
              <a:rPr lang="de-DE"/>
            </a:br>
            <a:br>
              <a:rPr lang="de-DE"/>
            </a:br>
            <a:br>
              <a:rPr lang="de-DE"/>
            </a:br>
            <a:endParaRPr lang="de-DE"/>
          </a:p>
        </p:txBody>
      </p:sp>
      <p:sp>
        <p:nvSpPr>
          <p:cNvPr id="53" name="Content Placeholder 52">
            <a:extLst>
              <a:ext uri="{FF2B5EF4-FFF2-40B4-BE49-F238E27FC236}">
                <a16:creationId xmlns:a16="http://schemas.microsoft.com/office/drawing/2014/main" id="{00C91B16-CBEC-BA33-27F7-2BD0806292D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Slide Number Placeholder 22">
            <a:extLst>
              <a:ext uri="{FF2B5EF4-FFF2-40B4-BE49-F238E27FC236}">
                <a16:creationId xmlns:a16="http://schemas.microsoft.com/office/drawing/2014/main" id="{C1D8F01B-5BE5-9284-7AE4-5F13F9A8D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4297" y="6457950"/>
            <a:ext cx="473562" cy="365125"/>
          </a:xfrm>
        </p:spPr>
        <p:txBody>
          <a:bodyPr/>
          <a:lstStyle/>
          <a:p>
            <a:fld id="{0C16879F-7EC0-41E4-BD68-03C263C117F6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9" name="Speech Bubble: Rectangle with Corners Rounded 78">
            <a:extLst>
              <a:ext uri="{FF2B5EF4-FFF2-40B4-BE49-F238E27FC236}">
                <a16:creationId xmlns:a16="http://schemas.microsoft.com/office/drawing/2014/main" id="{06F413E8-0D14-4A14-AA4F-3D013BF10F42}"/>
              </a:ext>
            </a:extLst>
          </p:cNvPr>
          <p:cNvSpPr/>
          <p:nvPr/>
        </p:nvSpPr>
        <p:spPr>
          <a:xfrm>
            <a:off x="2659005" y="1085025"/>
            <a:ext cx="2995028" cy="894319"/>
          </a:xfrm>
          <a:prstGeom prst="wedgeRoundRectCallout">
            <a:avLst>
              <a:gd name="adj1" fmla="val 67616"/>
              <a:gd name="adj2" fmla="val 119834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N</a:t>
            </a:r>
            <a:r>
              <a:rPr lang="en-DE" sz="2000" b="1" err="1"/>
              <a:t>ode_I</a:t>
            </a:r>
            <a:r>
              <a:rPr lang="en-US" sz="2000" b="1"/>
              <a:t>d</a:t>
            </a:r>
            <a:r>
              <a:rPr lang="en-DE" sz="2000" b="1"/>
              <a:t>s #1, #3, #5</a:t>
            </a:r>
          </a:p>
          <a:p>
            <a:pPr algn="ctr"/>
            <a:r>
              <a:rPr lang="en-US" sz="2000" b="1"/>
              <a:t>A</a:t>
            </a:r>
            <a:r>
              <a:rPr lang="en-DE" sz="2000" b="1" err="1"/>
              <a:t>ssigned</a:t>
            </a:r>
            <a:r>
              <a:rPr lang="en-DE" sz="2000" b="1"/>
              <a:t> to same device</a:t>
            </a:r>
            <a:endParaRPr lang="en-US" sz="2000" b="1"/>
          </a:p>
        </p:txBody>
      </p:sp>
      <p:sp>
        <p:nvSpPr>
          <p:cNvPr id="46" name="Speech Bubble: Rectangle with Corners Rounded 45">
            <a:extLst>
              <a:ext uri="{FF2B5EF4-FFF2-40B4-BE49-F238E27FC236}">
                <a16:creationId xmlns:a16="http://schemas.microsoft.com/office/drawing/2014/main" id="{24DB3962-C6F1-4DD1-B90F-1607667C41C3}"/>
              </a:ext>
            </a:extLst>
          </p:cNvPr>
          <p:cNvSpPr/>
          <p:nvPr/>
        </p:nvSpPr>
        <p:spPr>
          <a:xfrm>
            <a:off x="4340490" y="5717861"/>
            <a:ext cx="2305593" cy="757747"/>
          </a:xfrm>
          <a:prstGeom prst="wedgeRoundRectCallout">
            <a:avLst>
              <a:gd name="adj1" fmla="val 44282"/>
              <a:gd name="adj2" fmla="val -121495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N</a:t>
            </a:r>
            <a:r>
              <a:rPr lang="en-DE" sz="2000" b="1"/>
              <a:t>o need to wait for next bus-cycle</a:t>
            </a:r>
            <a:endParaRPr lang="en-US" sz="2000" b="1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0B59B5A-C2C0-1EE4-728F-42BFF9A48717}"/>
              </a:ext>
            </a:extLst>
          </p:cNvPr>
          <p:cNvGrpSpPr/>
          <p:nvPr/>
        </p:nvGrpSpPr>
        <p:grpSpPr>
          <a:xfrm>
            <a:off x="1041283" y="4482542"/>
            <a:ext cx="10357905" cy="657933"/>
            <a:chOff x="50452" y="3912843"/>
            <a:chExt cx="12393037" cy="702265"/>
          </a:xfrm>
        </p:grpSpPr>
        <p:sp>
          <p:nvSpPr>
            <p:cNvPr id="49" name="Rechteck 3">
              <a:extLst>
                <a:ext uri="{FF2B5EF4-FFF2-40B4-BE49-F238E27FC236}">
                  <a16:creationId xmlns:a16="http://schemas.microsoft.com/office/drawing/2014/main" id="{FB1DF338-2C08-E23F-4F97-94897AA58ABD}"/>
                </a:ext>
              </a:extLst>
            </p:cNvPr>
            <p:cNvSpPr/>
            <p:nvPr/>
          </p:nvSpPr>
          <p:spPr>
            <a:xfrm>
              <a:off x="9885950" y="4014603"/>
              <a:ext cx="164324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/>
                </a:solidFill>
              </a:endParaRPr>
            </a:p>
          </p:txBody>
        </p:sp>
        <p:sp>
          <p:nvSpPr>
            <p:cNvPr id="47" name="Rechteck 3">
              <a:extLst>
                <a:ext uri="{FF2B5EF4-FFF2-40B4-BE49-F238E27FC236}">
                  <a16:creationId xmlns:a16="http://schemas.microsoft.com/office/drawing/2014/main" id="{7B7EE913-A103-1C27-42C8-FF707634909D}"/>
                </a:ext>
              </a:extLst>
            </p:cNvPr>
            <p:cNvSpPr/>
            <p:nvPr/>
          </p:nvSpPr>
          <p:spPr>
            <a:xfrm>
              <a:off x="11308998" y="4015985"/>
              <a:ext cx="164324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/>
                </a:solidFill>
              </a:endParaRPr>
            </a:p>
          </p:txBody>
        </p:sp>
        <p:sp>
          <p:nvSpPr>
            <p:cNvPr id="42" name="Rechteck 3">
              <a:extLst>
                <a:ext uri="{FF2B5EF4-FFF2-40B4-BE49-F238E27FC236}">
                  <a16:creationId xmlns:a16="http://schemas.microsoft.com/office/drawing/2014/main" id="{33DB6CC4-9992-464E-D673-61E98A864185}"/>
                </a:ext>
              </a:extLst>
            </p:cNvPr>
            <p:cNvSpPr/>
            <p:nvPr/>
          </p:nvSpPr>
          <p:spPr>
            <a:xfrm>
              <a:off x="5891279" y="4015169"/>
              <a:ext cx="164324" cy="54145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/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2E11C22-079B-468C-90F8-6E17D6D31F0D}"/>
                </a:ext>
              </a:extLst>
            </p:cNvPr>
            <p:cNvGrpSpPr/>
            <p:nvPr/>
          </p:nvGrpSpPr>
          <p:grpSpPr>
            <a:xfrm>
              <a:off x="286319" y="4015892"/>
              <a:ext cx="1007845" cy="540641"/>
              <a:chOff x="257682" y="3559211"/>
              <a:chExt cx="1269384" cy="592741"/>
            </a:xfrm>
          </p:grpSpPr>
          <p:sp>
            <p:nvSpPr>
              <p:cNvPr id="74" name="Rechteck 30">
                <a:extLst>
                  <a:ext uri="{FF2B5EF4-FFF2-40B4-BE49-F238E27FC236}">
                    <a16:creationId xmlns:a16="http://schemas.microsoft.com/office/drawing/2014/main" id="{9A60FD84-F128-4A9B-BF88-2727707B4C8E}"/>
                  </a:ext>
                </a:extLst>
              </p:cNvPr>
              <p:cNvSpPr/>
              <p:nvPr/>
            </p:nvSpPr>
            <p:spPr>
              <a:xfrm>
                <a:off x="257682" y="3559211"/>
                <a:ext cx="1074788" cy="592741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2000">
                    <a:solidFill>
                      <a:schemeClr val="tx1"/>
                    </a:solidFill>
                  </a:rPr>
                  <a:t>TO-</a:t>
                </a:r>
                <a:r>
                  <a:rPr lang="en-DE" sz="2000">
                    <a:solidFill>
                      <a:schemeClr val="tx1"/>
                    </a:solidFill>
                  </a:rPr>
                  <a:t>5</a:t>
                </a:r>
                <a:endParaRPr 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Rechteck 3">
                <a:extLst>
                  <a:ext uri="{FF2B5EF4-FFF2-40B4-BE49-F238E27FC236}">
                    <a16:creationId xmlns:a16="http://schemas.microsoft.com/office/drawing/2014/main" id="{FDADFCEC-A285-4C7D-B7F9-5BC699D6AB85}"/>
                  </a:ext>
                </a:extLst>
              </p:cNvPr>
              <p:cNvSpPr/>
              <p:nvPr/>
            </p:nvSpPr>
            <p:spPr>
              <a:xfrm>
                <a:off x="1332470" y="3559211"/>
                <a:ext cx="194596" cy="5927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</p:grpSp>
        <p:sp>
          <p:nvSpPr>
            <p:cNvPr id="30" name="Rechteck 3">
              <a:extLst>
                <a:ext uri="{FF2B5EF4-FFF2-40B4-BE49-F238E27FC236}">
                  <a16:creationId xmlns:a16="http://schemas.microsoft.com/office/drawing/2014/main" id="{C668EA41-8250-4F48-A52D-31D45FE7CB64}"/>
                </a:ext>
              </a:extLst>
            </p:cNvPr>
            <p:cNvSpPr/>
            <p:nvPr/>
          </p:nvSpPr>
          <p:spPr>
            <a:xfrm>
              <a:off x="1296706" y="4015892"/>
              <a:ext cx="334975" cy="540641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2000"/>
                <a:t>B</a:t>
              </a:r>
              <a:endParaRPr lang="en-US" sz="2000"/>
            </a:p>
          </p:txBody>
        </p:sp>
        <p:sp>
          <p:nvSpPr>
            <p:cNvPr id="34" name="Rechteck 3">
              <a:extLst>
                <a:ext uri="{FF2B5EF4-FFF2-40B4-BE49-F238E27FC236}">
                  <a16:creationId xmlns:a16="http://schemas.microsoft.com/office/drawing/2014/main" id="{4B536B78-6015-4701-AA25-E9C0B402E40E}"/>
                </a:ext>
              </a:extLst>
            </p:cNvPr>
            <p:cNvSpPr/>
            <p:nvPr/>
          </p:nvSpPr>
          <p:spPr>
            <a:xfrm>
              <a:off x="1635316" y="4015892"/>
              <a:ext cx="440383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2000">
                  <a:solidFill>
                    <a:schemeClr val="tx1"/>
                  </a:solidFill>
                </a:rPr>
                <a:t>0</a:t>
              </a:r>
              <a:endParaRPr lang="en-US" sz="2000">
                <a:solidFill>
                  <a:schemeClr val="tx1"/>
                </a:solidFill>
              </a:endParaRPr>
            </a:p>
          </p:txBody>
        </p:sp>
        <p:sp>
          <p:nvSpPr>
            <p:cNvPr id="40" name="Rechteck 3">
              <a:extLst>
                <a:ext uri="{FF2B5EF4-FFF2-40B4-BE49-F238E27FC236}">
                  <a16:creationId xmlns:a16="http://schemas.microsoft.com/office/drawing/2014/main" id="{2C388649-A237-4459-B732-6D91216C092F}"/>
                </a:ext>
              </a:extLst>
            </p:cNvPr>
            <p:cNvSpPr/>
            <p:nvPr/>
          </p:nvSpPr>
          <p:spPr>
            <a:xfrm>
              <a:off x="4413647" y="4015892"/>
              <a:ext cx="164324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/>
                </a:solidFill>
              </a:endParaRPr>
            </a:p>
          </p:txBody>
        </p:sp>
        <p:sp>
          <p:nvSpPr>
            <p:cNvPr id="38" name="Rechteck 4">
              <a:extLst>
                <a:ext uri="{FF2B5EF4-FFF2-40B4-BE49-F238E27FC236}">
                  <a16:creationId xmlns:a16="http://schemas.microsoft.com/office/drawing/2014/main" id="{5DE699F2-96E3-42EC-A189-B41C536A976A}"/>
                </a:ext>
              </a:extLst>
            </p:cNvPr>
            <p:cNvSpPr/>
            <p:nvPr/>
          </p:nvSpPr>
          <p:spPr>
            <a:xfrm>
              <a:off x="2079334" y="4015892"/>
              <a:ext cx="2339586" cy="540641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solidFill>
                    <a:schemeClr val="tx1"/>
                  </a:solidFill>
                </a:rPr>
                <a:t>TO-</a:t>
              </a:r>
              <a:r>
                <a:rPr lang="en-DE" sz="2000">
                  <a:solidFill>
                    <a:schemeClr val="tx1"/>
                  </a:solidFill>
                </a:rPr>
                <a:t>1</a:t>
              </a:r>
              <a:endParaRPr 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52" name="Rechteck 4">
              <a:extLst>
                <a:ext uri="{FF2B5EF4-FFF2-40B4-BE49-F238E27FC236}">
                  <a16:creationId xmlns:a16="http://schemas.microsoft.com/office/drawing/2014/main" id="{7F5F2CA7-6F7D-4FD0-9C9D-E340B9EAE20B}"/>
                </a:ext>
              </a:extLst>
            </p:cNvPr>
            <p:cNvSpPr/>
            <p:nvPr/>
          </p:nvSpPr>
          <p:spPr>
            <a:xfrm>
              <a:off x="10051148" y="4014231"/>
              <a:ext cx="1300556" cy="540641"/>
            </a:xfrm>
            <a:prstGeom prst="rect">
              <a:avLst/>
            </a:prstGeom>
            <a:solidFill>
              <a:schemeClr val="accent6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solidFill>
                    <a:schemeClr val="tx1"/>
                  </a:solidFill>
                </a:rPr>
                <a:t>TO-</a:t>
              </a:r>
              <a:r>
                <a:rPr lang="en-DE" sz="2000">
                  <a:solidFill>
                    <a:schemeClr val="tx1"/>
                  </a:solidFill>
                </a:rPr>
                <a:t>5</a:t>
              </a:r>
              <a:endParaRPr lang="en-US" sz="2000">
                <a:solidFill>
                  <a:schemeClr val="tx1"/>
                </a:solidFill>
              </a:endParaRPr>
            </a:p>
          </p:txBody>
        </p:sp>
        <p:sp>
          <p:nvSpPr>
            <p:cNvPr id="61" name="Rechteck 3">
              <a:extLst>
                <a:ext uri="{FF2B5EF4-FFF2-40B4-BE49-F238E27FC236}">
                  <a16:creationId xmlns:a16="http://schemas.microsoft.com/office/drawing/2014/main" id="{806C3A94-4A8E-4C28-8514-08A526EEB387}"/>
                </a:ext>
              </a:extLst>
            </p:cNvPr>
            <p:cNvSpPr/>
            <p:nvPr/>
          </p:nvSpPr>
          <p:spPr>
            <a:xfrm>
              <a:off x="11479298" y="4015892"/>
              <a:ext cx="334975" cy="540641"/>
            </a:xfrm>
            <a:prstGeom prst="rect">
              <a:avLst/>
            </a:prstGeom>
            <a:solidFill>
              <a:schemeClr val="accent2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DE" sz="2000"/>
                <a:t>B</a:t>
              </a:r>
              <a:endParaRPr lang="en-US" sz="200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195FB76-45BA-4401-90AB-7306D2F1958D}"/>
                </a:ext>
              </a:extLst>
            </p:cNvPr>
            <p:cNvGrpSpPr/>
            <p:nvPr/>
          </p:nvGrpSpPr>
          <p:grpSpPr>
            <a:xfrm>
              <a:off x="11707185" y="3912843"/>
              <a:ext cx="736304" cy="695915"/>
              <a:chOff x="10740783" y="3414290"/>
              <a:chExt cx="927377" cy="762979"/>
            </a:xfrm>
          </p:grpSpPr>
          <p:sp>
            <p:nvSpPr>
              <p:cNvPr id="28" name="Flussdiagramm: Lochstreifen 31">
                <a:extLst>
                  <a:ext uri="{FF2B5EF4-FFF2-40B4-BE49-F238E27FC236}">
                    <a16:creationId xmlns:a16="http://schemas.microsoft.com/office/drawing/2014/main" id="{0E9B595E-D751-490D-8208-1998D8DFC774}"/>
                  </a:ext>
                </a:extLst>
              </p:cNvPr>
              <p:cNvSpPr/>
              <p:nvPr/>
            </p:nvSpPr>
            <p:spPr>
              <a:xfrm rot="5400000" flipH="1">
                <a:off x="10659648" y="3557842"/>
                <a:ext cx="700562" cy="538291"/>
              </a:xfrm>
              <a:prstGeom prst="flowChartPunchedTap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29" name="Rechteck 11">
                <a:extLst>
                  <a:ext uri="{FF2B5EF4-FFF2-40B4-BE49-F238E27FC236}">
                    <a16:creationId xmlns:a16="http://schemas.microsoft.com/office/drawing/2014/main" id="{DDBA3350-3E3B-4A21-8343-060CD2E0AE7B}"/>
                  </a:ext>
                </a:extLst>
              </p:cNvPr>
              <p:cNvSpPr/>
              <p:nvPr/>
            </p:nvSpPr>
            <p:spPr>
              <a:xfrm>
                <a:off x="10872164" y="3414290"/>
                <a:ext cx="468675" cy="592741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b="1">
                    <a:solidFill>
                      <a:srgbClr val="0070C0"/>
                    </a:solidFill>
                  </a:rPr>
                  <a:t>…</a:t>
                </a:r>
              </a:p>
            </p:txBody>
          </p:sp>
          <p:sp>
            <p:nvSpPr>
              <p:cNvPr id="55" name="Textfeld 29">
                <a:extLst>
                  <a:ext uri="{FF2B5EF4-FFF2-40B4-BE49-F238E27FC236}">
                    <a16:creationId xmlns:a16="http://schemas.microsoft.com/office/drawing/2014/main" id="{381624E3-3ECD-48BC-82CE-EFBEDFC3BA3F}"/>
                  </a:ext>
                </a:extLst>
              </p:cNvPr>
              <p:cNvSpPr txBox="1"/>
              <p:nvPr/>
            </p:nvSpPr>
            <p:spPr>
              <a:xfrm>
                <a:off x="11389776" y="3465600"/>
                <a:ext cx="278384" cy="432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80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BE6F02D8-73C5-4231-8C4C-AFD89F8FC286}"/>
                </a:ext>
              </a:extLst>
            </p:cNvPr>
            <p:cNvGrpSpPr/>
            <p:nvPr/>
          </p:nvGrpSpPr>
          <p:grpSpPr>
            <a:xfrm>
              <a:off x="50452" y="3919193"/>
              <a:ext cx="775951" cy="695915"/>
              <a:chOff x="10690848" y="3414290"/>
              <a:chExt cx="977313" cy="762979"/>
            </a:xfrm>
          </p:grpSpPr>
          <p:sp>
            <p:nvSpPr>
              <p:cNvPr id="65" name="Flussdiagramm: Lochstreifen 31">
                <a:extLst>
                  <a:ext uri="{FF2B5EF4-FFF2-40B4-BE49-F238E27FC236}">
                    <a16:creationId xmlns:a16="http://schemas.microsoft.com/office/drawing/2014/main" id="{22AC9EA8-5355-435A-A6EC-9B60A0A85B81}"/>
                  </a:ext>
                </a:extLst>
              </p:cNvPr>
              <p:cNvSpPr/>
              <p:nvPr/>
            </p:nvSpPr>
            <p:spPr>
              <a:xfrm rot="5400000" flipH="1">
                <a:off x="10659648" y="3557842"/>
                <a:ext cx="700562" cy="538291"/>
              </a:xfrm>
              <a:prstGeom prst="flowChartPunchedTap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66" name="Rechteck 11">
                <a:extLst>
                  <a:ext uri="{FF2B5EF4-FFF2-40B4-BE49-F238E27FC236}">
                    <a16:creationId xmlns:a16="http://schemas.microsoft.com/office/drawing/2014/main" id="{ABCCFE16-F070-4338-8516-DC220C262177}"/>
                  </a:ext>
                </a:extLst>
              </p:cNvPr>
              <p:cNvSpPr/>
              <p:nvPr/>
            </p:nvSpPr>
            <p:spPr>
              <a:xfrm>
                <a:off x="10690848" y="3414290"/>
                <a:ext cx="468675" cy="59274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000" b="1">
                    <a:solidFill>
                      <a:srgbClr val="0070C0"/>
                    </a:solidFill>
                  </a:rPr>
                  <a:t>…</a:t>
                </a:r>
              </a:p>
            </p:txBody>
          </p:sp>
          <p:sp>
            <p:nvSpPr>
              <p:cNvPr id="67" name="Textfeld 29">
                <a:extLst>
                  <a:ext uri="{FF2B5EF4-FFF2-40B4-BE49-F238E27FC236}">
                    <a16:creationId xmlns:a16="http://schemas.microsoft.com/office/drawing/2014/main" id="{3F2A5B1B-E28D-482C-91EE-4129C1EDE5CC}"/>
                  </a:ext>
                </a:extLst>
              </p:cNvPr>
              <p:cNvSpPr txBox="1"/>
              <p:nvPr/>
            </p:nvSpPr>
            <p:spPr>
              <a:xfrm>
                <a:off x="11389776" y="3465600"/>
                <a:ext cx="278385" cy="432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800"/>
              </a:p>
            </p:txBody>
          </p:sp>
        </p:grpSp>
        <p:sp>
          <p:nvSpPr>
            <p:cNvPr id="36" name="Rechteck 4">
              <a:extLst>
                <a:ext uri="{FF2B5EF4-FFF2-40B4-BE49-F238E27FC236}">
                  <a16:creationId xmlns:a16="http://schemas.microsoft.com/office/drawing/2014/main" id="{126005F6-7546-40B4-9D30-9A20579355B1}"/>
                </a:ext>
              </a:extLst>
            </p:cNvPr>
            <p:cNvSpPr/>
            <p:nvPr/>
          </p:nvSpPr>
          <p:spPr>
            <a:xfrm>
              <a:off x="4555258" y="4015543"/>
              <a:ext cx="1360792" cy="54108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solidFill>
                    <a:schemeClr val="tx1"/>
                  </a:solidFill>
                </a:rPr>
                <a:t>TO-</a:t>
              </a:r>
              <a:r>
                <a:rPr lang="en-DE" sz="2000">
                  <a:solidFill>
                    <a:schemeClr val="tx1"/>
                  </a:solidFill>
                </a:rPr>
                <a:t>2</a:t>
              </a:r>
              <a:endParaRPr 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39" name="Rechteck 4">
              <a:extLst>
                <a:ext uri="{FF2B5EF4-FFF2-40B4-BE49-F238E27FC236}">
                  <a16:creationId xmlns:a16="http://schemas.microsoft.com/office/drawing/2014/main" id="{4024947D-837F-4AE9-AA61-D8B079A8B65B}"/>
                </a:ext>
              </a:extLst>
            </p:cNvPr>
            <p:cNvSpPr/>
            <p:nvPr/>
          </p:nvSpPr>
          <p:spPr>
            <a:xfrm>
              <a:off x="6042881" y="4015984"/>
              <a:ext cx="1989020" cy="540641"/>
            </a:xfrm>
            <a:prstGeom prst="rect">
              <a:avLst/>
            </a:prstGeom>
            <a:solidFill>
              <a:srgbClr val="FFD53A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solidFill>
                    <a:schemeClr val="tx1"/>
                  </a:solidFill>
                </a:rPr>
                <a:t>TO-</a:t>
              </a:r>
              <a:r>
                <a:rPr lang="en-DE" sz="2000">
                  <a:solidFill>
                    <a:schemeClr val="tx1"/>
                  </a:solidFill>
                </a:rPr>
                <a:t>3</a:t>
              </a:r>
              <a:endParaRPr lang="en-US" sz="2000" b="1">
                <a:solidFill>
                  <a:srgbClr val="C00000"/>
                </a:solidFill>
              </a:endParaRPr>
            </a:p>
          </p:txBody>
        </p:sp>
        <p:sp>
          <p:nvSpPr>
            <p:cNvPr id="48" name="Rechteck 3">
              <a:extLst>
                <a:ext uri="{FF2B5EF4-FFF2-40B4-BE49-F238E27FC236}">
                  <a16:creationId xmlns:a16="http://schemas.microsoft.com/office/drawing/2014/main" id="{672DAA7F-DB80-FF47-08F6-FF56FDC46D9C}"/>
                </a:ext>
              </a:extLst>
            </p:cNvPr>
            <p:cNvSpPr/>
            <p:nvPr/>
          </p:nvSpPr>
          <p:spPr>
            <a:xfrm>
              <a:off x="8017100" y="4015985"/>
              <a:ext cx="164324" cy="5406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>
                <a:solidFill>
                  <a:schemeClr val="tx1"/>
                </a:solidFill>
              </a:endParaRPr>
            </a:p>
          </p:txBody>
        </p:sp>
        <p:sp>
          <p:nvSpPr>
            <p:cNvPr id="50" name="Rechteck 4">
              <a:extLst>
                <a:ext uri="{FF2B5EF4-FFF2-40B4-BE49-F238E27FC236}">
                  <a16:creationId xmlns:a16="http://schemas.microsoft.com/office/drawing/2014/main" id="{78E709B2-22D0-D4AA-1EC4-1F5CDACCC900}"/>
                </a:ext>
              </a:extLst>
            </p:cNvPr>
            <p:cNvSpPr/>
            <p:nvPr/>
          </p:nvSpPr>
          <p:spPr>
            <a:xfrm>
              <a:off x="8142793" y="4015985"/>
              <a:ext cx="1781159" cy="540641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>
                  <a:solidFill>
                    <a:schemeClr val="tx1"/>
                  </a:solidFill>
                </a:rPr>
                <a:t>TO-</a:t>
              </a:r>
              <a:r>
                <a:rPr lang="en-DE" sz="2000">
                  <a:solidFill>
                    <a:schemeClr val="tx1"/>
                  </a:solidFill>
                </a:rPr>
                <a:t>4</a:t>
              </a:r>
              <a:endParaRPr 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AE590B8C-AE77-E10E-813D-C90D62475B7F}"/>
              </a:ext>
            </a:extLst>
          </p:cNvPr>
          <p:cNvSpPr/>
          <p:nvPr/>
        </p:nvSpPr>
        <p:spPr>
          <a:xfrm rot="9544371">
            <a:off x="4485228" y="4037160"/>
            <a:ext cx="1570898" cy="122668"/>
          </a:xfrm>
          <a:prstGeom prst="rightArrow">
            <a:avLst>
              <a:gd name="adj1" fmla="val 61906"/>
              <a:gd name="adj2" fmla="val 66725"/>
            </a:avLst>
          </a:prstGeom>
          <a:solidFill>
            <a:schemeClr val="accent6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71C2A0E-8EBF-1B22-C54D-B3FB544AE76A}"/>
              </a:ext>
            </a:extLst>
          </p:cNvPr>
          <p:cNvSpPr/>
          <p:nvPr/>
        </p:nvSpPr>
        <p:spPr>
          <a:xfrm rot="5400000">
            <a:off x="6075450" y="4008305"/>
            <a:ext cx="533043" cy="113900"/>
          </a:xfrm>
          <a:prstGeom prst="rightArrow">
            <a:avLst>
              <a:gd name="adj1" fmla="val 61906"/>
              <a:gd name="adj2" fmla="val 66725"/>
            </a:avLst>
          </a:prstGeom>
          <a:solidFill>
            <a:schemeClr val="accent6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81B7CF1-4053-1213-5A61-FB843034BF94}"/>
              </a:ext>
            </a:extLst>
          </p:cNvPr>
          <p:cNvSpPr/>
          <p:nvPr/>
        </p:nvSpPr>
        <p:spPr>
          <a:xfrm rot="577422">
            <a:off x="6660002" y="3997884"/>
            <a:ext cx="2911890" cy="133536"/>
          </a:xfrm>
          <a:prstGeom prst="rightArrow">
            <a:avLst>
              <a:gd name="adj1" fmla="val 61906"/>
              <a:gd name="adj2" fmla="val 66725"/>
            </a:avLst>
          </a:prstGeom>
          <a:solidFill>
            <a:schemeClr val="accent6"/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3288DFA-B70C-6EDA-017B-8A5886C1C443}"/>
              </a:ext>
            </a:extLst>
          </p:cNvPr>
          <p:cNvGrpSpPr/>
          <p:nvPr/>
        </p:nvGrpSpPr>
        <p:grpSpPr>
          <a:xfrm>
            <a:off x="4032406" y="2695405"/>
            <a:ext cx="3590063" cy="941239"/>
            <a:chOff x="9218446" y="2054239"/>
            <a:chExt cx="4869077" cy="106867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B6E1368-C154-B9EA-841F-B79956DCAFBC}"/>
                </a:ext>
              </a:extLst>
            </p:cNvPr>
            <p:cNvGrpSpPr/>
            <p:nvPr/>
          </p:nvGrpSpPr>
          <p:grpSpPr>
            <a:xfrm>
              <a:off x="9218446" y="2054239"/>
              <a:ext cx="4486464" cy="1068677"/>
              <a:chOff x="6658037" y="1317821"/>
              <a:chExt cx="1574433" cy="454186"/>
            </a:xfrm>
            <a:solidFill>
              <a:schemeClr val="accent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E8B0EE2-C016-BAD0-F628-043AB48CD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4196" y="1317821"/>
                <a:ext cx="1438274" cy="0"/>
              </a:xfrm>
              <a:prstGeom prst="line">
                <a:avLst/>
              </a:prstGeom>
              <a:grp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AC0FC647-D318-357D-C836-FC22207616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94196" y="1317821"/>
                <a:ext cx="0" cy="152400"/>
              </a:xfrm>
              <a:prstGeom prst="line">
                <a:avLst/>
              </a:prstGeom>
              <a:grp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35567FF-AD08-2E1F-3630-69413189D2FC}"/>
                  </a:ext>
                </a:extLst>
              </p:cNvPr>
              <p:cNvSpPr/>
              <p:nvPr/>
            </p:nvSpPr>
            <p:spPr>
              <a:xfrm>
                <a:off x="6658037" y="1467239"/>
                <a:ext cx="272318" cy="304768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55BA73F2-B874-A36B-00D3-3F7FE9984CB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5539" y="1317821"/>
                <a:ext cx="0" cy="152400"/>
              </a:xfrm>
              <a:prstGeom prst="line">
                <a:avLst/>
              </a:prstGeom>
              <a:grp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95CD262-510D-E2D4-AE49-DD86E0A01D95}"/>
                  </a:ext>
                </a:extLst>
              </p:cNvPr>
              <p:cNvSpPr/>
              <p:nvPr/>
            </p:nvSpPr>
            <p:spPr>
              <a:xfrm>
                <a:off x="7139380" y="1467239"/>
                <a:ext cx="272318" cy="304768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E3F6642-C487-55C3-DBAC-D5DFF7C7437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55392" y="1317821"/>
                <a:ext cx="0" cy="152400"/>
              </a:xfrm>
              <a:prstGeom prst="line">
                <a:avLst/>
              </a:prstGeom>
              <a:grp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CD78E168-81BD-BF9C-9B4A-EA74855DB812}"/>
                  </a:ext>
                </a:extLst>
              </p:cNvPr>
              <p:cNvSpPr/>
              <p:nvPr/>
            </p:nvSpPr>
            <p:spPr>
              <a:xfrm>
                <a:off x="7619233" y="1467239"/>
                <a:ext cx="272318" cy="304768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9E2AB8CF-3297-18C2-791D-01F57911D4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32470" y="1317821"/>
                <a:ext cx="0" cy="152400"/>
              </a:xfrm>
              <a:prstGeom prst="line">
                <a:avLst/>
              </a:prstGeom>
              <a:grpFill/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78C7B4C-CAFD-D333-931C-8B54BA52FD58}"/>
                </a:ext>
              </a:extLst>
            </p:cNvPr>
            <p:cNvSpPr/>
            <p:nvPr/>
          </p:nvSpPr>
          <p:spPr>
            <a:xfrm>
              <a:off x="13311532" y="2405812"/>
              <a:ext cx="775991" cy="717104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40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75E60AF-9041-5C55-4776-339948BACC2A}"/>
                </a:ext>
              </a:extLst>
            </p:cNvPr>
            <p:cNvSpPr txBox="1"/>
            <p:nvPr/>
          </p:nvSpPr>
          <p:spPr>
            <a:xfrm>
              <a:off x="9483127" y="2405533"/>
              <a:ext cx="250925" cy="48922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DE" sz="1400" b="1"/>
                <a:t>ID=0</a:t>
              </a:r>
              <a:endParaRPr lang="en-US" sz="1400" b="1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3F1F61-6363-0A4A-BD25-43B75853FEB8}"/>
                </a:ext>
              </a:extLst>
            </p:cNvPr>
            <p:cNvSpPr txBox="1"/>
            <p:nvPr/>
          </p:nvSpPr>
          <p:spPr>
            <a:xfrm>
              <a:off x="10852599" y="2405814"/>
              <a:ext cx="250925" cy="244614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DE" sz="1400" b="1"/>
                <a:t>ID=2</a:t>
              </a:r>
              <a:endParaRPr lang="en-US" sz="1400" b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37063B-39A1-CD84-0564-32A5442919F0}"/>
                </a:ext>
              </a:extLst>
            </p:cNvPr>
            <p:cNvSpPr txBox="1"/>
            <p:nvPr/>
          </p:nvSpPr>
          <p:spPr>
            <a:xfrm>
              <a:off x="12219977" y="2405814"/>
              <a:ext cx="250925" cy="244614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DE" sz="1400" b="1"/>
                <a:t>ID = 1</a:t>
              </a:r>
            </a:p>
            <a:p>
              <a:pPr algn="ctr"/>
              <a:r>
                <a:rPr lang="en-DE" sz="1400" b="1"/>
                <a:t>ID1 = 3</a:t>
              </a:r>
            </a:p>
            <a:p>
              <a:pPr algn="ctr"/>
              <a:r>
                <a:rPr lang="en-DE" sz="1400" b="1"/>
                <a:t>ID2 = 5</a:t>
              </a:r>
              <a:endParaRPr lang="en-US" sz="1400" b="1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0D031A5-65E4-0AD4-B097-B1E39D673DA9}"/>
                </a:ext>
              </a:extLst>
            </p:cNvPr>
            <p:cNvSpPr txBox="1"/>
            <p:nvPr/>
          </p:nvSpPr>
          <p:spPr>
            <a:xfrm>
              <a:off x="13579447" y="2405814"/>
              <a:ext cx="250925" cy="244614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DE" sz="1400" b="1"/>
                <a:t>ID=4</a:t>
              </a:r>
              <a:endParaRPr lang="en-US" sz="1400" b="1"/>
            </a:p>
          </p:txBody>
        </p:sp>
      </p:grpSp>
      <p:sp>
        <p:nvSpPr>
          <p:cNvPr id="24" name="Speech Bubble: Rectangle with Corners Rounded 23">
            <a:extLst>
              <a:ext uri="{FF2B5EF4-FFF2-40B4-BE49-F238E27FC236}">
                <a16:creationId xmlns:a16="http://schemas.microsoft.com/office/drawing/2014/main" id="{7DEC6337-3D22-03A6-22D1-5AD465E34E3D}"/>
              </a:ext>
            </a:extLst>
          </p:cNvPr>
          <p:cNvSpPr/>
          <p:nvPr/>
        </p:nvSpPr>
        <p:spPr>
          <a:xfrm>
            <a:off x="6974942" y="1085025"/>
            <a:ext cx="2554878" cy="894244"/>
          </a:xfrm>
          <a:prstGeom prst="wedgeRoundRectCallout">
            <a:avLst>
              <a:gd name="adj1" fmla="val -67743"/>
              <a:gd name="adj2" fmla="val 11657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R</a:t>
            </a:r>
            <a:r>
              <a:rPr lang="en-DE" sz="2000" b="1"/>
              <a:t>educed latency,</a:t>
            </a:r>
          </a:p>
          <a:p>
            <a:pPr algn="ctr"/>
            <a:r>
              <a:rPr lang="en-DE" sz="2000" b="1"/>
              <a:t>more bandwidth</a:t>
            </a:r>
          </a:p>
          <a:p>
            <a:pPr algn="ctr"/>
            <a:r>
              <a:rPr lang="en-DE" sz="2000" b="1"/>
              <a:t>for this node</a:t>
            </a:r>
            <a:endParaRPr lang="en-US" sz="2000" b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557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10"/>
    </mc:Choice>
    <mc:Fallback xmlns="">
      <p:transition spd="slow" advTm="342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" grpId="0" animBg="1"/>
      <p:bldP spid="7" grpId="0" animBg="1"/>
      <p:bldP spid="8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40D5C-D29B-44D6-7533-5D652877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Controlling Multiple </a:t>
            </a:r>
            <a:r>
              <a:rPr lang="de-DE" err="1"/>
              <a:t>Transmit</a:t>
            </a:r>
            <a:r>
              <a:rPr lang="de-DE"/>
              <a:t> </a:t>
            </a:r>
            <a:r>
              <a:rPr lang="de-DE" err="1"/>
              <a:t>Opportunities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E6F7F3-81FF-0214-C924-4A868C5CC84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973388" y="1677837"/>
            <a:ext cx="6162675" cy="1066800"/>
          </a:xfr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6B210C42-1A86-B886-C456-C55D424A4846}"/>
              </a:ext>
            </a:extLst>
          </p:cNvPr>
          <p:cNvGrpSpPr/>
          <p:nvPr/>
        </p:nvGrpSpPr>
        <p:grpSpPr>
          <a:xfrm>
            <a:off x="1576155" y="3144081"/>
            <a:ext cx="2272756" cy="881768"/>
            <a:chOff x="1576155" y="3144081"/>
            <a:chExt cx="2272756" cy="881768"/>
          </a:xfrm>
        </p:grpSpPr>
        <p:sp>
          <p:nvSpPr>
            <p:cNvPr id="7" name="Callout: Line with No Border 6">
              <a:extLst>
                <a:ext uri="{FF2B5EF4-FFF2-40B4-BE49-F238E27FC236}">
                  <a16:creationId xmlns:a16="http://schemas.microsoft.com/office/drawing/2014/main" id="{AAB327A1-BC03-0686-79C4-67A7457E3B57}"/>
                </a:ext>
              </a:extLst>
            </p:cNvPr>
            <p:cNvSpPr/>
            <p:nvPr/>
          </p:nvSpPr>
          <p:spPr>
            <a:xfrm>
              <a:off x="2338331" y="3262762"/>
              <a:ext cx="633766" cy="644405"/>
            </a:xfrm>
            <a:prstGeom prst="callout1">
              <a:avLst>
                <a:gd name="adj1" fmla="val -19698"/>
                <a:gd name="adj2" fmla="val 128989"/>
                <a:gd name="adj3" fmla="val -97959"/>
                <a:gd name="adj4" fmla="val 153193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094C98F3-27E1-3CA2-88D5-60894183DA24}"/>
                </a:ext>
              </a:extLst>
            </p:cNvPr>
            <p:cNvSpPr/>
            <p:nvPr/>
          </p:nvSpPr>
          <p:spPr>
            <a:xfrm>
              <a:off x="1576155" y="3144081"/>
              <a:ext cx="2272756" cy="881768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b="1"/>
                <a:t>LAN8670/1/2: MMD 0x1F</a:t>
              </a:r>
            </a:p>
            <a:p>
              <a:pPr algn="ctr"/>
              <a:r>
                <a:rPr lang="de-DE" sz="1600" b="1"/>
                <a:t>LAN8650/1: MMS4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FD553D-B2F2-4ECD-2D08-A472FF71F458}"/>
              </a:ext>
            </a:extLst>
          </p:cNvPr>
          <p:cNvGrpSpPr/>
          <p:nvPr/>
        </p:nvGrpSpPr>
        <p:grpSpPr>
          <a:xfrm>
            <a:off x="8565453" y="3466283"/>
            <a:ext cx="1953913" cy="881768"/>
            <a:chOff x="8565453" y="3466283"/>
            <a:chExt cx="1953913" cy="881768"/>
          </a:xfrm>
        </p:grpSpPr>
        <p:sp>
          <p:nvSpPr>
            <p:cNvPr id="10" name="Callout: Line with No Border 9">
              <a:extLst>
                <a:ext uri="{FF2B5EF4-FFF2-40B4-BE49-F238E27FC236}">
                  <a16:creationId xmlns:a16="http://schemas.microsoft.com/office/drawing/2014/main" id="{C6B7A9E0-93AA-3169-5DD2-FD39EED6D3B2}"/>
                </a:ext>
              </a:extLst>
            </p:cNvPr>
            <p:cNvSpPr/>
            <p:nvPr/>
          </p:nvSpPr>
          <p:spPr>
            <a:xfrm>
              <a:off x="9220704" y="3584964"/>
              <a:ext cx="544856" cy="644405"/>
            </a:xfrm>
            <a:prstGeom prst="callout1">
              <a:avLst>
                <a:gd name="adj1" fmla="val -19698"/>
                <a:gd name="adj2" fmla="val -14593"/>
                <a:gd name="adj3" fmla="val -152648"/>
                <a:gd name="adj4" fmla="val -142455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E14864C8-4B42-0FB2-946F-C437C912F5FC}"/>
                </a:ext>
              </a:extLst>
            </p:cNvPr>
            <p:cNvSpPr/>
            <p:nvPr/>
          </p:nvSpPr>
          <p:spPr>
            <a:xfrm>
              <a:off x="8565453" y="3466283"/>
              <a:ext cx="1953913" cy="881768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b="1"/>
                <a:t>Additional TOs</a:t>
              </a:r>
            </a:p>
            <a:p>
              <a:pPr algn="ctr"/>
              <a:r>
                <a:rPr lang="de-DE" sz="1600" b="1"/>
                <a:t>(</a:t>
              </a:r>
              <a:r>
                <a:rPr lang="de-DE" sz="1600" b="1" err="1"/>
                <a:t>up</a:t>
              </a:r>
              <a:r>
                <a:rPr lang="de-DE" sz="1600" b="1"/>
                <a:t> </a:t>
              </a:r>
              <a:r>
                <a:rPr lang="de-DE" sz="1600" b="1" err="1"/>
                <a:t>to</a:t>
              </a:r>
              <a:r>
                <a:rPr lang="de-DE" sz="1600" b="1"/>
                <a:t> 8)</a:t>
              </a:r>
              <a:endParaRPr lang="en-DE" sz="1600" b="1"/>
            </a:p>
          </p:txBody>
        </p:sp>
      </p:grpSp>
      <p:sp>
        <p:nvSpPr>
          <p:cNvPr id="16" name="Content Placeholder 43">
            <a:extLst>
              <a:ext uri="{FF2B5EF4-FFF2-40B4-BE49-F238E27FC236}">
                <a16:creationId xmlns:a16="http://schemas.microsoft.com/office/drawing/2014/main" id="{17E052FD-F478-CB92-762B-91753E9845DA}"/>
              </a:ext>
            </a:extLst>
          </p:cNvPr>
          <p:cNvSpPr txBox="1">
            <a:spLocks/>
          </p:cNvSpPr>
          <p:nvPr/>
        </p:nvSpPr>
        <p:spPr>
          <a:xfrm>
            <a:off x="354778" y="4628813"/>
            <a:ext cx="11400660" cy="1680224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>
            <a:lvl1pPr marL="274201" indent="-274201" algn="l" defTabSz="609443" rtl="0" eaLnBrk="1" latinLnBrk="0" hangingPunct="1">
              <a:spcBef>
                <a:spcPts val="300"/>
              </a:spcBef>
              <a:buClr>
                <a:srgbClr val="0E3689"/>
              </a:buClr>
              <a:buFont typeface="Arial"/>
              <a:buChar char="•"/>
              <a:defRPr sz="3200" b="1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28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2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This feature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unique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Microchip </a:t>
            </a:r>
            <a:r>
              <a:rPr lang="de-DE" err="1"/>
              <a:t>PHYs.</a:t>
            </a:r>
            <a:r>
              <a:rPr lang="de-DE"/>
              <a:t>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work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on a </a:t>
            </a:r>
            <a:r>
              <a:rPr lang="de-DE" err="1"/>
              <a:t>bus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any</a:t>
            </a:r>
            <a:r>
              <a:rPr lang="de-DE"/>
              <a:t> </a:t>
            </a:r>
            <a:r>
              <a:rPr lang="de-DE" err="1"/>
              <a:t>standard</a:t>
            </a:r>
            <a:r>
              <a:rPr lang="de-DE"/>
              <a:t> </a:t>
            </a:r>
            <a:r>
              <a:rPr lang="de-DE" err="1"/>
              <a:t>compliant</a:t>
            </a:r>
            <a:r>
              <a:rPr lang="de-DE"/>
              <a:t> </a:t>
            </a:r>
            <a:r>
              <a:rPr lang="de-DE" err="1"/>
              <a:t>PHYs.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122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AA6AFE-27FF-7013-E850-C7D3AD48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Decreasing</a:t>
            </a:r>
            <a:r>
              <a:rPr lang="de-DE"/>
              <a:t> Node </a:t>
            </a:r>
            <a:r>
              <a:rPr lang="de-DE" err="1"/>
              <a:t>Bandwidth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7DCF7A-C44D-2CC5-B3F0-8B4D4139C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err="1"/>
              <a:t>Transmit</a:t>
            </a:r>
            <a:r>
              <a:rPr lang="de-DE"/>
              <a:t> </a:t>
            </a:r>
            <a:r>
              <a:rPr lang="de-DE" err="1"/>
              <a:t>Opportunity</a:t>
            </a:r>
            <a:r>
              <a:rPr lang="de-DE"/>
              <a:t> </a:t>
            </a:r>
            <a:r>
              <a:rPr lang="de-DE" err="1"/>
              <a:t>Skipping</a:t>
            </a:r>
            <a:endParaRPr lang="de-DE"/>
          </a:p>
          <a:p>
            <a:r>
              <a:rPr lang="de-DE" err="1"/>
              <a:t>Credit</a:t>
            </a:r>
            <a:r>
              <a:rPr lang="de-DE"/>
              <a:t> </a:t>
            </a:r>
            <a:r>
              <a:rPr lang="de-DE" err="1"/>
              <a:t>Based</a:t>
            </a:r>
            <a:r>
              <a:rPr lang="de-DE"/>
              <a:t> </a:t>
            </a:r>
            <a:r>
              <a:rPr lang="de-DE" err="1"/>
              <a:t>Shaper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0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C1B90C-967E-E33F-72A8-59C96CCB1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Transmit</a:t>
            </a:r>
            <a:r>
              <a:rPr lang="de-DE"/>
              <a:t> </a:t>
            </a:r>
            <a:r>
              <a:rPr lang="de-DE" err="1"/>
              <a:t>Opportunity</a:t>
            </a:r>
            <a:r>
              <a:rPr lang="de-DE"/>
              <a:t> </a:t>
            </a:r>
            <a:r>
              <a:rPr lang="de-DE" err="1"/>
              <a:t>Skipping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08D204-952E-9D23-1AB4-F19209D613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err="1"/>
              <a:t>If</a:t>
            </a:r>
            <a:r>
              <a:rPr lang="de-DE"/>
              <a:t> a </a:t>
            </a:r>
            <a:r>
              <a:rPr lang="de-DE" err="1"/>
              <a:t>node</a:t>
            </a:r>
            <a:r>
              <a:rPr lang="de-DE"/>
              <a:t> </a:t>
            </a:r>
            <a:r>
              <a:rPr lang="de-DE" err="1"/>
              <a:t>does</a:t>
            </a:r>
            <a:r>
              <a:rPr lang="de-DE"/>
              <a:t> not </a:t>
            </a:r>
            <a:r>
              <a:rPr lang="de-DE" err="1"/>
              <a:t>transmit</a:t>
            </a:r>
            <a:r>
              <a:rPr lang="de-DE"/>
              <a:t> </a:t>
            </a:r>
            <a:r>
              <a:rPr lang="de-DE" err="1"/>
              <a:t>often</a:t>
            </a:r>
            <a:r>
              <a:rPr lang="de-DE"/>
              <a:t>,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configured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ignore</a:t>
            </a:r>
            <a:r>
              <a:rPr lang="de-DE"/>
              <a:t> a </a:t>
            </a:r>
            <a:r>
              <a:rPr lang="de-DE" err="1"/>
              <a:t>set</a:t>
            </a:r>
            <a:r>
              <a:rPr lang="de-DE"/>
              <a:t> </a:t>
            </a:r>
            <a:r>
              <a:rPr lang="de-DE" err="1"/>
              <a:t>number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TOs after </a:t>
            </a:r>
            <a:r>
              <a:rPr lang="de-DE" err="1"/>
              <a:t>each</a:t>
            </a:r>
            <a:r>
              <a:rPr lang="de-DE"/>
              <a:t> packet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transmits</a:t>
            </a:r>
            <a:r>
              <a:rPr lang="de-DE"/>
              <a:t>.</a:t>
            </a:r>
            <a:endParaRPr lang="en-US"/>
          </a:p>
          <a:p>
            <a:pPr lvl="1"/>
            <a:r>
              <a:rPr lang="en-US"/>
              <a:t>This is only useful it a low bandwidth node has bursty, non-time critical data.</a:t>
            </a:r>
          </a:p>
          <a:p>
            <a:pPr lvl="1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43020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977E-F939-72B0-8C8E-6578CAD47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Controlling </a:t>
            </a:r>
            <a:r>
              <a:rPr lang="de-DE" err="1"/>
              <a:t>Transmit</a:t>
            </a:r>
            <a:r>
              <a:rPr lang="de-DE"/>
              <a:t> </a:t>
            </a:r>
            <a:r>
              <a:rPr lang="de-DE" err="1"/>
              <a:t>Opportunity</a:t>
            </a:r>
            <a:r>
              <a:rPr lang="de-DE"/>
              <a:t> </a:t>
            </a:r>
            <a:r>
              <a:rPr lang="de-DE" err="1"/>
              <a:t>Skipping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75059-987D-3715-1912-39F18ACB078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3859078"/>
            <a:ext cx="11400660" cy="2449958"/>
          </a:xfrm>
        </p:spPr>
        <p:txBody>
          <a:bodyPr/>
          <a:lstStyle/>
          <a:p>
            <a:r>
              <a:rPr lang="de-DE" err="1"/>
              <a:t>Configure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number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TOs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skip</a:t>
            </a:r>
            <a:r>
              <a:rPr lang="de-DE"/>
              <a:t> </a:t>
            </a:r>
            <a:r>
              <a:rPr lang="de-DE" err="1"/>
              <a:t>before</a:t>
            </a:r>
            <a:r>
              <a:rPr lang="de-DE"/>
              <a:t> </a:t>
            </a:r>
            <a:r>
              <a:rPr lang="de-DE" err="1"/>
              <a:t>enabling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mode</a:t>
            </a:r>
            <a:endParaRPr lang="de-DE"/>
          </a:p>
          <a:p>
            <a:r>
              <a:rPr lang="de-DE"/>
              <a:t>This feature </a:t>
            </a:r>
            <a:r>
              <a:rPr lang="de-DE" err="1"/>
              <a:t>is</a:t>
            </a:r>
            <a:r>
              <a:rPr lang="de-DE"/>
              <a:t> not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standard</a:t>
            </a:r>
            <a:r>
              <a:rPr lang="de-DE"/>
              <a:t> but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found</a:t>
            </a:r>
            <a:r>
              <a:rPr lang="de-DE"/>
              <a:t> in </a:t>
            </a:r>
            <a:r>
              <a:rPr lang="de-DE" err="1"/>
              <a:t>other</a:t>
            </a:r>
            <a:r>
              <a:rPr lang="de-DE"/>
              <a:t> PHYs (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control</a:t>
            </a:r>
            <a:r>
              <a:rPr lang="de-DE"/>
              <a:t> </a:t>
            </a:r>
            <a:r>
              <a:rPr lang="de-DE" err="1"/>
              <a:t>registers</a:t>
            </a:r>
            <a:r>
              <a:rPr lang="de-DE"/>
              <a:t> will </a:t>
            </a:r>
            <a:r>
              <a:rPr lang="de-DE" err="1"/>
              <a:t>be</a:t>
            </a:r>
            <a:r>
              <a:rPr lang="de-DE"/>
              <a:t> different).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work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on a </a:t>
            </a:r>
            <a:r>
              <a:rPr lang="de-DE" err="1"/>
              <a:t>bus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any</a:t>
            </a:r>
            <a:r>
              <a:rPr lang="de-DE"/>
              <a:t> </a:t>
            </a:r>
            <a:r>
              <a:rPr lang="de-DE" err="1"/>
              <a:t>standard</a:t>
            </a:r>
            <a:r>
              <a:rPr lang="de-DE"/>
              <a:t> </a:t>
            </a:r>
            <a:r>
              <a:rPr lang="de-DE" err="1"/>
              <a:t>compliant</a:t>
            </a:r>
            <a:r>
              <a:rPr lang="de-DE"/>
              <a:t> </a:t>
            </a:r>
            <a:r>
              <a:rPr lang="de-DE" err="1"/>
              <a:t>PHYs.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C4763F-C951-2CC6-3E3D-766FD9D62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987" y="1644634"/>
            <a:ext cx="8630850" cy="777240"/>
          </a:xfrm>
          <a:prstGeom prst="rect">
            <a:avLst/>
          </a:prstGeom>
        </p:spPr>
      </p:pic>
      <p:sp>
        <p:nvSpPr>
          <p:cNvPr id="14" name="Callout: Line with No Border 13">
            <a:extLst>
              <a:ext uri="{FF2B5EF4-FFF2-40B4-BE49-F238E27FC236}">
                <a16:creationId xmlns:a16="http://schemas.microsoft.com/office/drawing/2014/main" id="{7F67698A-4A22-98F5-D1D5-EDF4441D5DFD}"/>
              </a:ext>
            </a:extLst>
          </p:cNvPr>
          <p:cNvSpPr/>
          <p:nvPr/>
        </p:nvSpPr>
        <p:spPr>
          <a:xfrm>
            <a:off x="843249" y="2643034"/>
            <a:ext cx="633766" cy="644405"/>
          </a:xfrm>
          <a:prstGeom prst="callout1">
            <a:avLst>
              <a:gd name="adj1" fmla="val -458"/>
              <a:gd name="adj2" fmla="val 143662"/>
              <a:gd name="adj3" fmla="val -97959"/>
              <a:gd name="adj4" fmla="val 153193"/>
            </a:avLst>
          </a:prstGeom>
          <a:noFill/>
          <a:ln w="38100" cap="rnd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b="1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09FBE5EF-233F-9928-9FC6-EEC9A78292A2}"/>
              </a:ext>
            </a:extLst>
          </p:cNvPr>
          <p:cNvSpPr/>
          <p:nvPr/>
        </p:nvSpPr>
        <p:spPr>
          <a:xfrm>
            <a:off x="561524" y="2663840"/>
            <a:ext cx="2272756" cy="881768"/>
          </a:xfrm>
          <a:prstGeom prst="wedgeRoundRectCallout">
            <a:avLst>
              <a:gd name="adj1" fmla="val -6014"/>
              <a:gd name="adj2" fmla="val 1049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b="1"/>
              <a:t>LAN8670/1/2: MMD 0x1F</a:t>
            </a:r>
          </a:p>
          <a:p>
            <a:pPr algn="ctr"/>
            <a:r>
              <a:rPr lang="de-DE" sz="1600" b="1"/>
              <a:t>LAN8650/1: MMS4</a:t>
            </a:r>
          </a:p>
        </p:txBody>
      </p:sp>
      <p:sp>
        <p:nvSpPr>
          <p:cNvPr id="22" name="Callout: Line with No Border 21">
            <a:extLst>
              <a:ext uri="{FF2B5EF4-FFF2-40B4-BE49-F238E27FC236}">
                <a16:creationId xmlns:a16="http://schemas.microsoft.com/office/drawing/2014/main" id="{0DCE5E37-5D1E-4E27-B37F-DF3FF4BB1C18}"/>
              </a:ext>
            </a:extLst>
          </p:cNvPr>
          <p:cNvSpPr/>
          <p:nvPr/>
        </p:nvSpPr>
        <p:spPr>
          <a:xfrm>
            <a:off x="8496044" y="3262761"/>
            <a:ext cx="544856" cy="644405"/>
          </a:xfrm>
          <a:prstGeom prst="callout1">
            <a:avLst>
              <a:gd name="adj1" fmla="val -19698"/>
              <a:gd name="adj2" fmla="val -14593"/>
              <a:gd name="adj3" fmla="val -152648"/>
              <a:gd name="adj4" fmla="val -142455"/>
            </a:avLst>
          </a:prstGeom>
          <a:noFill/>
          <a:ln w="38100" cap="rnd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b="1"/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796EE943-68EF-07C4-44B2-085C4A314E03}"/>
              </a:ext>
            </a:extLst>
          </p:cNvPr>
          <p:cNvSpPr/>
          <p:nvPr/>
        </p:nvSpPr>
        <p:spPr>
          <a:xfrm>
            <a:off x="7519087" y="2846555"/>
            <a:ext cx="1953913" cy="881768"/>
          </a:xfrm>
          <a:prstGeom prst="wedgeRoundRectCallout">
            <a:avLst>
              <a:gd name="adj1" fmla="val -6014"/>
              <a:gd name="adj2" fmla="val 1049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b="1" err="1"/>
              <a:t>Number</a:t>
            </a:r>
            <a:r>
              <a:rPr lang="de-DE" sz="1600" b="1"/>
              <a:t> </a:t>
            </a:r>
            <a:r>
              <a:rPr lang="de-DE" sz="1600" b="1" err="1"/>
              <a:t>of</a:t>
            </a:r>
            <a:r>
              <a:rPr lang="de-DE" sz="1600" b="1"/>
              <a:t> TOs</a:t>
            </a:r>
          </a:p>
          <a:p>
            <a:pPr algn="ctr"/>
            <a:r>
              <a:rPr lang="de-DE" sz="1600" b="1" err="1"/>
              <a:t>to</a:t>
            </a:r>
            <a:r>
              <a:rPr lang="de-DE" sz="1600" b="1"/>
              <a:t> Skip</a:t>
            </a:r>
            <a:endParaRPr lang="en-DE" sz="1600" b="1"/>
          </a:p>
        </p:txBody>
      </p:sp>
      <p:sp>
        <p:nvSpPr>
          <p:cNvPr id="29" name="Callout: Line with No Border 28">
            <a:extLst>
              <a:ext uri="{FF2B5EF4-FFF2-40B4-BE49-F238E27FC236}">
                <a16:creationId xmlns:a16="http://schemas.microsoft.com/office/drawing/2014/main" id="{428E0781-AE52-7939-89E2-523757E6A41E}"/>
              </a:ext>
            </a:extLst>
          </p:cNvPr>
          <p:cNvSpPr/>
          <p:nvPr/>
        </p:nvSpPr>
        <p:spPr>
          <a:xfrm>
            <a:off x="10209438" y="2901203"/>
            <a:ext cx="544856" cy="644405"/>
          </a:xfrm>
          <a:prstGeom prst="callout1">
            <a:avLst>
              <a:gd name="adj1" fmla="val -19698"/>
              <a:gd name="adj2" fmla="val -14593"/>
              <a:gd name="adj3" fmla="val -152648"/>
              <a:gd name="adj4" fmla="val -142455"/>
            </a:avLst>
          </a:prstGeom>
          <a:noFill/>
          <a:ln w="38100" cap="rnd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b="1"/>
          </a:p>
        </p:txBody>
      </p:sp>
      <p:sp>
        <p:nvSpPr>
          <p:cNvPr id="30" name="Speech Bubble: Rectangle with Corners Rounded 29">
            <a:extLst>
              <a:ext uri="{FF2B5EF4-FFF2-40B4-BE49-F238E27FC236}">
                <a16:creationId xmlns:a16="http://schemas.microsoft.com/office/drawing/2014/main" id="{85FFA5DD-C5FB-BBCB-EA06-3E1B0351145C}"/>
              </a:ext>
            </a:extLst>
          </p:cNvPr>
          <p:cNvSpPr/>
          <p:nvPr/>
        </p:nvSpPr>
        <p:spPr>
          <a:xfrm>
            <a:off x="9625400" y="2588398"/>
            <a:ext cx="1953913" cy="881768"/>
          </a:xfrm>
          <a:prstGeom prst="wedgeRoundRectCallout">
            <a:avLst>
              <a:gd name="adj1" fmla="val -6014"/>
              <a:gd name="adj2" fmla="val 1049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09443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218885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828328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437771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3047213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656656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4266097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875541" algn="l" defTabSz="609443" rtl="0" eaLnBrk="1" latinLnBrk="0" hangingPunct="1"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1600" b="1"/>
              <a:t>TO </a:t>
            </a:r>
            <a:r>
              <a:rPr lang="de-DE" sz="1600" b="1" err="1"/>
              <a:t>Skipping</a:t>
            </a:r>
            <a:endParaRPr lang="de-DE" sz="1600" b="1"/>
          </a:p>
          <a:p>
            <a:pPr algn="ctr"/>
            <a:r>
              <a:rPr lang="de-DE" sz="1600" b="1" err="1"/>
              <a:t>Enable</a:t>
            </a:r>
            <a:endParaRPr lang="de-DE" sz="1600" b="1"/>
          </a:p>
        </p:txBody>
      </p:sp>
    </p:spTree>
    <p:extLst>
      <p:ext uri="{BB962C8B-B14F-4D97-AF65-F5344CB8AC3E}">
        <p14:creationId xmlns:p14="http://schemas.microsoft.com/office/powerpoint/2010/main" val="3708852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B308-E3CE-A704-679F-8F719E29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</p:spPr>
        <p:txBody>
          <a:bodyPr/>
          <a:lstStyle/>
          <a:p>
            <a:r>
              <a:rPr lang="en-DE"/>
              <a:t>CBS – Credit Based Traffic Shaping</a:t>
            </a:r>
            <a:br>
              <a:rPr lang="en-DE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37784-369F-CBA9-D02B-8B71B50E74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</p:spPr>
        <p:txBody>
          <a:bodyPr>
            <a:normAutofit/>
          </a:bodyPr>
          <a:lstStyle/>
          <a:p>
            <a:r>
              <a:rPr lang="en-US"/>
              <a:t>Provides a node a certain bandwidth based on credits.</a:t>
            </a:r>
          </a:p>
          <a:p>
            <a:pPr lvl="1"/>
            <a:r>
              <a:rPr lang="en-US"/>
              <a:t>Prevents a “best-effort-node” from flooding the network</a:t>
            </a:r>
          </a:p>
          <a:p>
            <a:pPr lvl="1"/>
            <a:r>
              <a:rPr lang="en-US"/>
              <a:t>This is NOT MAC-based traffic shaping – there are no queues</a:t>
            </a:r>
            <a:endParaRPr lang="en-DE"/>
          </a:p>
          <a:p>
            <a:r>
              <a:rPr lang="en-US"/>
              <a:t>Bandwidth distribution independent </a:t>
            </a:r>
            <a:r>
              <a:rPr lang="en-DE"/>
              <a:t>of</a:t>
            </a:r>
            <a:r>
              <a:rPr lang="en-US"/>
              <a:t> Ethernet frame length</a:t>
            </a:r>
            <a:endParaRPr lang="en-DE"/>
          </a:p>
          <a:p>
            <a:r>
              <a:rPr lang="en-DE"/>
              <a:t>HW-based: </a:t>
            </a:r>
            <a:r>
              <a:rPr lang="en-US"/>
              <a:t>Application </a:t>
            </a:r>
            <a:r>
              <a:rPr lang="en-DE"/>
              <a:t>only needs to </a:t>
            </a:r>
            <a:r>
              <a:rPr lang="en-US" err="1"/>
              <a:t>configu</a:t>
            </a:r>
            <a:r>
              <a:rPr lang="en-DE"/>
              <a:t>re</a:t>
            </a:r>
          </a:p>
          <a:p>
            <a:r>
              <a:rPr lang="en-DE"/>
              <a:t>Do not mix with PLCA Burst Mode </a:t>
            </a:r>
            <a:endParaRPr lang="de-DE"/>
          </a:p>
          <a:p>
            <a:r>
              <a:rPr lang="de-DE" err="1"/>
              <a:t>Does</a:t>
            </a:r>
            <a:r>
              <a:rPr lang="de-DE"/>
              <a:t> not </a:t>
            </a:r>
            <a:r>
              <a:rPr lang="de-DE" err="1"/>
              <a:t>require</a:t>
            </a:r>
            <a:r>
              <a:rPr lang="de-DE"/>
              <a:t> PLCA (</a:t>
            </a:r>
            <a:r>
              <a:rPr lang="de-DE" err="1"/>
              <a:t>functions</a:t>
            </a:r>
            <a:r>
              <a:rPr lang="de-DE"/>
              <a:t> in CSMA/CD </a:t>
            </a:r>
            <a:r>
              <a:rPr lang="de-DE" err="1"/>
              <a:t>mode</a:t>
            </a:r>
            <a:r>
              <a:rPr lang="de-DE"/>
              <a:t>)</a:t>
            </a:r>
          </a:p>
          <a:p>
            <a:r>
              <a:rPr lang="de-DE"/>
              <a:t>This feature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unique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Microchip </a:t>
            </a:r>
            <a:r>
              <a:rPr lang="de-DE" err="1"/>
              <a:t>PHYs.</a:t>
            </a:r>
            <a:r>
              <a:rPr lang="de-DE"/>
              <a:t>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work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on a </a:t>
            </a:r>
            <a:r>
              <a:rPr lang="de-DE" err="1"/>
              <a:t>bus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any</a:t>
            </a:r>
            <a:r>
              <a:rPr lang="de-DE"/>
              <a:t> </a:t>
            </a:r>
            <a:r>
              <a:rPr lang="de-DE" err="1"/>
              <a:t>standard</a:t>
            </a:r>
            <a:r>
              <a:rPr lang="de-DE"/>
              <a:t> </a:t>
            </a:r>
            <a:r>
              <a:rPr lang="de-DE" err="1"/>
              <a:t>compliant</a:t>
            </a:r>
            <a:r>
              <a:rPr lang="de-DE"/>
              <a:t> </a:t>
            </a:r>
            <a:r>
              <a:rPr lang="de-DE" err="1"/>
              <a:t>PHYs.</a:t>
            </a:r>
            <a:endParaRPr lang="en-US"/>
          </a:p>
          <a:p>
            <a:endParaRPr lang="en-DE"/>
          </a:p>
          <a:p>
            <a:endParaRPr lang="en-US"/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87FF3BC4-B56A-1613-26D8-8C42C6D25AC8}"/>
              </a:ext>
            </a:extLst>
          </p:cNvPr>
          <p:cNvSpPr/>
          <p:nvPr/>
        </p:nvSpPr>
        <p:spPr>
          <a:xfrm>
            <a:off x="8867995" y="2918278"/>
            <a:ext cx="1706252" cy="1021444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r>
              <a:rPr lang="en-US" sz="1800" b="1">
                <a:solidFill>
                  <a:srgbClr val="FFFFFF"/>
                </a:solidFill>
              </a:rPr>
              <a:t>Enables </a:t>
            </a:r>
            <a:endParaRPr lang="en-DE" sz="1800" b="1">
              <a:solidFill>
                <a:srgbClr val="FFFFFF"/>
              </a:solidFill>
            </a:endParaRPr>
          </a:p>
          <a:p>
            <a:pPr lvl="0" algn="ctr">
              <a:defRPr/>
            </a:pPr>
            <a:r>
              <a:rPr lang="en-DE" sz="1800" b="1">
                <a:solidFill>
                  <a:srgbClr val="FFFFFF"/>
                </a:solidFill>
              </a:rPr>
              <a:t>t</a:t>
            </a:r>
            <a:r>
              <a:rPr lang="en-US" sz="1800" b="1" err="1">
                <a:solidFill>
                  <a:srgbClr val="FFFFFF"/>
                </a:solidFill>
              </a:rPr>
              <a:t>raffic</a:t>
            </a:r>
            <a:r>
              <a:rPr lang="en-US" sz="1800" b="1">
                <a:solidFill>
                  <a:srgbClr val="FFFFFF"/>
                </a:solidFill>
              </a:rPr>
              <a:t> </a:t>
            </a:r>
            <a:r>
              <a:rPr lang="en-DE" sz="1800" b="1">
                <a:solidFill>
                  <a:srgbClr val="FFFFFF"/>
                </a:solidFill>
              </a:rPr>
              <a:t>s</a:t>
            </a:r>
            <a:r>
              <a:rPr lang="en-US" sz="1800" b="1" err="1">
                <a:solidFill>
                  <a:srgbClr val="FFFFFF"/>
                </a:solidFill>
              </a:rPr>
              <a:t>haping</a:t>
            </a:r>
            <a:r>
              <a:rPr lang="en-US" sz="1800" b="1">
                <a:solidFill>
                  <a:srgbClr val="FFFFFF"/>
                </a:solidFill>
              </a:rPr>
              <a:t> in small MCUs</a:t>
            </a:r>
          </a:p>
        </p:txBody>
      </p:sp>
    </p:spTree>
    <p:extLst>
      <p:ext uri="{BB962C8B-B14F-4D97-AF65-F5344CB8AC3E}">
        <p14:creationId xmlns:p14="http://schemas.microsoft.com/office/powerpoint/2010/main" val="2324204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0D4B490-9076-32BA-497E-971415587182}"/>
              </a:ext>
            </a:extLst>
          </p:cNvPr>
          <p:cNvSpPr txBox="1">
            <a:spLocks/>
          </p:cNvSpPr>
          <p:nvPr/>
        </p:nvSpPr>
        <p:spPr>
          <a:xfrm>
            <a:off x="118117" y="697193"/>
            <a:ext cx="2740171" cy="3224887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0" indent="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Tx/>
              <a:buNone/>
              <a:defRPr sz="2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6072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Credit Based Traffic Shaping</a:t>
            </a:r>
          </a:p>
          <a:p>
            <a:pPr algn="ctr">
              <a:buClr>
                <a:srgbClr val="1D9CE5"/>
              </a:buClr>
            </a:pPr>
            <a:endParaRPr lang="en-DE" sz="3200">
              <a:solidFill>
                <a:srgbClr val="FFFFFF"/>
              </a:solidFill>
            </a:endParaRP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LAN8670/1/2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&amp;</a:t>
            </a:r>
          </a:p>
          <a:p>
            <a:pPr algn="ctr">
              <a:buClr>
                <a:srgbClr val="1D9CE5"/>
              </a:buClr>
            </a:pPr>
            <a:r>
              <a:rPr lang="en-DE" sz="3200">
                <a:solidFill>
                  <a:srgbClr val="FFFFFF"/>
                </a:solidFill>
              </a:rPr>
              <a:t>LAN8650/1</a:t>
            </a:r>
            <a:endParaRPr lang="en-US" sz="32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83A6F-FA8C-7248-A973-A36B929FF2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13" r="4860"/>
          <a:stretch/>
        </p:blipFill>
        <p:spPr>
          <a:xfrm>
            <a:off x="4240122" y="1720434"/>
            <a:ext cx="6205362" cy="34171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BB9596B7-36EA-A4D3-7BE0-6404E32F02D5}"/>
              </a:ext>
            </a:extLst>
          </p:cNvPr>
          <p:cNvGrpSpPr/>
          <p:nvPr/>
        </p:nvGrpSpPr>
        <p:grpSpPr>
          <a:xfrm>
            <a:off x="1791827" y="423148"/>
            <a:ext cx="2377779" cy="881768"/>
            <a:chOff x="9509541" y="447500"/>
            <a:chExt cx="2595986" cy="576147"/>
          </a:xfrm>
        </p:grpSpPr>
        <p:sp>
          <p:nvSpPr>
            <p:cNvPr id="18" name="Callout: Line with No Border 17">
              <a:extLst>
                <a:ext uri="{FF2B5EF4-FFF2-40B4-BE49-F238E27FC236}">
                  <a16:creationId xmlns:a16="http://schemas.microsoft.com/office/drawing/2014/main" id="{5F0EB66E-39CF-3BE3-CAAC-FBE0D496A362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104875"/>
                <a:gd name="adj2" fmla="val 167789"/>
                <a:gd name="adj3" fmla="val 216277"/>
                <a:gd name="adj4" fmla="val 303150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9" name="Speech Bubble: Rectangle with Corners Rounded 18">
              <a:extLst>
                <a:ext uri="{FF2B5EF4-FFF2-40B4-BE49-F238E27FC236}">
                  <a16:creationId xmlns:a16="http://schemas.microsoft.com/office/drawing/2014/main" id="{28F24F30-8575-222B-C105-A39E4895F465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/>
                <a:t>No more increment when</a:t>
              </a:r>
            </a:p>
            <a:p>
              <a:pPr algn="ctr"/>
              <a:r>
                <a:rPr lang="en-DE" sz="1600"/>
                <a:t> </a:t>
              </a:r>
              <a:r>
                <a:rPr lang="en-DE" sz="1600" b="1"/>
                <a:t>credits</a:t>
              </a:r>
              <a:r>
                <a:rPr lang="en-DE" sz="1600"/>
                <a:t> &gt; </a:t>
              </a:r>
              <a:r>
                <a:rPr lang="en-DE" sz="1600" b="1"/>
                <a:t>TOPLIMIT</a:t>
              </a:r>
            </a:p>
            <a:p>
              <a:pPr algn="ctr"/>
              <a:r>
                <a:rPr lang="en-DE" sz="1600"/>
                <a:t>prevents bursts of packets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5CDF9F9-6904-5433-D48B-8F82D931CC32}"/>
              </a:ext>
            </a:extLst>
          </p:cNvPr>
          <p:cNvGrpSpPr/>
          <p:nvPr/>
        </p:nvGrpSpPr>
        <p:grpSpPr>
          <a:xfrm>
            <a:off x="1801374" y="1875759"/>
            <a:ext cx="2033081" cy="881768"/>
            <a:chOff x="9509541" y="447500"/>
            <a:chExt cx="2595986" cy="576147"/>
          </a:xfrm>
        </p:grpSpPr>
        <p:sp>
          <p:nvSpPr>
            <p:cNvPr id="21" name="Callout: Line with No Border 20">
              <a:extLst>
                <a:ext uri="{FF2B5EF4-FFF2-40B4-BE49-F238E27FC236}">
                  <a16:creationId xmlns:a16="http://schemas.microsoft.com/office/drawing/2014/main" id="{81D86EA4-894F-E96C-0A67-B59AEEF4DCDA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51251"/>
                <a:gd name="adj2" fmla="val 222771"/>
                <a:gd name="adj3" fmla="val 114107"/>
                <a:gd name="adj4" fmla="val 31892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2" name="Speech Bubble: Rectangle with Corners Rounded 21">
              <a:extLst>
                <a:ext uri="{FF2B5EF4-FFF2-40B4-BE49-F238E27FC236}">
                  <a16:creationId xmlns:a16="http://schemas.microsoft.com/office/drawing/2014/main" id="{E09D6D8B-2A92-F4FF-B5E9-B1B0D687E260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/>
                <a:t>PHY starts TX only if </a:t>
              </a:r>
            </a:p>
            <a:p>
              <a:pPr algn="ctr"/>
              <a:r>
                <a:rPr lang="en-DE" sz="1600" b="1"/>
                <a:t>credits</a:t>
              </a:r>
              <a:r>
                <a:rPr lang="en-DE" sz="1600"/>
                <a:t> &gt; </a:t>
              </a:r>
              <a:r>
                <a:rPr lang="en-DE" sz="1600" b="1"/>
                <a:t>STARTTHR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178EE9-9A41-1F51-6686-B25592323525}"/>
              </a:ext>
            </a:extLst>
          </p:cNvPr>
          <p:cNvGrpSpPr/>
          <p:nvPr/>
        </p:nvGrpSpPr>
        <p:grpSpPr>
          <a:xfrm>
            <a:off x="1801374" y="3001964"/>
            <a:ext cx="2033081" cy="881768"/>
            <a:chOff x="9509541" y="447500"/>
            <a:chExt cx="2595986" cy="576147"/>
          </a:xfrm>
        </p:grpSpPr>
        <p:sp>
          <p:nvSpPr>
            <p:cNvPr id="24" name="Callout: Line with No Border 23">
              <a:extLst>
                <a:ext uri="{FF2B5EF4-FFF2-40B4-BE49-F238E27FC236}">
                  <a16:creationId xmlns:a16="http://schemas.microsoft.com/office/drawing/2014/main" id="{7D310D62-38E9-469F-5F95-7E1F7074B9A8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51251"/>
                <a:gd name="adj2" fmla="val 222771"/>
                <a:gd name="adj3" fmla="val 77014"/>
                <a:gd name="adj4" fmla="val 320254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5" name="Speech Bubble: Rectangle with Corners Rounded 24">
              <a:extLst>
                <a:ext uri="{FF2B5EF4-FFF2-40B4-BE49-F238E27FC236}">
                  <a16:creationId xmlns:a16="http://schemas.microsoft.com/office/drawing/2014/main" id="{2879F82B-F029-8D47-6317-57909830C164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/>
                <a:t>PHY stops TX when </a:t>
              </a:r>
            </a:p>
            <a:p>
              <a:pPr algn="ctr"/>
              <a:r>
                <a:rPr lang="en-DE" sz="1600" b="1"/>
                <a:t>credits</a:t>
              </a:r>
              <a:r>
                <a:rPr lang="en-DE" sz="1600"/>
                <a:t> &lt; </a:t>
              </a:r>
              <a:r>
                <a:rPr lang="en-DE" sz="1600" b="1"/>
                <a:t>STOPTHR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E8561FD-3849-7CAB-1C2A-DC97A31D576D}"/>
              </a:ext>
            </a:extLst>
          </p:cNvPr>
          <p:cNvGrpSpPr/>
          <p:nvPr/>
        </p:nvGrpSpPr>
        <p:grpSpPr>
          <a:xfrm>
            <a:off x="1801374" y="4128168"/>
            <a:ext cx="2033081" cy="881768"/>
            <a:chOff x="9509541" y="447500"/>
            <a:chExt cx="2595986" cy="576147"/>
          </a:xfrm>
        </p:grpSpPr>
        <p:sp>
          <p:nvSpPr>
            <p:cNvPr id="27" name="Callout: Line with No Border 26">
              <a:extLst>
                <a:ext uri="{FF2B5EF4-FFF2-40B4-BE49-F238E27FC236}">
                  <a16:creationId xmlns:a16="http://schemas.microsoft.com/office/drawing/2014/main" id="{FF9CAD3A-ADAF-E66C-1E91-C83276A2425C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51251"/>
                <a:gd name="adj2" fmla="val 222771"/>
                <a:gd name="adj3" fmla="val -64420"/>
                <a:gd name="adj4" fmla="val 477079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8" name="Speech Bubble: Rectangle with Corners Rounded 27">
              <a:extLst>
                <a:ext uri="{FF2B5EF4-FFF2-40B4-BE49-F238E27FC236}">
                  <a16:creationId xmlns:a16="http://schemas.microsoft.com/office/drawing/2014/main" id="{43EA5AC0-2065-FF66-479B-030657C670CF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/>
                <a:t>Packet sent completely, </a:t>
              </a:r>
            </a:p>
            <a:p>
              <a:pPr algn="ctr"/>
              <a:r>
                <a:rPr lang="en-DE" sz="1600"/>
                <a:t>even when </a:t>
              </a:r>
            </a:p>
            <a:p>
              <a:pPr algn="ctr"/>
              <a:r>
                <a:rPr lang="en-DE" sz="1600" b="1"/>
                <a:t>credits</a:t>
              </a:r>
              <a:r>
                <a:rPr lang="en-DE" sz="1600"/>
                <a:t> &lt; </a:t>
              </a:r>
              <a:r>
                <a:rPr lang="en-DE" sz="1600" b="1"/>
                <a:t>STOPTHR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E802DBC-E2BA-5898-D470-D3C967A61E4E}"/>
              </a:ext>
            </a:extLst>
          </p:cNvPr>
          <p:cNvGrpSpPr/>
          <p:nvPr/>
        </p:nvGrpSpPr>
        <p:grpSpPr>
          <a:xfrm>
            <a:off x="6777447" y="5496564"/>
            <a:ext cx="2520374" cy="881768"/>
            <a:chOff x="9509541" y="447500"/>
            <a:chExt cx="2595986" cy="576147"/>
          </a:xfrm>
        </p:grpSpPr>
        <p:sp>
          <p:nvSpPr>
            <p:cNvPr id="31" name="Callout: Line with No Border 30">
              <a:extLst>
                <a:ext uri="{FF2B5EF4-FFF2-40B4-BE49-F238E27FC236}">
                  <a16:creationId xmlns:a16="http://schemas.microsoft.com/office/drawing/2014/main" id="{D95824AD-AE94-5571-8FD7-651D644D78C4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-17004"/>
                <a:gd name="adj2" fmla="val 61374"/>
                <a:gd name="adj3" fmla="val -170200"/>
                <a:gd name="adj4" fmla="val 58342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2" name="Speech Bubble: Rectangle with Corners Rounded 31">
              <a:extLst>
                <a:ext uri="{FF2B5EF4-FFF2-40B4-BE49-F238E27FC236}">
                  <a16:creationId xmlns:a16="http://schemas.microsoft.com/office/drawing/2014/main" id="{FA6062E1-5341-B7E8-9F38-524483309692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/>
                <a:t>No more decrement when</a:t>
              </a:r>
            </a:p>
            <a:p>
              <a:pPr algn="ctr"/>
              <a:r>
                <a:rPr lang="en-DE" sz="1600"/>
                <a:t> </a:t>
              </a:r>
              <a:r>
                <a:rPr lang="en-DE" sz="1600" b="1"/>
                <a:t>credits</a:t>
              </a:r>
              <a:r>
                <a:rPr lang="en-DE" sz="1600"/>
                <a:t> &lt; </a:t>
              </a:r>
              <a:r>
                <a:rPr lang="en-DE" sz="1600" b="1"/>
                <a:t>BOTLIMIT</a:t>
              </a:r>
            </a:p>
            <a:p>
              <a:pPr algn="ctr"/>
              <a:r>
                <a:rPr lang="en-DE" sz="1600"/>
                <a:t>prevents waiting for too long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54F77D0-B2DA-6358-F142-F5EEBCAD9FDE}"/>
              </a:ext>
            </a:extLst>
          </p:cNvPr>
          <p:cNvGrpSpPr/>
          <p:nvPr/>
        </p:nvGrpSpPr>
        <p:grpSpPr>
          <a:xfrm>
            <a:off x="4818200" y="423150"/>
            <a:ext cx="2377779" cy="881768"/>
            <a:chOff x="9509541" y="447500"/>
            <a:chExt cx="2595986" cy="576147"/>
          </a:xfrm>
        </p:grpSpPr>
        <p:sp>
          <p:nvSpPr>
            <p:cNvPr id="34" name="Callout: Line with No Border 33">
              <a:extLst>
                <a:ext uri="{FF2B5EF4-FFF2-40B4-BE49-F238E27FC236}">
                  <a16:creationId xmlns:a16="http://schemas.microsoft.com/office/drawing/2014/main" id="{B951E33B-4D2B-33CA-5A32-3ED0C8FB099B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115913"/>
                <a:gd name="adj2" fmla="val 144346"/>
                <a:gd name="adj3" fmla="val 368869"/>
                <a:gd name="adj4" fmla="val 234311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5" name="Speech Bubble: Rectangle with Corners Rounded 34">
              <a:extLst>
                <a:ext uri="{FF2B5EF4-FFF2-40B4-BE49-F238E27FC236}">
                  <a16:creationId xmlns:a16="http://schemas.microsoft.com/office/drawing/2014/main" id="{606122A0-9B35-9A74-C0DA-EE40E88CE983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RISESLP</a:t>
              </a:r>
              <a:r>
                <a:rPr lang="en-DE" sz="1600"/>
                <a:t> (Rising Slope)</a:t>
              </a:r>
            </a:p>
            <a:p>
              <a:pPr algn="ctr"/>
              <a:r>
                <a:rPr lang="en-DE" sz="1600"/>
                <a:t>30 Bytes RX  or  800 </a:t>
              </a:r>
              <a:r>
                <a:rPr lang="en-DE" sz="1600" err="1"/>
                <a:t>ms</a:t>
              </a:r>
              <a:r>
                <a:rPr lang="en-DE" sz="1600"/>
                <a:t> idle =&gt;  +1 Credit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9E9CDFF-2142-D190-0DC9-FD0E868906AD}"/>
              </a:ext>
            </a:extLst>
          </p:cNvPr>
          <p:cNvGrpSpPr/>
          <p:nvPr/>
        </p:nvGrpSpPr>
        <p:grpSpPr>
          <a:xfrm>
            <a:off x="7751063" y="423149"/>
            <a:ext cx="2593417" cy="881768"/>
            <a:chOff x="9509541" y="447500"/>
            <a:chExt cx="2595986" cy="576147"/>
          </a:xfrm>
        </p:grpSpPr>
        <p:sp>
          <p:nvSpPr>
            <p:cNvPr id="37" name="Callout: Line with No Border 36">
              <a:extLst>
                <a:ext uri="{FF2B5EF4-FFF2-40B4-BE49-F238E27FC236}">
                  <a16:creationId xmlns:a16="http://schemas.microsoft.com/office/drawing/2014/main" id="{FC4E1386-E60D-0F19-1422-5B8CD9965BA8}"/>
                </a:ext>
              </a:extLst>
            </p:cNvPr>
            <p:cNvSpPr/>
            <p:nvPr/>
          </p:nvSpPr>
          <p:spPr>
            <a:xfrm>
              <a:off x="10380113" y="525046"/>
              <a:ext cx="723900" cy="421054"/>
            </a:xfrm>
            <a:prstGeom prst="callout1">
              <a:avLst>
                <a:gd name="adj1" fmla="val 115914"/>
                <a:gd name="adj2" fmla="val -49317"/>
                <a:gd name="adj3" fmla="val 245051"/>
                <a:gd name="adj4" fmla="val -71895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8" name="Speech Bubble: Rectangle with Corners Rounded 37">
              <a:extLst>
                <a:ext uri="{FF2B5EF4-FFF2-40B4-BE49-F238E27FC236}">
                  <a16:creationId xmlns:a16="http://schemas.microsoft.com/office/drawing/2014/main" id="{9B321694-F447-90B1-2794-10D71540075E}"/>
                </a:ext>
              </a:extLst>
            </p:cNvPr>
            <p:cNvSpPr/>
            <p:nvPr/>
          </p:nvSpPr>
          <p:spPr>
            <a:xfrm>
              <a:off x="9509541" y="447500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ECCRDS</a:t>
              </a:r>
              <a:r>
                <a:rPr lang="en-DE" sz="1600"/>
                <a:t> (empty Cycle Credits)</a:t>
              </a:r>
            </a:p>
            <a:p>
              <a:pPr algn="ctr"/>
              <a:r>
                <a:rPr lang="en-DE" sz="1600"/>
                <a:t>1 empty PLCA cycle  </a:t>
              </a:r>
            </a:p>
            <a:p>
              <a:pPr algn="ctr"/>
              <a:r>
                <a:rPr lang="en-DE" sz="1600"/>
                <a:t>=&gt;  +30 Credits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4C14AC4-B880-CAF4-FCDD-31AD4DA6C2B3}"/>
              </a:ext>
            </a:extLst>
          </p:cNvPr>
          <p:cNvGrpSpPr/>
          <p:nvPr/>
        </p:nvGrpSpPr>
        <p:grpSpPr>
          <a:xfrm>
            <a:off x="4018172" y="5496564"/>
            <a:ext cx="2024263" cy="1037630"/>
            <a:chOff x="10319202" y="545978"/>
            <a:chExt cx="2595986" cy="677987"/>
          </a:xfrm>
        </p:grpSpPr>
        <p:sp>
          <p:nvSpPr>
            <p:cNvPr id="40" name="Callout: Line with No Border 39">
              <a:extLst>
                <a:ext uri="{FF2B5EF4-FFF2-40B4-BE49-F238E27FC236}">
                  <a16:creationId xmlns:a16="http://schemas.microsoft.com/office/drawing/2014/main" id="{92248F86-4C2E-DD3C-978C-B2B5DBA18945}"/>
                </a:ext>
              </a:extLst>
            </p:cNvPr>
            <p:cNvSpPr/>
            <p:nvPr/>
          </p:nvSpPr>
          <p:spPr>
            <a:xfrm>
              <a:off x="11459441" y="802911"/>
              <a:ext cx="723900" cy="421054"/>
            </a:xfrm>
            <a:prstGeom prst="callout1">
              <a:avLst>
                <a:gd name="adj1" fmla="val -60113"/>
                <a:gd name="adj2" fmla="val 98580"/>
                <a:gd name="adj3" fmla="val -244695"/>
                <a:gd name="adj4" fmla="val 170494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1" name="Speech Bubble: Rectangle with Corners Rounded 40">
              <a:extLst>
                <a:ext uri="{FF2B5EF4-FFF2-40B4-BE49-F238E27FC236}">
                  <a16:creationId xmlns:a16="http://schemas.microsoft.com/office/drawing/2014/main" id="{DDC9EBF6-1EA5-AC95-BCC1-333F2FCC353A}"/>
                </a:ext>
              </a:extLst>
            </p:cNvPr>
            <p:cNvSpPr/>
            <p:nvPr/>
          </p:nvSpPr>
          <p:spPr>
            <a:xfrm>
              <a:off x="10319202" y="545978"/>
              <a:ext cx="2595986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600" b="1"/>
                <a:t>FALLSLP</a:t>
              </a:r>
              <a:r>
                <a:rPr lang="en-DE" sz="1600"/>
                <a:t> (Falling Slope)</a:t>
              </a:r>
            </a:p>
            <a:p>
              <a:pPr algn="ctr"/>
              <a:r>
                <a:rPr lang="en-DE" sz="1600"/>
                <a:t>2 Bytes TX  </a:t>
              </a:r>
            </a:p>
            <a:p>
              <a:pPr algn="ctr"/>
              <a:r>
                <a:rPr lang="en-DE" sz="1600"/>
                <a:t>=&gt;  -1 Credit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572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F911-A626-075E-EC4E-93F3C2753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Controlling CBS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8C3ED5-8452-D28C-45FF-7F7355EBF15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372185" y="1206500"/>
            <a:ext cx="7025815" cy="3577619"/>
          </a:xfr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48EB6DF-10C8-1ECB-66A6-EA6A882C5C34}"/>
              </a:ext>
            </a:extLst>
          </p:cNvPr>
          <p:cNvGrpSpPr/>
          <p:nvPr/>
        </p:nvGrpSpPr>
        <p:grpSpPr>
          <a:xfrm>
            <a:off x="99392" y="1960479"/>
            <a:ext cx="3021494" cy="601347"/>
            <a:chOff x="99392" y="1960479"/>
            <a:chExt cx="3021494" cy="601347"/>
          </a:xfrm>
        </p:grpSpPr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0DCE6421-5594-44E0-6324-A2E81BDE243D}"/>
                </a:ext>
              </a:extLst>
            </p:cNvPr>
            <p:cNvSpPr/>
            <p:nvPr/>
          </p:nvSpPr>
          <p:spPr>
            <a:xfrm>
              <a:off x="99392" y="1970418"/>
              <a:ext cx="2163463" cy="591408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b="1"/>
                <a:t>Start Threshold:</a:t>
              </a:r>
              <a:r>
                <a:rPr lang="de-DE" sz="1600"/>
                <a:t> 20 </a:t>
              </a:r>
              <a:r>
                <a:rPr lang="de-DE" sz="1600" err="1"/>
                <a:t>bits</a:t>
              </a:r>
              <a:r>
                <a:rPr lang="de-DE" sz="1600" b="1"/>
                <a:t> </a:t>
              </a:r>
              <a:endParaRPr lang="en-DE" sz="1600" b="1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585364C-A669-72EB-C2C3-34678CAA22BE}"/>
                </a:ext>
              </a:extLst>
            </p:cNvPr>
            <p:cNvCxnSpPr>
              <a:cxnSpLocks/>
              <a:stCxn id="16" idx="1"/>
              <a:endCxn id="8" idx="3"/>
            </p:cNvCxnSpPr>
            <p:nvPr/>
          </p:nvCxnSpPr>
          <p:spPr>
            <a:xfrm flipH="1">
              <a:off x="2262855" y="2099627"/>
              <a:ext cx="609553" cy="166495"/>
            </a:xfrm>
            <a:prstGeom prst="line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sp>
          <p:nvSpPr>
            <p:cNvPr id="16" name="Left Bracket 15">
              <a:extLst>
                <a:ext uri="{FF2B5EF4-FFF2-40B4-BE49-F238E27FC236}">
                  <a16:creationId xmlns:a16="http://schemas.microsoft.com/office/drawing/2014/main" id="{8006D254-C592-155F-EF6A-22F4210F51E9}"/>
                </a:ext>
              </a:extLst>
            </p:cNvPr>
            <p:cNvSpPr/>
            <p:nvPr/>
          </p:nvSpPr>
          <p:spPr>
            <a:xfrm>
              <a:off x="2872408" y="1960479"/>
              <a:ext cx="248478" cy="278296"/>
            </a:xfrm>
            <a:prstGeom prst="leftBracket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66E627-C08A-AFB2-FA2C-242B37BFF683}"/>
              </a:ext>
            </a:extLst>
          </p:cNvPr>
          <p:cNvGrpSpPr/>
          <p:nvPr/>
        </p:nvGrpSpPr>
        <p:grpSpPr>
          <a:xfrm>
            <a:off x="99392" y="1102239"/>
            <a:ext cx="3001615" cy="591408"/>
            <a:chOff x="-53008" y="949839"/>
            <a:chExt cx="3001615" cy="591408"/>
          </a:xfrm>
        </p:grpSpPr>
        <p:sp>
          <p:nvSpPr>
            <p:cNvPr id="39" name="Speech Bubble: Rectangle with Corners Rounded 38">
              <a:extLst>
                <a:ext uri="{FF2B5EF4-FFF2-40B4-BE49-F238E27FC236}">
                  <a16:creationId xmlns:a16="http://schemas.microsoft.com/office/drawing/2014/main" id="{2B391271-4ABA-4D09-5154-097D5E048C5F}"/>
                </a:ext>
              </a:extLst>
            </p:cNvPr>
            <p:cNvSpPr/>
            <p:nvPr/>
          </p:nvSpPr>
          <p:spPr>
            <a:xfrm>
              <a:off x="-53008" y="949839"/>
              <a:ext cx="2163463" cy="591408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b="1" err="1"/>
                <a:t>Stop</a:t>
              </a:r>
              <a:r>
                <a:rPr lang="de-DE" sz="1600" b="1"/>
                <a:t> Threshold:</a:t>
              </a:r>
              <a:r>
                <a:rPr lang="de-DE" sz="1600"/>
                <a:t> 20 </a:t>
              </a:r>
              <a:r>
                <a:rPr lang="de-DE" sz="1600" err="1"/>
                <a:t>bits</a:t>
              </a:r>
              <a:r>
                <a:rPr lang="de-DE" sz="1600" b="1"/>
                <a:t> </a:t>
              </a:r>
              <a:endParaRPr lang="en-DE" sz="1600" b="1"/>
            </a:p>
          </p:txBody>
        </p: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008CF8-454E-C9A1-4BD6-2EBD5E4960DB}"/>
                </a:ext>
              </a:extLst>
            </p:cNvPr>
            <p:cNvCxnSpPr>
              <a:cxnSpLocks/>
              <a:stCxn id="41" idx="1"/>
              <a:endCxn id="39" idx="3"/>
            </p:cNvCxnSpPr>
            <p:nvPr/>
          </p:nvCxnSpPr>
          <p:spPr>
            <a:xfrm flipH="1" flipV="1">
              <a:off x="2110455" y="1245543"/>
              <a:ext cx="589674" cy="127684"/>
            </a:xfrm>
            <a:prstGeom prst="line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sp>
          <p:nvSpPr>
            <p:cNvPr id="41" name="Left Bracket 40">
              <a:extLst>
                <a:ext uri="{FF2B5EF4-FFF2-40B4-BE49-F238E27FC236}">
                  <a16:creationId xmlns:a16="http://schemas.microsoft.com/office/drawing/2014/main" id="{F2B52B98-611A-EC30-22E4-391E89BFDC6E}"/>
                </a:ext>
              </a:extLst>
            </p:cNvPr>
            <p:cNvSpPr/>
            <p:nvPr/>
          </p:nvSpPr>
          <p:spPr>
            <a:xfrm>
              <a:off x="2700129" y="1234079"/>
              <a:ext cx="248478" cy="278296"/>
            </a:xfrm>
            <a:prstGeom prst="leftBracket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8CB7363-FBD4-6B88-84EC-B93446095ACD}"/>
              </a:ext>
            </a:extLst>
          </p:cNvPr>
          <p:cNvGrpSpPr/>
          <p:nvPr/>
        </p:nvGrpSpPr>
        <p:grpSpPr>
          <a:xfrm>
            <a:off x="6997148" y="1229922"/>
            <a:ext cx="4982955" cy="1301869"/>
            <a:chOff x="6928917" y="1077522"/>
            <a:chExt cx="4898786" cy="1165859"/>
          </a:xfrm>
        </p:grpSpPr>
        <p:sp>
          <p:nvSpPr>
            <p:cNvPr id="46" name="Speech Bubble: Rectangle with Corners Rounded 45">
              <a:extLst>
                <a:ext uri="{FF2B5EF4-FFF2-40B4-BE49-F238E27FC236}">
                  <a16:creationId xmlns:a16="http://schemas.microsoft.com/office/drawing/2014/main" id="{AEE5B702-D7FB-A5EF-C800-E0D83E39EC42}"/>
                </a:ext>
              </a:extLst>
            </p:cNvPr>
            <p:cNvSpPr/>
            <p:nvPr/>
          </p:nvSpPr>
          <p:spPr>
            <a:xfrm>
              <a:off x="9664240" y="1077522"/>
              <a:ext cx="2163463" cy="777239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b="1" err="1"/>
                <a:t>Slope</a:t>
              </a:r>
              <a:r>
                <a:rPr lang="de-DE" sz="1600" b="1"/>
                <a:t> Control: 8 </a:t>
              </a:r>
              <a:r>
                <a:rPr lang="de-DE" sz="1600" b="1" err="1"/>
                <a:t>bits</a:t>
              </a:r>
              <a:r>
                <a:rPr lang="de-DE" sz="1600" b="1"/>
                <a:t> </a:t>
              </a:r>
              <a:r>
                <a:rPr lang="de-DE" sz="1600" b="1" err="1"/>
                <a:t>each</a:t>
              </a:r>
              <a:r>
                <a:rPr lang="de-DE" sz="1600" b="1"/>
                <a:t> </a:t>
              </a:r>
              <a:r>
                <a:rPr lang="de-DE" sz="1600" b="1" err="1"/>
                <a:t>for</a:t>
              </a:r>
              <a:r>
                <a:rPr lang="de-DE" sz="1600" b="1"/>
                <a:t> FALLSLP and RISESLP</a:t>
              </a:r>
              <a:endParaRPr lang="en-DE" sz="1600" b="1"/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A1953D81-9D91-2D26-787D-D17494D73C83}"/>
                </a:ext>
              </a:extLst>
            </p:cNvPr>
            <p:cNvCxnSpPr>
              <a:cxnSpLocks/>
              <a:endCxn id="46" idx="1"/>
            </p:cNvCxnSpPr>
            <p:nvPr/>
          </p:nvCxnSpPr>
          <p:spPr>
            <a:xfrm flipV="1">
              <a:off x="6928917" y="1466141"/>
              <a:ext cx="2735323" cy="777240"/>
            </a:xfrm>
            <a:prstGeom prst="line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097959C-AB5D-097A-EDD5-DD2B4F20E829}"/>
              </a:ext>
            </a:extLst>
          </p:cNvPr>
          <p:cNvGrpSpPr/>
          <p:nvPr/>
        </p:nvGrpSpPr>
        <p:grpSpPr>
          <a:xfrm>
            <a:off x="245164" y="2784625"/>
            <a:ext cx="2855841" cy="2702235"/>
            <a:chOff x="-53008" y="-1160988"/>
            <a:chExt cx="2855841" cy="2702235"/>
          </a:xfrm>
        </p:grpSpPr>
        <p:sp>
          <p:nvSpPr>
            <p:cNvPr id="55" name="Speech Bubble: Rectangle with Corners Rounded 54">
              <a:extLst>
                <a:ext uri="{FF2B5EF4-FFF2-40B4-BE49-F238E27FC236}">
                  <a16:creationId xmlns:a16="http://schemas.microsoft.com/office/drawing/2014/main" id="{91BB63EF-0264-0A11-E4A6-C91BA694AF6B}"/>
                </a:ext>
              </a:extLst>
            </p:cNvPr>
            <p:cNvSpPr/>
            <p:nvPr/>
          </p:nvSpPr>
          <p:spPr>
            <a:xfrm>
              <a:off x="-53008" y="949839"/>
              <a:ext cx="2163463" cy="591408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b="1"/>
                <a:t>Top Limit:</a:t>
              </a:r>
              <a:r>
                <a:rPr lang="de-DE" sz="1600"/>
                <a:t> 20 </a:t>
              </a:r>
              <a:r>
                <a:rPr lang="de-DE" sz="1600" err="1"/>
                <a:t>bits</a:t>
              </a:r>
              <a:r>
                <a:rPr lang="de-DE" sz="1600" b="1"/>
                <a:t> </a:t>
              </a:r>
              <a:endParaRPr lang="en-DE" sz="1600" b="1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A2428BD-D7DC-E1DF-EA8A-29F26971455E}"/>
                </a:ext>
              </a:extLst>
            </p:cNvPr>
            <p:cNvCxnSpPr>
              <a:cxnSpLocks/>
              <a:stCxn id="57" idx="1"/>
              <a:endCxn id="55" idx="3"/>
            </p:cNvCxnSpPr>
            <p:nvPr/>
          </p:nvCxnSpPr>
          <p:spPr>
            <a:xfrm flipH="1">
              <a:off x="2110455" y="-1021840"/>
              <a:ext cx="443900" cy="2267383"/>
            </a:xfrm>
            <a:prstGeom prst="line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sp>
          <p:nvSpPr>
            <p:cNvPr id="57" name="Left Bracket 56">
              <a:extLst>
                <a:ext uri="{FF2B5EF4-FFF2-40B4-BE49-F238E27FC236}">
                  <a16:creationId xmlns:a16="http://schemas.microsoft.com/office/drawing/2014/main" id="{A11E1B75-FD3D-5887-9750-FF44050AC18B}"/>
                </a:ext>
              </a:extLst>
            </p:cNvPr>
            <p:cNvSpPr/>
            <p:nvPr/>
          </p:nvSpPr>
          <p:spPr>
            <a:xfrm>
              <a:off x="2554355" y="-1160988"/>
              <a:ext cx="248478" cy="278296"/>
            </a:xfrm>
            <a:prstGeom prst="leftBracket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2842CD8-CA05-AAA8-68F8-6920E2795B69}"/>
              </a:ext>
            </a:extLst>
          </p:cNvPr>
          <p:cNvGrpSpPr/>
          <p:nvPr/>
        </p:nvGrpSpPr>
        <p:grpSpPr>
          <a:xfrm>
            <a:off x="3690679" y="3304056"/>
            <a:ext cx="4338434" cy="2108731"/>
            <a:chOff x="-324129" y="-874515"/>
            <a:chExt cx="4338434" cy="2108731"/>
          </a:xfrm>
        </p:grpSpPr>
        <p:sp>
          <p:nvSpPr>
            <p:cNvPr id="60" name="Speech Bubble: Rectangle with Corners Rounded 59">
              <a:extLst>
                <a:ext uri="{FF2B5EF4-FFF2-40B4-BE49-F238E27FC236}">
                  <a16:creationId xmlns:a16="http://schemas.microsoft.com/office/drawing/2014/main" id="{98D57B3E-C53E-799A-E42C-E05E4FDF62AD}"/>
                </a:ext>
              </a:extLst>
            </p:cNvPr>
            <p:cNvSpPr/>
            <p:nvPr/>
          </p:nvSpPr>
          <p:spPr>
            <a:xfrm>
              <a:off x="1850842" y="642808"/>
              <a:ext cx="2163463" cy="591408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b="1"/>
                <a:t>Bottom Limit:</a:t>
              </a:r>
              <a:r>
                <a:rPr lang="de-DE" sz="1600"/>
                <a:t> 20 </a:t>
              </a:r>
              <a:r>
                <a:rPr lang="de-DE" sz="1600" err="1"/>
                <a:t>bits</a:t>
              </a:r>
              <a:r>
                <a:rPr lang="de-DE" sz="1600" b="1"/>
                <a:t> </a:t>
              </a:r>
              <a:endParaRPr lang="en-DE" sz="1600" b="1"/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1FA893E-42B0-CBF1-34C0-48AFAB7E1A2A}"/>
                </a:ext>
              </a:extLst>
            </p:cNvPr>
            <p:cNvCxnSpPr>
              <a:cxnSpLocks/>
              <a:stCxn id="62" idx="2"/>
              <a:endCxn id="60" idx="1"/>
            </p:cNvCxnSpPr>
            <p:nvPr/>
          </p:nvCxnSpPr>
          <p:spPr>
            <a:xfrm>
              <a:off x="-75651" y="-735367"/>
              <a:ext cx="1926493" cy="1673879"/>
            </a:xfrm>
            <a:prstGeom prst="line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Right Bracket 61">
              <a:extLst>
                <a:ext uri="{FF2B5EF4-FFF2-40B4-BE49-F238E27FC236}">
                  <a16:creationId xmlns:a16="http://schemas.microsoft.com/office/drawing/2014/main" id="{2A7BA62D-1543-1652-2C9E-BD0EBD382523}"/>
                </a:ext>
              </a:extLst>
            </p:cNvPr>
            <p:cNvSpPr/>
            <p:nvPr/>
          </p:nvSpPr>
          <p:spPr>
            <a:xfrm>
              <a:off x="-324129" y="-874515"/>
              <a:ext cx="248478" cy="278296"/>
            </a:xfrm>
            <a:prstGeom prst="rightBracket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DF2E654-7F84-DFAD-8857-4BFB874F29E8}"/>
              </a:ext>
            </a:extLst>
          </p:cNvPr>
          <p:cNvGrpSpPr/>
          <p:nvPr/>
        </p:nvGrpSpPr>
        <p:grpSpPr>
          <a:xfrm>
            <a:off x="3636014" y="3878359"/>
            <a:ext cx="3907786" cy="2502563"/>
            <a:chOff x="-531194" y="-452612"/>
            <a:chExt cx="3907786" cy="2502563"/>
          </a:xfrm>
        </p:grpSpPr>
        <p:sp>
          <p:nvSpPr>
            <p:cNvPr id="68" name="Speech Bubble: Rectangle with Corners Rounded 67">
              <a:extLst>
                <a:ext uri="{FF2B5EF4-FFF2-40B4-BE49-F238E27FC236}">
                  <a16:creationId xmlns:a16="http://schemas.microsoft.com/office/drawing/2014/main" id="{D644503E-20B0-8F72-20D4-1450B519B58D}"/>
                </a:ext>
              </a:extLst>
            </p:cNvPr>
            <p:cNvSpPr/>
            <p:nvPr/>
          </p:nvSpPr>
          <p:spPr>
            <a:xfrm>
              <a:off x="666477" y="1306051"/>
              <a:ext cx="2710115" cy="743900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b="1" err="1"/>
                <a:t>Current</a:t>
              </a:r>
              <a:r>
                <a:rPr lang="de-DE" sz="1600" b="1"/>
                <a:t> </a:t>
              </a:r>
              <a:r>
                <a:rPr lang="de-DE" sz="1600" b="1" err="1"/>
                <a:t>Credit</a:t>
              </a:r>
              <a:r>
                <a:rPr lang="de-DE" sz="1600" b="1"/>
                <a:t> Count:</a:t>
              </a:r>
              <a:r>
                <a:rPr lang="de-DE" sz="1600"/>
                <a:t> 20 </a:t>
              </a:r>
              <a:r>
                <a:rPr lang="de-DE" sz="1600" err="1"/>
                <a:t>bits</a:t>
              </a:r>
              <a:endParaRPr lang="de-DE" sz="1600"/>
            </a:p>
            <a:p>
              <a:pPr algn="ctr"/>
              <a:r>
                <a:rPr lang="de-DE" sz="1600" b="1"/>
                <a:t>(Read-</a:t>
              </a:r>
              <a:r>
                <a:rPr lang="de-DE" sz="1600" b="1" err="1"/>
                <a:t>only</a:t>
              </a:r>
              <a:r>
                <a:rPr lang="de-DE" sz="1600" b="1"/>
                <a:t> – </a:t>
              </a:r>
              <a:r>
                <a:rPr lang="de-DE" sz="1600" b="1" err="1"/>
                <a:t>debug</a:t>
              </a:r>
              <a:r>
                <a:rPr lang="de-DE" sz="1600" b="1"/>
                <a:t> </a:t>
              </a:r>
              <a:r>
                <a:rPr lang="de-DE" sz="1600" b="1" err="1"/>
                <a:t>use</a:t>
              </a:r>
              <a:r>
                <a:rPr lang="de-DE" sz="1600" b="1"/>
                <a:t>) </a:t>
              </a:r>
              <a:endParaRPr lang="en-DE" sz="1600" b="1"/>
            </a:p>
          </p:txBody>
        </p: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2D042CF5-648C-BCD0-45D8-5001AB17D5CC}"/>
                </a:ext>
              </a:extLst>
            </p:cNvPr>
            <p:cNvCxnSpPr>
              <a:cxnSpLocks/>
              <a:stCxn id="70" idx="2"/>
              <a:endCxn id="68" idx="1"/>
            </p:cNvCxnSpPr>
            <p:nvPr/>
          </p:nvCxnSpPr>
          <p:spPr>
            <a:xfrm>
              <a:off x="-282716" y="-313464"/>
              <a:ext cx="949193" cy="1991465"/>
            </a:xfrm>
            <a:prstGeom prst="line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  <p:sp>
          <p:nvSpPr>
            <p:cNvPr id="70" name="Right Bracket 69">
              <a:extLst>
                <a:ext uri="{FF2B5EF4-FFF2-40B4-BE49-F238E27FC236}">
                  <a16:creationId xmlns:a16="http://schemas.microsoft.com/office/drawing/2014/main" id="{3AE91364-E72F-88D9-5566-1FCAC5B7E516}"/>
                </a:ext>
              </a:extLst>
            </p:cNvPr>
            <p:cNvSpPr/>
            <p:nvPr/>
          </p:nvSpPr>
          <p:spPr>
            <a:xfrm>
              <a:off x="-531194" y="-452612"/>
              <a:ext cx="248478" cy="278296"/>
            </a:xfrm>
            <a:prstGeom prst="rightBracket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DE270F8-DFB7-8AE2-AE5D-4218BAC3F184}"/>
              </a:ext>
            </a:extLst>
          </p:cNvPr>
          <p:cNvGrpSpPr/>
          <p:nvPr/>
        </p:nvGrpSpPr>
        <p:grpSpPr>
          <a:xfrm>
            <a:off x="7215810" y="2931417"/>
            <a:ext cx="4697397" cy="1585227"/>
            <a:chOff x="7209652" y="1077522"/>
            <a:chExt cx="4618051" cy="1419614"/>
          </a:xfrm>
        </p:grpSpPr>
        <p:sp>
          <p:nvSpPr>
            <p:cNvPr id="83" name="Speech Bubble: Rectangle with Corners Rounded 82">
              <a:extLst>
                <a:ext uri="{FF2B5EF4-FFF2-40B4-BE49-F238E27FC236}">
                  <a16:creationId xmlns:a16="http://schemas.microsoft.com/office/drawing/2014/main" id="{8B48565F-D3A1-81AC-DA6D-274954750BE2}"/>
                </a:ext>
              </a:extLst>
            </p:cNvPr>
            <p:cNvSpPr/>
            <p:nvPr/>
          </p:nvSpPr>
          <p:spPr>
            <a:xfrm>
              <a:off x="9664240" y="1077522"/>
              <a:ext cx="2163463" cy="777239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b="1"/>
                <a:t>Extra </a:t>
              </a:r>
              <a:r>
                <a:rPr lang="de-DE" sz="1600" b="1" err="1"/>
                <a:t>Increment</a:t>
              </a:r>
              <a:r>
                <a:rPr lang="de-DE" sz="1600" b="1"/>
                <a:t> </a:t>
              </a:r>
              <a:r>
                <a:rPr lang="de-DE" sz="1600" b="1" err="1"/>
                <a:t>for</a:t>
              </a:r>
              <a:r>
                <a:rPr lang="de-DE" sz="1600" b="1"/>
                <a:t> Empty </a:t>
              </a:r>
              <a:r>
                <a:rPr lang="de-DE" sz="1600" b="1" err="1"/>
                <a:t>Cycles</a:t>
              </a:r>
              <a:endParaRPr lang="en-DE" sz="1600" b="1"/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B4BB83D-AEB9-EFBA-E35B-842C79D75C3D}"/>
                </a:ext>
              </a:extLst>
            </p:cNvPr>
            <p:cNvCxnSpPr>
              <a:cxnSpLocks/>
              <a:endCxn id="83" idx="1"/>
            </p:cNvCxnSpPr>
            <p:nvPr/>
          </p:nvCxnSpPr>
          <p:spPr>
            <a:xfrm flipV="1">
              <a:off x="7209652" y="1466141"/>
              <a:ext cx="2454588" cy="1030995"/>
            </a:xfrm>
            <a:prstGeom prst="line">
              <a:avLst/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226F46E-B445-50E4-CB81-67059FA1DAFD}"/>
              </a:ext>
            </a:extLst>
          </p:cNvPr>
          <p:cNvGrpSpPr/>
          <p:nvPr/>
        </p:nvGrpSpPr>
        <p:grpSpPr>
          <a:xfrm>
            <a:off x="9045729" y="4491105"/>
            <a:ext cx="2710441" cy="1149653"/>
            <a:chOff x="9045729" y="4491105"/>
            <a:chExt cx="2710441" cy="1149653"/>
          </a:xfrm>
        </p:grpSpPr>
        <p:sp>
          <p:nvSpPr>
            <p:cNvPr id="87" name="Speech Bubble: Rectangle with Corners Rounded 86">
              <a:extLst>
                <a:ext uri="{FF2B5EF4-FFF2-40B4-BE49-F238E27FC236}">
                  <a16:creationId xmlns:a16="http://schemas.microsoft.com/office/drawing/2014/main" id="{EDB969EF-12EB-66D1-F2FE-D37F752E77C3}"/>
                </a:ext>
              </a:extLst>
            </p:cNvPr>
            <p:cNvSpPr/>
            <p:nvPr/>
          </p:nvSpPr>
          <p:spPr>
            <a:xfrm>
              <a:off x="9555534" y="5049350"/>
              <a:ext cx="2200636" cy="591408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de-DE" sz="1600" b="1" err="1"/>
                <a:t>Enable</a:t>
              </a:r>
              <a:r>
                <a:rPr lang="de-DE" sz="1600" b="1"/>
                <a:t> Bit</a:t>
              </a:r>
              <a:endParaRPr lang="en-DE" sz="1600" b="1"/>
            </a:p>
          </p:txBody>
        </p: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C203714-7745-B9A9-A1C9-34D645CF8D51}"/>
                </a:ext>
              </a:extLst>
            </p:cNvPr>
            <p:cNvCxnSpPr>
              <a:cxnSpLocks/>
              <a:endCxn id="87" idx="1"/>
            </p:cNvCxnSpPr>
            <p:nvPr/>
          </p:nvCxnSpPr>
          <p:spPr>
            <a:xfrm>
              <a:off x="9045729" y="4491105"/>
              <a:ext cx="509805" cy="853949"/>
            </a:xfrm>
            <a:prstGeom prst="line">
              <a:avLst/>
            </a:prstGeom>
            <a:no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23617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4FB03F2-8BDE-3644-0850-378AD70EF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Summary </a:t>
            </a:r>
            <a:r>
              <a:rPr lang="de-DE" err="1"/>
              <a:t>of</a:t>
            </a:r>
            <a:r>
              <a:rPr lang="de-DE"/>
              <a:t> CBS </a:t>
            </a:r>
            <a:r>
              <a:rPr lang="de-DE" err="1"/>
              <a:t>Configuration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</p:spPr>
        <p:txBody>
          <a:bodyPr>
            <a:normAutofit/>
          </a:bodyPr>
          <a:lstStyle/>
          <a:p>
            <a:r>
              <a:rPr lang="en-DE"/>
              <a:t>Less bandwidth available for certain nodes:</a:t>
            </a:r>
          </a:p>
          <a:p>
            <a:pPr lvl="1"/>
            <a:r>
              <a:rPr lang="en-DE"/>
              <a:t>Start/stop threshold can be configured differently in each node</a:t>
            </a:r>
          </a:p>
          <a:p>
            <a:pPr lvl="1"/>
            <a:r>
              <a:rPr lang="en-DE"/>
              <a:t>Higher start threshold =&gt; node needs to wait longer for TX</a:t>
            </a:r>
          </a:p>
          <a:p>
            <a:pPr lvl="1"/>
            <a:r>
              <a:rPr lang="en-DE"/>
              <a:t>Higher stop threshold =&gt; node needs to stop earlier when TX</a:t>
            </a:r>
          </a:p>
        </p:txBody>
      </p:sp>
    </p:spTree>
    <p:extLst>
      <p:ext uri="{BB962C8B-B14F-4D97-AF65-F5344CB8AC3E}">
        <p14:creationId xmlns:p14="http://schemas.microsoft.com/office/powerpoint/2010/main" val="1225330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3B4C-670D-413D-747B-CF50652AE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Time Division Multiplexing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6147D-0306-F482-2A96-654F7B6CA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ACMA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111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3187-7403-4E7B-8E1D-922D2ABE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err="1"/>
              <a:t>Reminder</a:t>
            </a:r>
            <a:r>
              <a:rPr lang="de-DE" sz="4000"/>
              <a:t>: PLCA Bus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CAC46-6FA1-99E8-CDCF-BA8A94C26DB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" name="Geschweifte Klammer links 13">
            <a:extLst>
              <a:ext uri="{FF2B5EF4-FFF2-40B4-BE49-F238E27FC236}">
                <a16:creationId xmlns:a16="http://schemas.microsoft.com/office/drawing/2014/main" id="{5430D5A2-41AE-42B7-9A5E-4471097874A7}"/>
              </a:ext>
            </a:extLst>
          </p:cNvPr>
          <p:cNvSpPr/>
          <p:nvPr/>
        </p:nvSpPr>
        <p:spPr>
          <a:xfrm rot="16200000">
            <a:off x="4811093" y="1208168"/>
            <a:ext cx="377157" cy="7475924"/>
          </a:xfrm>
          <a:prstGeom prst="leftBrace">
            <a:avLst>
              <a:gd name="adj1" fmla="val 39553"/>
              <a:gd name="adj2" fmla="val 50000"/>
            </a:avLst>
          </a:prstGeom>
          <a:ln w="28575">
            <a:solidFill>
              <a:srgbClr val="1879C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9" name="Speech Bubble: Rectangle with Corners Rounded 68">
            <a:extLst>
              <a:ext uri="{FF2B5EF4-FFF2-40B4-BE49-F238E27FC236}">
                <a16:creationId xmlns:a16="http://schemas.microsoft.com/office/drawing/2014/main" id="{CA93DA68-347A-4E3D-ABAC-D624E30CCBF0}"/>
              </a:ext>
            </a:extLst>
          </p:cNvPr>
          <p:cNvSpPr/>
          <p:nvPr/>
        </p:nvSpPr>
        <p:spPr>
          <a:xfrm>
            <a:off x="6780488" y="1660267"/>
            <a:ext cx="2242718" cy="993517"/>
          </a:xfrm>
          <a:prstGeom prst="wedgeRoundRectCallout">
            <a:avLst>
              <a:gd name="adj1" fmla="val 42515"/>
              <a:gd name="adj2" fmla="val 136694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B</a:t>
            </a:r>
            <a:r>
              <a:rPr lang="en-DE" sz="2000" b="1"/>
              <a:t>EACON</a:t>
            </a:r>
          </a:p>
          <a:p>
            <a:pPr algn="ctr"/>
            <a:r>
              <a:rPr lang="en-DE" sz="2000" b="1"/>
              <a:t>PLCA Coordinator</a:t>
            </a:r>
          </a:p>
          <a:p>
            <a:pPr algn="ctr"/>
            <a:r>
              <a:rPr lang="en-DE" sz="2000" b="1"/>
              <a:t>Node-0</a:t>
            </a:r>
            <a:endParaRPr lang="en-US" sz="2000" b="1"/>
          </a:p>
        </p:txBody>
      </p:sp>
      <p:sp>
        <p:nvSpPr>
          <p:cNvPr id="71" name="Speech Bubble: Rectangle with Corners Rounded 70">
            <a:extLst>
              <a:ext uri="{FF2B5EF4-FFF2-40B4-BE49-F238E27FC236}">
                <a16:creationId xmlns:a16="http://schemas.microsoft.com/office/drawing/2014/main" id="{38128027-9CEF-4503-9D19-5BA51FC31E2F}"/>
              </a:ext>
            </a:extLst>
          </p:cNvPr>
          <p:cNvSpPr/>
          <p:nvPr/>
        </p:nvSpPr>
        <p:spPr>
          <a:xfrm>
            <a:off x="3437085" y="5459744"/>
            <a:ext cx="1944213" cy="497484"/>
          </a:xfrm>
          <a:prstGeom prst="wedgeRoundRectCallout">
            <a:avLst>
              <a:gd name="adj1" fmla="val 10895"/>
              <a:gd name="adj2" fmla="val -43315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000" b="1"/>
              <a:t>PLCA Bus Cycle</a:t>
            </a:r>
            <a:endParaRPr lang="en-US" sz="2000" b="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3785091-6B96-4CC4-B0BE-0C57C3EFD94A}"/>
              </a:ext>
            </a:extLst>
          </p:cNvPr>
          <p:cNvGrpSpPr/>
          <p:nvPr/>
        </p:nvGrpSpPr>
        <p:grpSpPr>
          <a:xfrm>
            <a:off x="-145107" y="3567767"/>
            <a:ext cx="11865429" cy="755849"/>
            <a:chOff x="-487864" y="3476709"/>
            <a:chExt cx="12918766" cy="75584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748D795-3B69-4D84-86F7-A65DF81B1982}"/>
                </a:ext>
              </a:extLst>
            </p:cNvPr>
            <p:cNvGrpSpPr/>
            <p:nvPr/>
          </p:nvGrpSpPr>
          <p:grpSpPr>
            <a:xfrm>
              <a:off x="1040685" y="3530620"/>
              <a:ext cx="11151315" cy="626751"/>
              <a:chOff x="692342" y="3530620"/>
              <a:chExt cx="12117178" cy="626751"/>
            </a:xfrm>
          </p:grpSpPr>
          <p:sp>
            <p:nvSpPr>
              <p:cNvPr id="63" name="Rechteck 6">
                <a:extLst>
                  <a:ext uri="{FF2B5EF4-FFF2-40B4-BE49-F238E27FC236}">
                    <a16:creationId xmlns:a16="http://schemas.microsoft.com/office/drawing/2014/main" id="{6D277CE6-BC3B-4ED9-B4B7-6500C4EA1EB3}"/>
                  </a:ext>
                </a:extLst>
              </p:cNvPr>
              <p:cNvSpPr/>
              <p:nvPr/>
            </p:nvSpPr>
            <p:spPr>
              <a:xfrm>
                <a:off x="5449669" y="3564630"/>
                <a:ext cx="1208763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TO-2</a:t>
                </a:r>
              </a:p>
            </p:txBody>
          </p:sp>
          <p:sp>
            <p:nvSpPr>
              <p:cNvPr id="27" name="Rechteck 30">
                <a:extLst>
                  <a:ext uri="{FF2B5EF4-FFF2-40B4-BE49-F238E27FC236}">
                    <a16:creationId xmlns:a16="http://schemas.microsoft.com/office/drawing/2014/main" id="{68BF641D-3E82-41A5-89E8-63F1C888D0D8}"/>
                  </a:ext>
                </a:extLst>
              </p:cNvPr>
              <p:cNvSpPr/>
              <p:nvPr/>
            </p:nvSpPr>
            <p:spPr>
              <a:xfrm>
                <a:off x="10352867" y="3559560"/>
                <a:ext cx="920782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TO-0</a:t>
                </a:r>
              </a:p>
            </p:txBody>
          </p:sp>
          <p:sp>
            <p:nvSpPr>
              <p:cNvPr id="29" name="Rechteck 11">
                <a:extLst>
                  <a:ext uri="{FF2B5EF4-FFF2-40B4-BE49-F238E27FC236}">
                    <a16:creationId xmlns:a16="http://schemas.microsoft.com/office/drawing/2014/main" id="{DDBA3350-3E3B-4A21-8343-060CD2E0AE7B}"/>
                  </a:ext>
                </a:extLst>
              </p:cNvPr>
              <p:cNvSpPr/>
              <p:nvPr/>
            </p:nvSpPr>
            <p:spPr>
              <a:xfrm>
                <a:off x="7023227" y="3530620"/>
                <a:ext cx="554479" cy="5927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4400" b="1">
                    <a:solidFill>
                      <a:srgbClr val="0070C0"/>
                    </a:solidFill>
                  </a:rPr>
                  <a:t>…</a:t>
                </a:r>
              </a:p>
            </p:txBody>
          </p:sp>
          <p:sp>
            <p:nvSpPr>
              <p:cNvPr id="30" name="Rechteck 3">
                <a:extLst>
                  <a:ext uri="{FF2B5EF4-FFF2-40B4-BE49-F238E27FC236}">
                    <a16:creationId xmlns:a16="http://schemas.microsoft.com/office/drawing/2014/main" id="{C668EA41-8250-4F48-A52D-31D45FE7CB64}"/>
                  </a:ext>
                </a:extLst>
              </p:cNvPr>
              <p:cNvSpPr/>
              <p:nvPr/>
            </p:nvSpPr>
            <p:spPr>
              <a:xfrm>
                <a:off x="692342" y="3564280"/>
                <a:ext cx="554479" cy="592741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/>
                  <a:t>B</a:t>
                </a:r>
                <a:endParaRPr lang="en-US"/>
              </a:p>
            </p:txBody>
          </p:sp>
          <p:sp>
            <p:nvSpPr>
              <p:cNvPr id="31" name="Rechteck 4">
                <a:extLst>
                  <a:ext uri="{FF2B5EF4-FFF2-40B4-BE49-F238E27FC236}">
                    <a16:creationId xmlns:a16="http://schemas.microsoft.com/office/drawing/2014/main" id="{994304AD-E62A-444B-A571-29BD69399184}"/>
                  </a:ext>
                </a:extLst>
              </p:cNvPr>
              <p:cNvSpPr/>
              <p:nvPr/>
            </p:nvSpPr>
            <p:spPr>
              <a:xfrm>
                <a:off x="1469048" y="3564280"/>
                <a:ext cx="2328810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TO-0</a:t>
                </a:r>
              </a:p>
            </p:txBody>
          </p:sp>
          <p:sp>
            <p:nvSpPr>
              <p:cNvPr id="33" name="Rechteck 6">
                <a:extLst>
                  <a:ext uri="{FF2B5EF4-FFF2-40B4-BE49-F238E27FC236}">
                    <a16:creationId xmlns:a16="http://schemas.microsoft.com/office/drawing/2014/main" id="{0174FF81-8642-4664-89D9-A2AF246AE559}"/>
                  </a:ext>
                </a:extLst>
              </p:cNvPr>
              <p:cNvSpPr/>
              <p:nvPr/>
            </p:nvSpPr>
            <p:spPr>
              <a:xfrm>
                <a:off x="4019382" y="3564280"/>
                <a:ext cx="1208763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TO-1</a:t>
                </a:r>
              </a:p>
            </p:txBody>
          </p:sp>
          <p:sp>
            <p:nvSpPr>
              <p:cNvPr id="36" name="Rechteck 9">
                <a:extLst>
                  <a:ext uri="{FF2B5EF4-FFF2-40B4-BE49-F238E27FC236}">
                    <a16:creationId xmlns:a16="http://schemas.microsoft.com/office/drawing/2014/main" id="{E3635F1F-0C85-49A9-B9D2-00E8207D359B}"/>
                  </a:ext>
                </a:extLst>
              </p:cNvPr>
              <p:cNvSpPr/>
              <p:nvPr/>
            </p:nvSpPr>
            <p:spPr>
              <a:xfrm>
                <a:off x="7741863" y="3560579"/>
                <a:ext cx="1607988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</a:rPr>
                  <a:t>TO-N</a:t>
                </a:r>
              </a:p>
            </p:txBody>
          </p:sp>
          <p:sp>
            <p:nvSpPr>
              <p:cNvPr id="38" name="Rechteck 12">
                <a:extLst>
                  <a:ext uri="{FF2B5EF4-FFF2-40B4-BE49-F238E27FC236}">
                    <a16:creationId xmlns:a16="http://schemas.microsoft.com/office/drawing/2014/main" id="{15C0F4BF-C3AB-44E6-A112-8F77E169B693}"/>
                  </a:ext>
                </a:extLst>
              </p:cNvPr>
              <p:cNvSpPr/>
              <p:nvPr/>
            </p:nvSpPr>
            <p:spPr>
              <a:xfrm>
                <a:off x="9573868" y="3560657"/>
                <a:ext cx="554479" cy="592741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DE"/>
                  <a:t>B</a:t>
                </a:r>
                <a:endParaRPr lang="en-US"/>
              </a:p>
            </p:txBody>
          </p:sp>
          <p:sp>
            <p:nvSpPr>
              <p:cNvPr id="58" name="Rechteck 3">
                <a:extLst>
                  <a:ext uri="{FF2B5EF4-FFF2-40B4-BE49-F238E27FC236}">
                    <a16:creationId xmlns:a16="http://schemas.microsoft.com/office/drawing/2014/main" id="{EE217C84-DAF2-453F-AEA9-4A9A3374A622}"/>
                  </a:ext>
                </a:extLst>
              </p:cNvPr>
              <p:cNvSpPr/>
              <p:nvPr/>
            </p:nvSpPr>
            <p:spPr>
              <a:xfrm>
                <a:off x="1247524" y="3564282"/>
                <a:ext cx="224515" cy="5927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59" name="Rechteck 3">
                <a:extLst>
                  <a:ext uri="{FF2B5EF4-FFF2-40B4-BE49-F238E27FC236}">
                    <a16:creationId xmlns:a16="http://schemas.microsoft.com/office/drawing/2014/main" id="{AB00AFEA-6B1D-434C-9750-C63C8C1A04EA}"/>
                  </a:ext>
                </a:extLst>
              </p:cNvPr>
              <p:cNvSpPr/>
              <p:nvPr/>
            </p:nvSpPr>
            <p:spPr>
              <a:xfrm>
                <a:off x="3802686" y="3564282"/>
                <a:ext cx="224515" cy="5927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65" name="Rechteck 3">
                <a:extLst>
                  <a:ext uri="{FF2B5EF4-FFF2-40B4-BE49-F238E27FC236}">
                    <a16:creationId xmlns:a16="http://schemas.microsoft.com/office/drawing/2014/main" id="{5B1879A5-8E51-40BC-98E4-6D146F886A55}"/>
                  </a:ext>
                </a:extLst>
              </p:cNvPr>
              <p:cNvSpPr/>
              <p:nvPr/>
            </p:nvSpPr>
            <p:spPr>
              <a:xfrm>
                <a:off x="5223070" y="3564281"/>
                <a:ext cx="224515" cy="5930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66" name="Rechteck 3">
                <a:extLst>
                  <a:ext uri="{FF2B5EF4-FFF2-40B4-BE49-F238E27FC236}">
                    <a16:creationId xmlns:a16="http://schemas.microsoft.com/office/drawing/2014/main" id="{44A4A8BA-0827-4130-AC79-3562BA84EB7B}"/>
                  </a:ext>
                </a:extLst>
              </p:cNvPr>
              <p:cNvSpPr/>
              <p:nvPr/>
            </p:nvSpPr>
            <p:spPr>
              <a:xfrm>
                <a:off x="6661391" y="3563542"/>
                <a:ext cx="224515" cy="5930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67" name="Rechteck 3">
                <a:extLst>
                  <a:ext uri="{FF2B5EF4-FFF2-40B4-BE49-F238E27FC236}">
                    <a16:creationId xmlns:a16="http://schemas.microsoft.com/office/drawing/2014/main" id="{75C922EB-C018-485F-8B14-08B67F8E1041}"/>
                  </a:ext>
                </a:extLst>
              </p:cNvPr>
              <p:cNvSpPr/>
              <p:nvPr/>
            </p:nvSpPr>
            <p:spPr>
              <a:xfrm>
                <a:off x="9349851" y="3560657"/>
                <a:ext cx="224515" cy="5930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68" name="Rechteck 3">
                <a:extLst>
                  <a:ext uri="{FF2B5EF4-FFF2-40B4-BE49-F238E27FC236}">
                    <a16:creationId xmlns:a16="http://schemas.microsoft.com/office/drawing/2014/main" id="{B14BD40F-039B-4EE6-9662-7BD57BB5FFD3}"/>
                  </a:ext>
                </a:extLst>
              </p:cNvPr>
              <p:cNvSpPr/>
              <p:nvPr/>
            </p:nvSpPr>
            <p:spPr>
              <a:xfrm>
                <a:off x="10128352" y="3559211"/>
                <a:ext cx="224515" cy="5930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72" name="Rechteck 3">
                <a:extLst>
                  <a:ext uri="{FF2B5EF4-FFF2-40B4-BE49-F238E27FC236}">
                    <a16:creationId xmlns:a16="http://schemas.microsoft.com/office/drawing/2014/main" id="{A4F7D828-ABCD-4EDE-975F-6047F81C072B}"/>
                  </a:ext>
                </a:extLst>
              </p:cNvPr>
              <p:cNvSpPr/>
              <p:nvPr/>
            </p:nvSpPr>
            <p:spPr>
              <a:xfrm>
                <a:off x="11271968" y="3559211"/>
                <a:ext cx="224515" cy="5930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0</a:t>
                </a:r>
              </a:p>
            </p:txBody>
          </p:sp>
          <p:sp>
            <p:nvSpPr>
              <p:cNvPr id="73" name="Rechteck 6">
                <a:extLst>
                  <a:ext uri="{FF2B5EF4-FFF2-40B4-BE49-F238E27FC236}">
                    <a16:creationId xmlns:a16="http://schemas.microsoft.com/office/drawing/2014/main" id="{78493926-FE61-44CF-8DCA-B07AF6A5CDB5}"/>
                  </a:ext>
                </a:extLst>
              </p:cNvPr>
              <p:cNvSpPr/>
              <p:nvPr/>
            </p:nvSpPr>
            <p:spPr>
              <a:xfrm>
                <a:off x="11496483" y="3561006"/>
                <a:ext cx="1313037" cy="59274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TO-1</a:t>
                </a:r>
              </a:p>
            </p:txBody>
          </p:sp>
        </p:grpSp>
        <p:sp>
          <p:nvSpPr>
            <p:cNvPr id="28" name="Flussdiagramm: Lochstreifen 31">
              <a:extLst>
                <a:ext uri="{FF2B5EF4-FFF2-40B4-BE49-F238E27FC236}">
                  <a16:creationId xmlns:a16="http://schemas.microsoft.com/office/drawing/2014/main" id="{0E9B595E-D751-490D-8208-1998D8DFC774}"/>
                </a:ext>
              </a:extLst>
            </p:cNvPr>
            <p:cNvSpPr/>
            <p:nvPr/>
          </p:nvSpPr>
          <p:spPr>
            <a:xfrm rot="5400000" flipH="1">
              <a:off x="11787583" y="3589238"/>
              <a:ext cx="700562" cy="586077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hteck 30">
              <a:extLst>
                <a:ext uri="{FF2B5EF4-FFF2-40B4-BE49-F238E27FC236}">
                  <a16:creationId xmlns:a16="http://schemas.microsoft.com/office/drawing/2014/main" id="{9A60FD84-F128-4A9B-BF88-2727707B4C8E}"/>
                </a:ext>
              </a:extLst>
            </p:cNvPr>
            <p:cNvSpPr/>
            <p:nvPr/>
          </p:nvSpPr>
          <p:spPr>
            <a:xfrm>
              <a:off x="-165226" y="3564979"/>
              <a:ext cx="991817" cy="592741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>
                  <a:solidFill>
                    <a:schemeClr val="tx1"/>
                  </a:solidFill>
                </a:rPr>
                <a:t>TO-</a:t>
              </a:r>
              <a:r>
                <a:rPr lang="en-DE">
                  <a:solidFill>
                    <a:schemeClr val="tx1"/>
                  </a:solidFill>
                </a:rPr>
                <a:t>N</a:t>
              </a:r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75" name="Rechteck 3">
              <a:extLst>
                <a:ext uri="{FF2B5EF4-FFF2-40B4-BE49-F238E27FC236}">
                  <a16:creationId xmlns:a16="http://schemas.microsoft.com/office/drawing/2014/main" id="{FDADFCEC-A285-4C7D-B7F9-5BC699D6AB85}"/>
                </a:ext>
              </a:extLst>
            </p:cNvPr>
            <p:cNvSpPr/>
            <p:nvPr/>
          </p:nvSpPr>
          <p:spPr>
            <a:xfrm>
              <a:off x="831844" y="3564630"/>
              <a:ext cx="206619" cy="59309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0</a:t>
              </a:r>
            </a:p>
          </p:txBody>
        </p:sp>
        <p:sp>
          <p:nvSpPr>
            <p:cNvPr id="76" name="Flussdiagramm: Lochstreifen 31">
              <a:extLst>
                <a:ext uri="{FF2B5EF4-FFF2-40B4-BE49-F238E27FC236}">
                  <a16:creationId xmlns:a16="http://schemas.microsoft.com/office/drawing/2014/main" id="{F3F799A7-4D84-494D-B83A-96B45413D410}"/>
                </a:ext>
              </a:extLst>
            </p:cNvPr>
            <p:cNvSpPr/>
            <p:nvPr/>
          </p:nvSpPr>
          <p:spPr>
            <a:xfrm rot="5400000" flipH="1">
              <a:off x="-545106" y="3533951"/>
              <a:ext cx="700562" cy="586077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7" name="Speech Bubble: Rectangle with Corners Rounded 76">
            <a:extLst>
              <a:ext uri="{FF2B5EF4-FFF2-40B4-BE49-F238E27FC236}">
                <a16:creationId xmlns:a16="http://schemas.microsoft.com/office/drawing/2014/main" id="{44FC292E-50A1-4D72-9C20-CD81EEF83657}"/>
              </a:ext>
            </a:extLst>
          </p:cNvPr>
          <p:cNvSpPr/>
          <p:nvPr/>
        </p:nvSpPr>
        <p:spPr>
          <a:xfrm>
            <a:off x="1066998" y="1685218"/>
            <a:ext cx="2539884" cy="824630"/>
          </a:xfrm>
          <a:prstGeom prst="wedgeRoundRectCallout">
            <a:avLst>
              <a:gd name="adj1" fmla="val 37794"/>
              <a:gd name="adj2" fmla="val 173094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000" b="1"/>
              <a:t>Transmit Opportunity (TO) of Node N</a:t>
            </a:r>
            <a:endParaRPr lang="en-US" sz="2000" b="1"/>
          </a:p>
        </p:txBody>
      </p:sp>
      <p:sp>
        <p:nvSpPr>
          <p:cNvPr id="78" name="Speech Bubble: Rectangle with Corners Rounded 77">
            <a:extLst>
              <a:ext uri="{FF2B5EF4-FFF2-40B4-BE49-F238E27FC236}">
                <a16:creationId xmlns:a16="http://schemas.microsoft.com/office/drawing/2014/main" id="{F098A24C-BBE9-4E93-87E3-9EA4D35A73F8}"/>
              </a:ext>
            </a:extLst>
          </p:cNvPr>
          <p:cNvSpPr/>
          <p:nvPr/>
        </p:nvSpPr>
        <p:spPr>
          <a:xfrm>
            <a:off x="4728206" y="1958103"/>
            <a:ext cx="1229219" cy="551745"/>
          </a:xfrm>
          <a:prstGeom prst="wedgeRoundRectCallout">
            <a:avLst>
              <a:gd name="adj1" fmla="val -12232"/>
              <a:gd name="adj2" fmla="val 23584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S</a:t>
            </a:r>
            <a:r>
              <a:rPr lang="en-DE" sz="2000" b="1" err="1"/>
              <a:t>ilence</a:t>
            </a:r>
            <a:endParaRPr lang="en-US" sz="2000" b="1"/>
          </a:p>
        </p:txBody>
      </p:sp>
      <p:sp>
        <p:nvSpPr>
          <p:cNvPr id="34" name="Speech Bubble: Rectangle with Corners Rounded 33">
            <a:extLst>
              <a:ext uri="{FF2B5EF4-FFF2-40B4-BE49-F238E27FC236}">
                <a16:creationId xmlns:a16="http://schemas.microsoft.com/office/drawing/2014/main" id="{8631EE82-2A00-49C6-82D5-64208B1DA379}"/>
              </a:ext>
            </a:extLst>
          </p:cNvPr>
          <p:cNvSpPr/>
          <p:nvPr/>
        </p:nvSpPr>
        <p:spPr>
          <a:xfrm>
            <a:off x="9671341" y="1678501"/>
            <a:ext cx="2053806" cy="999179"/>
          </a:xfrm>
          <a:prstGeom prst="wedgeRoundRectCallout">
            <a:avLst>
              <a:gd name="adj1" fmla="val 2394"/>
              <a:gd name="adj2" fmla="val 13551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000" b="1"/>
              <a:t>TO from</a:t>
            </a:r>
          </a:p>
          <a:p>
            <a:pPr algn="ctr"/>
            <a:r>
              <a:rPr lang="en-DE" sz="2000" b="1"/>
              <a:t>PLCA Follower</a:t>
            </a:r>
          </a:p>
          <a:p>
            <a:pPr algn="ctr"/>
            <a:r>
              <a:rPr lang="en-DE" sz="2000" b="1"/>
              <a:t>Node-1,2...N</a:t>
            </a:r>
            <a:endParaRPr lang="en-US" sz="2000" b="1"/>
          </a:p>
        </p:txBody>
      </p:sp>
      <p:sp>
        <p:nvSpPr>
          <p:cNvPr id="55" name="Textfeld 29">
            <a:extLst>
              <a:ext uri="{FF2B5EF4-FFF2-40B4-BE49-F238E27FC236}">
                <a16:creationId xmlns:a16="http://schemas.microsoft.com/office/drawing/2014/main" id="{381624E3-3ECD-48BC-82CE-EFBEDFC3BA3F}"/>
              </a:ext>
            </a:extLst>
          </p:cNvPr>
          <p:cNvSpPr txBox="1"/>
          <p:nvPr/>
        </p:nvSpPr>
        <p:spPr>
          <a:xfrm>
            <a:off x="11367514" y="3650269"/>
            <a:ext cx="663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t</a:t>
            </a:r>
            <a:r>
              <a:rPr lang="en-DE" sz="2000" err="1"/>
              <a:t>ime</a:t>
            </a:r>
            <a:endParaRPr lang="en-US" sz="2000"/>
          </a:p>
        </p:txBody>
      </p:sp>
      <p:cxnSp>
        <p:nvCxnSpPr>
          <p:cNvPr id="43" name="Gerade Verbindung mit Pfeil 28">
            <a:extLst>
              <a:ext uri="{FF2B5EF4-FFF2-40B4-BE49-F238E27FC236}">
                <a16:creationId xmlns:a16="http://schemas.microsoft.com/office/drawing/2014/main" id="{304FBE31-C43B-4B40-B53A-5DB807B17B03}"/>
              </a:ext>
            </a:extLst>
          </p:cNvPr>
          <p:cNvCxnSpPr/>
          <p:nvPr/>
        </p:nvCxnSpPr>
        <p:spPr>
          <a:xfrm>
            <a:off x="11449704" y="4094963"/>
            <a:ext cx="55447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C5539BD4-745A-265A-9432-8A3FD8B08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7950"/>
            <a:ext cx="473075" cy="365125"/>
          </a:xfrm>
        </p:spPr>
        <p:txBody>
          <a:bodyPr/>
          <a:lstStyle/>
          <a:p>
            <a:fld id="{0C16879F-7EC0-41E4-BD68-03C263C117F6}" type="slidenum">
              <a:rPr lang="en-US" smtClean="0"/>
              <a:t>24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5920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10"/>
    </mc:Choice>
    <mc:Fallback xmlns="">
      <p:transition spd="slow" advTm="3421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3187-7403-4E7B-8E1D-922D2ABE9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4000" err="1"/>
              <a:t>Application</a:t>
            </a:r>
            <a:r>
              <a:rPr lang="de-DE" sz="4000"/>
              <a:t> </a:t>
            </a:r>
            <a:r>
              <a:rPr lang="de-DE" sz="4000" err="1"/>
              <a:t>Controlled</a:t>
            </a:r>
            <a:r>
              <a:rPr lang="de-DE" sz="4000"/>
              <a:t> Multiple Access (ACMA)</a:t>
            </a:r>
          </a:p>
        </p:txBody>
      </p:sp>
      <p:sp>
        <p:nvSpPr>
          <p:cNvPr id="39" name="Geschweifte Klammer links 13">
            <a:extLst>
              <a:ext uri="{FF2B5EF4-FFF2-40B4-BE49-F238E27FC236}">
                <a16:creationId xmlns:a16="http://schemas.microsoft.com/office/drawing/2014/main" id="{5430D5A2-41AE-42B7-9A5E-4471097874A7}"/>
              </a:ext>
            </a:extLst>
          </p:cNvPr>
          <p:cNvSpPr/>
          <p:nvPr/>
        </p:nvSpPr>
        <p:spPr>
          <a:xfrm rot="16200000">
            <a:off x="4811093" y="1676168"/>
            <a:ext cx="377157" cy="7475924"/>
          </a:xfrm>
          <a:prstGeom prst="leftBrace">
            <a:avLst>
              <a:gd name="adj1" fmla="val 39553"/>
              <a:gd name="adj2" fmla="val 50000"/>
            </a:avLst>
          </a:prstGeom>
          <a:ln w="28575">
            <a:solidFill>
              <a:srgbClr val="1879C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" name="Speech Bubble: Rectangle with Corners Rounded 70">
            <a:extLst>
              <a:ext uri="{FF2B5EF4-FFF2-40B4-BE49-F238E27FC236}">
                <a16:creationId xmlns:a16="http://schemas.microsoft.com/office/drawing/2014/main" id="{38128027-9CEF-4503-9D19-5BA51FC31E2F}"/>
              </a:ext>
            </a:extLst>
          </p:cNvPr>
          <p:cNvSpPr/>
          <p:nvPr/>
        </p:nvSpPr>
        <p:spPr>
          <a:xfrm>
            <a:off x="3437085" y="5927744"/>
            <a:ext cx="1944213" cy="497484"/>
          </a:xfrm>
          <a:prstGeom prst="wedgeRoundRectCallout">
            <a:avLst>
              <a:gd name="adj1" fmla="val 10895"/>
              <a:gd name="adj2" fmla="val -43315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2000" b="1"/>
              <a:t>ACM</a:t>
            </a:r>
            <a:r>
              <a:rPr lang="en-DE" sz="2000" b="1"/>
              <a:t>A Bus Cycle</a:t>
            </a:r>
            <a:endParaRPr lang="en-US" sz="2000" b="1"/>
          </a:p>
        </p:txBody>
      </p:sp>
      <p:sp>
        <p:nvSpPr>
          <p:cNvPr id="63" name="Rechteck 6">
            <a:extLst>
              <a:ext uri="{FF2B5EF4-FFF2-40B4-BE49-F238E27FC236}">
                <a16:creationId xmlns:a16="http://schemas.microsoft.com/office/drawing/2014/main" id="{6D277CE6-BC3B-4ED9-B4B7-6500C4EA1EB3}"/>
              </a:ext>
            </a:extLst>
          </p:cNvPr>
          <p:cNvSpPr/>
          <p:nvPr/>
        </p:nvSpPr>
        <p:spPr>
          <a:xfrm>
            <a:off x="5279961" y="4130999"/>
            <a:ext cx="1021711" cy="5927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Channel 2</a:t>
            </a:r>
          </a:p>
        </p:txBody>
      </p:sp>
      <p:sp>
        <p:nvSpPr>
          <p:cNvPr id="29" name="Rechteck 11">
            <a:extLst>
              <a:ext uri="{FF2B5EF4-FFF2-40B4-BE49-F238E27FC236}">
                <a16:creationId xmlns:a16="http://schemas.microsoft.com/office/drawing/2014/main" id="{DDBA3350-3E3B-4A21-8343-060CD2E0AE7B}"/>
              </a:ext>
            </a:extLst>
          </p:cNvPr>
          <p:cNvSpPr/>
          <p:nvPr/>
        </p:nvSpPr>
        <p:spPr>
          <a:xfrm>
            <a:off x="6610016" y="4096989"/>
            <a:ext cx="468675" cy="5927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solidFill>
                  <a:srgbClr val="0070C0"/>
                </a:solidFill>
              </a:rPr>
              <a:t>…</a:t>
            </a:r>
          </a:p>
        </p:txBody>
      </p:sp>
      <p:sp>
        <p:nvSpPr>
          <p:cNvPr id="31" name="Rechteck 4">
            <a:extLst>
              <a:ext uri="{FF2B5EF4-FFF2-40B4-BE49-F238E27FC236}">
                <a16:creationId xmlns:a16="http://schemas.microsoft.com/office/drawing/2014/main" id="{994304AD-E62A-444B-A571-29BD69399184}"/>
              </a:ext>
            </a:extLst>
          </p:cNvPr>
          <p:cNvSpPr/>
          <p:nvPr/>
        </p:nvSpPr>
        <p:spPr>
          <a:xfrm>
            <a:off x="1915329" y="4130649"/>
            <a:ext cx="1968434" cy="5927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C</a:t>
            </a:r>
            <a:r>
              <a:rPr lang="en-US" sz="1600" err="1">
                <a:solidFill>
                  <a:schemeClr val="tx1"/>
                </a:solidFill>
              </a:rPr>
              <a:t>hannel</a:t>
            </a:r>
            <a:r>
              <a:rPr lang="en-US" sz="1600">
                <a:solidFill>
                  <a:schemeClr val="tx1"/>
                </a:solidFill>
              </a:rPr>
              <a:t> 0</a:t>
            </a:r>
          </a:p>
        </p:txBody>
      </p:sp>
      <p:sp>
        <p:nvSpPr>
          <p:cNvPr id="33" name="Rechteck 6">
            <a:extLst>
              <a:ext uri="{FF2B5EF4-FFF2-40B4-BE49-F238E27FC236}">
                <a16:creationId xmlns:a16="http://schemas.microsoft.com/office/drawing/2014/main" id="{0174FF81-8642-4664-89D9-A2AF246AE559}"/>
              </a:ext>
            </a:extLst>
          </p:cNvPr>
          <p:cNvSpPr/>
          <p:nvPr/>
        </p:nvSpPr>
        <p:spPr>
          <a:xfrm>
            <a:off x="4071007" y="4130649"/>
            <a:ext cx="1021711" cy="5927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C</a:t>
            </a:r>
            <a:r>
              <a:rPr lang="en-US" sz="1600" err="1">
                <a:solidFill>
                  <a:schemeClr val="tx1"/>
                </a:solidFill>
              </a:rPr>
              <a:t>hannel</a:t>
            </a:r>
            <a:r>
              <a:rPr lang="en-US" sz="1600">
                <a:solidFill>
                  <a:schemeClr val="tx1"/>
                </a:solidFill>
              </a:rPr>
              <a:t> 1</a:t>
            </a:r>
          </a:p>
        </p:txBody>
      </p:sp>
      <p:sp>
        <p:nvSpPr>
          <p:cNvPr id="36" name="Rechteck 9">
            <a:extLst>
              <a:ext uri="{FF2B5EF4-FFF2-40B4-BE49-F238E27FC236}">
                <a16:creationId xmlns:a16="http://schemas.microsoft.com/office/drawing/2014/main" id="{E3635F1F-0C85-49A9-B9D2-00E8207D359B}"/>
              </a:ext>
            </a:extLst>
          </p:cNvPr>
          <p:cNvSpPr/>
          <p:nvPr/>
        </p:nvSpPr>
        <p:spPr>
          <a:xfrm>
            <a:off x="7217446" y="4126948"/>
            <a:ext cx="1021712" cy="59274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C</a:t>
            </a:r>
            <a:r>
              <a:rPr lang="en-US" sz="1600" err="1">
                <a:solidFill>
                  <a:schemeClr val="tx1"/>
                </a:solidFill>
              </a:rPr>
              <a:t>hannel</a:t>
            </a:r>
            <a:r>
              <a:rPr lang="en-US" sz="1600">
                <a:solidFill>
                  <a:schemeClr val="tx1"/>
                </a:solidFill>
              </a:rPr>
              <a:t> N</a:t>
            </a:r>
          </a:p>
        </p:txBody>
      </p:sp>
      <p:sp>
        <p:nvSpPr>
          <p:cNvPr id="73" name="Rechteck 6">
            <a:extLst>
              <a:ext uri="{FF2B5EF4-FFF2-40B4-BE49-F238E27FC236}">
                <a16:creationId xmlns:a16="http://schemas.microsoft.com/office/drawing/2014/main" id="{78493926-FE61-44CF-8DCA-B07AF6A5CDB5}"/>
              </a:ext>
            </a:extLst>
          </p:cNvPr>
          <p:cNvSpPr/>
          <p:nvPr/>
        </p:nvSpPr>
        <p:spPr>
          <a:xfrm>
            <a:off x="9424407" y="4127375"/>
            <a:ext cx="2076493" cy="592741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>
                <a:solidFill>
                  <a:schemeClr val="tx1"/>
                </a:solidFill>
              </a:rPr>
              <a:t>C</a:t>
            </a:r>
            <a:r>
              <a:rPr lang="en-US" sz="1600" err="1">
                <a:solidFill>
                  <a:schemeClr val="tx1"/>
                </a:solidFill>
              </a:rPr>
              <a:t>hannel</a:t>
            </a:r>
            <a:r>
              <a:rPr lang="en-US" sz="1600">
                <a:solidFill>
                  <a:schemeClr val="tx1"/>
                </a:solidFill>
              </a:rPr>
              <a:t> 0</a:t>
            </a:r>
          </a:p>
        </p:txBody>
      </p:sp>
      <p:sp>
        <p:nvSpPr>
          <p:cNvPr id="28" name="Flussdiagramm: Lochstreifen 31">
            <a:extLst>
              <a:ext uri="{FF2B5EF4-FFF2-40B4-BE49-F238E27FC236}">
                <a16:creationId xmlns:a16="http://schemas.microsoft.com/office/drawing/2014/main" id="{0E9B595E-D751-490D-8208-1998D8DFC774}"/>
              </a:ext>
            </a:extLst>
          </p:cNvPr>
          <p:cNvSpPr/>
          <p:nvPr/>
        </p:nvSpPr>
        <p:spPr>
          <a:xfrm rot="5400000" flipH="1">
            <a:off x="11100896" y="4179500"/>
            <a:ext cx="700562" cy="538291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76" name="Flussdiagramm: Lochstreifen 31">
            <a:extLst>
              <a:ext uri="{FF2B5EF4-FFF2-40B4-BE49-F238E27FC236}">
                <a16:creationId xmlns:a16="http://schemas.microsoft.com/office/drawing/2014/main" id="{F3F799A7-4D84-494D-B83A-96B45413D410}"/>
              </a:ext>
            </a:extLst>
          </p:cNvPr>
          <p:cNvSpPr/>
          <p:nvPr/>
        </p:nvSpPr>
        <p:spPr>
          <a:xfrm rot="5400000" flipH="1">
            <a:off x="-64013" y="4156820"/>
            <a:ext cx="700562" cy="473077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C5539BD4-745A-265A-9432-8A3FD8B08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457950"/>
            <a:ext cx="473075" cy="365125"/>
          </a:xfrm>
        </p:spPr>
        <p:txBody>
          <a:bodyPr/>
          <a:lstStyle/>
          <a:p>
            <a:fld id="{0C16879F-7EC0-41E4-BD68-03C263C117F6}" type="slidenum">
              <a:rPr lang="en-US" smtClean="0"/>
              <a:t>25</a:t>
            </a:fld>
            <a:endParaRPr lang="en-US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329FD4B-2EA4-04C1-F021-9F320C3DA04D}"/>
              </a:ext>
            </a:extLst>
          </p:cNvPr>
          <p:cNvGrpSpPr/>
          <p:nvPr/>
        </p:nvGrpSpPr>
        <p:grpSpPr>
          <a:xfrm>
            <a:off x="43729" y="1517084"/>
            <a:ext cx="11670593" cy="755849"/>
            <a:chOff x="43729" y="1517084"/>
            <a:chExt cx="11670593" cy="755849"/>
          </a:xfrm>
        </p:grpSpPr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988B63B2-7469-EB9E-6159-79A6484CE462}"/>
                </a:ext>
              </a:extLst>
            </p:cNvPr>
            <p:cNvGrpSpPr/>
            <p:nvPr/>
          </p:nvGrpSpPr>
          <p:grpSpPr>
            <a:xfrm>
              <a:off x="43729" y="1517084"/>
              <a:ext cx="11670593" cy="755849"/>
              <a:chOff x="43729" y="1517084"/>
              <a:chExt cx="11670593" cy="755849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F359717-E733-A1FB-C220-5949D53FB81F}"/>
                  </a:ext>
                </a:extLst>
              </p:cNvPr>
              <p:cNvGrpSpPr/>
              <p:nvPr/>
            </p:nvGrpSpPr>
            <p:grpSpPr>
              <a:xfrm>
                <a:off x="43729" y="1517084"/>
                <a:ext cx="11670593" cy="755849"/>
                <a:chOff x="-275737" y="3476709"/>
                <a:chExt cx="12706639" cy="755849"/>
              </a:xfrm>
            </p:grpSpPr>
            <p:sp>
              <p:nvSpPr>
                <p:cNvPr id="53" name="Rechteck 6">
                  <a:extLst>
                    <a:ext uri="{FF2B5EF4-FFF2-40B4-BE49-F238E27FC236}">
                      <a16:creationId xmlns:a16="http://schemas.microsoft.com/office/drawing/2014/main" id="{4346CB33-9598-669C-957D-1712BE7C55DB}"/>
                    </a:ext>
                  </a:extLst>
                </p:cNvPr>
                <p:cNvSpPr/>
                <p:nvPr/>
              </p:nvSpPr>
              <p:spPr>
                <a:xfrm>
                  <a:off x="4102526" y="3564280"/>
                  <a:ext cx="1112412" cy="59274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1600">
                      <a:solidFill>
                        <a:schemeClr val="tx1"/>
                      </a:solidFill>
                    </a:rPr>
                    <a:t>ACMA 1</a:t>
                  </a:r>
                  <a:endParaRPr lang="en-US" sz="16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5" name="Flussdiagramm: Lochstreifen 31">
                  <a:extLst>
                    <a:ext uri="{FF2B5EF4-FFF2-40B4-BE49-F238E27FC236}">
                      <a16:creationId xmlns:a16="http://schemas.microsoft.com/office/drawing/2014/main" id="{08EED6ED-CF22-C08B-575D-EEFC3221ACFB}"/>
                    </a:ext>
                  </a:extLst>
                </p:cNvPr>
                <p:cNvSpPr/>
                <p:nvPr/>
              </p:nvSpPr>
              <p:spPr>
                <a:xfrm rot="5400000" flipH="1">
                  <a:off x="11787583" y="3589238"/>
                  <a:ext cx="700562" cy="586077"/>
                </a:xfrm>
                <a:prstGeom prst="flowChartPunchedTap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47" name="Flussdiagramm: Lochstreifen 31">
                  <a:extLst>
                    <a:ext uri="{FF2B5EF4-FFF2-40B4-BE49-F238E27FC236}">
                      <a16:creationId xmlns:a16="http://schemas.microsoft.com/office/drawing/2014/main" id="{2AD753EE-A41B-B7B2-264E-6D29FAC82752}"/>
                    </a:ext>
                  </a:extLst>
                </p:cNvPr>
                <p:cNvSpPr/>
                <p:nvPr/>
              </p:nvSpPr>
              <p:spPr>
                <a:xfrm rot="5400000" flipH="1">
                  <a:off x="-368481" y="3569453"/>
                  <a:ext cx="700562" cy="515074"/>
                </a:xfrm>
                <a:prstGeom prst="flowChartPunchedTape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</p:grp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3A348C4-59E9-4E46-37F9-513BAF176BAA}"/>
                  </a:ext>
                </a:extLst>
              </p:cNvPr>
              <p:cNvCxnSpPr/>
              <p:nvPr/>
            </p:nvCxnSpPr>
            <p:spPr>
              <a:xfrm>
                <a:off x="348778" y="2185359"/>
                <a:ext cx="10827253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DAA6BDFA-420D-CB5E-2B56-15E88EF88D08}"/>
                </a:ext>
              </a:extLst>
            </p:cNvPr>
            <p:cNvCxnSpPr>
              <a:cxnSpLocks/>
            </p:cNvCxnSpPr>
            <p:nvPr/>
          </p:nvCxnSpPr>
          <p:spPr>
            <a:xfrm>
              <a:off x="4065007" y="2177962"/>
              <a:ext cx="1021711" cy="0"/>
            </a:xfrm>
            <a:prstGeom prst="line">
              <a:avLst/>
            </a:prstGeom>
            <a:ln w="508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789F8A6-E8F3-AD2C-1EAD-1060F4D2FB88}"/>
              </a:ext>
            </a:extLst>
          </p:cNvPr>
          <p:cNvGrpSpPr/>
          <p:nvPr/>
        </p:nvGrpSpPr>
        <p:grpSpPr>
          <a:xfrm>
            <a:off x="319663" y="837240"/>
            <a:ext cx="11400660" cy="701938"/>
            <a:chOff x="319663" y="837240"/>
            <a:chExt cx="11400660" cy="70193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8B26B79-306D-91D5-E629-2C9DBF1C4C70}"/>
                </a:ext>
              </a:extLst>
            </p:cNvPr>
            <p:cNvGrpSpPr/>
            <p:nvPr/>
          </p:nvGrpSpPr>
          <p:grpSpPr>
            <a:xfrm>
              <a:off x="6610015" y="837240"/>
              <a:ext cx="5110308" cy="701938"/>
              <a:chOff x="6866934" y="3530620"/>
              <a:chExt cx="5563968" cy="701938"/>
            </a:xfrm>
          </p:grpSpPr>
          <p:sp>
            <p:nvSpPr>
              <p:cNvPr id="14" name="Rechteck 11">
                <a:extLst>
                  <a:ext uri="{FF2B5EF4-FFF2-40B4-BE49-F238E27FC236}">
                    <a16:creationId xmlns:a16="http://schemas.microsoft.com/office/drawing/2014/main" id="{5210187E-E796-79DC-A9A4-B78B9FF5080B}"/>
                  </a:ext>
                </a:extLst>
              </p:cNvPr>
              <p:cNvSpPr/>
              <p:nvPr/>
            </p:nvSpPr>
            <p:spPr>
              <a:xfrm>
                <a:off x="6866934" y="3530620"/>
                <a:ext cx="510281" cy="5927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b="1">
                    <a:solidFill>
                      <a:srgbClr val="0070C0"/>
                    </a:solidFill>
                  </a:rPr>
                  <a:t>…</a:t>
                </a:r>
              </a:p>
            </p:txBody>
          </p:sp>
          <p:sp>
            <p:nvSpPr>
              <p:cNvPr id="7" name="Flussdiagramm: Lochstreifen 31">
                <a:extLst>
                  <a:ext uri="{FF2B5EF4-FFF2-40B4-BE49-F238E27FC236}">
                    <a16:creationId xmlns:a16="http://schemas.microsoft.com/office/drawing/2014/main" id="{AABED986-1F41-DB74-1B64-B0E0D3E9F4A1}"/>
                  </a:ext>
                </a:extLst>
              </p:cNvPr>
              <p:cNvSpPr/>
              <p:nvPr/>
            </p:nvSpPr>
            <p:spPr>
              <a:xfrm rot="5400000" flipH="1">
                <a:off x="11787583" y="3589238"/>
                <a:ext cx="700562" cy="586077"/>
              </a:xfrm>
              <a:prstGeom prst="flowChartPunchedTap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3EF45258-C1F3-2812-7C5D-523632373395}"/>
                </a:ext>
              </a:extLst>
            </p:cNvPr>
            <p:cNvGrpSpPr/>
            <p:nvPr/>
          </p:nvGrpSpPr>
          <p:grpSpPr>
            <a:xfrm>
              <a:off x="319663" y="861460"/>
              <a:ext cx="10827253" cy="602181"/>
              <a:chOff x="319663" y="1437460"/>
              <a:chExt cx="10827253" cy="602181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3DC866B-BA9E-C56F-ABA8-F3B22840CCD2}"/>
                  </a:ext>
                </a:extLst>
              </p:cNvPr>
              <p:cNvCxnSpPr/>
              <p:nvPr/>
            </p:nvCxnSpPr>
            <p:spPr>
              <a:xfrm>
                <a:off x="319663" y="2036367"/>
                <a:ext cx="10827253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Rechteck 6">
                <a:extLst>
                  <a:ext uri="{FF2B5EF4-FFF2-40B4-BE49-F238E27FC236}">
                    <a16:creationId xmlns:a16="http://schemas.microsoft.com/office/drawing/2014/main" id="{7419498F-CDC9-C72C-F3AE-82BF13E11BCE}"/>
                  </a:ext>
                </a:extLst>
              </p:cNvPr>
              <p:cNvSpPr/>
              <p:nvPr/>
            </p:nvSpPr>
            <p:spPr>
              <a:xfrm>
                <a:off x="1271592" y="1442418"/>
                <a:ext cx="1021711" cy="5927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600">
                    <a:solidFill>
                      <a:schemeClr val="tx1"/>
                    </a:solidFill>
                  </a:rPr>
                  <a:t>ACMA 0</a:t>
                </a:r>
                <a:endParaRPr lang="en-US" sz="16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87CCA04-D432-5A32-D1CB-2518DBFF24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66752" y="2026737"/>
                <a:ext cx="1026551" cy="12904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Rechteck 6">
                <a:extLst>
                  <a:ext uri="{FF2B5EF4-FFF2-40B4-BE49-F238E27FC236}">
                    <a16:creationId xmlns:a16="http://schemas.microsoft.com/office/drawing/2014/main" id="{02EB53DF-83B2-A443-E3BC-F4F0BDA81A65}"/>
                  </a:ext>
                </a:extLst>
              </p:cNvPr>
              <p:cNvSpPr/>
              <p:nvPr/>
            </p:nvSpPr>
            <p:spPr>
              <a:xfrm>
                <a:off x="8963551" y="1437460"/>
                <a:ext cx="1021711" cy="5927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600">
                    <a:solidFill>
                      <a:schemeClr val="tx1"/>
                    </a:solidFill>
                  </a:rPr>
                  <a:t>ACMA 0</a:t>
                </a:r>
                <a:endParaRPr lang="en-US" sz="16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E5185360-A86E-DAF6-585B-D001D5286DE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958711" y="2021779"/>
                <a:ext cx="1026551" cy="12904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7" name="Flussdiagramm: Lochstreifen 31">
            <a:extLst>
              <a:ext uri="{FF2B5EF4-FFF2-40B4-BE49-F238E27FC236}">
                <a16:creationId xmlns:a16="http://schemas.microsoft.com/office/drawing/2014/main" id="{09D72C1B-BEE3-A1B5-D265-67C4C6B465FB}"/>
              </a:ext>
            </a:extLst>
          </p:cNvPr>
          <p:cNvSpPr/>
          <p:nvPr/>
        </p:nvSpPr>
        <p:spPr>
          <a:xfrm rot="5400000" flipH="1">
            <a:off x="11103296" y="2208989"/>
            <a:ext cx="700562" cy="538291"/>
          </a:xfrm>
          <a:prstGeom prst="flowChartPunchedTap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BE6BFBE-5E89-5D54-30DF-6C8778A0A457}"/>
              </a:ext>
            </a:extLst>
          </p:cNvPr>
          <p:cNvGrpSpPr/>
          <p:nvPr/>
        </p:nvGrpSpPr>
        <p:grpSpPr>
          <a:xfrm>
            <a:off x="44929" y="2252567"/>
            <a:ext cx="11670593" cy="755849"/>
            <a:chOff x="44929" y="2252567"/>
            <a:chExt cx="11670593" cy="755849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45D93614-3399-5062-EC41-ECE9C919579B}"/>
                </a:ext>
              </a:extLst>
            </p:cNvPr>
            <p:cNvGrpSpPr/>
            <p:nvPr/>
          </p:nvGrpSpPr>
          <p:grpSpPr>
            <a:xfrm>
              <a:off x="44929" y="2252567"/>
              <a:ext cx="11670593" cy="755849"/>
              <a:chOff x="-275737" y="3476709"/>
              <a:chExt cx="12706639" cy="755849"/>
            </a:xfrm>
          </p:grpSpPr>
          <p:sp>
            <p:nvSpPr>
              <p:cNvPr id="93" name="Rechteck 6">
                <a:extLst>
                  <a:ext uri="{FF2B5EF4-FFF2-40B4-BE49-F238E27FC236}">
                    <a16:creationId xmlns:a16="http://schemas.microsoft.com/office/drawing/2014/main" id="{81A3D7DA-47C8-0BF7-9AF7-3BA270A4774A}"/>
                  </a:ext>
                </a:extLst>
              </p:cNvPr>
              <p:cNvSpPr/>
              <p:nvPr/>
            </p:nvSpPr>
            <p:spPr>
              <a:xfrm>
                <a:off x="5422112" y="3564418"/>
                <a:ext cx="1112415" cy="59274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1600">
                    <a:solidFill>
                      <a:schemeClr val="tx1"/>
                    </a:solidFill>
                  </a:rPr>
                  <a:t>ACMA 2</a:t>
                </a:r>
                <a:endParaRPr 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Flussdiagramm: Lochstreifen 31">
                <a:extLst>
                  <a:ext uri="{FF2B5EF4-FFF2-40B4-BE49-F238E27FC236}">
                    <a16:creationId xmlns:a16="http://schemas.microsoft.com/office/drawing/2014/main" id="{6F446869-ED64-B9B1-123F-301E67A6F628}"/>
                  </a:ext>
                </a:extLst>
              </p:cNvPr>
              <p:cNvSpPr/>
              <p:nvPr/>
            </p:nvSpPr>
            <p:spPr>
              <a:xfrm rot="5400000" flipH="1">
                <a:off x="11787583" y="3589238"/>
                <a:ext cx="700562" cy="586077"/>
              </a:xfrm>
              <a:prstGeom prst="flowChartPunchedTap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91" name="Flussdiagramm: Lochstreifen 31">
                <a:extLst>
                  <a:ext uri="{FF2B5EF4-FFF2-40B4-BE49-F238E27FC236}">
                    <a16:creationId xmlns:a16="http://schemas.microsoft.com/office/drawing/2014/main" id="{541D0A36-6FB6-34CF-6F50-37BCB3DCF342}"/>
                  </a:ext>
                </a:extLst>
              </p:cNvPr>
              <p:cNvSpPr/>
              <p:nvPr/>
            </p:nvSpPr>
            <p:spPr>
              <a:xfrm rot="5400000" flipH="1">
                <a:off x="-368481" y="3569453"/>
                <a:ext cx="700562" cy="515074"/>
              </a:xfrm>
              <a:prstGeom prst="flowChartPunchedTap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</p:grp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4DA3F619-F229-33E3-C0A1-B0BB47BC08DC}"/>
                </a:ext>
              </a:extLst>
            </p:cNvPr>
            <p:cNvCxnSpPr/>
            <p:nvPr/>
          </p:nvCxnSpPr>
          <p:spPr>
            <a:xfrm>
              <a:off x="349978" y="2928159"/>
              <a:ext cx="10827253" cy="0"/>
            </a:xfrm>
            <a:prstGeom prst="line">
              <a:avLst/>
            </a:prstGeom>
            <a:ln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527F9C0-FBB5-BEAC-F6BF-507EA24C18D1}"/>
                </a:ext>
              </a:extLst>
            </p:cNvPr>
            <p:cNvCxnSpPr>
              <a:cxnSpLocks/>
            </p:cNvCxnSpPr>
            <p:nvPr/>
          </p:nvCxnSpPr>
          <p:spPr>
            <a:xfrm>
              <a:off x="5275807" y="2920762"/>
              <a:ext cx="1021711" cy="0"/>
            </a:xfrm>
            <a:prstGeom prst="line">
              <a:avLst/>
            </a:prstGeom>
            <a:ln w="508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899E98B6-A19A-262B-2C88-0789B0F60685}"/>
              </a:ext>
            </a:extLst>
          </p:cNvPr>
          <p:cNvGrpSpPr/>
          <p:nvPr/>
        </p:nvGrpSpPr>
        <p:grpSpPr>
          <a:xfrm>
            <a:off x="2937040" y="3008567"/>
            <a:ext cx="11670593" cy="755849"/>
            <a:chOff x="-275737" y="3476709"/>
            <a:chExt cx="12706639" cy="755849"/>
          </a:xfrm>
        </p:grpSpPr>
        <p:sp>
          <p:nvSpPr>
            <p:cNvPr id="99" name="Flussdiagramm: Lochstreifen 31">
              <a:extLst>
                <a:ext uri="{FF2B5EF4-FFF2-40B4-BE49-F238E27FC236}">
                  <a16:creationId xmlns:a16="http://schemas.microsoft.com/office/drawing/2014/main" id="{6AD239AF-BAE5-5E02-3655-63FDAF817ED4}"/>
                </a:ext>
              </a:extLst>
            </p:cNvPr>
            <p:cNvSpPr/>
            <p:nvPr/>
          </p:nvSpPr>
          <p:spPr>
            <a:xfrm rot="5400000" flipH="1">
              <a:off x="11787583" y="3589238"/>
              <a:ext cx="700562" cy="586077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100" name="Flussdiagramm: Lochstreifen 31">
              <a:extLst>
                <a:ext uri="{FF2B5EF4-FFF2-40B4-BE49-F238E27FC236}">
                  <a16:creationId xmlns:a16="http://schemas.microsoft.com/office/drawing/2014/main" id="{BCED8B7C-CE59-7D4D-0F28-304C6C66707E}"/>
                </a:ext>
              </a:extLst>
            </p:cNvPr>
            <p:cNvSpPr/>
            <p:nvPr/>
          </p:nvSpPr>
          <p:spPr>
            <a:xfrm rot="5400000" flipH="1">
              <a:off x="-368481" y="3569453"/>
              <a:ext cx="700562" cy="515074"/>
            </a:xfrm>
            <a:prstGeom prst="flowChartPunchedTap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247A08E-06B5-3B2C-DF8A-11079404D7CA}"/>
              </a:ext>
            </a:extLst>
          </p:cNvPr>
          <p:cNvGrpSpPr/>
          <p:nvPr/>
        </p:nvGrpSpPr>
        <p:grpSpPr>
          <a:xfrm>
            <a:off x="501178" y="3091418"/>
            <a:ext cx="10827253" cy="592741"/>
            <a:chOff x="501178" y="3091418"/>
            <a:chExt cx="10827253" cy="592741"/>
          </a:xfrm>
        </p:grpSpPr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2CA6319F-783D-D834-94DD-CE4C77EC8309}"/>
                </a:ext>
              </a:extLst>
            </p:cNvPr>
            <p:cNvCxnSpPr/>
            <p:nvPr/>
          </p:nvCxnSpPr>
          <p:spPr>
            <a:xfrm>
              <a:off x="501178" y="3684159"/>
              <a:ext cx="10827253" cy="0"/>
            </a:xfrm>
            <a:prstGeom prst="line">
              <a:avLst/>
            </a:prstGeom>
            <a:ln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7BF5BBB4-36B9-3FC8-EE4D-6C774835E0C8}"/>
                </a:ext>
              </a:extLst>
            </p:cNvPr>
            <p:cNvCxnSpPr>
              <a:cxnSpLocks/>
            </p:cNvCxnSpPr>
            <p:nvPr/>
          </p:nvCxnSpPr>
          <p:spPr>
            <a:xfrm>
              <a:off x="6949710" y="3681293"/>
              <a:ext cx="1021711" cy="0"/>
            </a:xfrm>
            <a:prstGeom prst="line">
              <a:avLst/>
            </a:prstGeom>
            <a:ln w="508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hteck 6">
              <a:extLst>
                <a:ext uri="{FF2B5EF4-FFF2-40B4-BE49-F238E27FC236}">
                  <a16:creationId xmlns:a16="http://schemas.microsoft.com/office/drawing/2014/main" id="{1BFF5C78-BBFF-A1F5-9CE7-487E4B6A9B4C}"/>
                </a:ext>
              </a:extLst>
            </p:cNvPr>
            <p:cNvSpPr/>
            <p:nvPr/>
          </p:nvSpPr>
          <p:spPr>
            <a:xfrm>
              <a:off x="6949708" y="3091418"/>
              <a:ext cx="1021713" cy="592741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1600">
                  <a:solidFill>
                    <a:schemeClr val="tx1"/>
                  </a:solidFill>
                </a:rPr>
                <a:t>ACMA N</a:t>
              </a:r>
              <a:endParaRPr 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0358C0D-4ECC-11A6-A84C-1F415116AD40}"/>
                </a:ext>
              </a:extLst>
            </p:cNvPr>
            <p:cNvCxnSpPr>
              <a:cxnSpLocks/>
            </p:cNvCxnSpPr>
            <p:nvPr/>
          </p:nvCxnSpPr>
          <p:spPr>
            <a:xfrm>
              <a:off x="6948829" y="3681293"/>
              <a:ext cx="1021711" cy="0"/>
            </a:xfrm>
            <a:prstGeom prst="line">
              <a:avLst/>
            </a:prstGeom>
            <a:ln w="508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C37FF54-1DBE-AD1A-54D1-01B5D965E18F}"/>
              </a:ext>
            </a:extLst>
          </p:cNvPr>
          <p:cNvGrpSpPr/>
          <p:nvPr/>
        </p:nvGrpSpPr>
        <p:grpSpPr>
          <a:xfrm>
            <a:off x="348777" y="4118269"/>
            <a:ext cx="11682701" cy="604615"/>
            <a:chOff x="348777" y="4118269"/>
            <a:chExt cx="11682701" cy="604615"/>
          </a:xfrm>
        </p:grpSpPr>
        <p:sp>
          <p:nvSpPr>
            <p:cNvPr id="55" name="Textfeld 29">
              <a:extLst>
                <a:ext uri="{FF2B5EF4-FFF2-40B4-BE49-F238E27FC236}">
                  <a16:creationId xmlns:a16="http://schemas.microsoft.com/office/drawing/2014/main" id="{381624E3-3ECD-48BC-82CE-EFBEDFC3BA3F}"/>
                </a:ext>
              </a:extLst>
            </p:cNvPr>
            <p:cNvSpPr txBox="1"/>
            <p:nvPr/>
          </p:nvSpPr>
          <p:spPr>
            <a:xfrm>
              <a:off x="11367514" y="4118269"/>
              <a:ext cx="66396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/>
                <a:t>t</a:t>
              </a:r>
              <a:r>
                <a:rPr lang="en-DE" sz="2000" err="1"/>
                <a:t>ime</a:t>
              </a:r>
              <a:endParaRPr lang="en-US" sz="2000"/>
            </a:p>
          </p:txBody>
        </p:sp>
        <p:cxnSp>
          <p:nvCxnSpPr>
            <p:cNvPr id="43" name="Gerade Verbindung mit Pfeil 28">
              <a:extLst>
                <a:ext uri="{FF2B5EF4-FFF2-40B4-BE49-F238E27FC236}">
                  <a16:creationId xmlns:a16="http://schemas.microsoft.com/office/drawing/2014/main" id="{304FBE31-C43B-4B40-B53A-5DB807B17B03}"/>
                </a:ext>
              </a:extLst>
            </p:cNvPr>
            <p:cNvCxnSpPr/>
            <p:nvPr/>
          </p:nvCxnSpPr>
          <p:spPr>
            <a:xfrm>
              <a:off x="11449704" y="4562963"/>
              <a:ext cx="55447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6DC2132-1FAD-A91B-9710-1414771EA1F2}"/>
                </a:ext>
              </a:extLst>
            </p:cNvPr>
            <p:cNvCxnSpPr/>
            <p:nvPr/>
          </p:nvCxnSpPr>
          <p:spPr>
            <a:xfrm>
              <a:off x="348777" y="4722884"/>
              <a:ext cx="10827253" cy="0"/>
            </a:xfrm>
            <a:prstGeom prst="line">
              <a:avLst/>
            </a:prstGeom>
            <a:ln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51DC46C4-F4B5-3C3E-DCAE-9A802FFD52A1}"/>
                </a:ext>
              </a:extLst>
            </p:cNvPr>
            <p:cNvCxnSpPr/>
            <p:nvPr/>
          </p:nvCxnSpPr>
          <p:spPr>
            <a:xfrm>
              <a:off x="366829" y="4132899"/>
              <a:ext cx="10827253" cy="0"/>
            </a:xfrm>
            <a:prstGeom prst="line">
              <a:avLst/>
            </a:prstGeom>
            <a:ln>
              <a:solidFill>
                <a:schemeClr val="bg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99456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210"/>
    </mc:Choice>
    <mc:Fallback xmlns="">
      <p:transition spd="slow" advTm="342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71" grpId="0" animBg="1"/>
      <p:bldP spid="63" grpId="0" animBg="1"/>
      <p:bldP spid="29" grpId="0" animBg="1"/>
      <p:bldP spid="31" grpId="0" animBg="1"/>
      <p:bldP spid="36" grpId="0" animBg="1"/>
      <p:bldP spid="7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3DDE3141-0D85-6DE2-A5BA-81731DC85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Common </a:t>
            </a:r>
            <a:r>
              <a:rPr lang="de-DE" err="1"/>
              <a:t>Configuration</a:t>
            </a:r>
            <a:endParaRPr lang="en-US"/>
          </a:p>
        </p:txBody>
      </p:sp>
      <p:sp>
        <p:nvSpPr>
          <p:cNvPr id="31" name="Speech Bubble: Rectangle with Corners Rounded 30">
            <a:extLst>
              <a:ext uri="{FF2B5EF4-FFF2-40B4-BE49-F238E27FC236}">
                <a16:creationId xmlns:a16="http://schemas.microsoft.com/office/drawing/2014/main" id="{6B774ABE-F6BB-0C0D-2D68-C05D78A1CBAA}"/>
              </a:ext>
            </a:extLst>
          </p:cNvPr>
          <p:cNvSpPr/>
          <p:nvPr/>
        </p:nvSpPr>
        <p:spPr>
          <a:xfrm>
            <a:off x="6318966" y="1066031"/>
            <a:ext cx="3839051" cy="870449"/>
          </a:xfrm>
          <a:prstGeom prst="wedgeRoundRectCallout">
            <a:avLst>
              <a:gd name="adj1" fmla="val 27857"/>
              <a:gd name="adj2" fmla="val -1528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/>
              <a:t>A</a:t>
            </a:r>
            <a:r>
              <a:rPr lang="en-DE" sz="1800" b="1"/>
              <a:t>CMAPOL =1  </a:t>
            </a:r>
            <a:r>
              <a:rPr lang="en-DE" sz="1800"/>
              <a:t>(ACMA Polarity) </a:t>
            </a:r>
          </a:p>
          <a:p>
            <a:pPr algn="ctr">
              <a:lnSpc>
                <a:spcPct val="150000"/>
              </a:lnSpc>
            </a:pPr>
            <a:r>
              <a:rPr lang="en-DE" sz="1800"/>
              <a:t>in</a:t>
            </a:r>
            <a:r>
              <a:rPr lang="en-DE" sz="1800" b="1"/>
              <a:t> PINCTRL </a:t>
            </a:r>
            <a:r>
              <a:rPr lang="en-DE" sz="1800"/>
              <a:t>(Pin Control Register)</a:t>
            </a:r>
            <a:endParaRPr lang="en-US" sz="180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F6F32D4-719F-6585-3411-823963BCB2D5}"/>
              </a:ext>
            </a:extLst>
          </p:cNvPr>
          <p:cNvGrpSpPr/>
          <p:nvPr/>
        </p:nvGrpSpPr>
        <p:grpSpPr>
          <a:xfrm>
            <a:off x="1827419" y="3071628"/>
            <a:ext cx="8060007" cy="1274579"/>
            <a:chOff x="3453020" y="5137510"/>
            <a:chExt cx="8060007" cy="127457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B238282-EEB4-222C-37C3-2200D54FE0B7}"/>
                </a:ext>
              </a:extLst>
            </p:cNvPr>
            <p:cNvGrpSpPr/>
            <p:nvPr/>
          </p:nvGrpSpPr>
          <p:grpSpPr>
            <a:xfrm>
              <a:off x="3453020" y="5137510"/>
              <a:ext cx="8060007" cy="1233121"/>
              <a:chOff x="1356360" y="2795202"/>
              <a:chExt cx="10293514" cy="139272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D512F010-2CA6-0AB5-D185-AA2D52C18D2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7357"/>
              <a:stretch/>
            </p:blipFill>
            <p:spPr>
              <a:xfrm>
                <a:off x="1356360" y="2795202"/>
                <a:ext cx="10293514" cy="480102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BD0D3FDA-3C5D-C1A7-1A25-8BAF089668C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357"/>
              <a:stretch/>
            </p:blipFill>
            <p:spPr>
              <a:xfrm>
                <a:off x="1356360" y="3707828"/>
                <a:ext cx="10293514" cy="480102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324C4BCE-061C-D35C-F539-5489701E6E3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7357"/>
              <a:stretch/>
            </p:blipFill>
            <p:spPr>
              <a:xfrm>
                <a:off x="1356360" y="3230097"/>
                <a:ext cx="10293514" cy="480102"/>
              </a:xfrm>
              <a:prstGeom prst="rect">
                <a:avLst/>
              </a:prstGeom>
            </p:spPr>
          </p:pic>
        </p:grp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2490DAE4-AE6F-5A16-8874-86AE361B0F6D}"/>
                </a:ext>
              </a:extLst>
            </p:cNvPr>
            <p:cNvSpPr/>
            <p:nvPr/>
          </p:nvSpPr>
          <p:spPr bwMode="auto">
            <a:xfrm rot="5400000">
              <a:off x="10549551" y="4628450"/>
              <a:ext cx="322201" cy="1604750"/>
            </a:xfrm>
            <a:prstGeom prst="roundRect">
              <a:avLst/>
            </a:prstGeom>
            <a:solidFill>
              <a:srgbClr val="3C75EB">
                <a:alpha val="1019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4" name="Rounded Rectangle 4">
              <a:extLst>
                <a:ext uri="{FF2B5EF4-FFF2-40B4-BE49-F238E27FC236}">
                  <a16:creationId xmlns:a16="http://schemas.microsoft.com/office/drawing/2014/main" id="{10184F30-6573-36EC-C7F9-D4FCFAA321B3}"/>
                </a:ext>
              </a:extLst>
            </p:cNvPr>
            <p:cNvSpPr/>
            <p:nvPr/>
          </p:nvSpPr>
          <p:spPr bwMode="auto">
            <a:xfrm>
              <a:off x="8295393" y="6083164"/>
              <a:ext cx="838088" cy="328925"/>
            </a:xfrm>
            <a:prstGeom prst="roundRect">
              <a:avLst/>
            </a:prstGeom>
            <a:solidFill>
              <a:schemeClr val="accent2">
                <a:alpha val="10196"/>
              </a:scheme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7E5E280A-C09A-F383-0709-35BB29F793C1}"/>
                </a:ext>
              </a:extLst>
            </p:cNvPr>
            <p:cNvSpPr/>
            <p:nvPr/>
          </p:nvSpPr>
          <p:spPr bwMode="auto">
            <a:xfrm rot="5400000">
              <a:off x="10950575" y="5412435"/>
              <a:ext cx="302454" cy="822448"/>
            </a:xfrm>
            <a:prstGeom prst="roundRect">
              <a:avLst/>
            </a:prstGeom>
            <a:solidFill>
              <a:srgbClr val="3C75EB">
                <a:alpha val="1019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AC5385-1512-B6B8-F305-46B9BEE3750A}"/>
              </a:ext>
            </a:extLst>
          </p:cNvPr>
          <p:cNvGrpSpPr/>
          <p:nvPr/>
        </p:nvGrpSpPr>
        <p:grpSpPr>
          <a:xfrm>
            <a:off x="6318966" y="2084852"/>
            <a:ext cx="3839051" cy="1145655"/>
            <a:chOff x="7483529" y="1660050"/>
            <a:chExt cx="3839051" cy="1145655"/>
          </a:xfrm>
        </p:grpSpPr>
        <p:sp>
          <p:nvSpPr>
            <p:cNvPr id="3" name="Callout: Line with No Border 2">
              <a:extLst>
                <a:ext uri="{FF2B5EF4-FFF2-40B4-BE49-F238E27FC236}">
                  <a16:creationId xmlns:a16="http://schemas.microsoft.com/office/drawing/2014/main" id="{522E60CB-B25B-216C-548E-4B77A21A7D2B}"/>
                </a:ext>
              </a:extLst>
            </p:cNvPr>
            <p:cNvSpPr/>
            <p:nvPr/>
          </p:nvSpPr>
          <p:spPr>
            <a:xfrm>
              <a:off x="9864092" y="2297921"/>
              <a:ext cx="475794" cy="507784"/>
            </a:xfrm>
            <a:prstGeom prst="callout1">
              <a:avLst>
                <a:gd name="adj1" fmla="val 25534"/>
                <a:gd name="adj2" fmla="val 217592"/>
                <a:gd name="adj3" fmla="val 182223"/>
                <a:gd name="adj4" fmla="val 217152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" name="Speech Bubble: Rectangle with Corners Rounded 3">
              <a:extLst>
                <a:ext uri="{FF2B5EF4-FFF2-40B4-BE49-F238E27FC236}">
                  <a16:creationId xmlns:a16="http://schemas.microsoft.com/office/drawing/2014/main" id="{2A53BEC6-6A1D-B776-5736-3EBE9BEBB453}"/>
                </a:ext>
              </a:extLst>
            </p:cNvPr>
            <p:cNvSpPr/>
            <p:nvPr/>
          </p:nvSpPr>
          <p:spPr>
            <a:xfrm>
              <a:off x="7483529" y="1660050"/>
              <a:ext cx="3839051" cy="914997"/>
            </a:xfrm>
            <a:prstGeom prst="wedgeRoundRectCallout">
              <a:avLst>
                <a:gd name="adj1" fmla="val 39613"/>
                <a:gd name="adj2" fmla="val -11240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800" b="1"/>
                <a:t>A</a:t>
              </a:r>
              <a:r>
                <a:rPr lang="en-DE" sz="1800" b="1"/>
                <a:t>CMAEN =1  </a:t>
              </a:r>
              <a:r>
                <a:rPr lang="en-DE" sz="1800"/>
                <a:t>(ACMA Enable) </a:t>
              </a:r>
            </a:p>
            <a:p>
              <a:pPr algn="ctr">
                <a:lnSpc>
                  <a:spcPct val="150000"/>
                </a:lnSpc>
              </a:pPr>
              <a:r>
                <a:rPr lang="en-DE" sz="1800"/>
                <a:t>in</a:t>
              </a:r>
              <a:r>
                <a:rPr lang="en-DE" sz="1800" b="1"/>
                <a:t> ACMACTL </a:t>
              </a:r>
              <a:r>
                <a:rPr lang="en-DE" sz="1800"/>
                <a:t>(ACMA Control Register)</a:t>
              </a:r>
              <a:endParaRPr lang="en-US" sz="180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695D312-7A13-9E33-8682-7DAD958AF278}"/>
              </a:ext>
            </a:extLst>
          </p:cNvPr>
          <p:cNvGrpSpPr/>
          <p:nvPr/>
        </p:nvGrpSpPr>
        <p:grpSpPr>
          <a:xfrm>
            <a:off x="5856917" y="4577866"/>
            <a:ext cx="3839051" cy="1778121"/>
            <a:chOff x="7483023" y="4564343"/>
            <a:chExt cx="3839051" cy="1778121"/>
          </a:xfrm>
        </p:grpSpPr>
        <p:sp>
          <p:nvSpPr>
            <p:cNvPr id="7" name="Callout: Line with No Border 6">
              <a:extLst>
                <a:ext uri="{FF2B5EF4-FFF2-40B4-BE49-F238E27FC236}">
                  <a16:creationId xmlns:a16="http://schemas.microsoft.com/office/drawing/2014/main" id="{46BAA9A6-C2FE-70AF-9950-307E7012E8D1}"/>
                </a:ext>
              </a:extLst>
            </p:cNvPr>
            <p:cNvSpPr/>
            <p:nvPr/>
          </p:nvSpPr>
          <p:spPr>
            <a:xfrm>
              <a:off x="8926755" y="4885810"/>
              <a:ext cx="475794" cy="507784"/>
            </a:xfrm>
            <a:prstGeom prst="callout1">
              <a:avLst>
                <a:gd name="adj1" fmla="val 44451"/>
                <a:gd name="adj2" fmla="val -45642"/>
                <a:gd name="adj3" fmla="val -105900"/>
                <a:gd name="adj4" fmla="val -44917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9B5BE3E1-9C75-A45F-5A24-B1413F018A34}"/>
                </a:ext>
              </a:extLst>
            </p:cNvPr>
            <p:cNvSpPr/>
            <p:nvPr/>
          </p:nvSpPr>
          <p:spPr>
            <a:xfrm>
              <a:off x="7483023" y="4564343"/>
              <a:ext cx="3839051" cy="1778121"/>
            </a:xfrm>
            <a:prstGeom prst="wedgeRoundRectCallout">
              <a:avLst>
                <a:gd name="adj1" fmla="val 29270"/>
                <a:gd name="adj2" fmla="val -10234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800" b="1"/>
                <a:t>Debugging: </a:t>
              </a:r>
            </a:p>
            <a:p>
              <a:pPr algn="ctr">
                <a:lnSpc>
                  <a:spcPct val="150000"/>
                </a:lnSpc>
              </a:pPr>
              <a:r>
                <a:rPr lang="en-US" sz="1800" b="1"/>
                <a:t>U</a:t>
              </a:r>
              <a:r>
                <a:rPr lang="en-DE" sz="1800" b="1"/>
                <a:t>NCRS  </a:t>
              </a:r>
              <a:r>
                <a:rPr lang="en-DE" sz="1800"/>
                <a:t>(Unexpected Carrier Sense) </a:t>
              </a:r>
            </a:p>
            <a:p>
              <a:pPr algn="ctr">
                <a:lnSpc>
                  <a:spcPct val="150000"/>
                </a:lnSpc>
              </a:pPr>
              <a:r>
                <a:rPr lang="en-DE" sz="1800"/>
                <a:t>in</a:t>
              </a:r>
              <a:r>
                <a:rPr lang="en-DE" sz="1800" b="1"/>
                <a:t> STS1  </a:t>
              </a:r>
              <a:r>
                <a:rPr lang="en-DE" sz="1800"/>
                <a:t>(Status1 Register)</a:t>
              </a:r>
              <a:r>
                <a:rPr lang="de-DE" sz="1800"/>
                <a:t> </a:t>
              </a:r>
              <a:r>
                <a:rPr lang="de-DE" sz="1800" err="1"/>
                <a:t>can</a:t>
              </a:r>
              <a:endParaRPr lang="de-DE" sz="1800"/>
            </a:p>
            <a:p>
              <a:pPr algn="ctr">
                <a:lnSpc>
                  <a:spcPct val="150000"/>
                </a:lnSpc>
              </a:pPr>
              <a:r>
                <a:rPr lang="de-DE" sz="1800"/>
                <a:t>Be </a:t>
              </a:r>
              <a:r>
                <a:rPr lang="en-DE" sz="1800"/>
                <a:t>signaled via </a:t>
              </a:r>
              <a:r>
                <a:rPr lang="en-DE" sz="1800" b="1"/>
                <a:t>interrupt</a:t>
              </a:r>
              <a:endParaRPr lang="en-US" sz="1800" b="1"/>
            </a:p>
          </p:txBody>
        </p:sp>
      </p:grpSp>
    </p:spTree>
    <p:extLst>
      <p:ext uri="{BB962C8B-B14F-4D97-AF65-F5344CB8AC3E}">
        <p14:creationId xmlns:p14="http://schemas.microsoft.com/office/powerpoint/2010/main" val="73388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>
            <a:extLst>
              <a:ext uri="{FF2B5EF4-FFF2-40B4-BE49-F238E27FC236}">
                <a16:creationId xmlns:a16="http://schemas.microsoft.com/office/drawing/2014/main" id="{E24B79F0-793E-7585-9AB7-BD276C8257E1}"/>
              </a:ext>
            </a:extLst>
          </p:cNvPr>
          <p:cNvGrpSpPr/>
          <p:nvPr/>
        </p:nvGrpSpPr>
        <p:grpSpPr>
          <a:xfrm>
            <a:off x="5889444" y="5448080"/>
            <a:ext cx="4157744" cy="886559"/>
            <a:chOff x="9528282" y="379278"/>
            <a:chExt cx="2595986" cy="735133"/>
          </a:xfrm>
        </p:grpSpPr>
        <p:sp>
          <p:nvSpPr>
            <p:cNvPr id="46" name="Callout: Line with No Border 45">
              <a:extLst>
                <a:ext uri="{FF2B5EF4-FFF2-40B4-BE49-F238E27FC236}">
                  <a16:creationId xmlns:a16="http://schemas.microsoft.com/office/drawing/2014/main" id="{A19EB082-85E5-D567-E1EF-B3696EB91B05}"/>
                </a:ext>
              </a:extLst>
            </p:cNvPr>
            <p:cNvSpPr/>
            <p:nvPr/>
          </p:nvSpPr>
          <p:spPr>
            <a:xfrm>
              <a:off x="9853468" y="521061"/>
              <a:ext cx="723900" cy="421054"/>
            </a:xfrm>
            <a:prstGeom prst="callout1">
              <a:avLst>
                <a:gd name="adj1" fmla="val -6378"/>
                <a:gd name="adj2" fmla="val -31677"/>
                <a:gd name="adj3" fmla="val 52786"/>
                <a:gd name="adj4" fmla="val -4443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7" name="Speech Bubble: Rectangle with Corners Rounded 46">
              <a:extLst>
                <a:ext uri="{FF2B5EF4-FFF2-40B4-BE49-F238E27FC236}">
                  <a16:creationId xmlns:a16="http://schemas.microsoft.com/office/drawing/2014/main" id="{96A410EC-3873-FD1A-59C5-47D1FFCDB976}"/>
                </a:ext>
              </a:extLst>
            </p:cNvPr>
            <p:cNvSpPr/>
            <p:nvPr/>
          </p:nvSpPr>
          <p:spPr>
            <a:xfrm>
              <a:off x="9528282" y="379278"/>
              <a:ext cx="2595986" cy="735133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ACMA pin available </a:t>
              </a:r>
            </a:p>
            <a:p>
              <a:pPr lvl="0" algn="ctr">
                <a:defRPr/>
              </a:pPr>
              <a:r>
                <a:rPr lang="de-DE" sz="1800" b="1">
                  <a:solidFill>
                    <a:srgbClr val="FFFFFF"/>
                  </a:solidFill>
                </a:rPr>
                <a:t>in </a:t>
              </a:r>
              <a:r>
                <a:rPr lang="de-DE" sz="1800" b="1" err="1">
                  <a:solidFill>
                    <a:srgbClr val="FFFFFF"/>
                  </a:solidFill>
                </a:rPr>
                <a:t>each</a:t>
              </a:r>
              <a:r>
                <a:rPr lang="de-DE" sz="1800" b="1">
                  <a:solidFill>
                    <a:srgbClr val="FFFFFF"/>
                  </a:solidFill>
                </a:rPr>
                <a:t> LAN867x variant</a:t>
              </a:r>
            </a:p>
            <a:p>
              <a:pPr lvl="0" algn="ctr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Sometimes </a:t>
              </a:r>
              <a:r>
                <a:rPr lang="de-DE" sz="1800" b="1" err="1">
                  <a:solidFill>
                    <a:srgbClr val="FFFFFF"/>
                  </a:solidFill>
                </a:rPr>
                <a:t>muxed</a:t>
              </a:r>
              <a:r>
                <a:rPr lang="de-DE" sz="1800" b="1">
                  <a:solidFill>
                    <a:srgbClr val="FFFFFF"/>
                  </a:solidFill>
                </a:rPr>
                <a:t> </a:t>
              </a:r>
              <a:r>
                <a:rPr lang="de-DE" sz="1800" b="1" err="1">
                  <a:solidFill>
                    <a:srgbClr val="FFFFFF"/>
                  </a:solidFill>
                </a:rPr>
                <a:t>with</a:t>
              </a:r>
              <a:r>
                <a:rPr lang="de-DE" sz="1800" b="1">
                  <a:solidFill>
                    <a:srgbClr val="FFFFFF"/>
                  </a:solidFill>
                </a:rPr>
                <a:t> </a:t>
              </a:r>
              <a:r>
                <a:rPr lang="de-DE" sz="1800" b="1" err="1">
                  <a:solidFill>
                    <a:srgbClr val="FFFFFF"/>
                  </a:solidFill>
                </a:rPr>
                <a:t>other</a:t>
              </a:r>
              <a:r>
                <a:rPr lang="de-DE" sz="1800" b="1">
                  <a:solidFill>
                    <a:srgbClr val="FFFFFF"/>
                  </a:solidFill>
                </a:rPr>
                <a:t> </a:t>
              </a:r>
              <a:r>
                <a:rPr lang="de-DE" sz="1800" b="1" err="1">
                  <a:solidFill>
                    <a:srgbClr val="FFFFFF"/>
                  </a:solidFill>
                </a:rPr>
                <a:t>functions</a:t>
              </a:r>
              <a:endParaRPr lang="en-US" sz="1800" b="1">
                <a:solidFill>
                  <a:srgbClr val="FFFFFF"/>
                </a:solidFill>
              </a:endParaRPr>
            </a:p>
          </p:txBody>
        </p:sp>
      </p:grpSp>
      <p:sp>
        <p:nvSpPr>
          <p:cNvPr id="31" name="Title 30">
            <a:extLst>
              <a:ext uri="{FF2B5EF4-FFF2-40B4-BE49-F238E27FC236}">
                <a16:creationId xmlns:a16="http://schemas.microsoft.com/office/drawing/2014/main" id="{01D04237-AB17-1391-7612-AA22E008F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96838"/>
            <a:ext cx="11399838" cy="819350"/>
          </a:xfrm>
        </p:spPr>
        <p:txBody>
          <a:bodyPr/>
          <a:lstStyle/>
          <a:p>
            <a:r>
              <a:rPr lang="de-DE"/>
              <a:t>LAN8670 in RMII Mode</a:t>
            </a:r>
            <a:endParaRPr lang="en-US"/>
          </a:p>
        </p:txBody>
      </p:sp>
      <p:sp>
        <p:nvSpPr>
          <p:cNvPr id="35" name="Content Placeholder 1">
            <a:extLst>
              <a:ext uri="{FF2B5EF4-FFF2-40B4-BE49-F238E27FC236}">
                <a16:creationId xmlns:a16="http://schemas.microsoft.com/office/drawing/2014/main" id="{6CEFD6CA-154A-B574-A8B0-12C50C10BD7B}"/>
              </a:ext>
            </a:extLst>
          </p:cNvPr>
          <p:cNvSpPr txBox="1">
            <a:spLocks/>
          </p:cNvSpPr>
          <p:nvPr/>
        </p:nvSpPr>
        <p:spPr>
          <a:xfrm>
            <a:off x="3596672" y="238138"/>
            <a:ext cx="8474035" cy="6313133"/>
          </a:xfrm>
          <a:prstGeom prst="rect">
            <a:avLst/>
          </a:prstGeom>
        </p:spPr>
        <p:txBody>
          <a:bodyPr vert="horz" wrap="square" lIns="121888" tIns="60944" rIns="121888" bIns="60944" rtlCol="0">
            <a:noAutofit/>
          </a:bodyPr>
          <a:lstStyle>
            <a:lvl1pPr marL="274201" indent="-468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576072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468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  <a:p>
            <a:pPr marL="468000">
              <a:lnSpc>
                <a:spcPct val="150000"/>
              </a:lnSpc>
            </a:pPr>
            <a:endParaRPr lang="en-DE" b="1">
              <a:solidFill>
                <a:schemeClr val="accent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4D196B-CB8A-73E1-B9CC-3A6DDAA8B6F4}"/>
              </a:ext>
            </a:extLst>
          </p:cNvPr>
          <p:cNvGrpSpPr/>
          <p:nvPr/>
        </p:nvGrpSpPr>
        <p:grpSpPr>
          <a:xfrm>
            <a:off x="2156397" y="2496189"/>
            <a:ext cx="2820653" cy="1987603"/>
            <a:chOff x="8130598" y="480395"/>
            <a:chExt cx="3587957" cy="290028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E6B91DB-0E19-0721-362C-B20987D4AB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b="20724"/>
            <a:stretch/>
          </p:blipFill>
          <p:spPr>
            <a:xfrm>
              <a:off x="8130598" y="480395"/>
              <a:ext cx="3587957" cy="29002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8CC7DEBC-1110-26A0-758C-DC0118B54120}"/>
                </a:ext>
              </a:extLst>
            </p:cNvPr>
            <p:cNvSpPr/>
            <p:nvPr/>
          </p:nvSpPr>
          <p:spPr bwMode="auto">
            <a:xfrm>
              <a:off x="10918759" y="716276"/>
              <a:ext cx="779474" cy="2664404"/>
            </a:xfrm>
            <a:prstGeom prst="roundRect">
              <a:avLst/>
            </a:prstGeom>
            <a:solidFill>
              <a:schemeClr val="accent2">
                <a:alpha val="1176"/>
              </a:scheme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B89E5C0-92DE-EDA9-01DE-CA61C600D816}"/>
              </a:ext>
            </a:extLst>
          </p:cNvPr>
          <p:cNvGrpSpPr/>
          <p:nvPr/>
        </p:nvGrpSpPr>
        <p:grpSpPr>
          <a:xfrm>
            <a:off x="6089916" y="612675"/>
            <a:ext cx="4642869" cy="3876767"/>
            <a:chOff x="3383356" y="1153166"/>
            <a:chExt cx="5657824" cy="5128506"/>
          </a:xfrm>
          <a:solidFill>
            <a:srgbClr val="D9D9D9">
              <a:alpha val="89804"/>
            </a:srgbClr>
          </a:solidFill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1080C2AB-0010-304B-0B19-DA9C1515A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83356" y="1153166"/>
              <a:ext cx="5657824" cy="5128506"/>
            </a:xfrm>
            <a:prstGeom prst="rect">
              <a:avLst/>
            </a:prstGeom>
            <a:grpFill/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F670D16-7FE5-0B55-4BD1-04754697441E}"/>
                </a:ext>
              </a:extLst>
            </p:cNvPr>
            <p:cNvSpPr/>
            <p:nvPr/>
          </p:nvSpPr>
          <p:spPr>
            <a:xfrm>
              <a:off x="5091132" y="5671651"/>
              <a:ext cx="199125" cy="545456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B332A88-78EE-1946-AE11-E3B62E2DE308}"/>
                </a:ext>
              </a:extLst>
            </p:cNvPr>
            <p:cNvSpPr/>
            <p:nvPr/>
          </p:nvSpPr>
          <p:spPr>
            <a:xfrm>
              <a:off x="5382617" y="5598160"/>
              <a:ext cx="199125" cy="618947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70D9CC-1781-A17B-D4DA-5E96B6F55FE5}"/>
                </a:ext>
              </a:extLst>
            </p:cNvPr>
            <p:cNvSpPr/>
            <p:nvPr/>
          </p:nvSpPr>
          <p:spPr>
            <a:xfrm>
              <a:off x="6259083" y="5780773"/>
              <a:ext cx="199125" cy="43633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5B4AE8-B337-7D93-FFED-BC20368A8D1F}"/>
                </a:ext>
              </a:extLst>
            </p:cNvPr>
            <p:cNvSpPr/>
            <p:nvPr/>
          </p:nvSpPr>
          <p:spPr>
            <a:xfrm rot="5400000">
              <a:off x="7577151" y="4231967"/>
              <a:ext cx="199125" cy="1057987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D2AFE5-B9C2-4668-CC12-17F7F2E0ABD2}"/>
                </a:ext>
              </a:extLst>
            </p:cNvPr>
            <p:cNvSpPr/>
            <p:nvPr/>
          </p:nvSpPr>
          <p:spPr>
            <a:xfrm rot="5400000">
              <a:off x="7260172" y="3669799"/>
              <a:ext cx="199125" cy="43633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A82093C-F8D1-9305-91FD-6F9BD5FCE036}"/>
                </a:ext>
              </a:extLst>
            </p:cNvPr>
            <p:cNvSpPr/>
            <p:nvPr/>
          </p:nvSpPr>
          <p:spPr>
            <a:xfrm rot="5400000">
              <a:off x="3822703" y="3409579"/>
              <a:ext cx="199125" cy="370837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9F3272A-4F51-172B-959E-6404B5738EEB}"/>
                </a:ext>
              </a:extLst>
            </p:cNvPr>
            <p:cNvSpPr/>
            <p:nvPr/>
          </p:nvSpPr>
          <p:spPr>
            <a:xfrm rot="5400000">
              <a:off x="3822703" y="3120960"/>
              <a:ext cx="199125" cy="370837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08B8093-0ABF-E048-E0F5-F06CCBB90A81}"/>
                </a:ext>
              </a:extLst>
            </p:cNvPr>
            <p:cNvSpPr/>
            <p:nvPr/>
          </p:nvSpPr>
          <p:spPr>
            <a:xfrm rot="10800000">
              <a:off x="5672094" y="1925321"/>
              <a:ext cx="199125" cy="30128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D796A70-92A7-0A42-28A3-E2E254F4DA94}"/>
                </a:ext>
              </a:extLst>
            </p:cNvPr>
            <p:cNvSpPr/>
            <p:nvPr/>
          </p:nvSpPr>
          <p:spPr>
            <a:xfrm rot="10800000">
              <a:off x="5969523" y="1925320"/>
              <a:ext cx="199125" cy="301284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86FE12-DED9-FCCB-A9A5-4CFDF37A8873}"/>
                </a:ext>
              </a:extLst>
            </p:cNvPr>
            <p:cNvSpPr/>
            <p:nvPr/>
          </p:nvSpPr>
          <p:spPr>
            <a:xfrm rot="5400000">
              <a:off x="7253281" y="2507044"/>
              <a:ext cx="199125" cy="422552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54A3033-8DEE-D8B5-3AA2-7D16E7E95CE2}"/>
                </a:ext>
              </a:extLst>
            </p:cNvPr>
            <p:cNvSpPr/>
            <p:nvPr/>
          </p:nvSpPr>
          <p:spPr>
            <a:xfrm rot="5400000">
              <a:off x="7253280" y="2803696"/>
              <a:ext cx="199125" cy="422552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79C6C7A-1158-021B-A4A5-A051659AA815}"/>
                </a:ext>
              </a:extLst>
            </p:cNvPr>
            <p:cNvSpPr/>
            <p:nvPr/>
          </p:nvSpPr>
          <p:spPr>
            <a:xfrm rot="5400000">
              <a:off x="3824441" y="2835930"/>
              <a:ext cx="199125" cy="370837"/>
            </a:xfrm>
            <a:prstGeom prst="rect">
              <a:avLst/>
            </a:prstGeom>
            <a:grp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13D4C87-6AEA-2B1C-9E55-A7677DC08433}"/>
              </a:ext>
            </a:extLst>
          </p:cNvPr>
          <p:cNvGrpSpPr/>
          <p:nvPr/>
        </p:nvGrpSpPr>
        <p:grpSpPr>
          <a:xfrm>
            <a:off x="6720763" y="2347664"/>
            <a:ext cx="2394019" cy="1325841"/>
            <a:chOff x="8030664" y="2618908"/>
            <a:chExt cx="2394019" cy="1325841"/>
          </a:xfrm>
        </p:grpSpPr>
        <p:sp>
          <p:nvSpPr>
            <p:cNvPr id="25" name="Rounded Rectangle 4">
              <a:extLst>
                <a:ext uri="{FF2B5EF4-FFF2-40B4-BE49-F238E27FC236}">
                  <a16:creationId xmlns:a16="http://schemas.microsoft.com/office/drawing/2014/main" id="{E259AE92-7B10-70D3-E689-3ABC948FB647}"/>
                </a:ext>
              </a:extLst>
            </p:cNvPr>
            <p:cNvSpPr/>
            <p:nvPr/>
          </p:nvSpPr>
          <p:spPr bwMode="auto">
            <a:xfrm>
              <a:off x="8030664" y="2837128"/>
              <a:ext cx="264400" cy="659587"/>
            </a:xfrm>
            <a:prstGeom prst="roundRect">
              <a:avLst/>
            </a:prstGeom>
            <a:solidFill>
              <a:srgbClr val="3C75EB">
                <a:alpha val="1019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6" name="Rounded Rectangle 4">
              <a:extLst>
                <a:ext uri="{FF2B5EF4-FFF2-40B4-BE49-F238E27FC236}">
                  <a16:creationId xmlns:a16="http://schemas.microsoft.com/office/drawing/2014/main" id="{B9163066-6E3F-FD59-8C2C-E4A0050A9831}"/>
                </a:ext>
              </a:extLst>
            </p:cNvPr>
            <p:cNvSpPr/>
            <p:nvPr/>
          </p:nvSpPr>
          <p:spPr bwMode="auto">
            <a:xfrm>
              <a:off x="9945044" y="3686404"/>
              <a:ext cx="242241" cy="258345"/>
            </a:xfrm>
            <a:prstGeom prst="roundRect">
              <a:avLst/>
            </a:prstGeom>
            <a:solidFill>
              <a:srgbClr val="3C75EB">
                <a:alpha val="1019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8" name="Rounded Rectangle 4">
              <a:extLst>
                <a:ext uri="{FF2B5EF4-FFF2-40B4-BE49-F238E27FC236}">
                  <a16:creationId xmlns:a16="http://schemas.microsoft.com/office/drawing/2014/main" id="{3309986B-529E-9768-D636-00E78DB70C02}"/>
                </a:ext>
              </a:extLst>
            </p:cNvPr>
            <p:cNvSpPr/>
            <p:nvPr/>
          </p:nvSpPr>
          <p:spPr bwMode="auto">
            <a:xfrm rot="16200000">
              <a:off x="9954663" y="2808476"/>
              <a:ext cx="659587" cy="280452"/>
            </a:xfrm>
            <a:prstGeom prst="roundRect">
              <a:avLst/>
            </a:prstGeom>
            <a:solidFill>
              <a:srgbClr val="3C75EB">
                <a:alpha val="1019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29" name="Rounded Rectangle 4">
            <a:extLst>
              <a:ext uri="{FF2B5EF4-FFF2-40B4-BE49-F238E27FC236}">
                <a16:creationId xmlns:a16="http://schemas.microsoft.com/office/drawing/2014/main" id="{AA97C990-3990-F6DF-FCE0-0494D59BA8E7}"/>
              </a:ext>
            </a:extLst>
          </p:cNvPr>
          <p:cNvSpPr/>
          <p:nvPr/>
        </p:nvSpPr>
        <p:spPr bwMode="auto">
          <a:xfrm>
            <a:off x="7443932" y="3416766"/>
            <a:ext cx="242241" cy="611545"/>
          </a:xfrm>
          <a:prstGeom prst="round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chemeClr val="accent2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57F190-C3C1-ABF7-9CC7-FCBD6D9BA530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961074" y="3570817"/>
            <a:ext cx="2513179" cy="1197"/>
          </a:xfrm>
          <a:prstGeom prst="line">
            <a:avLst/>
          </a:prstGeom>
          <a:ln w="2857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E09E63F-A70D-FC80-0C66-D2C81482ECAA}"/>
              </a:ext>
            </a:extLst>
          </p:cNvPr>
          <p:cNvGrpSpPr/>
          <p:nvPr/>
        </p:nvGrpSpPr>
        <p:grpSpPr>
          <a:xfrm>
            <a:off x="3254822" y="1249943"/>
            <a:ext cx="1706252" cy="906103"/>
            <a:chOff x="4035201" y="1240906"/>
            <a:chExt cx="1706252" cy="906103"/>
          </a:xfrm>
        </p:grpSpPr>
        <p:sp>
          <p:nvSpPr>
            <p:cNvPr id="30" name="Callout: Line with No Border 29">
              <a:extLst>
                <a:ext uri="{FF2B5EF4-FFF2-40B4-BE49-F238E27FC236}">
                  <a16:creationId xmlns:a16="http://schemas.microsoft.com/office/drawing/2014/main" id="{2892A060-AA93-CF76-E1E0-358BD577761A}"/>
                </a:ext>
              </a:extLst>
            </p:cNvPr>
            <p:cNvSpPr/>
            <p:nvPr/>
          </p:nvSpPr>
          <p:spPr>
            <a:xfrm>
              <a:off x="4759799" y="1486825"/>
              <a:ext cx="475794" cy="507784"/>
            </a:xfrm>
            <a:prstGeom prst="callout1">
              <a:avLst>
                <a:gd name="adj1" fmla="val 23254"/>
                <a:gd name="adj2" fmla="val 195697"/>
                <a:gd name="adj3" fmla="val 46962"/>
                <a:gd name="adj4" fmla="val 15503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32" name="Callout: Line with No Border 31">
              <a:extLst>
                <a:ext uri="{FF2B5EF4-FFF2-40B4-BE49-F238E27FC236}">
                  <a16:creationId xmlns:a16="http://schemas.microsoft.com/office/drawing/2014/main" id="{6732BEE0-E97D-AD35-0555-868068167297}"/>
                </a:ext>
              </a:extLst>
            </p:cNvPr>
            <p:cNvSpPr/>
            <p:nvPr/>
          </p:nvSpPr>
          <p:spPr>
            <a:xfrm>
              <a:off x="4912199" y="1639225"/>
              <a:ext cx="475794" cy="507784"/>
            </a:xfrm>
            <a:prstGeom prst="callout1">
              <a:avLst>
                <a:gd name="adj1" fmla="val 14137"/>
                <a:gd name="adj2" fmla="val 168938"/>
                <a:gd name="adj3" fmla="val 12770"/>
                <a:gd name="adj4" fmla="val 123412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0AC2684-1896-5127-4A05-4736C3E434DE}"/>
                </a:ext>
              </a:extLst>
            </p:cNvPr>
            <p:cNvGrpSpPr/>
            <p:nvPr/>
          </p:nvGrpSpPr>
          <p:grpSpPr>
            <a:xfrm>
              <a:off x="4035201" y="1240906"/>
              <a:ext cx="1706252" cy="694824"/>
              <a:chOff x="9509540" y="447500"/>
              <a:chExt cx="2595986" cy="576147"/>
            </a:xfrm>
          </p:grpSpPr>
          <p:sp>
            <p:nvSpPr>
              <p:cNvPr id="23" name="Callout: Line with No Border 22">
                <a:extLst>
                  <a:ext uri="{FF2B5EF4-FFF2-40B4-BE49-F238E27FC236}">
                    <a16:creationId xmlns:a16="http://schemas.microsoft.com/office/drawing/2014/main" id="{B91AF92D-D654-9337-30BD-74DB8548F167}"/>
                  </a:ext>
                </a:extLst>
              </p:cNvPr>
              <p:cNvSpPr/>
              <p:nvPr/>
            </p:nvSpPr>
            <p:spPr>
              <a:xfrm>
                <a:off x="10380113" y="525046"/>
                <a:ext cx="723900" cy="421054"/>
              </a:xfrm>
              <a:prstGeom prst="callout1">
                <a:avLst>
                  <a:gd name="adj1" fmla="val 25534"/>
                  <a:gd name="adj2" fmla="val 217592"/>
                  <a:gd name="adj3" fmla="val 242248"/>
                  <a:gd name="adj4" fmla="val 598026"/>
                </a:avLst>
              </a:prstGeom>
              <a:noFill/>
              <a:ln w="28575" cap="rnd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softEdge rad="0"/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 b="1"/>
              </a:p>
            </p:txBody>
          </p:sp>
          <p:sp>
            <p:nvSpPr>
              <p:cNvPr id="27" name="Speech Bubble: Rectangle with Corners Rounded 26">
                <a:extLst>
                  <a:ext uri="{FF2B5EF4-FFF2-40B4-BE49-F238E27FC236}">
                    <a16:creationId xmlns:a16="http://schemas.microsoft.com/office/drawing/2014/main" id="{9A41C881-721F-0875-419E-5FAA7806058C}"/>
                  </a:ext>
                </a:extLst>
              </p:cNvPr>
              <p:cNvSpPr/>
              <p:nvPr/>
            </p:nvSpPr>
            <p:spPr>
              <a:xfrm>
                <a:off x="9509540" y="447500"/>
                <a:ext cx="2595986" cy="576147"/>
              </a:xfrm>
              <a:prstGeom prst="wedgeRoundRectCallout">
                <a:avLst>
                  <a:gd name="adj1" fmla="val -6014"/>
                  <a:gd name="adj2" fmla="val 10491"/>
                  <a:gd name="adj3" fmla="val 16667"/>
                </a:avLst>
              </a:prstGeom>
              <a:solidFill>
                <a:srgbClr val="1879C5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45720" rIns="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en-US"/>
                </a:defPPr>
                <a:lvl1pPr marL="0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60944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1218885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828328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243777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3047213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3656656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4266097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4875541" algn="l" defTabSz="609443" rtl="0" eaLnBrk="1" latinLnBrk="0" hangingPunct="1">
                  <a:defRPr sz="2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1800" b="1"/>
                  <a:t>R</a:t>
                </a:r>
                <a:r>
                  <a:rPr lang="en-DE" sz="1800" b="1"/>
                  <a:t>MII Interface</a:t>
                </a:r>
                <a:endParaRPr lang="en-US" sz="1800" b="1"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A5A8B10-9732-6594-5E5F-718FBF28BE92}"/>
              </a:ext>
            </a:extLst>
          </p:cNvPr>
          <p:cNvGrpSpPr/>
          <p:nvPr/>
        </p:nvGrpSpPr>
        <p:grpSpPr>
          <a:xfrm>
            <a:off x="5889448" y="4630950"/>
            <a:ext cx="4157742" cy="694823"/>
            <a:chOff x="9509540" y="493452"/>
            <a:chExt cx="3087777" cy="576147"/>
          </a:xfrm>
        </p:grpSpPr>
        <p:sp>
          <p:nvSpPr>
            <p:cNvPr id="40" name="Callout: Line with No Border 39">
              <a:extLst>
                <a:ext uri="{FF2B5EF4-FFF2-40B4-BE49-F238E27FC236}">
                  <a16:creationId xmlns:a16="http://schemas.microsoft.com/office/drawing/2014/main" id="{6600DF60-431D-7E26-1762-C5FE5E53AC57}"/>
                </a:ext>
              </a:extLst>
            </p:cNvPr>
            <p:cNvSpPr/>
            <p:nvPr/>
          </p:nvSpPr>
          <p:spPr>
            <a:xfrm>
              <a:off x="10738183" y="525046"/>
              <a:ext cx="723900" cy="421054"/>
            </a:xfrm>
            <a:prstGeom prst="callout1">
              <a:avLst>
                <a:gd name="adj1" fmla="val -2090"/>
                <a:gd name="adj2" fmla="val 2571"/>
                <a:gd name="adj3" fmla="val -120898"/>
                <a:gd name="adj4" fmla="val 3355"/>
              </a:avLst>
            </a:prstGeom>
            <a:noFill/>
            <a:ln w="28575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41" name="Speech Bubble: Rectangle with Corners Rounded 40">
              <a:extLst>
                <a:ext uri="{FF2B5EF4-FFF2-40B4-BE49-F238E27FC236}">
                  <a16:creationId xmlns:a16="http://schemas.microsoft.com/office/drawing/2014/main" id="{EC2F4A83-9BFC-CC14-CACD-00C43B110960}"/>
                </a:ext>
              </a:extLst>
            </p:cNvPr>
            <p:cNvSpPr/>
            <p:nvPr/>
          </p:nvSpPr>
          <p:spPr>
            <a:xfrm>
              <a:off x="9509540" y="493452"/>
              <a:ext cx="3087777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Dedicated ACMA pin available </a:t>
              </a:r>
            </a:p>
            <a:p>
              <a:pPr lvl="0" algn="ctr">
                <a:defRPr/>
              </a:pPr>
              <a:r>
                <a:rPr lang="en-DE" sz="1800" b="1">
                  <a:solidFill>
                    <a:srgbClr val="FFFFFF"/>
                  </a:solidFill>
                </a:rPr>
                <a:t>in RMII / SC-MII mode, if enabled</a:t>
              </a:r>
              <a:endParaRPr lang="en-US" sz="1800" b="1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6860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7A61AF-0BD6-A73C-0B14-D3B8C795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LAN8650 </a:t>
            </a:r>
            <a:r>
              <a:rPr lang="en-DE"/>
              <a:t>ACMA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6D3B02-9880-DF39-530C-69C9424E3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/>
              <a:t>Internal </a:t>
            </a:r>
            <a:r>
              <a:rPr lang="de-DE" err="1"/>
              <a:t>or</a:t>
            </a:r>
            <a:r>
              <a:rPr lang="de-DE"/>
              <a:t> External Source</a:t>
            </a:r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205E7CE-1BAB-F29D-65AC-079EB77B6A4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45413-D953-BDD8-F6C4-2FCF88AC3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07" y="2257907"/>
            <a:ext cx="4974950" cy="304061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6F807434-6764-5B0C-196D-38F375918BB3}"/>
              </a:ext>
            </a:extLst>
          </p:cNvPr>
          <p:cNvGrpSpPr/>
          <p:nvPr/>
        </p:nvGrpSpPr>
        <p:grpSpPr>
          <a:xfrm>
            <a:off x="6274791" y="839269"/>
            <a:ext cx="3227178" cy="3040611"/>
            <a:chOff x="7237126" y="2360536"/>
            <a:chExt cx="4197674" cy="2157451"/>
          </a:xfrm>
        </p:grpSpPr>
        <p:sp>
          <p:nvSpPr>
            <p:cNvPr id="7" name="Callout: Line with No Border 6">
              <a:extLst>
                <a:ext uri="{FF2B5EF4-FFF2-40B4-BE49-F238E27FC236}">
                  <a16:creationId xmlns:a16="http://schemas.microsoft.com/office/drawing/2014/main" id="{767A7EAD-74B8-EA5C-A3CD-D39AB73AED93}"/>
                </a:ext>
              </a:extLst>
            </p:cNvPr>
            <p:cNvSpPr/>
            <p:nvPr/>
          </p:nvSpPr>
          <p:spPr>
            <a:xfrm>
              <a:off x="8386344" y="2796762"/>
              <a:ext cx="892170" cy="573457"/>
            </a:xfrm>
            <a:prstGeom prst="callout1">
              <a:avLst>
                <a:gd name="adj1" fmla="val 90751"/>
                <a:gd name="adj2" fmla="val -126107"/>
                <a:gd name="adj3" fmla="val 261215"/>
                <a:gd name="adj4" fmla="val -347805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24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A6F94B84-A7F8-51B9-A6AA-1A2F1959B56F}"/>
                </a:ext>
              </a:extLst>
            </p:cNvPr>
            <p:cNvSpPr/>
            <p:nvPr/>
          </p:nvSpPr>
          <p:spPr>
            <a:xfrm>
              <a:off x="7237126" y="2360536"/>
              <a:ext cx="4197674" cy="2157451"/>
            </a:xfrm>
            <a:prstGeom prst="wedgeRoundRectCallout">
              <a:avLst>
                <a:gd name="adj1" fmla="val -31667"/>
                <a:gd name="adj2" fmla="val -10368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2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200"/>
                </a:spcBef>
              </a:pPr>
              <a:r>
                <a:rPr lang="en-DE" sz="1800" b="1"/>
                <a:t>ACMASEL = 01</a:t>
              </a:r>
              <a:br>
                <a:rPr lang="en-DE" sz="1800"/>
              </a:br>
              <a:r>
                <a:rPr lang="en-DE" sz="1800"/>
                <a:t>ACMA-signal by EG0 </a:t>
              </a:r>
              <a:br>
                <a:rPr lang="en-DE" sz="1800"/>
              </a:br>
              <a:r>
                <a:rPr lang="en-DE" sz="1800"/>
                <a:t>(Event Generator 0)</a:t>
              </a:r>
              <a:r>
                <a:rPr lang="en-DE" sz="1800" b="1"/>
                <a:t> internally passed to PHY</a:t>
              </a:r>
              <a:endParaRPr lang="en-DE" sz="1800"/>
            </a:p>
            <a:p>
              <a:pPr>
                <a:spcBef>
                  <a:spcPts val="1200"/>
                </a:spcBef>
              </a:pPr>
              <a:br>
                <a:rPr lang="en-DE" sz="1800" b="1"/>
              </a:br>
              <a:r>
                <a:rPr lang="en-DE" sz="1800" b="1"/>
                <a:t>ACMASEL = 10</a:t>
              </a:r>
              <a:br>
                <a:rPr lang="en-DE" sz="1800"/>
              </a:br>
              <a:r>
                <a:rPr lang="en-DE" sz="1800"/>
                <a:t>ACMA-signal input on DIOA2 from </a:t>
              </a:r>
              <a:r>
                <a:rPr lang="en-DE" sz="1800" b="1"/>
                <a:t>external</a:t>
              </a:r>
              <a:r>
                <a:rPr lang="en-DE" sz="1800"/>
                <a:t> MCU, passed to PHY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52E61CD-F128-DD2E-452E-BC4AD02C2718}"/>
              </a:ext>
            </a:extLst>
          </p:cNvPr>
          <p:cNvGrpSpPr/>
          <p:nvPr/>
        </p:nvGrpSpPr>
        <p:grpSpPr>
          <a:xfrm>
            <a:off x="6264631" y="4127425"/>
            <a:ext cx="3227178" cy="2173285"/>
            <a:chOff x="7223911" y="2353327"/>
            <a:chExt cx="4197674" cy="1983059"/>
          </a:xfrm>
        </p:grpSpPr>
        <p:sp>
          <p:nvSpPr>
            <p:cNvPr id="10" name="Callout: Line with No Border 9">
              <a:extLst>
                <a:ext uri="{FF2B5EF4-FFF2-40B4-BE49-F238E27FC236}">
                  <a16:creationId xmlns:a16="http://schemas.microsoft.com/office/drawing/2014/main" id="{5C7A06E4-AF55-B1EA-0EF2-61B618C9566A}"/>
                </a:ext>
              </a:extLst>
            </p:cNvPr>
            <p:cNvSpPr/>
            <p:nvPr/>
          </p:nvSpPr>
          <p:spPr>
            <a:xfrm>
              <a:off x="8386344" y="2796762"/>
              <a:ext cx="892170" cy="573457"/>
            </a:xfrm>
            <a:prstGeom prst="callout1">
              <a:avLst>
                <a:gd name="adj1" fmla="val 90751"/>
                <a:gd name="adj2" fmla="val -126107"/>
                <a:gd name="adj3" fmla="val 55912"/>
                <a:gd name="adj4" fmla="val -597257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264626C8-39CB-1E35-D1D3-28E58A38892D}"/>
                </a:ext>
              </a:extLst>
            </p:cNvPr>
            <p:cNvSpPr/>
            <p:nvPr/>
          </p:nvSpPr>
          <p:spPr>
            <a:xfrm>
              <a:off x="7223911" y="2353327"/>
              <a:ext cx="4197674" cy="1983059"/>
            </a:xfrm>
            <a:prstGeom prst="wedgeRoundRectCallout">
              <a:avLst>
                <a:gd name="adj1" fmla="val -31667"/>
                <a:gd name="adj2" fmla="val -10368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2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1200"/>
                </a:spcBef>
              </a:pPr>
              <a:r>
                <a:rPr lang="en-DE" sz="1800" b="1"/>
                <a:t>A2SEL = 00</a:t>
              </a:r>
              <a:br>
                <a:rPr lang="en-DE" sz="1800"/>
              </a:br>
              <a:r>
                <a:rPr lang="en-DE" sz="1800"/>
                <a:t>ACMA-signal input from </a:t>
              </a:r>
              <a:r>
                <a:rPr lang="en-DE" sz="1800" b="1"/>
                <a:t>external</a:t>
              </a:r>
              <a:r>
                <a:rPr lang="en-DE" sz="1800"/>
                <a:t> MCU</a:t>
              </a:r>
            </a:p>
            <a:p>
              <a:pPr>
                <a:spcBef>
                  <a:spcPts val="1200"/>
                </a:spcBef>
              </a:pPr>
              <a:r>
                <a:rPr lang="en-DE" sz="1800" b="1"/>
                <a:t>A2SEL = 01</a:t>
              </a:r>
              <a:br>
                <a:rPr lang="en-DE" sz="1800"/>
              </a:br>
              <a:r>
                <a:rPr lang="en-DE" sz="1800"/>
                <a:t>DIOA2 signal output from Event Generator 2</a:t>
              </a:r>
            </a:p>
          </p:txBody>
        </p:sp>
      </p:grp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5139710B-C8BC-6BA1-B448-3462BD5C6F97}"/>
              </a:ext>
            </a:extLst>
          </p:cNvPr>
          <p:cNvSpPr/>
          <p:nvPr/>
        </p:nvSpPr>
        <p:spPr>
          <a:xfrm>
            <a:off x="6418540" y="2384389"/>
            <a:ext cx="5360869" cy="2857473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rgbClr val="FD7F20">
              <a:alpha val="5098"/>
            </a:srgbClr>
          </a:solidFill>
          <a:ln w="57150"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defRPr/>
            </a:pPr>
            <a:endParaRPr lang="en-US" sz="2000" b="1">
              <a:solidFill>
                <a:srgbClr val="FFFFFF"/>
              </a:solidFill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1A1EA993-19D2-0571-3ACF-67A770A6402E}"/>
              </a:ext>
            </a:extLst>
          </p:cNvPr>
          <p:cNvSpPr/>
          <p:nvPr/>
        </p:nvSpPr>
        <p:spPr>
          <a:xfrm>
            <a:off x="6418539" y="351629"/>
            <a:ext cx="5360870" cy="1906277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rgbClr val="00B050">
              <a:alpha val="5098"/>
            </a:srgbClr>
          </a:solidFill>
          <a:ln w="5715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2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1">
              <a:defRPr/>
            </a:pPr>
            <a:endParaRPr lang="en-DE" sz="2000">
              <a:solidFill>
                <a:srgbClr val="00B05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0E9F90-87FB-EF5F-C575-03E38E80DAF6}"/>
              </a:ext>
            </a:extLst>
          </p:cNvPr>
          <p:cNvSpPr txBox="1"/>
          <p:nvPr/>
        </p:nvSpPr>
        <p:spPr>
          <a:xfrm>
            <a:off x="9737178" y="2988638"/>
            <a:ext cx="204524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000">
                <a:solidFill>
                  <a:schemeClr val="accent2"/>
                </a:solidFill>
              </a:rPr>
              <a:t>	</a:t>
            </a:r>
            <a:r>
              <a:rPr lang="en-DE" b="1">
                <a:solidFill>
                  <a:schemeClr val="accent2"/>
                </a:solidFill>
              </a:rPr>
              <a:t>Or</a:t>
            </a:r>
            <a:endParaRPr lang="en-DE" sz="2000" b="1">
              <a:solidFill>
                <a:schemeClr val="accent2"/>
              </a:solidFill>
            </a:endParaRPr>
          </a:p>
          <a:p>
            <a:endParaRPr lang="en-DE" sz="2000">
              <a:solidFill>
                <a:schemeClr val="accent2"/>
              </a:solidFill>
            </a:endParaRPr>
          </a:p>
          <a:p>
            <a:r>
              <a:rPr lang="en-DE" sz="2000">
                <a:solidFill>
                  <a:schemeClr val="accent2"/>
                </a:solidFill>
              </a:rPr>
              <a:t>it can be an </a:t>
            </a:r>
            <a:r>
              <a:rPr lang="en-DE" sz="2000" b="1">
                <a:solidFill>
                  <a:schemeClr val="accent2"/>
                </a:solidFill>
              </a:rPr>
              <a:t>external input</a:t>
            </a:r>
            <a:r>
              <a:rPr lang="en-DE" sz="2000">
                <a:solidFill>
                  <a:schemeClr val="accent2"/>
                </a:solidFill>
              </a:rPr>
              <a:t> from MCU into </a:t>
            </a:r>
            <a:r>
              <a:rPr lang="en-DE" sz="2000" b="1">
                <a:solidFill>
                  <a:schemeClr val="accent2"/>
                </a:solidFill>
              </a:rPr>
              <a:t>DIOA2</a:t>
            </a:r>
            <a:r>
              <a:rPr lang="en-DE" sz="2000">
                <a:solidFill>
                  <a:schemeClr val="accent2"/>
                </a:solidFill>
              </a:rPr>
              <a:t> pin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727FFC-0462-94C7-5AB1-570800621E50}"/>
              </a:ext>
            </a:extLst>
          </p:cNvPr>
          <p:cNvSpPr txBox="1"/>
          <p:nvPr/>
        </p:nvSpPr>
        <p:spPr>
          <a:xfrm>
            <a:off x="9839958" y="662515"/>
            <a:ext cx="183968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000">
                <a:solidFill>
                  <a:srgbClr val="00B050"/>
                </a:solidFill>
              </a:rPr>
              <a:t>ACMA-signal can either be </a:t>
            </a:r>
            <a:r>
              <a:rPr lang="en-DE" sz="2000" b="1">
                <a:solidFill>
                  <a:srgbClr val="00B050"/>
                </a:solidFill>
              </a:rPr>
              <a:t>generated internally</a:t>
            </a:r>
            <a:endParaRPr lang="en-DE" b="1">
              <a:solidFill>
                <a:srgbClr val="00B050"/>
              </a:solidFill>
            </a:endParaRP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0A325C93-BC15-AB8C-F961-933D5A79FF39}"/>
              </a:ext>
            </a:extLst>
          </p:cNvPr>
          <p:cNvSpPr/>
          <p:nvPr/>
        </p:nvSpPr>
        <p:spPr bwMode="auto">
          <a:xfrm rot="5400000">
            <a:off x="4439304" y="3244413"/>
            <a:ext cx="336590" cy="1095644"/>
          </a:xfrm>
          <a:prstGeom prst="roundRect">
            <a:avLst/>
          </a:prstGeom>
          <a:solidFill>
            <a:srgbClr val="92D050">
              <a:alpha val="10196"/>
            </a:srgbClr>
          </a:solidFill>
          <a:ln w="28575" algn="ctr">
            <a:solidFill>
              <a:srgbClr val="00B05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D6AEA762-CB42-A807-7E2A-A5CC7DA5D0A2}"/>
              </a:ext>
            </a:extLst>
          </p:cNvPr>
          <p:cNvSpPr/>
          <p:nvPr/>
        </p:nvSpPr>
        <p:spPr bwMode="auto">
          <a:xfrm rot="5400000">
            <a:off x="2250190" y="4443631"/>
            <a:ext cx="365799" cy="1080225"/>
          </a:xfrm>
          <a:prstGeom prst="roundRect">
            <a:avLst/>
          </a:prstGeom>
          <a:solidFill>
            <a:schemeClr val="accent2">
              <a:alpha val="10196"/>
            </a:schemeClr>
          </a:solidFill>
          <a:ln w="28575" algn="ctr">
            <a:solidFill>
              <a:srgbClr val="FD6E03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13EB7C-B4C8-7C1B-5A38-A4EED266696D}"/>
              </a:ext>
            </a:extLst>
          </p:cNvPr>
          <p:cNvSpPr txBox="1"/>
          <p:nvPr/>
        </p:nvSpPr>
        <p:spPr>
          <a:xfrm>
            <a:off x="358685" y="5312152"/>
            <a:ext cx="6095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/>
              <a:t>Miscellaneous Registers (MMS 10)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671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/>
      <p:bldP spid="16" grpId="0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70540D-EC30-B4A8-F0DF-403E7AD9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E6F4A2-FB8C-A1C1-9A63-F5A7D4DB18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/>
              <a:t>LAN8670/1/2 and LAN8650/1 Review</a:t>
            </a:r>
          </a:p>
          <a:p>
            <a:r>
              <a:rPr lang="de-DE"/>
              <a:t>Features </a:t>
            </a:r>
            <a:r>
              <a:rPr lang="de-DE" err="1"/>
              <a:t>to</a:t>
            </a:r>
            <a:r>
              <a:rPr lang="de-DE"/>
              <a:t> Tune </a:t>
            </a:r>
            <a:r>
              <a:rPr lang="de-DE" err="1"/>
              <a:t>Bandwidth</a:t>
            </a:r>
            <a:endParaRPr lang="de-DE"/>
          </a:p>
          <a:p>
            <a:r>
              <a:rPr lang="de-DE" err="1"/>
              <a:t>Supporting</a:t>
            </a:r>
            <a:r>
              <a:rPr lang="de-DE"/>
              <a:t> Time Sensitive Networking</a:t>
            </a:r>
          </a:p>
          <a:p>
            <a:r>
              <a:rPr lang="de-DE"/>
              <a:t>Wake/Sleep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7700E6F0-B5D5-F635-147C-7511A0FA72C6}"/>
              </a:ext>
            </a:extLst>
          </p:cNvPr>
          <p:cNvSpPr/>
          <p:nvPr/>
        </p:nvSpPr>
        <p:spPr bwMode="auto">
          <a:xfrm rot="5400000">
            <a:off x="3851894" y="-1535327"/>
            <a:ext cx="633619" cy="7627850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6805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D109E76-D04B-54F9-C2FD-6E2F863E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Time </a:t>
            </a:r>
            <a:r>
              <a:rPr lang="de-DE" err="1"/>
              <a:t>Synchronization</a:t>
            </a:r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BC25B8A-34C5-630A-4EB1-B4A90DFEE2C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386" b="14528"/>
          <a:stretch/>
        </p:blipFill>
        <p:spPr>
          <a:xfrm>
            <a:off x="1998156" y="1143000"/>
            <a:ext cx="9360059" cy="4572000"/>
          </a:xfrm>
        </p:spPr>
      </p:pic>
    </p:spTree>
    <p:extLst>
      <p:ext uri="{BB962C8B-B14F-4D97-AF65-F5344CB8AC3E}">
        <p14:creationId xmlns:p14="http://schemas.microsoft.com/office/powerpoint/2010/main" val="932000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0E6321-219D-2C0D-FA83-6BAB38703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Clock </a:t>
            </a:r>
            <a:r>
              <a:rPr lang="de-DE" err="1"/>
              <a:t>Synchronization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C2B74-6AAD-E656-CE6E-237D11627C5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11400660" cy="3190343"/>
          </a:xfrm>
        </p:spPr>
        <p:txBody>
          <a:bodyPr/>
          <a:lstStyle/>
          <a:p>
            <a:r>
              <a:rPr lang="de-DE" err="1"/>
              <a:t>We</a:t>
            </a:r>
            <a:r>
              <a:rPr lang="de-DE"/>
              <a:t> </a:t>
            </a:r>
            <a:r>
              <a:rPr lang="de-DE" err="1"/>
              <a:t>need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match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clock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sink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clock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source</a:t>
            </a:r>
          </a:p>
          <a:p>
            <a:pPr lvl="1"/>
            <a:r>
              <a:rPr lang="de-DE"/>
              <a:t>And STAY </a:t>
            </a:r>
            <a:r>
              <a:rPr lang="de-DE" err="1"/>
              <a:t>matched</a:t>
            </a:r>
            <a:endParaRPr lang="de-DE"/>
          </a:p>
          <a:p>
            <a:r>
              <a:rPr lang="de-DE"/>
              <a:t>Both </a:t>
            </a:r>
            <a:r>
              <a:rPr lang="de-DE" err="1"/>
              <a:t>clocks</a:t>
            </a:r>
            <a:r>
              <a:rPr lang="de-DE"/>
              <a:t> </a:t>
            </a:r>
            <a:r>
              <a:rPr lang="de-DE" err="1"/>
              <a:t>increment</a:t>
            </a:r>
            <a:r>
              <a:rPr lang="de-DE"/>
              <a:t> </a:t>
            </a:r>
            <a:r>
              <a:rPr lang="de-DE" err="1"/>
              <a:t>based</a:t>
            </a:r>
            <a:r>
              <a:rPr lang="de-DE"/>
              <a:t> on </a:t>
            </a:r>
            <a:r>
              <a:rPr lang="de-DE" err="1"/>
              <a:t>local</a:t>
            </a:r>
            <a:r>
              <a:rPr lang="de-DE"/>
              <a:t> </a:t>
            </a:r>
            <a:r>
              <a:rPr lang="de-DE" err="1"/>
              <a:t>oscillators</a:t>
            </a:r>
            <a:endParaRPr lang="de-DE"/>
          </a:p>
          <a:p>
            <a:pPr lvl="1"/>
            <a:r>
              <a:rPr lang="de-DE" err="1"/>
              <a:t>Oscillators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never</a:t>
            </a:r>
            <a:r>
              <a:rPr lang="de-DE"/>
              <a:t> </a:t>
            </a:r>
            <a:r>
              <a:rPr lang="de-DE" err="1"/>
              <a:t>exactly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same</a:t>
            </a:r>
          </a:p>
          <a:p>
            <a:pPr lvl="1"/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oscillators</a:t>
            </a:r>
            <a:r>
              <a:rPr lang="de-DE"/>
              <a:t> </a:t>
            </a:r>
            <a:r>
              <a:rPr lang="de-DE" err="1"/>
              <a:t>appear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match but </a:t>
            </a:r>
            <a:r>
              <a:rPr lang="de-DE" err="1"/>
              <a:t>there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a </a:t>
            </a:r>
            <a:r>
              <a:rPr lang="de-DE" err="1"/>
              <a:t>phase</a:t>
            </a:r>
            <a:r>
              <a:rPr lang="de-DE"/>
              <a:t> </a:t>
            </a:r>
            <a:r>
              <a:rPr lang="de-DE" err="1"/>
              <a:t>offset</a:t>
            </a:r>
            <a:r>
              <a:rPr lang="de-DE"/>
              <a:t>,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clocks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i="1" err="1"/>
              <a:t>syntonized</a:t>
            </a:r>
            <a:endParaRPr lang="de-DE" i="1"/>
          </a:p>
          <a:p>
            <a:pPr lvl="1"/>
            <a:endParaRPr lang="de-DE" i="1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8DC6611F-7CFF-DFD5-A82B-B2AFCEE3E362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1688306" y="4776206"/>
            <a:ext cx="8734425" cy="1152525"/>
          </a:xfrm>
        </p:spPr>
      </p:pic>
    </p:spTree>
    <p:extLst>
      <p:ext uri="{BB962C8B-B14F-4D97-AF65-F5344CB8AC3E}">
        <p14:creationId xmlns:p14="http://schemas.microsoft.com/office/powerpoint/2010/main" val="7713407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C2B74-6AAD-E656-CE6E-237D11627C5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11400660" cy="2845973"/>
          </a:xfrm>
        </p:spPr>
        <p:txBody>
          <a:bodyPr/>
          <a:lstStyle/>
          <a:p>
            <a:pPr marL="301752" lvl="1" indent="0">
              <a:buNone/>
            </a:pPr>
            <a:endParaRPr lang="de-DE" i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D0E6321-219D-2C0D-FA83-6BAB38703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Possible Software Architecture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07FBEA-2987-2B4A-16BD-C7A489742C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2656" y="3898232"/>
            <a:ext cx="11323514" cy="2405716"/>
          </a:xfrm>
        </p:spPr>
        <p:txBody>
          <a:bodyPr/>
          <a:lstStyle/>
          <a:p>
            <a:r>
              <a:rPr lang="de-DE" err="1"/>
              <a:t>Periodically</a:t>
            </a:r>
            <a:r>
              <a:rPr lang="de-DE"/>
              <a:t> </a:t>
            </a:r>
            <a:r>
              <a:rPr lang="de-DE" err="1"/>
              <a:t>get</a:t>
            </a:r>
            <a:r>
              <a:rPr lang="de-DE"/>
              <a:t> </a:t>
            </a:r>
            <a:r>
              <a:rPr lang="de-DE" err="1"/>
              <a:t>updates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an external </a:t>
            </a:r>
            <a:r>
              <a:rPr lang="de-DE" err="1"/>
              <a:t>reference</a:t>
            </a:r>
            <a:r>
              <a:rPr lang="de-DE"/>
              <a:t>, </a:t>
            </a:r>
            <a:r>
              <a:rPr lang="de-DE" err="1"/>
              <a:t>use</a:t>
            </a:r>
            <a:r>
              <a:rPr lang="de-DE"/>
              <a:t> a </a:t>
            </a:r>
            <a:r>
              <a:rPr lang="de-DE" err="1"/>
              <a:t>servo</a:t>
            </a:r>
            <a:r>
              <a:rPr lang="de-DE"/>
              <a:t> </a:t>
            </a:r>
            <a:r>
              <a:rPr lang="de-DE" err="1"/>
              <a:t>control</a:t>
            </a:r>
            <a:r>
              <a:rPr lang="de-DE"/>
              <a:t> </a:t>
            </a:r>
            <a:r>
              <a:rPr lang="de-DE" err="1"/>
              <a:t>algorithm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minimize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error</a:t>
            </a:r>
            <a:r>
              <a:rPr lang="de-DE"/>
              <a:t> </a:t>
            </a:r>
            <a:r>
              <a:rPr lang="de-DE" err="1"/>
              <a:t>between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clock</a:t>
            </a:r>
            <a:endParaRPr lang="de-DE"/>
          </a:p>
          <a:p>
            <a:r>
              <a:rPr lang="de-DE"/>
              <a:t>This </a:t>
            </a:r>
            <a:r>
              <a:rPr lang="de-DE" err="1"/>
              <a:t>is</a:t>
            </a:r>
            <a:r>
              <a:rPr lang="de-DE"/>
              <a:t> not </a:t>
            </a:r>
            <a:r>
              <a:rPr lang="de-DE" err="1"/>
              <a:t>good</a:t>
            </a:r>
            <a:r>
              <a:rPr lang="de-DE"/>
              <a:t> </a:t>
            </a:r>
            <a:r>
              <a:rPr lang="de-DE" err="1"/>
              <a:t>enough</a:t>
            </a:r>
            <a:r>
              <a:rPr lang="de-DE"/>
              <a:t> – </a:t>
            </a:r>
            <a:r>
              <a:rPr lang="de-DE" err="1"/>
              <a:t>there</a:t>
            </a:r>
            <a:r>
              <a:rPr lang="de-DE"/>
              <a:t> will </a:t>
            </a:r>
            <a:r>
              <a:rPr lang="de-DE" err="1"/>
              <a:t>always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a </a:t>
            </a:r>
            <a:r>
              <a:rPr lang="de-DE" err="1"/>
              <a:t>processing</a:t>
            </a:r>
            <a:r>
              <a:rPr lang="de-DE"/>
              <a:t> </a:t>
            </a:r>
            <a:r>
              <a:rPr lang="de-DE" err="1"/>
              <a:t>delay</a:t>
            </a:r>
            <a:r>
              <a:rPr lang="de-DE"/>
              <a:t>!</a:t>
            </a:r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E6F0543-77B3-74FD-85D6-C49D4B860766}"/>
              </a:ext>
            </a:extLst>
          </p:cNvPr>
          <p:cNvGrpSpPr/>
          <p:nvPr/>
        </p:nvGrpSpPr>
        <p:grpSpPr>
          <a:xfrm>
            <a:off x="1259763" y="1644316"/>
            <a:ext cx="9669299" cy="1684504"/>
            <a:chOff x="629733" y="1644316"/>
            <a:chExt cx="9669299" cy="1684504"/>
          </a:xfrm>
        </p:grpSpPr>
        <p:sp>
          <p:nvSpPr>
            <p:cNvPr id="8" name="Flowchart: Summing Junction 7">
              <a:extLst>
                <a:ext uri="{FF2B5EF4-FFF2-40B4-BE49-F238E27FC236}">
                  <a16:creationId xmlns:a16="http://schemas.microsoft.com/office/drawing/2014/main" id="{BA6D0F48-8F3D-372F-EC43-8063C1BBBF82}"/>
                </a:ext>
              </a:extLst>
            </p:cNvPr>
            <p:cNvSpPr/>
            <p:nvPr/>
          </p:nvSpPr>
          <p:spPr>
            <a:xfrm>
              <a:off x="3705724" y="2002590"/>
              <a:ext cx="224589" cy="245979"/>
            </a:xfrm>
            <a:prstGeom prst="flowChartSummingJunction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BB41FB8-8050-3BD0-52BB-82F23C3C783D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259428" y="2125580"/>
              <a:ext cx="1446296" cy="1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0F235B0-F1E6-2843-72CA-C7AB54E55478}"/>
                </a:ext>
              </a:extLst>
            </p:cNvPr>
            <p:cNvCxnSpPr>
              <a:cxnSpLocks/>
              <a:stCxn id="8" idx="6"/>
              <a:endCxn id="11" idx="1"/>
            </p:cNvCxnSpPr>
            <p:nvPr/>
          </p:nvCxnSpPr>
          <p:spPr>
            <a:xfrm flipV="1">
              <a:off x="3930313" y="2125579"/>
              <a:ext cx="524045" cy="1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lowchart: Predefined Process 10">
              <a:extLst>
                <a:ext uri="{FF2B5EF4-FFF2-40B4-BE49-F238E27FC236}">
                  <a16:creationId xmlns:a16="http://schemas.microsoft.com/office/drawing/2014/main" id="{D91D0F4B-9AAF-4E40-66CE-FB95AF120A85}"/>
                </a:ext>
              </a:extLst>
            </p:cNvPr>
            <p:cNvSpPr/>
            <p:nvPr/>
          </p:nvSpPr>
          <p:spPr>
            <a:xfrm>
              <a:off x="4454358" y="1644316"/>
              <a:ext cx="2336800" cy="962526"/>
            </a:xfrm>
            <a:prstGeom prst="flowChartPredefinedProcess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/>
                <a:t>Clock </a:t>
              </a:r>
              <a:r>
                <a:rPr lang="de-DE" err="1"/>
                <a:t>Servo</a:t>
              </a:r>
              <a:endParaRPr lang="de-DE"/>
            </a:p>
            <a:p>
              <a:pPr algn="ctr"/>
              <a:r>
                <a:rPr lang="de-DE" err="1"/>
                <a:t>Algorithm</a:t>
              </a:r>
              <a:endParaRPr lang="en-US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52B2B68-64C9-7637-8DAC-492B9FFF1231}"/>
                </a:ext>
              </a:extLst>
            </p:cNvPr>
            <p:cNvSpPr/>
            <p:nvPr/>
          </p:nvSpPr>
          <p:spPr>
            <a:xfrm>
              <a:off x="7962232" y="1935748"/>
              <a:ext cx="2336800" cy="379663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 err="1"/>
                <a:t>Local</a:t>
              </a:r>
              <a:r>
                <a:rPr lang="de-DE"/>
                <a:t> Wall Clock</a:t>
              </a:r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9A9575B-AD31-C052-7590-717B52D1D026}"/>
                </a:ext>
              </a:extLst>
            </p:cNvPr>
            <p:cNvCxnSpPr>
              <a:stCxn id="11" idx="3"/>
              <a:endCxn id="12" idx="1"/>
            </p:cNvCxnSpPr>
            <p:nvPr/>
          </p:nvCxnSpPr>
          <p:spPr>
            <a:xfrm>
              <a:off x="6791158" y="2125579"/>
              <a:ext cx="1171074" cy="1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FD3B278-A38A-F64D-70D5-7CFBBFC49F59}"/>
                </a:ext>
              </a:extLst>
            </p:cNvPr>
            <p:cNvCxnSpPr/>
            <p:nvPr/>
          </p:nvCxnSpPr>
          <p:spPr>
            <a:xfrm>
              <a:off x="7454232" y="2125581"/>
              <a:ext cx="0" cy="1203239"/>
            </a:xfrm>
            <a:prstGeom prst="straightConnector1">
              <a:avLst/>
            </a:prstGeom>
            <a:ln>
              <a:headEnd type="oval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7753891-5015-4FDA-B1E1-BA6ACC63CD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8026" y="3326229"/>
              <a:ext cx="3636206" cy="2591"/>
            </a:xfrm>
            <a:prstGeom prst="straightConnector1">
              <a:avLst/>
            </a:prstGeom>
            <a:ln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D5570630-4E0F-7EAD-B379-A943D248DD85}"/>
                </a:ext>
              </a:extLst>
            </p:cNvPr>
            <p:cNvCxnSpPr>
              <a:endCxn id="8" idx="4"/>
            </p:cNvCxnSpPr>
            <p:nvPr/>
          </p:nvCxnSpPr>
          <p:spPr>
            <a:xfrm flipV="1">
              <a:off x="3818018" y="2248569"/>
              <a:ext cx="1" cy="1080251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BF5258E0-6E23-3409-2A72-40F0B685A3C7}"/>
                </a:ext>
              </a:extLst>
            </p:cNvPr>
            <p:cNvSpPr/>
            <p:nvPr/>
          </p:nvSpPr>
          <p:spPr>
            <a:xfrm>
              <a:off x="629733" y="1935747"/>
              <a:ext cx="2336800" cy="379663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de-DE"/>
                <a:t>Reference Clock</a:t>
              </a:r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93CFFBE-40AD-FC5B-36C6-A95A0D7700D3}"/>
                </a:ext>
              </a:extLst>
            </p:cNvPr>
            <p:cNvSpPr txBox="1"/>
            <p:nvPr/>
          </p:nvSpPr>
          <p:spPr>
            <a:xfrm>
              <a:off x="3507037" y="174735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/>
                <a:t>+</a:t>
              </a:r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C8982CE-06EE-03DF-82FE-9A7271688FE0}"/>
                </a:ext>
              </a:extLst>
            </p:cNvPr>
            <p:cNvSpPr txBox="1"/>
            <p:nvPr/>
          </p:nvSpPr>
          <p:spPr>
            <a:xfrm>
              <a:off x="3802910" y="1978189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3200"/>
                <a:t>-</a:t>
              </a:r>
              <a:endParaRPr lang="en-US" sz="320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F8D5CFA-C8D6-14EE-60F4-92BA84CD0BCF}"/>
              </a:ext>
            </a:extLst>
          </p:cNvPr>
          <p:cNvSpPr txBox="1"/>
          <p:nvPr/>
        </p:nvSpPr>
        <p:spPr>
          <a:xfrm>
            <a:off x="7791116" y="1547887"/>
            <a:ext cx="6238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6600">
                <a:solidFill>
                  <a:srgbClr val="FF0000"/>
                </a:solidFill>
              </a:rPr>
              <a:t>X</a:t>
            </a:r>
            <a:endParaRPr lang="en-US" sz="66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146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0E6321-219D-2C0D-FA83-6BAB38703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Better</a:t>
            </a:r>
            <a:r>
              <a:rPr lang="de-DE"/>
              <a:t> Software Architecture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07FBEA-2987-2B4A-16BD-C7A489742C3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32656" y="3642607"/>
            <a:ext cx="11323514" cy="2829911"/>
          </a:xfrm>
        </p:spPr>
        <p:txBody>
          <a:bodyPr>
            <a:normAutofit/>
          </a:bodyPr>
          <a:lstStyle/>
          <a:p>
            <a:r>
              <a:rPr lang="de-DE" err="1"/>
              <a:t>Periodic</a:t>
            </a:r>
            <a:r>
              <a:rPr lang="de-DE"/>
              <a:t> </a:t>
            </a:r>
            <a:r>
              <a:rPr lang="de-DE" err="1"/>
              <a:t>updates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an external </a:t>
            </a:r>
            <a:r>
              <a:rPr lang="de-DE" err="1"/>
              <a:t>reference</a:t>
            </a:r>
            <a:r>
              <a:rPr lang="de-DE"/>
              <a:t>, </a:t>
            </a:r>
            <a:r>
              <a:rPr lang="de-DE" err="1"/>
              <a:t>use</a:t>
            </a:r>
            <a:r>
              <a:rPr lang="de-DE"/>
              <a:t> a </a:t>
            </a:r>
            <a:r>
              <a:rPr lang="de-DE" err="1"/>
              <a:t>servo</a:t>
            </a:r>
            <a:r>
              <a:rPr lang="de-DE"/>
              <a:t> </a:t>
            </a:r>
            <a:r>
              <a:rPr lang="de-DE" err="1"/>
              <a:t>control</a:t>
            </a:r>
            <a:r>
              <a:rPr lang="de-DE"/>
              <a:t> </a:t>
            </a:r>
            <a:r>
              <a:rPr lang="de-DE" err="1"/>
              <a:t>algorithm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minimize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error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changing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amount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local</a:t>
            </a:r>
            <a:r>
              <a:rPr lang="de-DE"/>
              <a:t> </a:t>
            </a:r>
            <a:r>
              <a:rPr lang="de-DE" err="1"/>
              <a:t>clock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incremented</a:t>
            </a:r>
            <a:r>
              <a:rPr lang="de-DE"/>
              <a:t> </a:t>
            </a:r>
            <a:r>
              <a:rPr lang="de-DE" err="1"/>
              <a:t>every</a:t>
            </a:r>
            <a:r>
              <a:rPr lang="de-DE"/>
              <a:t> tick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local</a:t>
            </a:r>
            <a:r>
              <a:rPr lang="de-DE"/>
              <a:t> </a:t>
            </a:r>
            <a:r>
              <a:rPr lang="de-DE" err="1"/>
              <a:t>oscillator</a:t>
            </a:r>
            <a:r>
              <a:rPr lang="de-DE"/>
              <a:t>.</a:t>
            </a:r>
          </a:p>
          <a:p>
            <a:pPr lvl="1"/>
            <a:r>
              <a:rPr lang="en-US"/>
              <a:t>First time through – set the </a:t>
            </a:r>
            <a:r>
              <a:rPr lang="en-US" err="1"/>
              <a:t>wallclock</a:t>
            </a:r>
            <a:r>
              <a:rPr lang="en-US"/>
              <a:t> as on the previous slide</a:t>
            </a:r>
          </a:p>
          <a:p>
            <a:r>
              <a:rPr lang="en-US"/>
              <a:t>This architecture works!</a:t>
            </a:r>
          </a:p>
        </p:txBody>
      </p:sp>
      <p:sp>
        <p:nvSpPr>
          <p:cNvPr id="8" name="Flowchart: Summing Junction 7">
            <a:extLst>
              <a:ext uri="{FF2B5EF4-FFF2-40B4-BE49-F238E27FC236}">
                <a16:creationId xmlns:a16="http://schemas.microsoft.com/office/drawing/2014/main" id="{BA6D0F48-8F3D-372F-EC43-8063C1BBBF82}"/>
              </a:ext>
            </a:extLst>
          </p:cNvPr>
          <p:cNvSpPr/>
          <p:nvPr/>
        </p:nvSpPr>
        <p:spPr>
          <a:xfrm>
            <a:off x="4335754" y="2002590"/>
            <a:ext cx="224589" cy="245979"/>
          </a:xfrm>
          <a:prstGeom prst="flowChartSummingJuncti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B41FB8-8050-3BD0-52BB-82F23C3C783D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889458" y="2125580"/>
            <a:ext cx="1446296" cy="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0F235B0-F1E6-2843-72CA-C7AB54E55478}"/>
              </a:ext>
            </a:extLst>
          </p:cNvPr>
          <p:cNvCxnSpPr>
            <a:cxnSpLocks/>
            <a:stCxn id="8" idx="6"/>
            <a:endCxn id="11" idx="1"/>
          </p:cNvCxnSpPr>
          <p:nvPr/>
        </p:nvCxnSpPr>
        <p:spPr>
          <a:xfrm flipV="1">
            <a:off x="4560343" y="2125579"/>
            <a:ext cx="524045" cy="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chart: Predefined Process 10">
            <a:extLst>
              <a:ext uri="{FF2B5EF4-FFF2-40B4-BE49-F238E27FC236}">
                <a16:creationId xmlns:a16="http://schemas.microsoft.com/office/drawing/2014/main" id="{D91D0F4B-9AAF-4E40-66CE-FB95AF120A85}"/>
              </a:ext>
            </a:extLst>
          </p:cNvPr>
          <p:cNvSpPr/>
          <p:nvPr/>
        </p:nvSpPr>
        <p:spPr>
          <a:xfrm>
            <a:off x="5084388" y="1644316"/>
            <a:ext cx="2336800" cy="962526"/>
          </a:xfrm>
          <a:prstGeom prst="flowChartPredefinedProcess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/>
              <a:t>Clock </a:t>
            </a:r>
            <a:r>
              <a:rPr lang="de-DE" err="1"/>
              <a:t>Servo</a:t>
            </a:r>
            <a:endParaRPr lang="de-DE"/>
          </a:p>
          <a:p>
            <a:pPr algn="ctr"/>
            <a:r>
              <a:rPr lang="de-DE" err="1"/>
              <a:t>Algorithm</a:t>
            </a:r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52B2B68-64C9-7637-8DAC-492B9FFF1231}"/>
              </a:ext>
            </a:extLst>
          </p:cNvPr>
          <p:cNvSpPr/>
          <p:nvPr/>
        </p:nvSpPr>
        <p:spPr>
          <a:xfrm>
            <a:off x="9021921" y="1116632"/>
            <a:ext cx="2336800" cy="37966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err="1"/>
              <a:t>Local</a:t>
            </a:r>
            <a:r>
              <a:rPr lang="de-DE"/>
              <a:t> Wall Clock</a:t>
            </a:r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A9575B-AD31-C052-7590-717B52D1D026}"/>
              </a:ext>
            </a:extLst>
          </p:cNvPr>
          <p:cNvCxnSpPr>
            <a:cxnSpLocks/>
            <a:stCxn id="11" idx="3"/>
            <a:endCxn id="22" idx="1"/>
          </p:cNvCxnSpPr>
          <p:nvPr/>
        </p:nvCxnSpPr>
        <p:spPr>
          <a:xfrm>
            <a:off x="7421188" y="2125579"/>
            <a:ext cx="1747158" cy="401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FD3B278-A38A-F64D-70D5-7CFBBFC49F59}"/>
              </a:ext>
            </a:extLst>
          </p:cNvPr>
          <p:cNvCxnSpPr/>
          <p:nvPr/>
        </p:nvCxnSpPr>
        <p:spPr>
          <a:xfrm>
            <a:off x="8084262" y="2125581"/>
            <a:ext cx="0" cy="1203239"/>
          </a:xfrm>
          <a:prstGeom prst="straightConnector1">
            <a:avLst/>
          </a:prstGeom>
          <a:ln>
            <a:headEnd type="oval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7753891-5015-4FDA-B1E1-BA6ACC63CDE7}"/>
              </a:ext>
            </a:extLst>
          </p:cNvPr>
          <p:cNvCxnSpPr>
            <a:cxnSpLocks/>
          </p:cNvCxnSpPr>
          <p:nvPr/>
        </p:nvCxnSpPr>
        <p:spPr>
          <a:xfrm flipH="1" flipV="1">
            <a:off x="4448056" y="3326229"/>
            <a:ext cx="3636206" cy="2591"/>
          </a:xfrm>
          <a:prstGeom prst="straightConnector1">
            <a:avLst/>
          </a:prstGeom>
          <a:ln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5570630-4E0F-7EAD-B379-A943D248DD85}"/>
              </a:ext>
            </a:extLst>
          </p:cNvPr>
          <p:cNvCxnSpPr>
            <a:endCxn id="8" idx="4"/>
          </p:cNvCxnSpPr>
          <p:nvPr/>
        </p:nvCxnSpPr>
        <p:spPr>
          <a:xfrm flipV="1">
            <a:off x="4448048" y="2248569"/>
            <a:ext cx="1" cy="1080251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F5258E0-6E23-3409-2A72-40F0B685A3C7}"/>
              </a:ext>
            </a:extLst>
          </p:cNvPr>
          <p:cNvSpPr/>
          <p:nvPr/>
        </p:nvSpPr>
        <p:spPr>
          <a:xfrm>
            <a:off x="1259763" y="1935747"/>
            <a:ext cx="2336800" cy="37966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/>
              <a:t>Reference Clock</a:t>
            </a:r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3CFFBE-40AD-FC5B-36C6-A95A0D7700D3}"/>
              </a:ext>
            </a:extLst>
          </p:cNvPr>
          <p:cNvSpPr txBox="1"/>
          <p:nvPr/>
        </p:nvSpPr>
        <p:spPr>
          <a:xfrm>
            <a:off x="4137067" y="1747357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/>
              <a:t>+</a:t>
            </a:r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8982CE-06EE-03DF-82FE-9A7271688FE0}"/>
              </a:ext>
            </a:extLst>
          </p:cNvPr>
          <p:cNvSpPr txBox="1"/>
          <p:nvPr/>
        </p:nvSpPr>
        <p:spPr>
          <a:xfrm>
            <a:off x="4432940" y="1978189"/>
            <a:ext cx="309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200"/>
              <a:t>-</a:t>
            </a:r>
            <a:endParaRPr lang="en-US" sz="32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51126E-134B-EDE8-D811-9C48E7018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062" y="3295650"/>
            <a:ext cx="266700" cy="2667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A591A0E-9042-5C7C-20F2-1D10BEFD904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743242" y="967036"/>
            <a:ext cx="682040" cy="68204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5237653-1888-6577-1836-03225FA588AD}"/>
              </a:ext>
            </a:extLst>
          </p:cNvPr>
          <p:cNvSpPr/>
          <p:nvPr/>
        </p:nvSpPr>
        <p:spPr>
          <a:xfrm>
            <a:off x="9168346" y="1721222"/>
            <a:ext cx="2043951" cy="816733"/>
          </a:xfrm>
          <a:prstGeom prst="rect">
            <a:avLst/>
          </a:prstGeom>
          <a:noFill/>
          <a:ln>
            <a:solidFill>
              <a:srgbClr val="0E36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err="1">
                <a:solidFill>
                  <a:schemeClr val="tx1"/>
                </a:solidFill>
              </a:rPr>
              <a:t>Increment</a:t>
            </a:r>
            <a:r>
              <a:rPr lang="de-DE">
                <a:solidFill>
                  <a:schemeClr val="tx1"/>
                </a:solidFill>
              </a:rPr>
              <a:t> (</a:t>
            </a:r>
            <a:r>
              <a:rPr lang="de-DE" err="1">
                <a:solidFill>
                  <a:schemeClr val="tx1"/>
                </a:solidFill>
              </a:rPr>
              <a:t>ns.subns</a:t>
            </a:r>
            <a:r>
              <a:rPr lang="de-DE">
                <a:solidFill>
                  <a:schemeClr val="tx1"/>
                </a:solidFill>
              </a:rPr>
              <a:t>)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630DC57-C510-63AD-5EE4-905DE3F43C6A}"/>
              </a:ext>
            </a:extLst>
          </p:cNvPr>
          <p:cNvCxnSpPr>
            <a:cxnSpLocks/>
            <a:stCxn id="21" idx="3"/>
            <a:endCxn id="12" idx="1"/>
          </p:cNvCxnSpPr>
          <p:nvPr/>
        </p:nvCxnSpPr>
        <p:spPr>
          <a:xfrm flipV="1">
            <a:off x="8425282" y="1306464"/>
            <a:ext cx="596639" cy="159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80819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8FCE74D-6B71-E943-46F8-81967125D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But LAN8650/1 Updates via SPI?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807029-5499-4A69-73D1-CC7E849D62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/>
              <a:t>SYNC </a:t>
            </a:r>
            <a:r>
              <a:rPr lang="de-DE" err="1"/>
              <a:t>messages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sent</a:t>
            </a:r>
            <a:r>
              <a:rPr lang="de-DE"/>
              <a:t> </a:t>
            </a:r>
            <a:r>
              <a:rPr lang="de-DE" err="1"/>
              <a:t>very</a:t>
            </a:r>
            <a:r>
              <a:rPr lang="de-DE"/>
              <a:t> </a:t>
            </a:r>
            <a:r>
              <a:rPr lang="de-DE" err="1"/>
              <a:t>slowly</a:t>
            </a:r>
            <a:r>
              <a:rPr lang="de-DE"/>
              <a:t> (8 – 16 per </a:t>
            </a:r>
            <a:r>
              <a:rPr lang="de-DE" err="1"/>
              <a:t>second</a:t>
            </a:r>
            <a:r>
              <a:rPr lang="de-DE"/>
              <a:t>)</a:t>
            </a:r>
          </a:p>
          <a:p>
            <a:pPr lvl="1"/>
            <a:r>
              <a:rPr lang="de-DE"/>
              <a:t>At least 62.5 </a:t>
            </a:r>
            <a:r>
              <a:rPr lang="de-DE" err="1"/>
              <a:t>milliseconds</a:t>
            </a:r>
            <a:r>
              <a:rPr lang="de-DE"/>
              <a:t> </a:t>
            </a:r>
            <a:r>
              <a:rPr lang="de-DE" err="1"/>
              <a:t>between</a:t>
            </a:r>
            <a:r>
              <a:rPr lang="de-DE"/>
              <a:t> </a:t>
            </a:r>
            <a:r>
              <a:rPr lang="de-DE" err="1"/>
              <a:t>updates</a:t>
            </a:r>
            <a:endParaRPr lang="de-DE"/>
          </a:p>
          <a:p>
            <a:pPr lvl="1"/>
            <a:r>
              <a:rPr lang="de-DE" err="1"/>
              <a:t>Receive</a:t>
            </a:r>
            <a:r>
              <a:rPr lang="de-DE"/>
              <a:t> </a:t>
            </a:r>
            <a:r>
              <a:rPr lang="de-DE" err="1"/>
              <a:t>timestamps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directly</a:t>
            </a:r>
            <a:r>
              <a:rPr lang="de-DE"/>
              <a:t> </a:t>
            </a:r>
            <a:r>
              <a:rPr lang="de-DE" err="1"/>
              <a:t>passed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Ethernet </a:t>
            </a:r>
            <a:r>
              <a:rPr lang="de-DE" err="1"/>
              <a:t>data</a:t>
            </a:r>
            <a:r>
              <a:rPr lang="de-DE"/>
              <a:t> (</a:t>
            </a:r>
            <a:r>
              <a:rPr lang="de-DE" err="1"/>
              <a:t>no</a:t>
            </a:r>
            <a:r>
              <a:rPr lang="de-DE"/>
              <a:t> </a:t>
            </a:r>
            <a:r>
              <a:rPr lang="de-DE" err="1"/>
              <a:t>register</a:t>
            </a:r>
            <a:r>
              <a:rPr lang="de-DE"/>
              <a:t> </a:t>
            </a:r>
            <a:r>
              <a:rPr lang="de-DE" err="1"/>
              <a:t>reads</a:t>
            </a:r>
            <a:r>
              <a:rPr lang="de-DE"/>
              <a:t>).</a:t>
            </a:r>
          </a:p>
          <a:p>
            <a:pPr lvl="1"/>
            <a:r>
              <a:rPr lang="de-DE"/>
              <a:t>Clock </a:t>
            </a:r>
            <a:r>
              <a:rPr lang="de-DE" err="1"/>
              <a:t>servo</a:t>
            </a:r>
            <a:r>
              <a:rPr lang="de-DE"/>
              <a:t> will update 0 </a:t>
            </a:r>
            <a:r>
              <a:rPr lang="de-DE" err="1"/>
              <a:t>to</a:t>
            </a:r>
            <a:r>
              <a:rPr lang="de-DE"/>
              <a:t> 2 </a:t>
            </a:r>
            <a:r>
              <a:rPr lang="de-DE" err="1"/>
              <a:t>registers</a:t>
            </a:r>
            <a:r>
              <a:rPr lang="de-DE"/>
              <a:t> </a:t>
            </a:r>
            <a:r>
              <a:rPr lang="de-DE" err="1"/>
              <a:t>each</a:t>
            </a:r>
            <a:r>
              <a:rPr lang="de-DE"/>
              <a:t> SYNC</a:t>
            </a:r>
          </a:p>
          <a:p>
            <a:r>
              <a:rPr lang="de-DE"/>
              <a:t>Even </a:t>
            </a:r>
            <a:r>
              <a:rPr lang="de-DE" err="1"/>
              <a:t>over</a:t>
            </a:r>
            <a:r>
              <a:rPr lang="de-DE"/>
              <a:t> SPI,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updates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made</a:t>
            </a:r>
            <a:r>
              <a:rPr lang="de-DE"/>
              <a:t> in a </a:t>
            </a:r>
            <a:r>
              <a:rPr lang="de-DE" err="1"/>
              <a:t>timely</a:t>
            </a:r>
            <a:r>
              <a:rPr lang="de-DE"/>
              <a:t> </a:t>
            </a:r>
            <a:r>
              <a:rPr lang="de-DE" err="1"/>
              <a:t>manner</a:t>
            </a:r>
            <a:endParaRPr lang="de-DE"/>
          </a:p>
          <a:p>
            <a:pPr lvl="1"/>
            <a:r>
              <a:rPr lang="de-DE"/>
              <a:t>Control </a:t>
            </a:r>
            <a:r>
              <a:rPr lang="de-DE" err="1"/>
              <a:t>accesses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interleaved</a:t>
            </a:r>
            <a:r>
              <a:rPr lang="de-DE"/>
              <a:t> </a:t>
            </a:r>
            <a:r>
              <a:rPr lang="de-DE" err="1"/>
              <a:t>with</a:t>
            </a:r>
            <a:r>
              <a:rPr lang="de-DE"/>
              <a:t> packet </a:t>
            </a:r>
            <a:r>
              <a:rPr lang="de-DE" err="1"/>
              <a:t>data</a:t>
            </a:r>
            <a:endParaRPr lang="de-DE"/>
          </a:p>
          <a:p>
            <a:pPr lvl="1"/>
            <a:r>
              <a:rPr lang="de-DE"/>
              <a:t>@15MHz, SPI will handle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full</a:t>
            </a:r>
            <a:r>
              <a:rPr lang="de-DE"/>
              <a:t> Ethernet </a:t>
            </a:r>
            <a:r>
              <a:rPr lang="de-DE" err="1"/>
              <a:t>bandwidth</a:t>
            </a:r>
            <a:endParaRPr lang="de-DE"/>
          </a:p>
          <a:p>
            <a:pPr lvl="2"/>
            <a:r>
              <a:rPr lang="de-DE" err="1"/>
              <a:t>There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room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few</a:t>
            </a:r>
            <a:r>
              <a:rPr lang="de-DE"/>
              <a:t> </a:t>
            </a:r>
            <a:r>
              <a:rPr lang="de-DE" err="1"/>
              <a:t>control</a:t>
            </a:r>
            <a:r>
              <a:rPr lang="de-DE"/>
              <a:t> </a:t>
            </a:r>
            <a:r>
              <a:rPr lang="de-DE" err="1"/>
              <a:t>accesses</a:t>
            </a:r>
            <a:r>
              <a:rPr lang="de-DE"/>
              <a:t>.</a:t>
            </a:r>
          </a:p>
          <a:p>
            <a:r>
              <a:rPr lang="de-DE" err="1"/>
              <a:t>Because</a:t>
            </a:r>
            <a:r>
              <a:rPr lang="de-DE"/>
              <a:t>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INCREMENT </a:t>
            </a:r>
            <a:r>
              <a:rPr lang="de-DE" err="1"/>
              <a:t>registers</a:t>
            </a:r>
            <a:r>
              <a:rPr lang="de-DE"/>
              <a:t> </a:t>
            </a:r>
            <a:r>
              <a:rPr lang="de-DE" err="1"/>
              <a:t>change</a:t>
            </a:r>
            <a:r>
              <a:rPr lang="de-DE"/>
              <a:t>, a slow interface will </a:t>
            </a:r>
            <a:r>
              <a:rPr lang="de-DE" err="1"/>
              <a:t>work</a:t>
            </a:r>
            <a:endParaRPr lang="de-DE"/>
          </a:p>
          <a:p>
            <a:pPr lvl="1"/>
            <a:r>
              <a:rPr lang="de-DE"/>
              <a:t>A </a:t>
            </a:r>
            <a:r>
              <a:rPr lang="de-DE" err="1"/>
              <a:t>clock</a:t>
            </a:r>
            <a:r>
              <a:rPr lang="de-DE"/>
              <a:t> </a:t>
            </a:r>
            <a:r>
              <a:rPr lang="de-DE" err="1"/>
              <a:t>servo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a </a:t>
            </a:r>
            <a:r>
              <a:rPr lang="de-DE" err="1"/>
              <a:t>faster</a:t>
            </a:r>
            <a:r>
              <a:rPr lang="de-DE"/>
              <a:t> </a:t>
            </a:r>
            <a:r>
              <a:rPr lang="de-DE" err="1"/>
              <a:t>system</a:t>
            </a:r>
            <a:r>
              <a:rPr lang="de-DE"/>
              <a:t> will </a:t>
            </a:r>
            <a:r>
              <a:rPr lang="de-DE" err="1"/>
              <a:t>probably</a:t>
            </a:r>
            <a:r>
              <a:rPr lang="de-DE"/>
              <a:t> </a:t>
            </a:r>
            <a:r>
              <a:rPr lang="de-DE" err="1"/>
              <a:t>need</a:t>
            </a:r>
            <a:r>
              <a:rPr lang="de-DE"/>
              <a:t> </a:t>
            </a:r>
            <a:r>
              <a:rPr lang="de-DE" err="1"/>
              <a:t>some</a:t>
            </a:r>
            <a:r>
              <a:rPr lang="de-DE"/>
              <a:t> </a:t>
            </a:r>
            <a:r>
              <a:rPr lang="de-DE" err="1"/>
              <a:t>adjustment</a:t>
            </a:r>
            <a:endParaRPr lang="de-DE"/>
          </a:p>
          <a:p>
            <a:pPr lvl="1"/>
            <a:endParaRPr lang="de-DE"/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8517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3A862F-1E9E-9EC6-22F7-5B6C1A497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How</a:t>
            </a:r>
            <a:r>
              <a:rPr lang="de-DE"/>
              <a:t> </a:t>
            </a:r>
            <a:r>
              <a:rPr lang="de-DE" err="1"/>
              <a:t>does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Clock Source Share </a:t>
            </a:r>
            <a:r>
              <a:rPr lang="de-DE" err="1"/>
              <a:t>It‘s</a:t>
            </a:r>
            <a:r>
              <a:rPr lang="de-DE"/>
              <a:t> Time?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E9BB33C-7564-4A31-C285-1CA9F0856DE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8" y="929269"/>
            <a:ext cx="6753503" cy="5641860"/>
          </a:xfrm>
        </p:spPr>
        <p:txBody>
          <a:bodyPr>
            <a:normAutofit/>
          </a:bodyPr>
          <a:lstStyle/>
          <a:p>
            <a:r>
              <a:rPr lang="de-DE"/>
              <a:t>The Precision Time Protocol </a:t>
            </a:r>
            <a:r>
              <a:rPr lang="de-DE" err="1"/>
              <a:t>contains</a:t>
            </a:r>
            <a:r>
              <a:rPr lang="de-DE"/>
              <a:t> </a:t>
            </a:r>
            <a:r>
              <a:rPr lang="de-DE" err="1"/>
              <a:t>messages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share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time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clock</a:t>
            </a:r>
            <a:r>
              <a:rPr lang="de-DE"/>
              <a:t> source</a:t>
            </a:r>
          </a:p>
          <a:p>
            <a:pPr lvl="1"/>
            <a:r>
              <a:rPr lang="de-DE"/>
              <a:t>SYNC </a:t>
            </a:r>
            <a:r>
              <a:rPr lang="de-DE" err="1"/>
              <a:t>message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sent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source.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timestamps</a:t>
            </a:r>
            <a:r>
              <a:rPr lang="de-DE"/>
              <a:t> </a:t>
            </a:r>
            <a:r>
              <a:rPr lang="de-DE" err="1"/>
              <a:t>exactly</a:t>
            </a:r>
            <a:r>
              <a:rPr lang="de-DE"/>
              <a:t>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messsage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sent</a:t>
            </a:r>
            <a:r>
              <a:rPr lang="de-DE"/>
              <a:t>, </a:t>
            </a:r>
            <a:r>
              <a:rPr lang="de-DE">
                <a:solidFill>
                  <a:srgbClr val="0070C0"/>
                </a:solidFill>
              </a:rPr>
              <a:t>T</a:t>
            </a:r>
            <a:r>
              <a:rPr lang="de-DE" baseline="-25000">
                <a:solidFill>
                  <a:srgbClr val="0070C0"/>
                </a:solidFill>
              </a:rPr>
              <a:t>S</a:t>
            </a:r>
            <a:r>
              <a:rPr lang="de-DE"/>
              <a:t>.</a:t>
            </a:r>
          </a:p>
          <a:p>
            <a:pPr lvl="1"/>
            <a:r>
              <a:rPr lang="de-DE"/>
              <a:t>The </a:t>
            </a:r>
            <a:r>
              <a:rPr lang="de-DE" err="1"/>
              <a:t>follower</a:t>
            </a:r>
            <a:r>
              <a:rPr lang="de-DE"/>
              <a:t> </a:t>
            </a:r>
            <a:r>
              <a:rPr lang="de-DE" err="1"/>
              <a:t>captures</a:t>
            </a:r>
            <a:r>
              <a:rPr lang="de-DE"/>
              <a:t> a </a:t>
            </a:r>
            <a:r>
              <a:rPr lang="de-DE" err="1"/>
              <a:t>timestamp</a:t>
            </a:r>
            <a:r>
              <a:rPr lang="de-DE"/>
              <a:t> </a:t>
            </a:r>
            <a:r>
              <a:rPr lang="de-DE" err="1"/>
              <a:t>when</a:t>
            </a:r>
            <a:r>
              <a:rPr lang="de-DE"/>
              <a:t> </a:t>
            </a:r>
            <a:r>
              <a:rPr lang="de-DE" err="1"/>
              <a:t>it</a:t>
            </a:r>
            <a:r>
              <a:rPr lang="de-DE"/>
              <a:t> </a:t>
            </a:r>
            <a:r>
              <a:rPr lang="de-DE" err="1"/>
              <a:t>receives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SYNC </a:t>
            </a:r>
            <a:r>
              <a:rPr lang="de-DE" err="1"/>
              <a:t>message</a:t>
            </a:r>
            <a:r>
              <a:rPr lang="de-DE"/>
              <a:t>, </a:t>
            </a:r>
            <a:r>
              <a:rPr lang="de-DE">
                <a:solidFill>
                  <a:srgbClr val="00B050"/>
                </a:solidFill>
              </a:rPr>
              <a:t>T</a:t>
            </a:r>
            <a:r>
              <a:rPr lang="de-DE" baseline="-25000">
                <a:solidFill>
                  <a:srgbClr val="00B050"/>
                </a:solidFill>
              </a:rPr>
              <a:t>F</a:t>
            </a:r>
            <a:r>
              <a:rPr lang="de-DE"/>
              <a:t>.</a:t>
            </a:r>
          </a:p>
          <a:p>
            <a:pPr lvl="1"/>
            <a:r>
              <a:rPr lang="de-DE"/>
              <a:t>The source </a:t>
            </a:r>
            <a:r>
              <a:rPr lang="de-DE" err="1"/>
              <a:t>sends</a:t>
            </a:r>
            <a:r>
              <a:rPr lang="de-DE"/>
              <a:t> a FOLLOWUP </a:t>
            </a:r>
            <a:r>
              <a:rPr lang="de-DE" err="1"/>
              <a:t>message</a:t>
            </a:r>
            <a:r>
              <a:rPr lang="de-DE"/>
              <a:t> </a:t>
            </a:r>
            <a:r>
              <a:rPr lang="de-DE" err="1"/>
              <a:t>containing</a:t>
            </a:r>
            <a:r>
              <a:rPr lang="de-DE"/>
              <a:t> </a:t>
            </a:r>
            <a:r>
              <a:rPr lang="de-DE">
                <a:solidFill>
                  <a:srgbClr val="0070C0"/>
                </a:solidFill>
              </a:rPr>
              <a:t>T</a:t>
            </a:r>
            <a:r>
              <a:rPr lang="de-DE" baseline="-25000">
                <a:solidFill>
                  <a:srgbClr val="0070C0"/>
                </a:solidFill>
              </a:rPr>
              <a:t>S</a:t>
            </a:r>
            <a:r>
              <a:rPr lang="de-DE"/>
              <a:t>.</a:t>
            </a:r>
          </a:p>
          <a:p>
            <a:pPr lvl="1"/>
            <a:r>
              <a:rPr lang="de-DE"/>
              <a:t>The </a:t>
            </a:r>
            <a:r>
              <a:rPr lang="de-DE" err="1"/>
              <a:t>follower</a:t>
            </a:r>
            <a:r>
              <a:rPr lang="de-DE"/>
              <a:t> </a:t>
            </a:r>
            <a:r>
              <a:rPr lang="de-DE" err="1"/>
              <a:t>now</a:t>
            </a:r>
            <a:r>
              <a:rPr lang="de-DE"/>
              <a:t> </a:t>
            </a:r>
            <a:r>
              <a:rPr lang="de-DE" err="1"/>
              <a:t>has</a:t>
            </a:r>
            <a:r>
              <a:rPr lang="de-DE"/>
              <a:t> 2 </a:t>
            </a:r>
            <a:r>
              <a:rPr lang="de-DE" err="1"/>
              <a:t>timestamps</a:t>
            </a:r>
            <a:r>
              <a:rPr lang="de-DE"/>
              <a:t>:</a:t>
            </a:r>
          </a:p>
          <a:p>
            <a:pPr marL="594360" lvl="2" indent="0">
              <a:buNone/>
            </a:pPr>
            <a:r>
              <a:rPr lang="de-DE">
                <a:solidFill>
                  <a:srgbClr val="0070C0"/>
                </a:solidFill>
              </a:rPr>
              <a:t>T</a:t>
            </a:r>
            <a:r>
              <a:rPr lang="de-DE" baseline="-25000">
                <a:solidFill>
                  <a:srgbClr val="0070C0"/>
                </a:solidFill>
              </a:rPr>
              <a:t>S </a:t>
            </a:r>
            <a:r>
              <a:rPr lang="de-DE"/>
              <a:t>and </a:t>
            </a:r>
            <a:r>
              <a:rPr lang="de-DE">
                <a:solidFill>
                  <a:srgbClr val="00B050"/>
                </a:solidFill>
              </a:rPr>
              <a:t>T</a:t>
            </a:r>
            <a:r>
              <a:rPr lang="de-DE" baseline="-25000">
                <a:solidFill>
                  <a:srgbClr val="00B050"/>
                </a:solidFill>
              </a:rPr>
              <a:t>F</a:t>
            </a:r>
            <a:endParaRPr lang="de-DE"/>
          </a:p>
          <a:p>
            <a:pPr lvl="1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2F044FD-83EC-8287-238E-DF4E237623AB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 rotWithShape="1">
          <a:blip r:embed="rId2"/>
          <a:srcRect b="6981"/>
          <a:stretch/>
        </p:blipFill>
        <p:spPr>
          <a:xfrm>
            <a:off x="7315779" y="929269"/>
            <a:ext cx="3976033" cy="500004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90959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F0973-728C-7C27-1112-7E49BF9F1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What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Real Time at </a:t>
            </a:r>
            <a:r>
              <a:rPr lang="de-DE" err="1"/>
              <a:t>the</a:t>
            </a:r>
            <a:r>
              <a:rPr lang="de-DE"/>
              <a:t> Follower?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AD981-0065-1640-867D-94792162B3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/>
              <a:t>If </a:t>
            </a:r>
            <a:r>
              <a:rPr lang="de-DE" err="1"/>
              <a:t>there</a:t>
            </a:r>
            <a:r>
              <a:rPr lang="de-DE"/>
              <a:t> </a:t>
            </a:r>
            <a:r>
              <a:rPr lang="de-DE" err="1"/>
              <a:t>were</a:t>
            </a:r>
            <a:r>
              <a:rPr lang="de-DE"/>
              <a:t> </a:t>
            </a:r>
            <a:r>
              <a:rPr lang="de-DE" err="1"/>
              <a:t>no</a:t>
            </a:r>
            <a:r>
              <a:rPr lang="de-DE"/>
              <a:t> </a:t>
            </a:r>
            <a:r>
              <a:rPr lang="de-DE" err="1"/>
              <a:t>propagation</a:t>
            </a:r>
            <a:r>
              <a:rPr lang="de-DE"/>
              <a:t> </a:t>
            </a:r>
            <a:r>
              <a:rPr lang="de-DE" err="1"/>
              <a:t>delay</a:t>
            </a:r>
            <a:r>
              <a:rPr lang="de-DE"/>
              <a:t>, </a:t>
            </a:r>
            <a:r>
              <a:rPr lang="de-DE" err="1"/>
              <a:t>then</a:t>
            </a:r>
            <a:r>
              <a:rPr lang="de-DE"/>
              <a:t> </a:t>
            </a:r>
            <a:r>
              <a:rPr lang="de-DE">
                <a:solidFill>
                  <a:srgbClr val="00B050"/>
                </a:solidFill>
              </a:rPr>
              <a:t>T</a:t>
            </a:r>
            <a:r>
              <a:rPr lang="de-DE" baseline="-25000">
                <a:solidFill>
                  <a:srgbClr val="00B050"/>
                </a:solidFill>
              </a:rPr>
              <a:t>F</a:t>
            </a:r>
            <a:r>
              <a:rPr lang="de-DE"/>
              <a:t> and </a:t>
            </a:r>
            <a:r>
              <a:rPr lang="de-DE">
                <a:solidFill>
                  <a:srgbClr val="0070C0"/>
                </a:solidFill>
              </a:rPr>
              <a:t>T</a:t>
            </a:r>
            <a:r>
              <a:rPr lang="de-DE" baseline="-25000">
                <a:solidFill>
                  <a:srgbClr val="0070C0"/>
                </a:solidFill>
              </a:rPr>
              <a:t>S</a:t>
            </a:r>
            <a:r>
              <a:rPr lang="de-DE"/>
              <a:t> </a:t>
            </a:r>
            <a:r>
              <a:rPr lang="de-DE" err="1"/>
              <a:t>would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same.</a:t>
            </a:r>
          </a:p>
          <a:p>
            <a:r>
              <a:rPr lang="de-DE"/>
              <a:t>Call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propagation</a:t>
            </a:r>
            <a:r>
              <a:rPr lang="de-DE"/>
              <a:t> </a:t>
            </a:r>
            <a:r>
              <a:rPr lang="de-DE" err="1"/>
              <a:t>delay</a:t>
            </a:r>
            <a:r>
              <a:rPr lang="de-DE"/>
              <a:t> </a:t>
            </a:r>
            <a:r>
              <a:rPr lang="de-DE">
                <a:solidFill>
                  <a:schemeClr val="accent2"/>
                </a:solidFill>
              </a:rPr>
              <a:t>T</a:t>
            </a:r>
            <a:r>
              <a:rPr lang="de-DE" baseline="-25000">
                <a:solidFill>
                  <a:schemeClr val="accent2"/>
                </a:solidFill>
              </a:rPr>
              <a:t>D</a:t>
            </a:r>
            <a:r>
              <a:rPr lang="de-DE"/>
              <a:t>. The </a:t>
            </a:r>
            <a:r>
              <a:rPr lang="de-DE" err="1"/>
              <a:t>error</a:t>
            </a:r>
            <a:r>
              <a:rPr lang="de-DE"/>
              <a:t> at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follower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:</a:t>
            </a:r>
          </a:p>
          <a:p>
            <a:pPr marL="301752" lvl="1" indent="0" algn="ctr">
              <a:buNone/>
            </a:pPr>
            <a:r>
              <a:rPr lang="el-GR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de-DE" b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de-DE" b="1">
                <a:solidFill>
                  <a:srgbClr val="00B050"/>
                </a:solidFill>
              </a:rPr>
              <a:t>T</a:t>
            </a:r>
            <a:r>
              <a:rPr lang="de-DE" b="1" baseline="-25000">
                <a:solidFill>
                  <a:srgbClr val="00B050"/>
                </a:solidFill>
              </a:rPr>
              <a:t>F</a:t>
            </a:r>
            <a:r>
              <a:rPr lang="de-DE" b="1"/>
              <a:t> – (</a:t>
            </a:r>
            <a:r>
              <a:rPr lang="de-DE" b="1">
                <a:solidFill>
                  <a:srgbClr val="0070C0"/>
                </a:solidFill>
              </a:rPr>
              <a:t>T</a:t>
            </a:r>
            <a:r>
              <a:rPr lang="de-DE" b="1" baseline="-25000">
                <a:solidFill>
                  <a:srgbClr val="0070C0"/>
                </a:solidFill>
              </a:rPr>
              <a:t>S</a:t>
            </a:r>
            <a:r>
              <a:rPr lang="de-DE" b="1"/>
              <a:t> + </a:t>
            </a:r>
            <a:r>
              <a:rPr lang="de-DE" b="1">
                <a:solidFill>
                  <a:schemeClr val="accent2"/>
                </a:solidFill>
              </a:rPr>
              <a:t>T</a:t>
            </a:r>
            <a:r>
              <a:rPr lang="de-DE" b="1" baseline="-25000">
                <a:solidFill>
                  <a:schemeClr val="accent2"/>
                </a:solidFill>
              </a:rPr>
              <a:t>D</a:t>
            </a:r>
            <a:r>
              <a:rPr lang="de-DE" b="1"/>
              <a:t>) </a:t>
            </a:r>
          </a:p>
          <a:p>
            <a:r>
              <a:rPr lang="en-US" b="1"/>
              <a:t>How to determine </a:t>
            </a:r>
            <a:r>
              <a:rPr lang="de-DE">
                <a:solidFill>
                  <a:schemeClr val="accent2"/>
                </a:solidFill>
              </a:rPr>
              <a:t>T</a:t>
            </a:r>
            <a:r>
              <a:rPr lang="de-DE" baseline="-25000">
                <a:solidFill>
                  <a:schemeClr val="accent2"/>
                </a:solidFill>
              </a:rPr>
              <a:t>D</a:t>
            </a:r>
            <a:r>
              <a:rPr lang="de-DE"/>
              <a:t>? </a:t>
            </a:r>
          </a:p>
          <a:p>
            <a:pPr marL="816102" lvl="1" indent="-514350">
              <a:buFont typeface="+mj-lt"/>
              <a:buAutoNum type="arabicPeriod"/>
            </a:pPr>
            <a:r>
              <a:rPr lang="de-DE" b="1" err="1"/>
              <a:t>For</a:t>
            </a:r>
            <a:r>
              <a:rPr lang="de-DE" b="1"/>
              <a:t> larger </a:t>
            </a:r>
            <a:r>
              <a:rPr lang="de-DE" b="1" err="1"/>
              <a:t>networks</a:t>
            </a:r>
            <a:r>
              <a:rPr lang="de-DE" b="1"/>
              <a:t>, </a:t>
            </a:r>
            <a:r>
              <a:rPr lang="de-DE" b="1" err="1"/>
              <a:t>the</a:t>
            </a:r>
            <a:r>
              <a:rPr lang="de-DE" b="1"/>
              <a:t> </a:t>
            </a:r>
            <a:r>
              <a:rPr lang="de-DE" b="1" err="1"/>
              <a:t>Pdelay_resp</a:t>
            </a:r>
            <a:r>
              <a:rPr lang="de-DE" b="1"/>
              <a:t> and </a:t>
            </a:r>
            <a:r>
              <a:rPr lang="de-DE" b="1" err="1"/>
              <a:t>Pdelay_followup</a:t>
            </a:r>
            <a:r>
              <a:rPr lang="de-DE" b="1"/>
              <a:t> </a:t>
            </a:r>
            <a:r>
              <a:rPr lang="de-DE" b="1" err="1"/>
              <a:t>messages</a:t>
            </a:r>
            <a:r>
              <a:rPr lang="de-DE" b="1"/>
              <a:t> </a:t>
            </a:r>
            <a:r>
              <a:rPr lang="de-DE" b="1" err="1"/>
              <a:t>from</a:t>
            </a:r>
            <a:r>
              <a:rPr lang="de-DE" b="1"/>
              <a:t> PTP </a:t>
            </a:r>
            <a:r>
              <a:rPr lang="de-DE" b="1" err="1"/>
              <a:t>can</a:t>
            </a:r>
            <a:r>
              <a:rPr lang="de-DE" b="1"/>
              <a:t> </a:t>
            </a:r>
            <a:r>
              <a:rPr lang="de-DE" b="1" err="1"/>
              <a:t>be</a:t>
            </a:r>
            <a:r>
              <a:rPr lang="de-DE" b="1"/>
              <a:t> </a:t>
            </a:r>
            <a:r>
              <a:rPr lang="de-DE" b="1" err="1"/>
              <a:t>used</a:t>
            </a:r>
            <a:r>
              <a:rPr lang="de-DE" b="1"/>
              <a:t> </a:t>
            </a:r>
            <a:r>
              <a:rPr lang="de-DE" b="1" err="1"/>
              <a:t>to</a:t>
            </a:r>
            <a:r>
              <a:rPr lang="de-DE" b="1"/>
              <a:t> </a:t>
            </a:r>
            <a:r>
              <a:rPr lang="de-DE" b="1" err="1"/>
              <a:t>exchange</a:t>
            </a:r>
            <a:r>
              <a:rPr lang="de-DE" b="1"/>
              <a:t> </a:t>
            </a:r>
            <a:r>
              <a:rPr lang="de-DE" b="1" err="1"/>
              <a:t>another</a:t>
            </a:r>
            <a:r>
              <a:rPr lang="de-DE" b="1"/>
              <a:t> </a:t>
            </a:r>
            <a:r>
              <a:rPr lang="de-DE" b="1" err="1"/>
              <a:t>set</a:t>
            </a:r>
            <a:r>
              <a:rPr lang="de-DE" b="1"/>
              <a:t> </a:t>
            </a:r>
            <a:r>
              <a:rPr lang="de-DE" b="1" err="1"/>
              <a:t>of</a:t>
            </a:r>
            <a:r>
              <a:rPr lang="de-DE" b="1"/>
              <a:t> </a:t>
            </a:r>
            <a:r>
              <a:rPr lang="de-DE" b="1" err="1"/>
              <a:t>timestamps</a:t>
            </a:r>
            <a:r>
              <a:rPr lang="de-DE" b="1"/>
              <a:t>. </a:t>
            </a:r>
          </a:p>
          <a:p>
            <a:pPr marL="1108710" lvl="2" indent="-514350">
              <a:buFont typeface="+mj-lt"/>
              <a:buAutoNum type="alphaLcParenR"/>
            </a:pPr>
            <a:r>
              <a:rPr lang="de-DE" b="1"/>
              <a:t>With all 4 </a:t>
            </a:r>
            <a:r>
              <a:rPr lang="de-DE" b="1" err="1"/>
              <a:t>timestamps</a:t>
            </a:r>
            <a:r>
              <a:rPr lang="de-DE" b="1"/>
              <a:t>, </a:t>
            </a:r>
            <a:r>
              <a:rPr lang="de-DE" b="1" err="1"/>
              <a:t>it</a:t>
            </a:r>
            <a:r>
              <a:rPr lang="de-DE" b="1"/>
              <a:t> </a:t>
            </a:r>
            <a:r>
              <a:rPr lang="de-DE" b="1" err="1"/>
              <a:t>is</a:t>
            </a:r>
            <a:r>
              <a:rPr lang="de-DE" b="1"/>
              <a:t> possible </a:t>
            </a:r>
            <a:r>
              <a:rPr lang="de-DE" b="1" err="1"/>
              <a:t>to</a:t>
            </a:r>
            <a:r>
              <a:rPr lang="de-DE" b="1"/>
              <a:t> </a:t>
            </a:r>
            <a:r>
              <a:rPr lang="de-DE" b="1" err="1"/>
              <a:t>calculate</a:t>
            </a:r>
            <a:r>
              <a:rPr lang="de-DE" b="1"/>
              <a:t> </a:t>
            </a:r>
            <a:r>
              <a:rPr lang="de-DE" b="1" err="1"/>
              <a:t>roundtrip</a:t>
            </a:r>
            <a:r>
              <a:rPr lang="de-DE" b="1"/>
              <a:t> </a:t>
            </a:r>
            <a:r>
              <a:rPr lang="de-DE" b="1" err="1"/>
              <a:t>delay</a:t>
            </a:r>
            <a:r>
              <a:rPr lang="de-DE" b="1"/>
              <a:t>.</a:t>
            </a:r>
          </a:p>
          <a:p>
            <a:pPr marL="816102" lvl="1" indent="-514350">
              <a:buFont typeface="+mj-lt"/>
              <a:buAutoNum type="arabicPeriod"/>
            </a:pPr>
            <a:r>
              <a:rPr lang="de-DE" b="1" err="1"/>
              <a:t>For</a:t>
            </a:r>
            <a:r>
              <a:rPr lang="de-DE" b="1"/>
              <a:t> 10BASE-T1S </a:t>
            </a:r>
            <a:r>
              <a:rPr lang="de-DE" b="1" err="1"/>
              <a:t>networks</a:t>
            </a:r>
            <a:r>
              <a:rPr lang="de-DE" b="1"/>
              <a:t>, </a:t>
            </a:r>
            <a:r>
              <a:rPr lang="de-DE" b="1" err="1"/>
              <a:t>the</a:t>
            </a:r>
            <a:r>
              <a:rPr lang="de-DE" b="1"/>
              <a:t> </a:t>
            </a:r>
            <a:r>
              <a:rPr lang="de-DE" b="1" err="1"/>
              <a:t>distance</a:t>
            </a:r>
            <a:r>
              <a:rPr lang="de-DE" b="1"/>
              <a:t> </a:t>
            </a:r>
            <a:r>
              <a:rPr lang="de-DE" b="1" err="1"/>
              <a:t>between</a:t>
            </a:r>
            <a:r>
              <a:rPr lang="de-DE" b="1"/>
              <a:t> </a:t>
            </a:r>
            <a:r>
              <a:rPr lang="de-DE" b="1" err="1"/>
              <a:t>nodes</a:t>
            </a:r>
            <a:r>
              <a:rPr lang="de-DE" b="1"/>
              <a:t> </a:t>
            </a:r>
            <a:r>
              <a:rPr lang="de-DE" b="1" err="1"/>
              <a:t>is</a:t>
            </a:r>
            <a:r>
              <a:rPr lang="de-DE" b="1"/>
              <a:t> </a:t>
            </a:r>
            <a:r>
              <a:rPr lang="de-DE" b="1" err="1"/>
              <a:t>known</a:t>
            </a:r>
            <a:r>
              <a:rPr lang="de-DE" b="1"/>
              <a:t> so </a:t>
            </a:r>
            <a:r>
              <a:rPr lang="de-DE" b="1" err="1"/>
              <a:t>the</a:t>
            </a:r>
            <a:r>
              <a:rPr lang="de-DE" b="1"/>
              <a:t> </a:t>
            </a:r>
            <a:r>
              <a:rPr lang="de-DE" b="1" err="1"/>
              <a:t>delay</a:t>
            </a:r>
            <a:r>
              <a:rPr lang="de-DE" b="1"/>
              <a:t> </a:t>
            </a:r>
            <a:r>
              <a:rPr lang="de-DE" b="1" err="1"/>
              <a:t>can</a:t>
            </a:r>
            <a:r>
              <a:rPr lang="de-DE" b="1"/>
              <a:t> </a:t>
            </a:r>
            <a:r>
              <a:rPr lang="de-DE" b="1" err="1"/>
              <a:t>be</a:t>
            </a:r>
            <a:r>
              <a:rPr lang="de-DE" b="1"/>
              <a:t> </a:t>
            </a:r>
            <a:r>
              <a:rPr lang="de-DE" b="1" err="1"/>
              <a:t>calculated</a:t>
            </a:r>
            <a:r>
              <a:rPr lang="de-DE" b="1"/>
              <a:t> and </a:t>
            </a:r>
            <a:r>
              <a:rPr lang="de-DE" b="1" err="1"/>
              <a:t>treated</a:t>
            </a:r>
            <a:r>
              <a:rPr lang="de-DE" b="1"/>
              <a:t> </a:t>
            </a:r>
            <a:r>
              <a:rPr lang="de-DE" b="1" err="1"/>
              <a:t>as</a:t>
            </a:r>
            <a:r>
              <a:rPr lang="de-DE" b="1"/>
              <a:t> a </a:t>
            </a:r>
            <a:r>
              <a:rPr lang="de-DE" b="1" err="1"/>
              <a:t>constant</a:t>
            </a:r>
            <a:r>
              <a:rPr lang="de-DE" b="1"/>
              <a:t>.</a:t>
            </a:r>
          </a:p>
          <a:p>
            <a:pPr marL="816102" lvl="1" indent="-514350">
              <a:buFont typeface="+mj-lt"/>
              <a:buAutoNum type="arabicPeriod"/>
            </a:pP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955624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A6EF177-3EBE-DAFB-1523-EB3049D4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</p:spPr>
        <p:txBody>
          <a:bodyPr/>
          <a:lstStyle/>
          <a:p>
            <a:r>
              <a:rPr lang="en-DE"/>
              <a:t>LAN8650/1  </a:t>
            </a:r>
            <a:r>
              <a:rPr lang="de-DE" err="1"/>
              <a:t>Receive</a:t>
            </a:r>
            <a:r>
              <a:rPr lang="de-DE"/>
              <a:t> </a:t>
            </a:r>
            <a:r>
              <a:rPr lang="en-DE"/>
              <a:t>Timestamp</a:t>
            </a:r>
            <a:r>
              <a:rPr lang="de-DE"/>
              <a:t> </a:t>
            </a:r>
            <a:r>
              <a:rPr lang="de-DE" err="1"/>
              <a:t>Configuration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5EF3F9-F651-7818-7324-D1BEC93C7D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</p:spPr>
        <p:txBody>
          <a:bodyPr/>
          <a:lstStyle/>
          <a:p>
            <a:r>
              <a:rPr lang="en-US"/>
              <a:t>The standard software configuration will set the pattern matcher to trigger a timestamp on ALL incoming packets.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lvl="1"/>
            <a:r>
              <a:rPr lang="en-US"/>
              <a:t>First 3 writes configure a timestamp to be taken at the end of the SFD (Source Frame Delimiter) symbol in the Ethernet frame based on the internal wall clock</a:t>
            </a:r>
          </a:p>
          <a:p>
            <a:pPr lvl="1"/>
            <a:r>
              <a:rPr lang="en-US"/>
              <a:t>Last write enables the signal which triggers the timestamp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2301E1-38A8-8D61-3D08-3E2211352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023" y="2105024"/>
            <a:ext cx="6038850" cy="13239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CBCF80F-EDAA-08F9-FD9C-F1CCD4A859E3}"/>
              </a:ext>
            </a:extLst>
          </p:cNvPr>
          <p:cNvSpPr/>
          <p:nvPr/>
        </p:nvSpPr>
        <p:spPr>
          <a:xfrm>
            <a:off x="3214255" y="2900218"/>
            <a:ext cx="5107709" cy="14778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44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1F900-7A39-2BAF-4B1F-7E1C7A421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LAN8650/1 Wall Clock Registers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EF0FA-E6E6-A0B8-B4AD-FBBF6544183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set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wall </a:t>
            </a:r>
            <a:r>
              <a:rPr lang="de-DE" err="1"/>
              <a:t>clock</a:t>
            </a:r>
            <a:r>
              <a:rPr lang="de-DE"/>
              <a:t> (</a:t>
            </a:r>
            <a:r>
              <a:rPr lang="de-DE" err="1"/>
              <a:t>used</a:t>
            </a:r>
            <a:r>
              <a:rPr lang="de-DE"/>
              <a:t> </a:t>
            </a:r>
            <a:r>
              <a:rPr lang="de-DE" err="1"/>
              <a:t>once</a:t>
            </a:r>
            <a:r>
              <a:rPr lang="de-DE"/>
              <a:t> at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start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clock</a:t>
            </a:r>
            <a:r>
              <a:rPr lang="de-DE"/>
              <a:t> </a:t>
            </a:r>
            <a:r>
              <a:rPr lang="de-DE" err="1"/>
              <a:t>servo</a:t>
            </a:r>
            <a:r>
              <a:rPr lang="de-DE"/>
              <a:t>)</a:t>
            </a:r>
          </a:p>
          <a:p>
            <a:pPr lvl="1"/>
            <a:r>
              <a:rPr lang="de-DE"/>
              <a:t>MAC_TSH, MAC_TSL (48 </a:t>
            </a:r>
            <a:r>
              <a:rPr lang="de-DE" err="1"/>
              <a:t>bits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seconds</a:t>
            </a:r>
            <a:r>
              <a:rPr lang="de-DE"/>
              <a:t>)</a:t>
            </a:r>
          </a:p>
          <a:p>
            <a:pPr lvl="1"/>
            <a:r>
              <a:rPr lang="de-DE"/>
              <a:t>MAC_TSN (30 </a:t>
            </a:r>
            <a:r>
              <a:rPr lang="de-DE" err="1"/>
              <a:t>bits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nanoseconds</a:t>
            </a:r>
            <a:r>
              <a:rPr lang="de-DE"/>
              <a:t>) </a:t>
            </a:r>
          </a:p>
          <a:p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set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amount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wall </a:t>
            </a:r>
            <a:r>
              <a:rPr lang="de-DE" err="1"/>
              <a:t>clock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incremented</a:t>
            </a:r>
            <a:r>
              <a:rPr lang="de-DE"/>
              <a:t> </a:t>
            </a:r>
            <a:r>
              <a:rPr lang="de-DE" err="1"/>
              <a:t>each</a:t>
            </a:r>
            <a:r>
              <a:rPr lang="de-DE"/>
              <a:t> tick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local</a:t>
            </a:r>
            <a:r>
              <a:rPr lang="de-DE"/>
              <a:t> </a:t>
            </a:r>
            <a:r>
              <a:rPr lang="de-DE" err="1"/>
              <a:t>osillator</a:t>
            </a:r>
            <a:endParaRPr lang="de-DE"/>
          </a:p>
          <a:p>
            <a:pPr lvl="1"/>
            <a:r>
              <a:rPr lang="de-DE"/>
              <a:t>MAC_TI (8 </a:t>
            </a:r>
            <a:r>
              <a:rPr lang="de-DE" err="1"/>
              <a:t>bits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nanosecond</a:t>
            </a:r>
            <a:r>
              <a:rPr lang="de-DE"/>
              <a:t> </a:t>
            </a:r>
            <a:r>
              <a:rPr lang="de-DE" err="1"/>
              <a:t>adjustment</a:t>
            </a:r>
            <a:r>
              <a:rPr lang="de-DE"/>
              <a:t>)</a:t>
            </a:r>
          </a:p>
          <a:p>
            <a:pPr lvl="1"/>
            <a:r>
              <a:rPr lang="de-DE"/>
              <a:t>MAC_TISUBN (24 </a:t>
            </a:r>
            <a:r>
              <a:rPr lang="de-DE" err="1"/>
              <a:t>bits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sub-</a:t>
            </a:r>
            <a:r>
              <a:rPr lang="de-DE" err="1"/>
              <a:t>nanosecond</a:t>
            </a:r>
            <a:r>
              <a:rPr lang="de-DE"/>
              <a:t> </a:t>
            </a:r>
            <a:r>
              <a:rPr lang="de-DE" err="1"/>
              <a:t>increment</a:t>
            </a:r>
            <a:r>
              <a:rPr lang="de-DE"/>
              <a:t>)</a:t>
            </a:r>
          </a:p>
          <a:p>
            <a:r>
              <a:rPr lang="de-DE" err="1"/>
              <a:t>If</a:t>
            </a:r>
            <a:r>
              <a:rPr lang="de-DE"/>
              <a:t> a </a:t>
            </a:r>
            <a:r>
              <a:rPr lang="de-DE" err="1"/>
              <a:t>one</a:t>
            </a:r>
            <a:r>
              <a:rPr lang="de-DE"/>
              <a:t> time </a:t>
            </a:r>
            <a:r>
              <a:rPr lang="de-DE" err="1"/>
              <a:t>adjustment</a:t>
            </a:r>
            <a:r>
              <a:rPr lang="de-DE"/>
              <a:t> </a:t>
            </a:r>
            <a:r>
              <a:rPr lang="de-DE" err="1"/>
              <a:t>is</a:t>
            </a:r>
            <a:r>
              <a:rPr lang="de-DE"/>
              <a:t> </a:t>
            </a:r>
            <a:r>
              <a:rPr lang="de-DE" err="1"/>
              <a:t>needed</a:t>
            </a:r>
            <a:endParaRPr lang="de-DE"/>
          </a:p>
          <a:p>
            <a:pPr lvl="1"/>
            <a:r>
              <a:rPr lang="de-DE"/>
              <a:t>MAC_TA (30 </a:t>
            </a:r>
            <a:r>
              <a:rPr lang="de-DE" err="1"/>
              <a:t>bits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nanoseconds</a:t>
            </a:r>
            <a:r>
              <a:rPr lang="de-DE"/>
              <a:t>, plus a </a:t>
            </a:r>
            <a:r>
              <a:rPr lang="de-DE" err="1"/>
              <a:t>sign</a:t>
            </a:r>
            <a:r>
              <a:rPr lang="de-DE"/>
              <a:t> </a:t>
            </a:r>
            <a:r>
              <a:rPr lang="de-DE" err="1"/>
              <a:t>bit</a:t>
            </a:r>
            <a:r>
              <a:rPr lang="de-DE"/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318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5FD68A-FB63-C692-E155-FBDF7D7BA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LAN8650/1 Software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ED0F90-B3ED-92B6-5D77-C585B20ABF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/>
              <a:t>The TC6 </a:t>
            </a:r>
            <a:r>
              <a:rPr lang="de-DE" err="1"/>
              <a:t>driver</a:t>
            </a:r>
            <a:r>
              <a:rPr lang="de-DE"/>
              <a:t> </a:t>
            </a:r>
            <a:r>
              <a:rPr lang="de-DE" err="1"/>
              <a:t>software</a:t>
            </a:r>
            <a:r>
              <a:rPr lang="de-DE"/>
              <a:t> </a:t>
            </a:r>
            <a:r>
              <a:rPr lang="de-DE" err="1"/>
              <a:t>handles</a:t>
            </a:r>
            <a:r>
              <a:rPr lang="de-DE"/>
              <a:t> all </a:t>
            </a:r>
            <a:r>
              <a:rPr lang="de-DE" err="1"/>
              <a:t>features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protocol</a:t>
            </a:r>
            <a:endParaRPr lang="de-DE"/>
          </a:p>
          <a:p>
            <a:r>
              <a:rPr lang="de-DE"/>
              <a:t>Set </a:t>
            </a:r>
            <a:r>
              <a:rPr lang="de-DE" err="1"/>
              <a:t>the</a:t>
            </a:r>
            <a:r>
              <a:rPr lang="de-DE"/>
              <a:t> FTSE (Frame </a:t>
            </a:r>
            <a:r>
              <a:rPr lang="de-DE" err="1"/>
              <a:t>Timestamp</a:t>
            </a:r>
            <a:r>
              <a:rPr lang="de-DE"/>
              <a:t> </a:t>
            </a:r>
            <a:r>
              <a:rPr lang="de-DE" err="1"/>
              <a:t>Enable</a:t>
            </a:r>
            <a:r>
              <a:rPr lang="de-DE"/>
              <a:t>) </a:t>
            </a:r>
            <a:r>
              <a:rPr lang="de-DE" err="1"/>
              <a:t>bit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provide</a:t>
            </a:r>
            <a:r>
              <a:rPr lang="de-DE"/>
              <a:t> </a:t>
            </a:r>
            <a:r>
              <a:rPr lang="de-DE" err="1"/>
              <a:t>timestamps</a:t>
            </a:r>
            <a:r>
              <a:rPr lang="de-DE"/>
              <a:t> on </a:t>
            </a:r>
            <a:r>
              <a:rPr lang="de-DE" err="1"/>
              <a:t>received</a:t>
            </a:r>
            <a:r>
              <a:rPr lang="de-DE"/>
              <a:t> </a:t>
            </a:r>
            <a:r>
              <a:rPr lang="de-DE" err="1"/>
              <a:t>packets</a:t>
            </a:r>
            <a:r>
              <a:rPr lang="de-DE"/>
              <a:t>.</a:t>
            </a:r>
          </a:p>
          <a:p>
            <a:r>
              <a:rPr lang="de-DE" err="1"/>
              <a:t>Timestamps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delivered</a:t>
            </a:r>
            <a:r>
              <a:rPr lang="de-DE"/>
              <a:t> </a:t>
            </a:r>
            <a:r>
              <a:rPr lang="de-DE" err="1"/>
              <a:t>as</a:t>
            </a:r>
            <a:r>
              <a:rPr lang="de-DE"/>
              <a:t> </a:t>
            </a:r>
            <a:r>
              <a:rPr lang="de-DE" err="1"/>
              <a:t>part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implementation</a:t>
            </a:r>
            <a:r>
              <a:rPr lang="de-DE"/>
              <a:t>. </a:t>
            </a:r>
            <a:r>
              <a:rPr lang="de-DE" err="1"/>
              <a:t>If</a:t>
            </a:r>
            <a:r>
              <a:rPr lang="de-DE"/>
              <a:t> </a:t>
            </a:r>
            <a:r>
              <a:rPr lang="de-DE" err="1"/>
              <a:t>enabled</a:t>
            </a:r>
            <a:r>
              <a:rPr lang="de-DE"/>
              <a:t>, </a:t>
            </a:r>
            <a:r>
              <a:rPr lang="de-DE" err="1"/>
              <a:t>they</a:t>
            </a:r>
            <a:r>
              <a:rPr lang="de-DE"/>
              <a:t> will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delivered</a:t>
            </a:r>
            <a:r>
              <a:rPr lang="de-DE"/>
              <a:t> in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payload</a:t>
            </a:r>
            <a:r>
              <a:rPr lang="de-DE"/>
              <a:t> </a:t>
            </a:r>
            <a:r>
              <a:rPr lang="de-DE" err="1"/>
              <a:t>structure</a:t>
            </a:r>
            <a:r>
              <a:rPr lang="de-DE"/>
              <a:t>.</a:t>
            </a:r>
          </a:p>
          <a:p>
            <a:r>
              <a:rPr lang="de-DE" err="1"/>
              <a:t>They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ignored</a:t>
            </a:r>
            <a:r>
              <a:rPr lang="de-DE"/>
              <a:t> </a:t>
            </a:r>
            <a:r>
              <a:rPr lang="de-DE" err="1"/>
              <a:t>by</a:t>
            </a:r>
            <a:r>
              <a:rPr lang="de-DE"/>
              <a:t> </a:t>
            </a:r>
            <a:r>
              <a:rPr lang="de-DE" err="1"/>
              <a:t>higher</a:t>
            </a:r>
            <a:r>
              <a:rPr lang="de-DE"/>
              <a:t> </a:t>
            </a:r>
            <a:r>
              <a:rPr lang="de-DE" err="1"/>
              <a:t>level</a:t>
            </a:r>
            <a:r>
              <a:rPr lang="de-DE"/>
              <a:t> </a:t>
            </a:r>
            <a:r>
              <a:rPr lang="de-DE" err="1"/>
              <a:t>packets</a:t>
            </a:r>
            <a:r>
              <a:rPr lang="de-DE"/>
              <a:t> </a:t>
            </a:r>
            <a:r>
              <a:rPr lang="de-DE" err="1"/>
              <a:t>unless</a:t>
            </a:r>
            <a:r>
              <a:rPr lang="de-DE"/>
              <a:t> </a:t>
            </a:r>
            <a:r>
              <a:rPr lang="de-DE" err="1"/>
              <a:t>they</a:t>
            </a:r>
            <a:r>
              <a:rPr lang="de-DE"/>
              <a:t> </a:t>
            </a:r>
            <a:r>
              <a:rPr lang="de-DE" err="1"/>
              <a:t>are</a:t>
            </a:r>
            <a:r>
              <a:rPr lang="de-DE"/>
              <a:t> </a:t>
            </a:r>
            <a:r>
              <a:rPr lang="de-DE" err="1"/>
              <a:t>explicitly</a:t>
            </a:r>
            <a:r>
              <a:rPr lang="de-DE"/>
              <a:t> </a:t>
            </a:r>
            <a:r>
              <a:rPr lang="de-DE" err="1"/>
              <a:t>needed</a:t>
            </a:r>
            <a:endParaRPr lang="de-DE"/>
          </a:p>
          <a:p>
            <a:pPr lvl="1"/>
            <a:r>
              <a:rPr lang="de-DE"/>
              <a:t>The </a:t>
            </a:r>
            <a:r>
              <a:rPr lang="de-DE" err="1"/>
              <a:t>clock</a:t>
            </a:r>
            <a:r>
              <a:rPr lang="de-DE"/>
              <a:t> </a:t>
            </a:r>
            <a:r>
              <a:rPr lang="de-DE" err="1"/>
              <a:t>synchronization</a:t>
            </a:r>
            <a:r>
              <a:rPr lang="de-DE"/>
              <a:t> </a:t>
            </a:r>
            <a:r>
              <a:rPr lang="de-DE" err="1"/>
              <a:t>software</a:t>
            </a:r>
            <a:r>
              <a:rPr lang="de-DE"/>
              <a:t> will </a:t>
            </a:r>
            <a:r>
              <a:rPr lang="de-DE" err="1"/>
              <a:t>process</a:t>
            </a:r>
            <a:r>
              <a:rPr lang="de-DE"/>
              <a:t> PTP </a:t>
            </a:r>
            <a:r>
              <a:rPr lang="de-DE" err="1"/>
              <a:t>packets</a:t>
            </a:r>
            <a:r>
              <a:rPr lang="de-DE"/>
              <a:t> and pass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timestamps</a:t>
            </a:r>
            <a:r>
              <a:rPr lang="de-DE"/>
              <a:t>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clock</a:t>
            </a:r>
            <a:r>
              <a:rPr lang="de-DE"/>
              <a:t> </a:t>
            </a:r>
            <a:r>
              <a:rPr lang="de-DE" err="1"/>
              <a:t>servo</a:t>
            </a:r>
            <a:r>
              <a:rPr lang="de-DE"/>
              <a:t> </a:t>
            </a:r>
            <a:r>
              <a:rPr lang="de-DE" err="1"/>
              <a:t>algorithm</a:t>
            </a:r>
            <a:r>
              <a:rPr lang="de-DE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6203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1C2CBBFA-AA9F-5F7F-5869-5883A3CE894D}"/>
              </a:ext>
            </a:extLst>
          </p:cNvPr>
          <p:cNvSpPr/>
          <p:nvPr/>
        </p:nvSpPr>
        <p:spPr>
          <a:xfrm>
            <a:off x="2203428" y="3907003"/>
            <a:ext cx="5072862" cy="685068"/>
          </a:xfrm>
          <a:prstGeom prst="wedgeRoundRectCallout">
            <a:avLst>
              <a:gd name="adj1" fmla="val -9336"/>
              <a:gd name="adj2" fmla="val -8613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>
                <a:solidFill>
                  <a:schemeClr val="tx1"/>
                </a:solidFill>
              </a:rPr>
              <a:t>Pattern for SYNC: </a:t>
            </a:r>
          </a:p>
          <a:p>
            <a:pPr algn="ctr"/>
            <a:r>
              <a:rPr lang="en-DE" sz="1800" b="1">
                <a:solidFill>
                  <a:schemeClr val="tx1"/>
                </a:solidFill>
              </a:rPr>
              <a:t>0x </a:t>
            </a:r>
            <a:r>
              <a:rPr lang="en-DE" sz="1800" b="1" u="sng">
                <a:solidFill>
                  <a:schemeClr val="tx1"/>
                </a:solidFill>
              </a:rPr>
              <a:t>88</a:t>
            </a:r>
            <a:r>
              <a:rPr lang="en-DE" sz="1800" b="1">
                <a:solidFill>
                  <a:schemeClr val="tx1"/>
                </a:solidFill>
              </a:rPr>
              <a:t>  </a:t>
            </a:r>
            <a:r>
              <a:rPr lang="en-DE" sz="1800" b="1" u="sng">
                <a:solidFill>
                  <a:schemeClr val="tx1"/>
                </a:solidFill>
              </a:rPr>
              <a:t>F7 10</a:t>
            </a:r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560C438F-634A-4AD3-A6AA-86B83F75C1D7}"/>
              </a:ext>
            </a:extLst>
          </p:cNvPr>
          <p:cNvSpPr/>
          <p:nvPr/>
        </p:nvSpPr>
        <p:spPr>
          <a:xfrm>
            <a:off x="2223640" y="5268988"/>
            <a:ext cx="2489575" cy="913423"/>
          </a:xfrm>
          <a:prstGeom prst="wedgeRoundRectCallout">
            <a:avLst>
              <a:gd name="adj1" fmla="val 27857"/>
              <a:gd name="adj2" fmla="val -1528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DE" sz="1800"/>
              <a:t>Configured in </a:t>
            </a:r>
            <a:r>
              <a:rPr lang="en-DE" sz="1800" b="1"/>
              <a:t>TXMPATH</a:t>
            </a:r>
            <a:r>
              <a:rPr lang="en-DE" sz="1800"/>
              <a:t> </a:t>
            </a:r>
          </a:p>
          <a:p>
            <a:pPr>
              <a:lnSpc>
                <a:spcPct val="150000"/>
              </a:lnSpc>
            </a:pPr>
            <a:r>
              <a:rPr lang="en-DE" sz="1800"/>
              <a:t>(TX Match Pattern High)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5A0E8A7A-02DB-ECAC-020E-7FAFAF2F298A}"/>
              </a:ext>
            </a:extLst>
          </p:cNvPr>
          <p:cNvSpPr/>
          <p:nvPr/>
        </p:nvSpPr>
        <p:spPr>
          <a:xfrm>
            <a:off x="4770909" y="5258828"/>
            <a:ext cx="2543234" cy="913423"/>
          </a:xfrm>
          <a:prstGeom prst="wedgeRoundRectCallout">
            <a:avLst>
              <a:gd name="adj1" fmla="val 27857"/>
              <a:gd name="adj2" fmla="val -15280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0" rIns="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DE" sz="1800"/>
              <a:t>Configured in </a:t>
            </a:r>
            <a:r>
              <a:rPr lang="en-DE" sz="1800" b="1"/>
              <a:t>TXMPATL</a:t>
            </a:r>
          </a:p>
          <a:p>
            <a:pPr>
              <a:lnSpc>
                <a:spcPct val="150000"/>
              </a:lnSpc>
            </a:pPr>
            <a:r>
              <a:rPr lang="en-DE" sz="1800"/>
              <a:t>(TX Match Pattern Low)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98ED24B-3CEC-EFB8-943D-5A885C81D0FC}"/>
              </a:ext>
            </a:extLst>
          </p:cNvPr>
          <p:cNvCxnSpPr>
            <a:cxnSpLocks/>
          </p:cNvCxnSpPr>
          <p:nvPr/>
        </p:nvCxnSpPr>
        <p:spPr>
          <a:xfrm flipH="1">
            <a:off x="4309355" y="4511091"/>
            <a:ext cx="262342" cy="71628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CAC6509-A57F-95E2-106D-F8D0D2596AF0}"/>
              </a:ext>
            </a:extLst>
          </p:cNvPr>
          <p:cNvCxnSpPr>
            <a:cxnSpLocks/>
          </p:cNvCxnSpPr>
          <p:nvPr/>
        </p:nvCxnSpPr>
        <p:spPr>
          <a:xfrm>
            <a:off x="5006037" y="4511091"/>
            <a:ext cx="175260" cy="70866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633FAA7-2D78-DFB4-8BDB-36A4476FA4E4}"/>
              </a:ext>
            </a:extLst>
          </p:cNvPr>
          <p:cNvCxnSpPr>
            <a:cxnSpLocks/>
          </p:cNvCxnSpPr>
          <p:nvPr/>
        </p:nvCxnSpPr>
        <p:spPr>
          <a:xfrm>
            <a:off x="5644587" y="3261843"/>
            <a:ext cx="0" cy="622300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83356549-11CA-10FE-8448-4A1BC4672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Optional: Filter </a:t>
            </a:r>
            <a:r>
              <a:rPr lang="de-DE" err="1"/>
              <a:t>for</a:t>
            </a:r>
            <a:r>
              <a:rPr lang="de-DE"/>
              <a:t> SYNC </a:t>
            </a:r>
            <a:r>
              <a:rPr lang="de-DE" err="1"/>
              <a:t>Packets</a:t>
            </a:r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CD203D0-6C9D-CCB0-DF5F-7DE0B6D24C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798" y="1369551"/>
            <a:ext cx="6955314" cy="18807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D5DF2AB-D4DF-5320-5A9E-5036964B411D}"/>
              </a:ext>
            </a:extLst>
          </p:cNvPr>
          <p:cNvGrpSpPr/>
          <p:nvPr/>
        </p:nvGrpSpPr>
        <p:grpSpPr>
          <a:xfrm>
            <a:off x="8505365" y="2441009"/>
            <a:ext cx="2955113" cy="1443134"/>
            <a:chOff x="361333" y="2410618"/>
            <a:chExt cx="4997746" cy="1044616"/>
          </a:xfrm>
          <a:solidFill>
            <a:schemeClr val="accent2"/>
          </a:solidFill>
        </p:grpSpPr>
        <p:sp>
          <p:nvSpPr>
            <p:cNvPr id="10" name="Callout: Line with No Border 9">
              <a:extLst>
                <a:ext uri="{FF2B5EF4-FFF2-40B4-BE49-F238E27FC236}">
                  <a16:creationId xmlns:a16="http://schemas.microsoft.com/office/drawing/2014/main" id="{B14E5B2E-02CD-1A49-AC10-292CF5B39DC0}"/>
                </a:ext>
              </a:extLst>
            </p:cNvPr>
            <p:cNvSpPr/>
            <p:nvPr/>
          </p:nvSpPr>
          <p:spPr>
            <a:xfrm>
              <a:off x="3978868" y="2726740"/>
              <a:ext cx="892170" cy="573457"/>
            </a:xfrm>
            <a:prstGeom prst="callout1">
              <a:avLst>
                <a:gd name="adj1" fmla="val -4726"/>
                <a:gd name="adj2" fmla="val -369820"/>
                <a:gd name="adj3" fmla="val -4950"/>
                <a:gd name="adj4" fmla="val -500073"/>
              </a:avLst>
            </a:prstGeom>
            <a:grp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3" name="Speech Bubble: Rectangle with Corners Rounded 12">
              <a:extLst>
                <a:ext uri="{FF2B5EF4-FFF2-40B4-BE49-F238E27FC236}">
                  <a16:creationId xmlns:a16="http://schemas.microsoft.com/office/drawing/2014/main" id="{18CEE2D3-8BF4-34A3-5006-2EC5DC0C400A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grpFill/>
            <a:ln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1800">
                  <a:solidFill>
                    <a:srgbClr val="FFFFFF"/>
                  </a:solidFill>
                </a:rPr>
                <a:t>Pattern Matcher can </a:t>
              </a:r>
            </a:p>
            <a:p>
              <a:pPr algn="ctr"/>
              <a:r>
                <a:rPr lang="en-DE" sz="1800" b="1">
                  <a:solidFill>
                    <a:srgbClr val="FFFFFF"/>
                  </a:solidFill>
                </a:rPr>
                <a:t>check 3 Bytes </a:t>
              </a:r>
            </a:p>
            <a:p>
              <a:pPr algn="ctr"/>
              <a:r>
                <a:rPr lang="en-DE" sz="1800">
                  <a:solidFill>
                    <a:srgbClr val="FFFFFF"/>
                  </a:solidFill>
                </a:rPr>
                <a:t>in RT/TX Ethernet frame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B91475-06B4-420B-7B2B-92D482AE9544}"/>
              </a:ext>
            </a:extLst>
          </p:cNvPr>
          <p:cNvGrpSpPr/>
          <p:nvPr/>
        </p:nvGrpSpPr>
        <p:grpSpPr>
          <a:xfrm>
            <a:off x="8505365" y="4719389"/>
            <a:ext cx="2955113" cy="1443134"/>
            <a:chOff x="361333" y="2410618"/>
            <a:chExt cx="4997746" cy="1044616"/>
          </a:xfrm>
          <a:solidFill>
            <a:schemeClr val="accent2"/>
          </a:solidFill>
        </p:grpSpPr>
        <p:sp>
          <p:nvSpPr>
            <p:cNvPr id="15" name="Callout: Line with No Border 14">
              <a:extLst>
                <a:ext uri="{FF2B5EF4-FFF2-40B4-BE49-F238E27FC236}">
                  <a16:creationId xmlns:a16="http://schemas.microsoft.com/office/drawing/2014/main" id="{E8728783-76BD-A678-01A5-8B323968EC29}"/>
                </a:ext>
              </a:extLst>
            </p:cNvPr>
            <p:cNvSpPr/>
            <p:nvPr/>
          </p:nvSpPr>
          <p:spPr>
            <a:xfrm>
              <a:off x="3978868" y="2726740"/>
              <a:ext cx="892170" cy="573457"/>
            </a:xfrm>
            <a:prstGeom prst="callout1">
              <a:avLst>
                <a:gd name="adj1" fmla="val 74145"/>
                <a:gd name="adj2" fmla="val -390829"/>
                <a:gd name="adj3" fmla="val 73921"/>
                <a:gd name="adj4" fmla="val -505326"/>
              </a:avLst>
            </a:prstGeom>
            <a:grp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7" name="Speech Bubble: Rectangle with Corners Rounded 16">
              <a:extLst>
                <a:ext uri="{FF2B5EF4-FFF2-40B4-BE49-F238E27FC236}">
                  <a16:creationId xmlns:a16="http://schemas.microsoft.com/office/drawing/2014/main" id="{2EBBB5C5-A45C-539B-EB7A-5DA30795FA9E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grpFill/>
            <a:ln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1800">
                  <a:solidFill>
                    <a:srgbClr val="FFFFFF"/>
                  </a:solidFill>
                </a:rPr>
                <a:t>In case of a </a:t>
              </a:r>
              <a:r>
                <a:rPr lang="en-DE" sz="1800" b="1">
                  <a:solidFill>
                    <a:srgbClr val="FFFFFF"/>
                  </a:solidFill>
                </a:rPr>
                <a:t>match</a:t>
              </a:r>
            </a:p>
            <a:p>
              <a:pPr algn="ctr"/>
              <a:r>
                <a:rPr lang="en-DE" sz="1800">
                  <a:solidFill>
                    <a:srgbClr val="FFFFFF"/>
                  </a:solidFill>
                </a:rPr>
                <a:t>either </a:t>
              </a:r>
              <a:r>
                <a:rPr lang="en-DE" sz="1800" b="1">
                  <a:solidFill>
                    <a:srgbClr val="FFFFFF"/>
                  </a:solidFill>
                </a:rPr>
                <a:t>RXPI, TXPI or RXTXPI </a:t>
              </a:r>
              <a:r>
                <a:rPr lang="en-DE" sz="1800">
                  <a:solidFill>
                    <a:srgbClr val="FFFFFF"/>
                  </a:solidFill>
                </a:rPr>
                <a:t>pin is asserted </a:t>
              </a:r>
            </a:p>
            <a:p>
              <a:pPr algn="ctr"/>
              <a:r>
                <a:rPr lang="en-DE" sz="1800">
                  <a:solidFill>
                    <a:srgbClr val="FFFFFF"/>
                  </a:solidFill>
                </a:rPr>
                <a:t>according to pin configuration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B571163-E7B3-7DC1-BA19-940AF96B9C01}"/>
              </a:ext>
            </a:extLst>
          </p:cNvPr>
          <p:cNvGrpSpPr/>
          <p:nvPr/>
        </p:nvGrpSpPr>
        <p:grpSpPr>
          <a:xfrm>
            <a:off x="8504777" y="884268"/>
            <a:ext cx="2955735" cy="1177209"/>
            <a:chOff x="361333" y="2410618"/>
            <a:chExt cx="4997746" cy="1374354"/>
          </a:xfrm>
          <a:solidFill>
            <a:schemeClr val="accent2"/>
          </a:solidFill>
        </p:grpSpPr>
        <p:sp>
          <p:nvSpPr>
            <p:cNvPr id="6" name="Callout: Line with No Border 5">
              <a:extLst>
                <a:ext uri="{FF2B5EF4-FFF2-40B4-BE49-F238E27FC236}">
                  <a16:creationId xmlns:a16="http://schemas.microsoft.com/office/drawing/2014/main" id="{C51381DD-02FB-58FE-1AAE-D4EDC7BF6C64}"/>
                </a:ext>
              </a:extLst>
            </p:cNvPr>
            <p:cNvSpPr/>
            <p:nvPr/>
          </p:nvSpPr>
          <p:spPr>
            <a:xfrm>
              <a:off x="3978869" y="3211515"/>
              <a:ext cx="892169" cy="573457"/>
            </a:xfrm>
            <a:prstGeom prst="callout1">
              <a:avLst>
                <a:gd name="adj1" fmla="val -4726"/>
                <a:gd name="adj2" fmla="val -369820"/>
                <a:gd name="adj3" fmla="val -4950"/>
                <a:gd name="adj4" fmla="val -500073"/>
              </a:avLst>
            </a:prstGeom>
            <a:no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1" name="Speech Bubble: Rectangle with Corners Rounded 10">
              <a:extLst>
                <a:ext uri="{FF2B5EF4-FFF2-40B4-BE49-F238E27FC236}">
                  <a16:creationId xmlns:a16="http://schemas.microsoft.com/office/drawing/2014/main" id="{380985F5-0BEC-120B-7E0C-34A761B1E61E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grpFill/>
            <a:ln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1800">
                  <a:solidFill>
                    <a:srgbClr val="FFFFFF"/>
                  </a:solidFill>
                </a:rPr>
                <a:t>Arbitrary RX/TX Ethernet frame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748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EAC128-E039-9A0B-4B11-C4087F964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LAN8670/1/2 </a:t>
            </a:r>
            <a:r>
              <a:rPr lang="de-DE" err="1"/>
              <a:t>Timestamping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8D002E-EEF0-F10A-0473-EAA360CE483F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345684" y="922338"/>
            <a:ext cx="11155363" cy="5386387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n-DE" sz="1800"/>
              <a:t>PTP relies on exact timestamps (Ts) broadcasted regularly (e.g. every 125 </a:t>
            </a:r>
            <a:r>
              <a:rPr lang="en-DE" sz="1800" err="1"/>
              <a:t>ms</a:t>
            </a:r>
            <a:r>
              <a:rPr lang="en-DE" sz="1800"/>
              <a:t>) in SYNC or FOLLOWUP messages by the Clock Source. All Clock Followers use this exact timestamp Ts to calculate the offset to their own time Ts.</a:t>
            </a:r>
          </a:p>
          <a:p>
            <a:pPr>
              <a:spcBef>
                <a:spcPts val="1800"/>
              </a:spcBef>
            </a:pPr>
            <a:r>
              <a:rPr lang="en-DE" sz="1800"/>
              <a:t>Receiving a SYNC message (or any frame) is done without PLCA buffer, adding only internal fixed delays of PHY, MAC and stacks.</a:t>
            </a:r>
            <a:r>
              <a:rPr lang="de-DE" sz="1800"/>
              <a:t> </a:t>
            </a:r>
            <a:r>
              <a:rPr lang="de-DE" sz="1800" err="1"/>
              <a:t>Similar</a:t>
            </a:r>
            <a:r>
              <a:rPr lang="de-DE" sz="1800"/>
              <a:t> </a:t>
            </a:r>
            <a:r>
              <a:rPr lang="de-DE" sz="1800" err="1"/>
              <a:t>to</a:t>
            </a:r>
            <a:r>
              <a:rPr lang="de-DE" sz="1800"/>
              <a:t> LAN8650 </a:t>
            </a:r>
            <a:r>
              <a:rPr lang="de-DE" sz="1800" err="1"/>
              <a:t>except</a:t>
            </a:r>
            <a:r>
              <a:rPr lang="de-DE" sz="1800"/>
              <a:t> </a:t>
            </a:r>
            <a:r>
              <a:rPr lang="de-DE" sz="1800" err="1"/>
              <a:t>that</a:t>
            </a:r>
            <a:r>
              <a:rPr lang="de-DE" sz="1800"/>
              <a:t> </a:t>
            </a:r>
            <a:r>
              <a:rPr lang="de-DE" sz="1800" err="1"/>
              <a:t>there</a:t>
            </a:r>
            <a:r>
              <a:rPr lang="de-DE" sz="1800"/>
              <a:t> </a:t>
            </a:r>
            <a:r>
              <a:rPr lang="de-DE" sz="1800" err="1"/>
              <a:t>is</a:t>
            </a:r>
            <a:r>
              <a:rPr lang="de-DE" sz="1800"/>
              <a:t> </a:t>
            </a:r>
            <a:r>
              <a:rPr lang="de-DE" sz="1800" err="1"/>
              <a:t>no</a:t>
            </a:r>
            <a:r>
              <a:rPr lang="de-DE" sz="1800"/>
              <a:t> SPI </a:t>
            </a:r>
            <a:r>
              <a:rPr lang="de-DE" sz="1800" err="1"/>
              <a:t>protocol</a:t>
            </a:r>
            <a:endParaRPr lang="en-DE" sz="1800"/>
          </a:p>
          <a:p>
            <a:pPr>
              <a:spcBef>
                <a:spcPts val="1800"/>
              </a:spcBef>
            </a:pPr>
            <a:r>
              <a:rPr lang="en-DE" sz="1800"/>
              <a:t>Sending a SYNC message over a PLCA-based network adds a variable delay of 0-40 µs caused by the PLCA sending buffer when waiting for the own transmit opportunity and leads to an outdated timestamp Ts. </a:t>
            </a:r>
          </a:p>
          <a:p>
            <a:pPr marL="0" indent="0">
              <a:spcBef>
                <a:spcPts val="1800"/>
              </a:spcBef>
              <a:buNone/>
            </a:pPr>
            <a:r>
              <a:rPr lang="en-DE" sz="1800" b="1">
                <a:solidFill>
                  <a:schemeClr val="bg2"/>
                </a:solidFill>
              </a:rPr>
              <a:t>LAN8670/1/2 has two  operational modes to solve this problem: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72F89B9-EC1D-4989-A90B-7C469C92EEB4}"/>
              </a:ext>
            </a:extLst>
          </p:cNvPr>
          <p:cNvGrpSpPr/>
          <p:nvPr/>
        </p:nvGrpSpPr>
        <p:grpSpPr>
          <a:xfrm>
            <a:off x="10529947" y="3600402"/>
            <a:ext cx="1279075" cy="2480370"/>
            <a:chOff x="10529947" y="3600402"/>
            <a:chExt cx="1279075" cy="248037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F7325FF-FB2F-1673-3490-B5EF0466223D}"/>
                </a:ext>
              </a:extLst>
            </p:cNvPr>
            <p:cNvSpPr/>
            <p:nvPr/>
          </p:nvSpPr>
          <p:spPr>
            <a:xfrm>
              <a:off x="10529947" y="3600402"/>
              <a:ext cx="1279075" cy="720627"/>
            </a:xfrm>
            <a:prstGeom prst="rect">
              <a:avLst/>
            </a:prstGeom>
            <a:solidFill>
              <a:schemeClr val="tx2">
                <a:lumMod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/>
                <a:t>MCU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4618297-A5EF-5981-019C-99B513FD7636}"/>
                </a:ext>
              </a:extLst>
            </p:cNvPr>
            <p:cNvSpPr/>
            <p:nvPr/>
          </p:nvSpPr>
          <p:spPr>
            <a:xfrm>
              <a:off x="10597816" y="3965608"/>
              <a:ext cx="1143336" cy="236510"/>
            </a:xfrm>
            <a:prstGeom prst="rect">
              <a:avLst/>
            </a:prstGeom>
            <a:solidFill>
              <a:srgbClr val="6D6E7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/>
                <a:t>MAC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9BE923-B333-0216-7EAD-C30E01C61116}"/>
                </a:ext>
              </a:extLst>
            </p:cNvPr>
            <p:cNvSpPr/>
            <p:nvPr/>
          </p:nvSpPr>
          <p:spPr>
            <a:xfrm>
              <a:off x="10529947" y="4557539"/>
              <a:ext cx="1279075" cy="152323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/>
                <a:t>PHY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C787F82-5F3B-E512-FA61-173E5E6CF1AF}"/>
                </a:ext>
              </a:extLst>
            </p:cNvPr>
            <p:cNvSpPr/>
            <p:nvPr/>
          </p:nvSpPr>
          <p:spPr>
            <a:xfrm>
              <a:off x="10597816" y="4686235"/>
              <a:ext cx="1143336" cy="446828"/>
            </a:xfrm>
            <a:prstGeom prst="rect">
              <a:avLst/>
            </a:prstGeom>
            <a:solidFill>
              <a:srgbClr val="6D6E7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/>
                <a:t>PLCA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ED4277C-13D2-82BD-41A4-066181DB6321}"/>
                </a:ext>
              </a:extLst>
            </p:cNvPr>
            <p:cNvSpPr/>
            <p:nvPr/>
          </p:nvSpPr>
          <p:spPr>
            <a:xfrm>
              <a:off x="10694399" y="4909648"/>
              <a:ext cx="950169" cy="16453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DE" sz="1400" b="1"/>
                <a:t>PLCA Buffer</a:t>
              </a:r>
              <a:endParaRPr lang="en-US" sz="1400" b="1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D23A8FF-E2E4-CEE5-E95D-90C9F733C829}"/>
                </a:ext>
              </a:extLst>
            </p:cNvPr>
            <p:cNvSpPr/>
            <p:nvPr/>
          </p:nvSpPr>
          <p:spPr>
            <a:xfrm>
              <a:off x="10597816" y="5393371"/>
              <a:ext cx="1143336" cy="410426"/>
            </a:xfrm>
            <a:prstGeom prst="rect">
              <a:avLst/>
            </a:prstGeom>
            <a:solidFill>
              <a:srgbClr val="6D6E7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400"/>
                <a:t>PCS</a:t>
              </a:r>
            </a:p>
            <a:p>
              <a:pPr algn="ctr"/>
              <a:r>
                <a:rPr lang="en-US" sz="1400"/>
                <a:t>PMA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22334D3-295D-4183-B938-58AC59B32C1A}"/>
                </a:ext>
              </a:extLst>
            </p:cNvPr>
            <p:cNvCxnSpPr>
              <a:stCxn id="26" idx="2"/>
            </p:cNvCxnSpPr>
            <p:nvPr/>
          </p:nvCxnSpPr>
          <p:spPr>
            <a:xfrm flipH="1">
              <a:off x="11169484" y="4202118"/>
              <a:ext cx="1" cy="484117"/>
            </a:xfrm>
            <a:prstGeom prst="line">
              <a:avLst/>
            </a:prstGeom>
            <a:ln w="63500" cmpd="dbl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4D76159-DDC1-6605-DA3B-26687C3B8FAC}"/>
                </a:ext>
              </a:extLst>
            </p:cNvPr>
            <p:cNvCxnSpPr>
              <a:cxnSpLocks/>
              <a:stCxn id="28" idx="2"/>
              <a:endCxn id="30" idx="0"/>
            </p:cNvCxnSpPr>
            <p:nvPr/>
          </p:nvCxnSpPr>
          <p:spPr>
            <a:xfrm>
              <a:off x="11169484" y="5133063"/>
              <a:ext cx="0" cy="260308"/>
            </a:xfrm>
            <a:prstGeom prst="line">
              <a:avLst/>
            </a:prstGeom>
            <a:ln w="63500" cmpd="dbl"/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A3A1D24-FC09-5CE3-F7A1-33E4E4F58869}"/>
                </a:ext>
              </a:extLst>
            </p:cNvPr>
            <p:cNvSpPr txBox="1"/>
            <p:nvPr/>
          </p:nvSpPr>
          <p:spPr>
            <a:xfrm>
              <a:off x="11221928" y="4308076"/>
              <a:ext cx="354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MII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7AB5865-CD2F-7C29-DFDF-F9A2A48B7EF3}"/>
                </a:ext>
              </a:extLst>
            </p:cNvPr>
            <p:cNvSpPr txBox="1"/>
            <p:nvPr/>
          </p:nvSpPr>
          <p:spPr>
            <a:xfrm>
              <a:off x="11195726" y="5131120"/>
              <a:ext cx="35409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/>
                <a:t>MII</a:t>
              </a:r>
            </a:p>
          </p:txBody>
        </p:sp>
      </p:grpSp>
      <p:sp>
        <p:nvSpPr>
          <p:cNvPr id="37" name="Content Placeholder 1">
            <a:extLst>
              <a:ext uri="{FF2B5EF4-FFF2-40B4-BE49-F238E27FC236}">
                <a16:creationId xmlns:a16="http://schemas.microsoft.com/office/drawing/2014/main" id="{9D54691D-35F7-4899-A5F3-5C70C8C27A6E}"/>
              </a:ext>
            </a:extLst>
          </p:cNvPr>
          <p:cNvSpPr txBox="1">
            <a:spLocks/>
          </p:cNvSpPr>
          <p:nvPr/>
        </p:nvSpPr>
        <p:spPr>
          <a:xfrm>
            <a:off x="360188" y="3812815"/>
            <a:ext cx="3119974" cy="2438857"/>
          </a:xfrm>
          <a:prstGeom prst="rect">
            <a:avLst/>
          </a:prstGeom>
        </p:spPr>
        <p:txBody>
          <a:bodyPr vert="horz" wrap="square" lIns="108000" tIns="60944" rIns="36000" bIns="60944" rtlCol="0">
            <a:noAutofit/>
          </a:bodyPr>
          <a:lstStyle>
            <a:lvl1pPr marL="360000" indent="-360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720000" indent="-360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1800" b="1">
                <a:solidFill>
                  <a:schemeClr val="bg2"/>
                </a:solidFill>
              </a:rPr>
              <a:t>Transmit Match Enable</a:t>
            </a:r>
            <a:endParaRPr lang="en-DE" sz="1800" b="1">
              <a:solidFill>
                <a:schemeClr val="bg2"/>
              </a:solidFill>
            </a:endParaRPr>
          </a:p>
          <a:p>
            <a:pPr>
              <a:spcBef>
                <a:spcPts val="1200"/>
              </a:spcBef>
            </a:pPr>
            <a:r>
              <a:rPr lang="en-DE" sz="1600"/>
              <a:t>PHY recognizes an ingress/egress SYNC </a:t>
            </a:r>
            <a:r>
              <a:rPr lang="en-DE" sz="1600" b="1"/>
              <a:t>at its MDI</a:t>
            </a:r>
          </a:p>
          <a:p>
            <a:pPr>
              <a:spcBef>
                <a:spcPts val="1200"/>
              </a:spcBef>
            </a:pPr>
            <a:r>
              <a:rPr lang="en-DE" sz="1600"/>
              <a:t>PHY </a:t>
            </a:r>
            <a:r>
              <a:rPr lang="en-DE" sz="1600" b="1"/>
              <a:t>informs</a:t>
            </a:r>
            <a:r>
              <a:rPr lang="en-DE" sz="1600"/>
              <a:t> MCU via GPIO </a:t>
            </a:r>
          </a:p>
          <a:p>
            <a:pPr>
              <a:spcBef>
                <a:spcPts val="1200"/>
              </a:spcBef>
            </a:pPr>
            <a:r>
              <a:rPr lang="en-DE" sz="1600"/>
              <a:t>MCU can now </a:t>
            </a:r>
            <a:r>
              <a:rPr lang="en-DE" sz="1600" b="1"/>
              <a:t>compensate</a:t>
            </a:r>
            <a:r>
              <a:rPr lang="en-DE" sz="1600"/>
              <a:t> </a:t>
            </a:r>
            <a:br>
              <a:rPr lang="en-DE" sz="1600"/>
            </a:br>
            <a:r>
              <a:rPr lang="en-DE" sz="1600"/>
              <a:t>any delay in its time stamps due to PLCA or internal reasons  (e.g. By using FOLLOW-UP messages)</a:t>
            </a:r>
          </a:p>
        </p:txBody>
      </p:sp>
      <p:sp>
        <p:nvSpPr>
          <p:cNvPr id="40" name="Content Placeholder 1">
            <a:extLst>
              <a:ext uri="{FF2B5EF4-FFF2-40B4-BE49-F238E27FC236}">
                <a16:creationId xmlns:a16="http://schemas.microsoft.com/office/drawing/2014/main" id="{870ED13B-A245-65D1-4322-4901513BE5E0}"/>
              </a:ext>
            </a:extLst>
          </p:cNvPr>
          <p:cNvSpPr txBox="1">
            <a:spLocks/>
          </p:cNvSpPr>
          <p:nvPr/>
        </p:nvSpPr>
        <p:spPr>
          <a:xfrm>
            <a:off x="6740908" y="3812814"/>
            <a:ext cx="3661815" cy="2438857"/>
          </a:xfrm>
          <a:prstGeom prst="rect">
            <a:avLst/>
          </a:prstGeom>
        </p:spPr>
        <p:txBody>
          <a:bodyPr vert="horz" wrap="square" lIns="121888" tIns="60944" rIns="0" bIns="60944" rtlCol="0">
            <a:noAutofit/>
          </a:bodyPr>
          <a:lstStyle>
            <a:lvl1pPr marL="360000" indent="-360000" algn="l" defTabSz="609443" rtl="0" eaLnBrk="1" latinLnBrk="0" hangingPunct="1">
              <a:spcBef>
                <a:spcPts val="300"/>
              </a:spcBef>
              <a:buClr>
                <a:schemeClr val="bg2"/>
              </a:buClr>
              <a:buFont typeface="Arial"/>
              <a:buChar char="•"/>
              <a:defRPr sz="2000" b="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1pPr>
            <a:lvl2pPr marL="720000" indent="-36000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Symbol" panose="05050102010706020507" pitchFamily="18" charset="2"/>
              <a:buChar char="-"/>
              <a:defRPr sz="20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2pPr>
            <a:lvl3pPr marL="86868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/>
              <a:buChar char="•"/>
              <a:defRPr sz="16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3pPr>
            <a:lvl4pPr marL="1143000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4pPr>
            <a:lvl5pPr marL="1435608" indent="-274320" algn="l" defTabSz="609443" rtl="0" eaLnBrk="1" latinLnBrk="0" hangingPunct="1">
              <a:spcBef>
                <a:spcPts val="300"/>
              </a:spcBef>
              <a:buClr>
                <a:srgbClr val="1D9CE4"/>
              </a:buClr>
              <a:buFont typeface="Arial" panose="020B0604020202020204" pitchFamily="34" charset="0"/>
              <a:buChar char="•"/>
              <a:defRPr sz="1400" kern="1200">
                <a:solidFill>
                  <a:srgbClr val="070707"/>
                </a:solidFill>
                <a:latin typeface="+mn-lt"/>
                <a:ea typeface="+mn-ea"/>
                <a:cs typeface="+mn-cs"/>
              </a:defRPr>
            </a:lvl5pPr>
            <a:lvl6pPr marL="3351933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376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819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261" indent="-304723" algn="l" defTabSz="609443" rtl="0" eaLnBrk="1" latinLnBrk="0" hangingPunct="1">
              <a:spcBef>
                <a:spcPct val="20000"/>
              </a:spcBef>
              <a:buFont typeface="Arial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sz="1800" b="1">
                <a:solidFill>
                  <a:schemeClr val="bg2"/>
                </a:solidFill>
              </a:rPr>
              <a:t>MAC Transmit Time Stamp Enable</a:t>
            </a:r>
            <a:endParaRPr lang="en-DE" sz="1800" b="1">
              <a:solidFill>
                <a:schemeClr val="bg2"/>
              </a:solidFill>
            </a:endParaRPr>
          </a:p>
          <a:p>
            <a:pPr>
              <a:spcBef>
                <a:spcPts val="1200"/>
              </a:spcBef>
            </a:pPr>
            <a:r>
              <a:rPr lang="en-DE" sz="1600"/>
              <a:t>PHY signals a </a:t>
            </a:r>
            <a:r>
              <a:rPr lang="en-DE" sz="1600" b="1"/>
              <a:t>logical collision </a:t>
            </a:r>
            <a:r>
              <a:rPr lang="en-DE" sz="1600"/>
              <a:t>to the MAC when it starts sending a SYNC. </a:t>
            </a:r>
          </a:p>
          <a:p>
            <a:pPr>
              <a:spcBef>
                <a:spcPts val="1200"/>
              </a:spcBef>
            </a:pPr>
            <a:r>
              <a:rPr lang="en-DE" sz="1600"/>
              <a:t>MAC will </a:t>
            </a:r>
            <a:r>
              <a:rPr lang="en-DE" sz="1600" b="1"/>
              <a:t>backoff and retry </a:t>
            </a:r>
            <a:r>
              <a:rPr lang="en-DE" sz="1600"/>
              <a:t>the SYNC with an updated timestamp Ts. </a:t>
            </a:r>
          </a:p>
          <a:p>
            <a:pPr>
              <a:spcBef>
                <a:spcPts val="1200"/>
              </a:spcBef>
            </a:pPr>
            <a:r>
              <a:rPr lang="en-DE" sz="1600"/>
              <a:t>This retry will pass the PHY </a:t>
            </a:r>
            <a:br>
              <a:rPr lang="en-DE" sz="1600"/>
            </a:br>
            <a:r>
              <a:rPr lang="en-DE" sz="1600" b="1"/>
              <a:t>without PLCA buffer</a:t>
            </a:r>
            <a:r>
              <a:rPr lang="en-DE" sz="1600"/>
              <a:t>, </a:t>
            </a:r>
            <a:br>
              <a:rPr lang="en-DE" sz="1600"/>
            </a:br>
            <a:r>
              <a:rPr lang="en-DE" sz="1600"/>
              <a:t>i.e. having an exact timestamp.</a:t>
            </a:r>
            <a:endParaRPr lang="en-US" sz="1600"/>
          </a:p>
        </p:txBody>
      </p:sp>
      <p:sp>
        <p:nvSpPr>
          <p:cNvPr id="44" name="Textfeld 6">
            <a:extLst>
              <a:ext uri="{FF2B5EF4-FFF2-40B4-BE49-F238E27FC236}">
                <a16:creationId xmlns:a16="http://schemas.microsoft.com/office/drawing/2014/main" id="{F1AAFACA-2C25-6325-D5EE-1DCF781E8344}"/>
              </a:ext>
            </a:extLst>
          </p:cNvPr>
          <p:cNvSpPr txBox="1"/>
          <p:nvPr/>
        </p:nvSpPr>
        <p:spPr>
          <a:xfrm>
            <a:off x="4401728" y="4298710"/>
            <a:ext cx="106044" cy="2616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100">
              <a:solidFill>
                <a:srgbClr val="000000"/>
              </a:solidFill>
              <a:latin typeface="Arial" charset="0"/>
              <a:ea typeface="メイリオ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76665A5-5714-94C9-A3CF-1A5773B1CC96}"/>
              </a:ext>
            </a:extLst>
          </p:cNvPr>
          <p:cNvGrpSpPr/>
          <p:nvPr/>
        </p:nvGrpSpPr>
        <p:grpSpPr>
          <a:xfrm>
            <a:off x="3996014" y="3965608"/>
            <a:ext cx="739325" cy="1266714"/>
            <a:chOff x="4081591" y="3687415"/>
            <a:chExt cx="1039712" cy="18462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37263D1B-32DF-5E25-A77B-7E284E86375B}"/>
                </a:ext>
              </a:extLst>
            </p:cNvPr>
            <p:cNvCxnSpPr>
              <a:cxnSpLocks/>
              <a:stCxn id="41" idx="1"/>
              <a:endCxn id="42" idx="1"/>
            </p:cNvCxnSpPr>
            <p:nvPr/>
          </p:nvCxnSpPr>
          <p:spPr>
            <a:xfrm rot="10800000" flipV="1">
              <a:off x="4383248" y="3687415"/>
              <a:ext cx="12700" cy="1846212"/>
            </a:xfrm>
            <a:prstGeom prst="bentConnector3">
              <a:avLst>
                <a:gd name="adj1" fmla="val 1800000"/>
              </a:avLst>
            </a:prstGeom>
            <a:ln w="25400">
              <a:headEnd type="triangl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Textfeld 14">
              <a:extLst>
                <a:ext uri="{FF2B5EF4-FFF2-40B4-BE49-F238E27FC236}">
                  <a16:creationId xmlns:a16="http://schemas.microsoft.com/office/drawing/2014/main" id="{DB89EF4E-29C9-7397-F7B0-3FA38EF0FDD4}"/>
                </a:ext>
              </a:extLst>
            </p:cNvPr>
            <p:cNvSpPr txBox="1"/>
            <p:nvPr/>
          </p:nvSpPr>
          <p:spPr>
            <a:xfrm>
              <a:off x="4182988" y="4529482"/>
              <a:ext cx="938315" cy="437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DE" sz="1100">
                  <a:solidFill>
                    <a:srgbClr val="000000"/>
                  </a:solidFill>
                  <a:latin typeface="Arial" charset="0"/>
                  <a:ea typeface="メイリオ"/>
                </a:rPr>
                <a:t>GPIO</a:t>
              </a:r>
              <a:endParaRPr lang="en-US" sz="1100">
                <a:solidFill>
                  <a:srgbClr val="000000"/>
                </a:solidFill>
                <a:latin typeface="Arial" charset="0"/>
                <a:ea typeface="メイリオ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B12CE08-90F1-5B2C-8F49-1738C1E36B38}"/>
                </a:ext>
              </a:extLst>
            </p:cNvPr>
            <p:cNvSpPr/>
            <p:nvPr/>
          </p:nvSpPr>
          <p:spPr>
            <a:xfrm>
              <a:off x="4081591" y="4612057"/>
              <a:ext cx="162730" cy="240458"/>
            </a:xfrm>
            <a:prstGeom prst="ellipse">
              <a:avLst/>
            </a:prstGeom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en-US" sz="1400">
                <a:solidFill>
                  <a:srgbClr val="000000"/>
                </a:solidFill>
                <a:latin typeface="Calibri"/>
                <a:ea typeface="メイリオ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938043B-AB97-0C91-2665-14509B35C200}"/>
              </a:ext>
            </a:extLst>
          </p:cNvPr>
          <p:cNvSpPr txBox="1"/>
          <p:nvPr/>
        </p:nvSpPr>
        <p:spPr>
          <a:xfrm>
            <a:off x="4678562" y="5710622"/>
            <a:ext cx="1375239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DE" sz="1200">
                <a:highlight>
                  <a:srgbClr val="E6E6E8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FOLLOWUP(Ts)</a:t>
            </a:r>
            <a:endParaRPr lang="en-US" sz="1200">
              <a:highlight>
                <a:srgbClr val="E6E6E8"/>
              </a:highlight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21F45F-A2DA-24D3-A7B6-277193CD119A}"/>
              </a:ext>
            </a:extLst>
          </p:cNvPr>
          <p:cNvSpPr txBox="1"/>
          <p:nvPr/>
        </p:nvSpPr>
        <p:spPr>
          <a:xfrm>
            <a:off x="4102269" y="5710623"/>
            <a:ext cx="735408" cy="27699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DE" sz="1200">
                <a:highlight>
                  <a:srgbClr val="E6E6E8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endParaRPr lang="en-US" sz="1200">
              <a:highlight>
                <a:srgbClr val="E6E6E8"/>
              </a:highlight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DABBE6E-6F33-A5C6-9597-94A3EAAC3A3C}"/>
              </a:ext>
            </a:extLst>
          </p:cNvPr>
          <p:cNvGrpSpPr/>
          <p:nvPr/>
        </p:nvGrpSpPr>
        <p:grpSpPr>
          <a:xfrm>
            <a:off x="5411661" y="5047969"/>
            <a:ext cx="788156" cy="348683"/>
            <a:chOff x="8688231" y="-964038"/>
            <a:chExt cx="3165011" cy="57614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4" name="Callout: Line with No Border 53">
              <a:extLst>
                <a:ext uri="{FF2B5EF4-FFF2-40B4-BE49-F238E27FC236}">
                  <a16:creationId xmlns:a16="http://schemas.microsoft.com/office/drawing/2014/main" id="{F31B984B-8734-45D0-B7DB-1F8EBEFB4A75}"/>
                </a:ext>
              </a:extLst>
            </p:cNvPr>
            <p:cNvSpPr/>
            <p:nvPr/>
          </p:nvSpPr>
          <p:spPr>
            <a:xfrm>
              <a:off x="10246583" y="-870739"/>
              <a:ext cx="723899" cy="421054"/>
            </a:xfrm>
            <a:prstGeom prst="callout1">
              <a:avLst>
                <a:gd name="adj1" fmla="val 59580"/>
                <a:gd name="adj2" fmla="val -99516"/>
                <a:gd name="adj3" fmla="val 87029"/>
                <a:gd name="adj4" fmla="val -323424"/>
              </a:avLst>
            </a:prstGeom>
            <a:noFill/>
            <a:ln w="38100" cap="rnd">
              <a:solidFill>
                <a:schemeClr val="tx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200" b="1"/>
            </a:p>
          </p:txBody>
        </p:sp>
        <p:sp>
          <p:nvSpPr>
            <p:cNvPr id="55" name="Speech Bubble: Rectangle with Corners Rounded 54">
              <a:extLst>
                <a:ext uri="{FF2B5EF4-FFF2-40B4-BE49-F238E27FC236}">
                  <a16:creationId xmlns:a16="http://schemas.microsoft.com/office/drawing/2014/main" id="{4362F54E-14C9-110C-AFC0-7C0581B7FA43}"/>
                </a:ext>
              </a:extLst>
            </p:cNvPr>
            <p:cNvSpPr/>
            <p:nvPr/>
          </p:nvSpPr>
          <p:spPr>
            <a:xfrm>
              <a:off x="8688231" y="-964038"/>
              <a:ext cx="3165011" cy="576147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chemeClr val="tx2">
                <a:lumMod val="5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DE" sz="1100" b="1"/>
                <a:t>Timestamp at MDI</a:t>
              </a:r>
              <a:endParaRPr lang="en-US" sz="1100" b="1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A58525CE-6993-C3D3-EB5E-35C9093FD0AB}"/>
              </a:ext>
            </a:extLst>
          </p:cNvPr>
          <p:cNvGrpSpPr/>
          <p:nvPr/>
        </p:nvGrpSpPr>
        <p:grpSpPr>
          <a:xfrm>
            <a:off x="3996014" y="3845016"/>
            <a:ext cx="1435398" cy="2469767"/>
            <a:chOff x="4496989" y="3845016"/>
            <a:chExt cx="1435398" cy="2469767"/>
          </a:xfrm>
        </p:grpSpPr>
        <p:sp>
          <p:nvSpPr>
            <p:cNvPr id="41" name="Rechteck 3">
              <a:extLst>
                <a:ext uri="{FF2B5EF4-FFF2-40B4-BE49-F238E27FC236}">
                  <a16:creationId xmlns:a16="http://schemas.microsoft.com/office/drawing/2014/main" id="{7EA7A0FF-17D0-2299-547D-5FB843AF528A}"/>
                </a:ext>
              </a:extLst>
            </p:cNvPr>
            <p:cNvSpPr/>
            <p:nvPr/>
          </p:nvSpPr>
          <p:spPr>
            <a:xfrm>
              <a:off x="4711493" y="3845016"/>
              <a:ext cx="930957" cy="568780"/>
            </a:xfrm>
            <a:prstGeom prst="rect">
              <a:avLst/>
            </a:prstGeom>
            <a:solidFill>
              <a:schemeClr val="tx2">
                <a:lumMod val="6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DE" sz="1400" b="1">
                  <a:solidFill>
                    <a:schemeClr val="bg1"/>
                  </a:solidFill>
                  <a:latin typeface="Calibri"/>
                  <a:ea typeface="メイリオ"/>
                </a:rPr>
                <a:t>MCU/</a:t>
              </a:r>
            </a:p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DE" sz="1400" b="1">
                  <a:solidFill>
                    <a:schemeClr val="bg1"/>
                  </a:solidFill>
                  <a:latin typeface="Calibri"/>
                  <a:ea typeface="メイリオ"/>
                </a:rPr>
                <a:t>MAC</a:t>
              </a:r>
              <a:endParaRPr lang="en-US" sz="1400" b="1">
                <a:solidFill>
                  <a:schemeClr val="bg1"/>
                </a:solidFill>
                <a:latin typeface="Calibri"/>
                <a:ea typeface="メイリオ"/>
              </a:endParaRPr>
            </a:p>
          </p:txBody>
        </p:sp>
        <p:sp>
          <p:nvSpPr>
            <p:cNvPr id="42" name="Rechteck 4">
              <a:extLst>
                <a:ext uri="{FF2B5EF4-FFF2-40B4-BE49-F238E27FC236}">
                  <a16:creationId xmlns:a16="http://schemas.microsoft.com/office/drawing/2014/main" id="{431C28E1-EA92-26F0-6E8D-A3C0541CEF8E}"/>
                </a:ext>
              </a:extLst>
            </p:cNvPr>
            <p:cNvSpPr/>
            <p:nvPr/>
          </p:nvSpPr>
          <p:spPr>
            <a:xfrm>
              <a:off x="4711493" y="4947932"/>
              <a:ext cx="923436" cy="56878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>
                  <a:solidFill>
                    <a:srgbClr val="FFFFFF"/>
                  </a:solidFill>
                  <a:latin typeface="Calibri"/>
                  <a:ea typeface="メイリオ"/>
                </a:rPr>
                <a:t>PHY</a:t>
              </a:r>
            </a:p>
          </p:txBody>
        </p:sp>
        <p:cxnSp>
          <p:nvCxnSpPr>
            <p:cNvPr id="43" name="Gerader Verbinder 5">
              <a:extLst>
                <a:ext uri="{FF2B5EF4-FFF2-40B4-BE49-F238E27FC236}">
                  <a16:creationId xmlns:a16="http://schemas.microsoft.com/office/drawing/2014/main" id="{5A4C925B-D387-73E3-61A0-8F8C2D387A51}"/>
                </a:ext>
              </a:extLst>
            </p:cNvPr>
            <p:cNvCxnSpPr>
              <a:cxnSpLocks/>
              <a:stCxn id="41" idx="2"/>
              <a:endCxn id="42" idx="0"/>
            </p:cNvCxnSpPr>
            <p:nvPr/>
          </p:nvCxnSpPr>
          <p:spPr>
            <a:xfrm flipH="1">
              <a:off x="5173211" y="4413796"/>
              <a:ext cx="3761" cy="534136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r Verbinder 13">
              <a:extLst>
                <a:ext uri="{FF2B5EF4-FFF2-40B4-BE49-F238E27FC236}">
                  <a16:creationId xmlns:a16="http://schemas.microsoft.com/office/drawing/2014/main" id="{59432113-3A1B-CF28-0A36-249FD6D0F383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>
              <a:off x="5173211" y="5516712"/>
              <a:ext cx="3761" cy="500063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13">
              <a:extLst>
                <a:ext uri="{FF2B5EF4-FFF2-40B4-BE49-F238E27FC236}">
                  <a16:creationId xmlns:a16="http://schemas.microsoft.com/office/drawing/2014/main" id="{BD6407F1-AA8B-B3CC-DAA9-DD03B13713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6989" y="6015916"/>
              <a:ext cx="1404980" cy="3801"/>
            </a:xfrm>
            <a:prstGeom prst="line">
              <a:avLst/>
            </a:prstGeom>
            <a:ln w="190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66F80D8-062D-042D-B54F-AD06E3E62458}"/>
                </a:ext>
              </a:extLst>
            </p:cNvPr>
            <p:cNvCxnSpPr>
              <a:cxnSpLocks/>
            </p:cNvCxnSpPr>
            <p:nvPr/>
          </p:nvCxnSpPr>
          <p:spPr>
            <a:xfrm>
              <a:off x="4733205" y="5330742"/>
              <a:ext cx="896343" cy="0"/>
            </a:xfrm>
            <a:prstGeom prst="line">
              <a:avLst/>
            </a:prstGeom>
            <a:ln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58A7D64-3F84-B20E-2310-7F288AE830E1}"/>
                </a:ext>
              </a:extLst>
            </p:cNvPr>
            <p:cNvSpPr txBox="1"/>
            <p:nvPr/>
          </p:nvSpPr>
          <p:spPr>
            <a:xfrm>
              <a:off x="4680891" y="6053173"/>
              <a:ext cx="1251496" cy="26161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r>
                <a:rPr lang="en-DE" sz="1100"/>
                <a:t>10BASE-T1S</a:t>
              </a:r>
              <a:endParaRPr lang="en-US" sz="1100"/>
            </a:p>
          </p:txBody>
        </p:sp>
      </p:grp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6898698-365E-9AC6-0283-F50ED9FA3828}"/>
              </a:ext>
            </a:extLst>
          </p:cNvPr>
          <p:cNvCxnSpPr>
            <a:cxnSpLocks/>
          </p:cNvCxnSpPr>
          <p:nvPr/>
        </p:nvCxnSpPr>
        <p:spPr>
          <a:xfrm>
            <a:off x="10935588" y="4846612"/>
            <a:ext cx="515347" cy="285449"/>
          </a:xfrm>
          <a:prstGeom prst="line">
            <a:avLst/>
          </a:prstGeom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DE91485-6F01-8D21-B952-F8DD6943E921}"/>
              </a:ext>
            </a:extLst>
          </p:cNvPr>
          <p:cNvCxnSpPr>
            <a:cxnSpLocks/>
          </p:cNvCxnSpPr>
          <p:nvPr/>
        </p:nvCxnSpPr>
        <p:spPr>
          <a:xfrm flipV="1">
            <a:off x="10935588" y="4851645"/>
            <a:ext cx="520276" cy="274770"/>
          </a:xfrm>
          <a:prstGeom prst="line">
            <a:avLst/>
          </a:prstGeom>
          <a:ln w="571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704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38681 L -1.9354E-6 2.22222E-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9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87 -0.38148 L 1.19302E-6 2.22222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190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0" grpId="0"/>
      <p:bldP spid="51" grpId="0"/>
      <p:bldP spid="51" grpId="1"/>
      <p:bldP spid="52" grpId="0"/>
      <p:bldP spid="52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9FF195A-B8B1-482A-9610-AD934020170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54777" y="1181911"/>
                <a:ext cx="5827444" cy="5127125"/>
              </a:xfrm>
            </p:spPr>
            <p:txBody>
              <a:bodyPr/>
              <a:lstStyle/>
              <a:p>
                <a:r>
                  <a:rPr lang="en-DE"/>
                  <a:t>In the </a:t>
                </a:r>
                <a:r>
                  <a:rPr lang="en-DE" b="1">
                    <a:solidFill>
                      <a:srgbClr val="0070C0"/>
                    </a:solidFill>
                  </a:rPr>
                  <a:t>clock source:</a:t>
                </a:r>
                <a:br>
                  <a:rPr lang="en-DE" b="1">
                    <a:solidFill>
                      <a:srgbClr val="0070C0"/>
                    </a:solidFill>
                  </a:rPr>
                </a:br>
                <a:r>
                  <a:rPr lang="en-US"/>
                  <a:t>D</a:t>
                </a:r>
                <a:r>
                  <a:rPr lang="en-DE" err="1"/>
                  <a:t>elays</a:t>
                </a:r>
                <a:r>
                  <a:rPr lang="en-DE"/>
                  <a:t> in PHY and because of PLCA lead to incorrect timestamp (generated by MCU) in </a:t>
                </a:r>
                <a:r>
                  <a:rPr lang="en-US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SYNC</a:t>
                </a:r>
                <a:endParaRPr lang="en-DE"/>
              </a:p>
              <a:p>
                <a:endParaRPr lang="en-DE" b="1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SYNC</a:t>
                </a:r>
                <a:r>
                  <a:rPr lang="en-DE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DE"/>
                  <a:t>used “only” to trigger </a:t>
                </a:r>
                <a:br>
                  <a:rPr lang="en-DE"/>
                </a:br>
                <a:r>
                  <a:rPr lang="en-DE"/>
                  <a:t>Pattern Matcher in LAN8670/1/2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DE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DE"/>
                  <a:t>MCU can now generate </a:t>
                </a:r>
                <a:br>
                  <a:rPr lang="en-DE"/>
                </a:br>
                <a:r>
                  <a:rPr lang="en-DE"/>
                  <a:t>exact timestamp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DE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DE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DE"/>
                </a:br>
                <a:r>
                  <a:rPr lang="en-DE"/>
                  <a:t>when </a:t>
                </a:r>
                <a:r>
                  <a:rPr lang="en-US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SYNC</a:t>
                </a:r>
                <a:r>
                  <a:rPr lang="en-DE"/>
                  <a:t> has been sent out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DE"/>
                  <a:t>Exact timestamp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DE" b="1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DE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DE"/>
                </a:br>
                <a:r>
                  <a:rPr lang="en-DE"/>
                  <a:t>(of the previous </a:t>
                </a:r>
                <a:r>
                  <a:rPr lang="en-DE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SYNC</a:t>
                </a:r>
                <a:r>
                  <a:rPr lang="en-DE"/>
                  <a:t>) </a:t>
                </a:r>
                <a:br>
                  <a:rPr lang="en-DE"/>
                </a:br>
                <a:r>
                  <a:rPr lang="en-DE"/>
                  <a:t>sent by subsequent </a:t>
                </a:r>
                <a:r>
                  <a:rPr lang="en-US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FOLLOWUP</a:t>
                </a:r>
                <a:endParaRPr lang="en-DE"/>
              </a:p>
              <a:p>
                <a:pPr marL="0" indent="0">
                  <a:buNone/>
                </a:pPr>
                <a:endParaRPr lang="en-DE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en-US" b="1">
                    <a:solidFill>
                      <a:schemeClr val="bg2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DE" sz="2800" b="1">
                    <a:solidFill>
                      <a:schemeClr val="bg2"/>
                    </a:solidFill>
                    <a:sym typeface="Wingdings" panose="05000000000000000000" pitchFamily="2" charset="2"/>
                  </a:rPr>
                  <a:t>T</a:t>
                </a:r>
                <a:r>
                  <a:rPr lang="en-US" sz="2800" b="1">
                    <a:solidFill>
                      <a:schemeClr val="bg2"/>
                    </a:solidFill>
                    <a:sym typeface="Wingdings" panose="05000000000000000000" pitchFamily="2" charset="2"/>
                  </a:rPr>
                  <a:t>wo-step-approach</a:t>
                </a:r>
                <a:r>
                  <a:rPr lang="en-DE" sz="2800" b="1">
                    <a:solidFill>
                      <a:schemeClr val="bg2"/>
                    </a:solidFill>
                    <a:sym typeface="Wingdings" panose="05000000000000000000" pitchFamily="2" charset="2"/>
                  </a:rPr>
                  <a:t> (Standard)</a:t>
                </a:r>
                <a:endParaRPr lang="en-US" b="1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69FF195A-B8B1-482A-9610-AD93402017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54777" y="1181911"/>
                <a:ext cx="5827444" cy="5127125"/>
              </a:xfrm>
              <a:blipFill>
                <a:blip r:embed="rId3"/>
                <a:stretch>
                  <a:fillRect l="-628" t="-357" b="-8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B84146A-D02B-4DA4-933D-A2FF3772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IEEE 802.1AS</a:t>
            </a:r>
            <a:r>
              <a:rPr lang="en-DE"/>
              <a:t>  –  Clock Synchronization (Standard)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2F0A20-52B2-42CA-88E3-BCE6B37F8ACC}"/>
              </a:ext>
            </a:extLst>
          </p:cNvPr>
          <p:cNvCxnSpPr/>
          <p:nvPr/>
        </p:nvCxnSpPr>
        <p:spPr>
          <a:xfrm>
            <a:off x="8513113" y="1356013"/>
            <a:ext cx="0" cy="46101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B02321-69E6-4249-BC52-58891D743982}"/>
              </a:ext>
            </a:extLst>
          </p:cNvPr>
          <p:cNvCxnSpPr/>
          <p:nvPr/>
        </p:nvCxnSpPr>
        <p:spPr>
          <a:xfrm>
            <a:off x="11142825" y="1356013"/>
            <a:ext cx="0" cy="461010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172BDF6-44B5-4A7C-82CA-9B45D166AE5F}"/>
              </a:ext>
            </a:extLst>
          </p:cNvPr>
          <p:cNvSpPr txBox="1"/>
          <p:nvPr/>
        </p:nvSpPr>
        <p:spPr>
          <a:xfrm>
            <a:off x="8163696" y="804353"/>
            <a:ext cx="688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>
                <a:solidFill>
                  <a:srgbClr val="0070C0"/>
                </a:solidFill>
              </a:rPr>
              <a:t>Clock </a:t>
            </a:r>
          </a:p>
          <a:p>
            <a:pPr algn="ctr"/>
            <a:r>
              <a:rPr lang="en-DE" sz="1400" b="1">
                <a:solidFill>
                  <a:srgbClr val="0070C0"/>
                </a:solidFill>
              </a:rPr>
              <a:t>Source</a:t>
            </a:r>
            <a:endParaRPr lang="en-US" sz="1400" b="1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C27132-4F4D-4EB2-83E8-65FEAAAD5304}"/>
              </a:ext>
            </a:extLst>
          </p:cNvPr>
          <p:cNvSpPr txBox="1"/>
          <p:nvPr/>
        </p:nvSpPr>
        <p:spPr>
          <a:xfrm>
            <a:off x="10727038" y="781353"/>
            <a:ext cx="8315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DE" sz="1400" b="1">
                <a:solidFill>
                  <a:srgbClr val="00B050"/>
                </a:solidFill>
              </a:rPr>
              <a:t>Clock </a:t>
            </a:r>
          </a:p>
          <a:p>
            <a:pPr algn="ctr"/>
            <a:r>
              <a:rPr lang="en-DE" sz="1400" b="1">
                <a:solidFill>
                  <a:srgbClr val="00B050"/>
                </a:solidFill>
              </a:rPr>
              <a:t>Follower</a:t>
            </a:r>
            <a:endParaRPr lang="en-US" sz="1400" b="1">
              <a:solidFill>
                <a:srgbClr val="00B05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9B4D0F-FA0D-42C0-B5D0-08E7575CEF04}"/>
              </a:ext>
            </a:extLst>
          </p:cNvPr>
          <p:cNvCxnSpPr>
            <a:cxnSpLocks/>
          </p:cNvCxnSpPr>
          <p:nvPr/>
        </p:nvCxnSpPr>
        <p:spPr>
          <a:xfrm>
            <a:off x="8513112" y="1641763"/>
            <a:ext cx="2590801" cy="78105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1A0019-9D0F-47F7-9130-17987A18553B}"/>
              </a:ext>
            </a:extLst>
          </p:cNvPr>
          <p:cNvSpPr txBox="1"/>
          <p:nvPr/>
        </p:nvSpPr>
        <p:spPr>
          <a:xfrm rot="997081">
            <a:off x="9393977" y="1753143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SYNC()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D812EF-81D2-445C-AB0F-C5DFFEBC5DD4}"/>
              </a:ext>
            </a:extLst>
          </p:cNvPr>
          <p:cNvCxnSpPr>
            <a:cxnSpLocks/>
          </p:cNvCxnSpPr>
          <p:nvPr/>
        </p:nvCxnSpPr>
        <p:spPr>
          <a:xfrm>
            <a:off x="8513111" y="2314568"/>
            <a:ext cx="2590801" cy="781050"/>
          </a:xfrm>
          <a:prstGeom prst="straightConnector1">
            <a:avLst/>
          </a:prstGeom>
          <a:ln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0BF437-5694-45FE-B9CA-2F74435D94CC}"/>
              </a:ext>
            </a:extLst>
          </p:cNvPr>
          <p:cNvCxnSpPr>
            <a:cxnSpLocks/>
          </p:cNvCxnSpPr>
          <p:nvPr/>
        </p:nvCxnSpPr>
        <p:spPr>
          <a:xfrm>
            <a:off x="8513110" y="4221450"/>
            <a:ext cx="2590801" cy="78105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6F3D731-49B5-466C-9A21-06BFDA57736B}"/>
              </a:ext>
            </a:extLst>
          </p:cNvPr>
          <p:cNvCxnSpPr>
            <a:cxnSpLocks/>
          </p:cNvCxnSpPr>
          <p:nvPr/>
        </p:nvCxnSpPr>
        <p:spPr>
          <a:xfrm>
            <a:off x="8513108" y="4962814"/>
            <a:ext cx="2590801" cy="781050"/>
          </a:xfrm>
          <a:prstGeom prst="straightConnector1">
            <a:avLst/>
          </a:prstGeom>
          <a:ln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4DA035-3863-435C-8FD3-37D598BC3DFF}"/>
              </a:ext>
            </a:extLst>
          </p:cNvPr>
          <p:cNvSpPr txBox="1"/>
          <p:nvPr/>
        </p:nvSpPr>
        <p:spPr>
          <a:xfrm rot="997081">
            <a:off x="9393972" y="4332830"/>
            <a:ext cx="829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B15625-7EFA-4108-8B15-FA1D7EB037E8}"/>
                  </a:ext>
                </a:extLst>
              </p:cNvPr>
              <p:cNvSpPr txBox="1"/>
              <p:nvPr/>
            </p:nvSpPr>
            <p:spPr>
              <a:xfrm rot="997081">
                <a:off x="9051475" y="2428997"/>
                <a:ext cx="1514069" cy="332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FOLLOWUP(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  <m:r>
                          <a:rPr lang="en-DE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FB15625-7EFA-4108-8B15-FA1D7EB03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97081">
                <a:off x="9051475" y="2428997"/>
                <a:ext cx="1514069" cy="332912"/>
              </a:xfrm>
              <a:prstGeom prst="rect">
                <a:avLst/>
              </a:prstGeom>
              <a:blipFill>
                <a:blip r:embed="rId4"/>
                <a:stretch>
                  <a:fillRect l="-2362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68E1C1-DB71-4B6D-AC44-D7A99BF2716E}"/>
                  </a:ext>
                </a:extLst>
              </p:cNvPr>
              <p:cNvSpPr txBox="1"/>
              <p:nvPr/>
            </p:nvSpPr>
            <p:spPr>
              <a:xfrm rot="997081">
                <a:off x="8988156" y="5073844"/>
                <a:ext cx="1640706" cy="3329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FOLLOWUP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68E1C1-DB71-4B6D-AC44-D7A99BF27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97081">
                <a:off x="8988156" y="5073844"/>
                <a:ext cx="1640706" cy="332912"/>
              </a:xfrm>
              <a:prstGeom prst="rect">
                <a:avLst/>
              </a:prstGeom>
              <a:blipFill>
                <a:blip r:embed="rId5"/>
                <a:stretch>
                  <a:fillRect l="-2190" b="-5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344CCA-CCE8-4813-AE33-FB2B25C338F6}"/>
                  </a:ext>
                </a:extLst>
              </p:cNvPr>
              <p:cNvSpPr txBox="1"/>
              <p:nvPr/>
            </p:nvSpPr>
            <p:spPr>
              <a:xfrm>
                <a:off x="8009207" y="1463129"/>
                <a:ext cx="56079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DE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344CCA-CCE8-4813-AE33-FB2B25C33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207" y="1463129"/>
                <a:ext cx="560795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49F2A0-DE71-4812-9A7B-6FA128788682}"/>
                  </a:ext>
                </a:extLst>
              </p:cNvPr>
              <p:cNvSpPr txBox="1"/>
              <p:nvPr/>
            </p:nvSpPr>
            <p:spPr>
              <a:xfrm>
                <a:off x="8009207" y="4052172"/>
                <a:ext cx="51911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49F2A0-DE71-4812-9A7B-6FA128788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9207" y="4052172"/>
                <a:ext cx="519116" cy="400110"/>
              </a:xfrm>
              <a:prstGeom prst="rect">
                <a:avLst/>
              </a:prstGeom>
              <a:blipFill>
                <a:blip r:embed="rId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E1BC4B-DAF2-4BB8-802C-AB2DCB9F5E8C}"/>
                  </a:ext>
                </a:extLst>
              </p:cNvPr>
              <p:cNvSpPr txBox="1"/>
              <p:nvPr/>
            </p:nvSpPr>
            <p:spPr>
              <a:xfrm>
                <a:off x="11086889" y="2251384"/>
                <a:ext cx="57361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DE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2000" b="1" i="1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E1BC4B-DAF2-4BB8-802C-AB2DCB9F5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6889" y="2251384"/>
                <a:ext cx="573619" cy="400110"/>
              </a:xfrm>
              <a:prstGeom prst="rect">
                <a:avLst/>
              </a:prstGeom>
              <a:blipFill>
                <a:blip r:embed="rId8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3DED28-604A-4ECB-9C4D-A6B9968BD70C}"/>
                  </a:ext>
                </a:extLst>
              </p:cNvPr>
              <p:cNvSpPr txBox="1"/>
              <p:nvPr/>
            </p:nvSpPr>
            <p:spPr>
              <a:xfrm>
                <a:off x="11086889" y="4833223"/>
                <a:ext cx="53194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</m:oMath>
                  </m:oMathPara>
                </a14:m>
                <a:endParaRPr lang="en-US" sz="2000" b="1" i="1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3DED28-604A-4ECB-9C4D-A6B9968BD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6889" y="4833223"/>
                <a:ext cx="531940" cy="400110"/>
              </a:xfrm>
              <a:prstGeom prst="rect">
                <a:avLst/>
              </a:prstGeom>
              <a:blipFill>
                <a:blip r:embed="rId9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577038-04FA-4C42-84FA-70266FB1002A}"/>
                  </a:ext>
                </a:extLst>
              </p:cNvPr>
              <p:cNvSpPr txBox="1"/>
              <p:nvPr/>
            </p:nvSpPr>
            <p:spPr>
              <a:xfrm>
                <a:off x="8556572" y="6078459"/>
                <a:ext cx="2590800" cy="429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𝑶𝒇𝒇𝒔𝒆𝒕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20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20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577038-04FA-4C42-84FA-70266FB10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572" y="6078459"/>
                <a:ext cx="2590800" cy="429220"/>
              </a:xfrm>
              <a:prstGeom prst="rect">
                <a:avLst/>
              </a:prstGeom>
              <a:blipFill>
                <a:blip r:embed="rId10"/>
                <a:stretch>
                  <a:fillRect b="-11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8EDD87B-BF0F-451B-9296-2502DE2D77D3}"/>
              </a:ext>
            </a:extLst>
          </p:cNvPr>
          <p:cNvSpPr/>
          <p:nvPr/>
        </p:nvSpPr>
        <p:spPr>
          <a:xfrm>
            <a:off x="6239371" y="3399603"/>
            <a:ext cx="1221243" cy="57687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/>
              <a:t>Pattern Matcher</a:t>
            </a:r>
            <a:endParaRPr lang="en-US" sz="1800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537D-1CFF-40C1-9554-590737AF87D6}"/>
              </a:ext>
            </a:extLst>
          </p:cNvPr>
          <p:cNvSpPr/>
          <p:nvPr/>
        </p:nvSpPr>
        <p:spPr>
          <a:xfrm>
            <a:off x="6239371" y="4038107"/>
            <a:ext cx="1221242" cy="113367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/>
              <a:t>PLCA</a:t>
            </a:r>
            <a:endParaRPr lang="en-US" sz="1800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E56777-9DB4-45F5-9767-3CC0F7181961}"/>
              </a:ext>
            </a:extLst>
          </p:cNvPr>
          <p:cNvSpPr/>
          <p:nvPr/>
        </p:nvSpPr>
        <p:spPr>
          <a:xfrm>
            <a:off x="4490128" y="3399603"/>
            <a:ext cx="1221243" cy="576870"/>
          </a:xfrm>
          <a:prstGeom prst="rect">
            <a:avLst/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/>
              <a:t>MCU</a:t>
            </a:r>
            <a:endParaRPr lang="en-US" sz="1800" b="1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1E1FD4BD-E2BF-45EE-96C4-36975D4FCE96}"/>
              </a:ext>
            </a:extLst>
          </p:cNvPr>
          <p:cNvCxnSpPr>
            <a:cxnSpLocks/>
          </p:cNvCxnSpPr>
          <p:nvPr/>
        </p:nvCxnSpPr>
        <p:spPr>
          <a:xfrm>
            <a:off x="5478608" y="3971795"/>
            <a:ext cx="708705" cy="294482"/>
          </a:xfrm>
          <a:prstGeom prst="bentConnector3">
            <a:avLst>
              <a:gd name="adj1" fmla="val -109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1F2F4B8-9760-482E-8873-038294721BD0}"/>
              </a:ext>
            </a:extLst>
          </p:cNvPr>
          <p:cNvCxnSpPr>
            <a:cxnSpLocks/>
          </p:cNvCxnSpPr>
          <p:nvPr/>
        </p:nvCxnSpPr>
        <p:spPr>
          <a:xfrm>
            <a:off x="4720367" y="3971794"/>
            <a:ext cx="1466946" cy="926940"/>
          </a:xfrm>
          <a:prstGeom prst="bentConnector3">
            <a:avLst>
              <a:gd name="adj1" fmla="val -620"/>
            </a:avLst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36DD7E7-67B3-48D2-812F-09F9A5260503}"/>
              </a:ext>
            </a:extLst>
          </p:cNvPr>
          <p:cNvSpPr txBox="1"/>
          <p:nvPr/>
        </p:nvSpPr>
        <p:spPr>
          <a:xfrm>
            <a:off x="5335419" y="4228423"/>
            <a:ext cx="931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1.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endParaRPr lang="en-US" sz="14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15DBEA-BFE6-4827-BBBC-2C63CD0E02F4}"/>
              </a:ext>
            </a:extLst>
          </p:cNvPr>
          <p:cNvSpPr txBox="1"/>
          <p:nvPr/>
        </p:nvSpPr>
        <p:spPr>
          <a:xfrm>
            <a:off x="4637856" y="4878038"/>
            <a:ext cx="15718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3.FOLLOW-UP</a:t>
            </a:r>
            <a:endParaRPr lang="en-US" sz="140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0A38F88-0B00-427D-A6DC-8F62C9C0E411}"/>
              </a:ext>
            </a:extLst>
          </p:cNvPr>
          <p:cNvGrpSpPr/>
          <p:nvPr/>
        </p:nvGrpSpPr>
        <p:grpSpPr>
          <a:xfrm>
            <a:off x="4706457" y="3038402"/>
            <a:ext cx="2139694" cy="347464"/>
            <a:chOff x="4555005" y="4001828"/>
            <a:chExt cx="2154236" cy="347464"/>
          </a:xfrm>
        </p:grpSpPr>
        <p:cxnSp>
          <p:nvCxnSpPr>
            <p:cNvPr id="42" name="Connector: Elbow 41">
              <a:extLst>
                <a:ext uri="{FF2B5EF4-FFF2-40B4-BE49-F238E27FC236}">
                  <a16:creationId xmlns:a16="http://schemas.microsoft.com/office/drawing/2014/main" id="{AE4B8021-1C5F-410A-91FB-BA9A546F106E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555005" y="4001828"/>
              <a:ext cx="1093537" cy="346000"/>
            </a:xfrm>
            <a:prstGeom prst="bentConnector3">
              <a:avLst>
                <a:gd name="adj1" fmla="val 100001"/>
              </a:avLst>
            </a:prstGeom>
            <a:ln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or: Elbow 48">
              <a:extLst>
                <a:ext uri="{FF2B5EF4-FFF2-40B4-BE49-F238E27FC236}">
                  <a16:creationId xmlns:a16="http://schemas.microsoft.com/office/drawing/2014/main" id="{65196B6A-6B60-423D-8AE0-139129F34070}"/>
                </a:ext>
              </a:extLst>
            </p:cNvPr>
            <p:cNvCxnSpPr>
              <a:cxnSpLocks/>
            </p:cNvCxnSpPr>
            <p:nvPr/>
          </p:nvCxnSpPr>
          <p:spPr>
            <a:xfrm>
              <a:off x="5639005" y="4001828"/>
              <a:ext cx="1070236" cy="347464"/>
            </a:xfrm>
            <a:prstGeom prst="bentConnector3">
              <a:avLst>
                <a:gd name="adj1" fmla="val 101034"/>
              </a:avLst>
            </a:prstGeom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A96894B5-427A-4486-9FAE-1226FC0CDF81}"/>
              </a:ext>
            </a:extLst>
          </p:cNvPr>
          <p:cNvSpPr txBox="1"/>
          <p:nvPr/>
        </p:nvSpPr>
        <p:spPr>
          <a:xfrm>
            <a:off x="6887890" y="3042125"/>
            <a:ext cx="12870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1a.TXPI</a:t>
            </a:r>
            <a:endParaRPr lang="en-US" sz="140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7B1ABD0-A093-473B-860E-8141C8596C17}"/>
              </a:ext>
            </a:extLst>
          </p:cNvPr>
          <p:cNvCxnSpPr>
            <a:cxnSpLocks/>
          </p:cNvCxnSpPr>
          <p:nvPr/>
        </p:nvCxnSpPr>
        <p:spPr>
          <a:xfrm>
            <a:off x="4708483" y="3448401"/>
            <a:ext cx="1" cy="465857"/>
          </a:xfrm>
          <a:prstGeom prst="straightConnector1">
            <a:avLst/>
          </a:prstGeom>
          <a:ln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EA0C9F8-C74D-45B4-B478-660081EA3C23}"/>
              </a:ext>
            </a:extLst>
          </p:cNvPr>
          <p:cNvCxnSpPr>
            <a:cxnSpLocks/>
          </p:cNvCxnSpPr>
          <p:nvPr/>
        </p:nvCxnSpPr>
        <p:spPr>
          <a:xfrm>
            <a:off x="7503509" y="4255154"/>
            <a:ext cx="559979" cy="0"/>
          </a:xfrm>
          <a:prstGeom prst="straightConnector1">
            <a:avLst/>
          </a:prstGeom>
          <a:ln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7035DF3-973A-40A0-9C48-732745C7B760}"/>
              </a:ext>
            </a:extLst>
          </p:cNvPr>
          <p:cNvCxnSpPr>
            <a:cxnSpLocks/>
          </p:cNvCxnSpPr>
          <p:nvPr/>
        </p:nvCxnSpPr>
        <p:spPr>
          <a:xfrm>
            <a:off x="7503509" y="4911096"/>
            <a:ext cx="952454" cy="0"/>
          </a:xfrm>
          <a:prstGeom prst="straightConnector1">
            <a:avLst/>
          </a:prstGeom>
          <a:ln>
            <a:prstDash val="sys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349CB42A-A85C-4000-B588-031F81CD9ADB}"/>
              </a:ext>
            </a:extLst>
          </p:cNvPr>
          <p:cNvSpPr/>
          <p:nvPr/>
        </p:nvSpPr>
        <p:spPr bwMode="auto">
          <a:xfrm rot="5400000">
            <a:off x="8040878" y="3998534"/>
            <a:ext cx="437932" cy="500369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ED1B2E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7" name="Rounded Rectangle 4">
            <a:extLst>
              <a:ext uri="{FF2B5EF4-FFF2-40B4-BE49-F238E27FC236}">
                <a16:creationId xmlns:a16="http://schemas.microsoft.com/office/drawing/2014/main" id="{1CDC930C-46FD-41D9-8462-F29594793840}"/>
              </a:ext>
            </a:extLst>
          </p:cNvPr>
          <p:cNvSpPr/>
          <p:nvPr/>
        </p:nvSpPr>
        <p:spPr bwMode="auto">
          <a:xfrm rot="5400000">
            <a:off x="9994369" y="5141057"/>
            <a:ext cx="452733" cy="504247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ED1B2E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2FBE53-A9E7-989D-CD38-3FA4382F97A1}"/>
              </a:ext>
            </a:extLst>
          </p:cNvPr>
          <p:cNvSpPr txBox="1"/>
          <p:nvPr/>
        </p:nvSpPr>
        <p:spPr>
          <a:xfrm>
            <a:off x="4141419" y="3534149"/>
            <a:ext cx="562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2.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88890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40" grpId="0"/>
      <p:bldP spid="41" grpId="0"/>
      <p:bldP spid="58" grpId="0"/>
      <p:bldP spid="35" grpId="0" animBg="1"/>
      <p:bldP spid="37" grpId="0" animBg="1"/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B146F43-6BB3-6AA4-7EDC-1F1AB165684A}"/>
              </a:ext>
            </a:extLst>
          </p:cNvPr>
          <p:cNvGrpSpPr/>
          <p:nvPr/>
        </p:nvGrpSpPr>
        <p:grpSpPr>
          <a:xfrm>
            <a:off x="609099" y="3216949"/>
            <a:ext cx="7944032" cy="1221222"/>
            <a:chOff x="755777" y="4580408"/>
            <a:chExt cx="10099040" cy="153143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CA0E3CC-B040-AE38-5420-223C0C9E84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10"/>
            <a:stretch/>
          </p:blipFill>
          <p:spPr>
            <a:xfrm>
              <a:off x="755777" y="4580408"/>
              <a:ext cx="10099040" cy="153143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Rounded Rectangle 4">
              <a:extLst>
                <a:ext uri="{FF2B5EF4-FFF2-40B4-BE49-F238E27FC236}">
                  <a16:creationId xmlns:a16="http://schemas.microsoft.com/office/drawing/2014/main" id="{66279955-9E41-7D94-B58F-5A732A1211A3}"/>
                </a:ext>
              </a:extLst>
            </p:cNvPr>
            <p:cNvSpPr/>
            <p:nvPr/>
          </p:nvSpPr>
          <p:spPr bwMode="auto">
            <a:xfrm rot="5400000">
              <a:off x="9186635" y="4406784"/>
              <a:ext cx="333960" cy="1116171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027AAF3-D0D6-FCA8-590B-90CFF4F98B14}"/>
              </a:ext>
            </a:extLst>
          </p:cNvPr>
          <p:cNvGrpSpPr/>
          <p:nvPr/>
        </p:nvGrpSpPr>
        <p:grpSpPr>
          <a:xfrm>
            <a:off x="609099" y="1735611"/>
            <a:ext cx="4476885" cy="1044616"/>
            <a:chOff x="609099" y="1735611"/>
            <a:chExt cx="4476885" cy="1044616"/>
          </a:xfrm>
        </p:grpSpPr>
        <p:sp>
          <p:nvSpPr>
            <p:cNvPr id="9" name="Callout: Line with No Border 8">
              <a:extLst>
                <a:ext uri="{FF2B5EF4-FFF2-40B4-BE49-F238E27FC236}">
                  <a16:creationId xmlns:a16="http://schemas.microsoft.com/office/drawing/2014/main" id="{413823A1-5997-E4A7-A546-AF144EF458F1}"/>
                </a:ext>
              </a:extLst>
            </p:cNvPr>
            <p:cNvSpPr/>
            <p:nvPr/>
          </p:nvSpPr>
          <p:spPr>
            <a:xfrm>
              <a:off x="3849617" y="2051733"/>
              <a:ext cx="799189" cy="573457"/>
            </a:xfrm>
            <a:prstGeom prst="callout1">
              <a:avLst>
                <a:gd name="adj1" fmla="val 120299"/>
                <a:gd name="adj2" fmla="val 65012"/>
                <a:gd name="adj3" fmla="val 300887"/>
                <a:gd name="adj4" fmla="val 128541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8" name="Speech Bubble: Rectangle with Corners Rounded 7">
              <a:extLst>
                <a:ext uri="{FF2B5EF4-FFF2-40B4-BE49-F238E27FC236}">
                  <a16:creationId xmlns:a16="http://schemas.microsoft.com/office/drawing/2014/main" id="{CA5E3F2A-94B7-F63F-8FA1-6D7E4F225095}"/>
                </a:ext>
              </a:extLst>
            </p:cNvPr>
            <p:cNvSpPr/>
            <p:nvPr/>
          </p:nvSpPr>
          <p:spPr>
            <a:xfrm>
              <a:off x="609099" y="1735611"/>
              <a:ext cx="4476885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DE" sz="1800"/>
                <a:t>Configure </a:t>
              </a:r>
              <a:r>
                <a:rPr lang="en-DE" sz="1800" b="1"/>
                <a:t>Pattern Matcher </a:t>
              </a:r>
              <a:r>
                <a:rPr lang="en-DE" sz="1800"/>
                <a:t>to detect TX SYNC packets (or other PTP message)</a:t>
              </a:r>
              <a:endParaRPr lang="en-US" sz="1800" b="1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84146A-D02B-4DA4-933D-A2FF3772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91" y="96296"/>
            <a:ext cx="11863993" cy="633617"/>
          </a:xfrm>
        </p:spPr>
        <p:txBody>
          <a:bodyPr/>
          <a:lstStyle/>
          <a:p>
            <a:r>
              <a:rPr lang="en-US" sz="2800"/>
              <a:t>IEEE 802.1AS</a:t>
            </a:r>
            <a:r>
              <a:rPr lang="en-DE" sz="2800"/>
              <a:t>  –  LAN8670/1/2 Configuration for Standard </a:t>
            </a:r>
            <a:r>
              <a:rPr lang="en-DE" sz="2800" err="1"/>
              <a:t>Clocksynchronization</a:t>
            </a:r>
            <a:endParaRPr lang="en-US" sz="2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02F294-4450-BDCA-AC48-A07A725F647C}"/>
              </a:ext>
            </a:extLst>
          </p:cNvPr>
          <p:cNvSpPr txBox="1"/>
          <p:nvPr/>
        </p:nvSpPr>
        <p:spPr>
          <a:xfrm>
            <a:off x="302596" y="878031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400" b="1">
                <a:solidFill>
                  <a:schemeClr val="bg2"/>
                </a:solidFill>
                <a:sym typeface="Wingdings" panose="05000000000000000000" pitchFamily="2" charset="2"/>
              </a:rPr>
              <a:t>“T</a:t>
            </a:r>
            <a:r>
              <a:rPr lang="en-US" sz="2400" b="1">
                <a:solidFill>
                  <a:schemeClr val="bg2"/>
                </a:solidFill>
                <a:sym typeface="Wingdings" panose="05000000000000000000" pitchFamily="2" charset="2"/>
              </a:rPr>
              <a:t>wo-step-approach</a:t>
            </a:r>
            <a:r>
              <a:rPr lang="en-DE" sz="2400" b="1">
                <a:solidFill>
                  <a:schemeClr val="bg2"/>
                </a:solidFill>
                <a:sym typeface="Wingdings" panose="05000000000000000000" pitchFamily="2" charset="2"/>
              </a:rPr>
              <a:t>”  (Standard)</a:t>
            </a:r>
            <a:endParaRPr lang="en-US">
              <a:solidFill>
                <a:schemeClr val="bg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0B03CE-7CD0-D02B-A735-6E6D490D78C2}"/>
              </a:ext>
            </a:extLst>
          </p:cNvPr>
          <p:cNvGrpSpPr/>
          <p:nvPr/>
        </p:nvGrpSpPr>
        <p:grpSpPr>
          <a:xfrm>
            <a:off x="7102841" y="1735611"/>
            <a:ext cx="4476885" cy="1044616"/>
            <a:chOff x="361333" y="2410618"/>
            <a:chExt cx="4997746" cy="1044616"/>
          </a:xfrm>
        </p:grpSpPr>
        <p:sp>
          <p:nvSpPr>
            <p:cNvPr id="16" name="Callout: Line with No Border 15">
              <a:extLst>
                <a:ext uri="{FF2B5EF4-FFF2-40B4-BE49-F238E27FC236}">
                  <a16:creationId xmlns:a16="http://schemas.microsoft.com/office/drawing/2014/main" id="{19E2E468-A4BD-3E26-7539-22E11EF5B893}"/>
                </a:ext>
              </a:extLst>
            </p:cNvPr>
            <p:cNvSpPr/>
            <p:nvPr/>
          </p:nvSpPr>
          <p:spPr>
            <a:xfrm>
              <a:off x="3978868" y="2726740"/>
              <a:ext cx="892170" cy="573457"/>
            </a:xfrm>
            <a:prstGeom prst="callout1">
              <a:avLst>
                <a:gd name="adj1" fmla="val 105356"/>
                <a:gd name="adj2" fmla="val -280123"/>
                <a:gd name="adj3" fmla="val 231588"/>
                <a:gd name="adj4" fmla="val -333507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5" name="Speech Bubble: Rectangle with Corners Rounded 14">
              <a:extLst>
                <a:ext uri="{FF2B5EF4-FFF2-40B4-BE49-F238E27FC236}">
                  <a16:creationId xmlns:a16="http://schemas.microsoft.com/office/drawing/2014/main" id="{1A31F895-25BB-E8C4-4A42-0738A8250711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800" b="1"/>
                <a:t>TXME </a:t>
              </a:r>
              <a:r>
                <a:rPr lang="en-DE" sz="1800" b="1"/>
                <a:t>= 1 </a:t>
              </a:r>
              <a:r>
                <a:rPr lang="en-DE" sz="1800"/>
                <a:t>(</a:t>
              </a:r>
              <a:r>
                <a:rPr lang="en-US" sz="1800"/>
                <a:t>Transmit Packet Match Enable</a:t>
              </a:r>
              <a:r>
                <a:rPr lang="en-DE" sz="1800"/>
                <a:t>)</a:t>
              </a:r>
              <a:r>
                <a:rPr lang="en-US" sz="1800"/>
                <a:t> </a:t>
              </a:r>
              <a:r>
                <a:rPr lang="en-DE" sz="1800" b="1"/>
                <a:t> </a:t>
              </a:r>
            </a:p>
            <a:p>
              <a:pPr>
                <a:lnSpc>
                  <a:spcPct val="150000"/>
                </a:lnSpc>
              </a:pPr>
              <a:r>
                <a:rPr lang="en-DE" sz="1800"/>
                <a:t>in </a:t>
              </a:r>
              <a:r>
                <a:rPr lang="en-US" sz="1800" b="1"/>
                <a:t>TXMCTL</a:t>
              </a:r>
              <a:r>
                <a:rPr lang="en-DE" sz="1800" b="1"/>
                <a:t> (</a:t>
              </a:r>
              <a:r>
                <a:rPr lang="en-US" sz="1800"/>
                <a:t>Transmit Match Control Register</a:t>
              </a:r>
              <a:r>
                <a:rPr lang="en-DE" sz="1800" b="1"/>
                <a:t>)</a:t>
              </a:r>
              <a:endParaRPr lang="en-US" sz="1800" b="1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10F49F1-D85E-2B08-CB04-0030771595F2}"/>
              </a:ext>
            </a:extLst>
          </p:cNvPr>
          <p:cNvGrpSpPr/>
          <p:nvPr/>
        </p:nvGrpSpPr>
        <p:grpSpPr>
          <a:xfrm>
            <a:off x="7102841" y="4872290"/>
            <a:ext cx="4476885" cy="1443134"/>
            <a:chOff x="361333" y="2410618"/>
            <a:chExt cx="4997746" cy="1044616"/>
          </a:xfrm>
          <a:solidFill>
            <a:schemeClr val="accent2"/>
          </a:solidFill>
        </p:grpSpPr>
        <p:sp>
          <p:nvSpPr>
            <p:cNvPr id="19" name="Callout: Line with No Border 18">
              <a:extLst>
                <a:ext uri="{FF2B5EF4-FFF2-40B4-BE49-F238E27FC236}">
                  <a16:creationId xmlns:a16="http://schemas.microsoft.com/office/drawing/2014/main" id="{466B3A66-A7EA-8992-6F92-27FFD52DD30A}"/>
                </a:ext>
              </a:extLst>
            </p:cNvPr>
            <p:cNvSpPr/>
            <p:nvPr/>
          </p:nvSpPr>
          <p:spPr>
            <a:xfrm>
              <a:off x="3978868" y="2726740"/>
              <a:ext cx="892170" cy="573457"/>
            </a:xfrm>
            <a:prstGeom prst="callout1">
              <a:avLst>
                <a:gd name="adj1" fmla="val 27977"/>
                <a:gd name="adj2" fmla="val -45952"/>
                <a:gd name="adj3" fmla="val 66867"/>
                <a:gd name="adj4" fmla="val 85222"/>
              </a:avLst>
            </a:prstGeom>
            <a:grp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8" name="Speech Bubble: Rectangle with Corners Rounded 17">
              <a:extLst>
                <a:ext uri="{FF2B5EF4-FFF2-40B4-BE49-F238E27FC236}">
                  <a16:creationId xmlns:a16="http://schemas.microsoft.com/office/drawing/2014/main" id="{D8E1D508-547C-36E1-0AFF-F47C2F5CA511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DE" sz="1800"/>
                <a:t>In case of a </a:t>
              </a:r>
              <a:r>
                <a:rPr lang="en-US" sz="1800"/>
                <a:t>match</a:t>
              </a:r>
              <a:r>
                <a:rPr lang="en-DE" sz="1800"/>
                <a:t>,</a:t>
              </a:r>
              <a:r>
                <a:rPr lang="en-US" sz="1800"/>
                <a:t> the </a:t>
              </a:r>
              <a:r>
                <a:rPr lang="en-US" sz="1800" b="1"/>
                <a:t>TXPI</a:t>
              </a:r>
              <a:r>
                <a:rPr lang="en-US" sz="1800"/>
                <a:t> </a:t>
              </a:r>
              <a:r>
                <a:rPr lang="en-DE" sz="1800"/>
                <a:t>pin </a:t>
              </a:r>
              <a:r>
                <a:rPr lang="en-US" sz="1800"/>
                <a:t>will be asserted</a:t>
              </a:r>
              <a:r>
                <a:rPr lang="en-DE" sz="1800"/>
                <a:t> to inform MCU.</a:t>
              </a:r>
            </a:p>
            <a:p>
              <a:pPr>
                <a:lnSpc>
                  <a:spcPct val="150000"/>
                </a:lnSpc>
              </a:pPr>
              <a:r>
                <a:rPr lang="en-DE" sz="1800">
                  <a:sym typeface="Wingdings" panose="05000000000000000000" pitchFamily="2" charset="2"/>
                </a:rPr>
                <a:t>MCU sends a </a:t>
              </a:r>
              <a:r>
                <a:rPr lang="en-DE" sz="1800" b="1">
                  <a:sym typeface="Wingdings" panose="05000000000000000000" pitchFamily="2" charset="2"/>
                </a:rPr>
                <a:t>FOLLOWUP</a:t>
              </a:r>
              <a:r>
                <a:rPr lang="en-DE" sz="1800">
                  <a:sym typeface="Wingdings" panose="05000000000000000000" pitchFamily="2" charset="2"/>
                </a:rPr>
                <a:t>, with previous TS</a:t>
              </a:r>
              <a:endParaRPr lang="en-DE" sz="1600">
                <a:sym typeface="Wingdings" panose="05000000000000000000" pitchFamily="2" charset="2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ED3D689-88FD-5E03-0452-52E997E92211}"/>
              </a:ext>
            </a:extLst>
          </p:cNvPr>
          <p:cNvGrpSpPr/>
          <p:nvPr/>
        </p:nvGrpSpPr>
        <p:grpSpPr>
          <a:xfrm>
            <a:off x="3439206" y="4872290"/>
            <a:ext cx="3092651" cy="1443134"/>
            <a:chOff x="361333" y="2410618"/>
            <a:chExt cx="4997746" cy="1044616"/>
          </a:xfrm>
          <a:solidFill>
            <a:schemeClr val="accent2"/>
          </a:solidFill>
        </p:grpSpPr>
        <p:sp>
          <p:nvSpPr>
            <p:cNvPr id="22" name="Callout: Line with No Border 21">
              <a:extLst>
                <a:ext uri="{FF2B5EF4-FFF2-40B4-BE49-F238E27FC236}">
                  <a16:creationId xmlns:a16="http://schemas.microsoft.com/office/drawing/2014/main" id="{E6FD78B2-5A7E-567D-D1FE-D6AC3FAF3930}"/>
                </a:ext>
              </a:extLst>
            </p:cNvPr>
            <p:cNvSpPr/>
            <p:nvPr/>
          </p:nvSpPr>
          <p:spPr>
            <a:xfrm>
              <a:off x="3978868" y="2726740"/>
              <a:ext cx="892170" cy="573457"/>
            </a:xfrm>
            <a:prstGeom prst="callout1">
              <a:avLst>
                <a:gd name="adj1" fmla="val 126085"/>
                <a:gd name="adj2" fmla="val 39860"/>
                <a:gd name="adj3" fmla="val -201166"/>
                <a:gd name="adj4" fmla="val 166970"/>
              </a:avLst>
            </a:prstGeom>
            <a:grpFill/>
            <a:ln w="38100" cap="rnd"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21" name="Speech Bubble: Rectangle with Corners Rounded 20">
              <a:extLst>
                <a:ext uri="{FF2B5EF4-FFF2-40B4-BE49-F238E27FC236}">
                  <a16:creationId xmlns:a16="http://schemas.microsoft.com/office/drawing/2014/main" id="{A10F1A98-29AB-9E3A-C74F-4DCB337E0C5D}"/>
                </a:ext>
              </a:extLst>
            </p:cNvPr>
            <p:cNvSpPr/>
            <p:nvPr/>
          </p:nvSpPr>
          <p:spPr>
            <a:xfrm>
              <a:off x="361333" y="2410618"/>
              <a:ext cx="4997746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grpFill/>
            <a:ln>
              <a:solidFill>
                <a:schemeClr val="accent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en-DE" sz="1800" b="1"/>
                <a:t>MACTXTSE</a:t>
              </a:r>
              <a:r>
                <a:rPr lang="en-DE" sz="1800"/>
                <a:t> and </a:t>
              </a:r>
              <a:r>
                <a:rPr lang="en-DE" sz="1800" b="1"/>
                <a:t>TXME</a:t>
              </a:r>
              <a:r>
                <a:rPr lang="en-DE" sz="1800"/>
                <a:t> cannot be set at the same time.</a:t>
              </a:r>
            </a:p>
            <a:p>
              <a:endParaRPr lang="en-DE" sz="1800"/>
            </a:p>
            <a:p>
              <a:r>
                <a:rPr lang="en-DE" sz="1800">
                  <a:sym typeface="Wingdings" panose="05000000000000000000" pitchFamily="2" charset="2"/>
                </a:rPr>
                <a:t>Functionalities mutually exclude each other.</a:t>
              </a:r>
              <a:endParaRPr lang="en-DE" sz="1600">
                <a:sym typeface="Wingdings" panose="05000000000000000000" pitchFamily="2" charset="2"/>
              </a:endParaRPr>
            </a:p>
          </p:txBody>
        </p:sp>
      </p:grp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FFDDD95-6DE2-8279-2DDE-2FA4383B5932}"/>
              </a:ext>
            </a:extLst>
          </p:cNvPr>
          <p:cNvSpPr/>
          <p:nvPr/>
        </p:nvSpPr>
        <p:spPr bwMode="auto">
          <a:xfrm rot="5400000">
            <a:off x="5088220" y="3345510"/>
            <a:ext cx="653246" cy="1532075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612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FF195A-B8B1-482A-9610-AD934020170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4301" y="848558"/>
            <a:ext cx="6290407" cy="5127125"/>
          </a:xfrm>
        </p:spPr>
        <p:txBody>
          <a:bodyPr/>
          <a:lstStyle/>
          <a:p>
            <a:pPr marL="0" indent="0">
              <a:buNone/>
            </a:pPr>
            <a:r>
              <a:rPr lang="en-DE" sz="1800"/>
              <a:t>In the </a:t>
            </a:r>
            <a:r>
              <a:rPr lang="en-DE" sz="1800" b="1">
                <a:solidFill>
                  <a:srgbClr val="0070C0"/>
                </a:solidFill>
              </a:rPr>
              <a:t>clock source:</a:t>
            </a:r>
          </a:p>
          <a:p>
            <a:r>
              <a:rPr lang="de-DE" sz="1800"/>
              <a:t>Many</a:t>
            </a:r>
            <a:r>
              <a:rPr lang="en-DE" sz="1800"/>
              <a:t> MACs can </a:t>
            </a:r>
            <a:r>
              <a:rPr lang="de-DE" sz="1800" err="1"/>
              <a:t>capture</a:t>
            </a:r>
            <a:r>
              <a:rPr lang="de-DE" sz="1800"/>
              <a:t> </a:t>
            </a:r>
            <a:r>
              <a:rPr lang="de-DE" sz="1800" err="1"/>
              <a:t>their</a:t>
            </a:r>
            <a:r>
              <a:rPr lang="de-DE" sz="1800"/>
              <a:t> own </a:t>
            </a:r>
            <a:r>
              <a:rPr lang="de-DE" sz="1800" err="1"/>
              <a:t>transmit</a:t>
            </a:r>
            <a:r>
              <a:rPr lang="de-DE" sz="1800"/>
              <a:t> time </a:t>
            </a:r>
            <a:r>
              <a:rPr lang="de-DE" sz="1800" err="1"/>
              <a:t>stamps</a:t>
            </a:r>
            <a:endParaRPr lang="en-DE" sz="1800"/>
          </a:p>
          <a:p>
            <a:r>
              <a:rPr lang="en-DE" sz="1800"/>
              <a:t>However, TX PHY delay is variable (0...39,6 µs) because of PLCA </a:t>
            </a:r>
            <a:r>
              <a:rPr lang="de-DE" sz="1800" err="1"/>
              <a:t>elastic</a:t>
            </a:r>
            <a:r>
              <a:rPr lang="de-DE" sz="1800"/>
              <a:t> </a:t>
            </a:r>
            <a:r>
              <a:rPr lang="en-DE" sz="1800"/>
              <a:t>buffer </a:t>
            </a:r>
            <a:endParaRPr lang="de-DE" sz="1800"/>
          </a:p>
          <a:p>
            <a:r>
              <a:rPr lang="en-DE" sz="1800"/>
              <a:t>LAN8670/1/2 can be configured </a:t>
            </a:r>
            <a:r>
              <a:rPr lang="de-DE" sz="1800" err="1"/>
              <a:t>to</a:t>
            </a:r>
            <a:r>
              <a:rPr lang="de-DE" sz="1800"/>
              <a:t> </a:t>
            </a:r>
            <a:r>
              <a:rPr lang="de-DE" sz="1800" err="1"/>
              <a:t>make</a:t>
            </a:r>
            <a:r>
              <a:rPr lang="en-DE" sz="1800"/>
              <a:t> MAC Timestamping</a:t>
            </a:r>
            <a:r>
              <a:rPr lang="de-DE" sz="1800"/>
              <a:t> </a:t>
            </a:r>
            <a:r>
              <a:rPr lang="de-DE" sz="1800" err="1"/>
              <a:t>work</a:t>
            </a:r>
            <a:br>
              <a:rPr lang="en-DE" sz="1800"/>
            </a:br>
            <a:endParaRPr lang="en-DE" sz="1800"/>
          </a:p>
          <a:p>
            <a:pPr marL="457200" indent="-457200">
              <a:buFont typeface="+mj-lt"/>
              <a:buAutoNum type="arabicPeriod"/>
            </a:pPr>
            <a:r>
              <a:rPr lang="en-DE" sz="1800"/>
              <a:t>Patern Matcher detects  TX-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r>
              <a:rPr lang="de-DE" sz="18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en-DE" sz="1800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DE" sz="1800"/>
              <a:t>and triggers PLCA module</a:t>
            </a:r>
            <a:br>
              <a:rPr lang="en-DE" sz="1800"/>
            </a:br>
            <a:r>
              <a:rPr lang="en-DE" sz="90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DE" sz="1800"/>
              <a:t>PLCA emulates collision to MAC</a:t>
            </a:r>
            <a:br>
              <a:rPr lang="en-DE" sz="1800"/>
            </a:br>
            <a:r>
              <a:rPr lang="en-DE" sz="600"/>
              <a:t> </a:t>
            </a:r>
            <a:endParaRPr lang="en-DE" sz="1800"/>
          </a:p>
          <a:p>
            <a:pPr marL="457200" indent="-457200">
              <a:buFont typeface="+mj-lt"/>
              <a:buAutoNum type="arabicPeriod"/>
            </a:pPr>
            <a:r>
              <a:rPr lang="en-DE" sz="1800"/>
              <a:t>MAC terminates  TX-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r>
              <a:rPr lang="en-DE" sz="1800">
                <a:cs typeface="Courier New" panose="02070309020205020404" pitchFamily="49" charset="0"/>
              </a:rPr>
              <a:t> </a:t>
            </a:r>
            <a:r>
              <a:rPr lang="de-DE" sz="1800">
                <a:cs typeface="Courier New" panose="02070309020205020404" pitchFamily="49" charset="0"/>
              </a:rPr>
              <a:t>and b</a:t>
            </a:r>
            <a:r>
              <a:rPr lang="en-DE" sz="1800">
                <a:cs typeface="Courier New" panose="02070309020205020404" pitchFamily="49" charset="0"/>
              </a:rPr>
              <a:t>acks off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600">
                <a:cs typeface="Courier New" panose="02070309020205020404" pitchFamily="49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DE" sz="1800">
                <a:cs typeface="Courier New" panose="02070309020205020404" pitchFamily="49" charset="0"/>
              </a:rPr>
              <a:t>PLCA asserts Carrier Sense to keep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1800">
                <a:cs typeface="Courier New" panose="02070309020205020404" pitchFamily="49" charset="0"/>
              </a:rPr>
              <a:t>MAC waiting until its next TO arrives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600">
                <a:cs typeface="Courier New" panose="02070309020205020404" pitchFamily="49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DE" sz="1800">
                <a:cs typeface="Courier New" panose="02070309020205020404" pitchFamily="49" charset="0"/>
              </a:rPr>
              <a:t>PLCA sends COMMITS to hold its TO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600">
                <a:cs typeface="Courier New" panose="02070309020205020404" pitchFamily="49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DE" sz="1800">
                <a:cs typeface="Courier New" panose="02070309020205020404" pitchFamily="49" charset="0"/>
              </a:rPr>
              <a:t>PLCA releases Carrier Sense</a:t>
            </a:r>
            <a:br>
              <a:rPr lang="en-DE" sz="1800">
                <a:cs typeface="Courier New" panose="02070309020205020404" pitchFamily="49" charset="0"/>
              </a:rPr>
            </a:br>
            <a:r>
              <a:rPr lang="en-DE" sz="600">
                <a:cs typeface="Courier New" panose="02070309020205020404" pitchFamily="49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DE" sz="1800">
                <a:cs typeface="Courier New" panose="02070309020205020404" pitchFamily="49" charset="0"/>
              </a:rPr>
              <a:t>MAC retransmits </a:t>
            </a:r>
            <a:r>
              <a:rPr lang="en-US" sz="1800" b="1">
                <a:latin typeface="Courier New" panose="02070309020205020404" pitchFamily="49" charset="0"/>
                <a:cs typeface="Courier New" panose="02070309020205020404" pitchFamily="49" charset="0"/>
              </a:rPr>
              <a:t>SYNC </a:t>
            </a:r>
            <a:r>
              <a:rPr lang="de-DE" sz="1800" err="1">
                <a:cs typeface="Courier New" panose="02070309020205020404" pitchFamily="49" charset="0"/>
              </a:rPr>
              <a:t>with</a:t>
            </a:r>
            <a:r>
              <a:rPr lang="de-DE" sz="1800">
                <a:cs typeface="Courier New" panose="02070309020205020404" pitchFamily="49" charset="0"/>
              </a:rPr>
              <a:t> </a:t>
            </a:r>
            <a:r>
              <a:rPr lang="en-DE" sz="1800">
                <a:cs typeface="Courier New" panose="02070309020205020404" pitchFamily="49" charset="0"/>
              </a:rPr>
              <a:t>no delay</a:t>
            </a:r>
            <a:endParaRPr lang="en-DE" sz="1800">
              <a:sym typeface="Wingdings" panose="05000000000000000000" pitchFamily="2" charset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84146A-D02B-4DA4-933D-A2FF3772B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91" y="96296"/>
            <a:ext cx="11727795" cy="633617"/>
          </a:xfrm>
        </p:spPr>
        <p:txBody>
          <a:bodyPr/>
          <a:lstStyle/>
          <a:p>
            <a:r>
              <a:rPr lang="en-US"/>
              <a:t>IEEE 802.1AS</a:t>
            </a:r>
            <a:r>
              <a:rPr lang="en-DE"/>
              <a:t>  –  Clock Synchronization (MAC Timestamping)</a:t>
            </a:r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52F0A20-52B2-42CA-88E3-BCE6B37F8ACC}"/>
              </a:ext>
            </a:extLst>
          </p:cNvPr>
          <p:cNvCxnSpPr/>
          <p:nvPr/>
        </p:nvCxnSpPr>
        <p:spPr>
          <a:xfrm>
            <a:off x="9793904" y="1365440"/>
            <a:ext cx="0" cy="461010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8B02321-69E6-4249-BC52-58891D743982}"/>
              </a:ext>
            </a:extLst>
          </p:cNvPr>
          <p:cNvCxnSpPr>
            <a:cxnSpLocks/>
          </p:cNvCxnSpPr>
          <p:nvPr/>
        </p:nvCxnSpPr>
        <p:spPr>
          <a:xfrm flipH="1">
            <a:off x="11651781" y="1365440"/>
            <a:ext cx="8576" cy="484115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172BDF6-44B5-4A7C-82CA-9B45D166AE5F}"/>
              </a:ext>
            </a:extLst>
          </p:cNvPr>
          <p:cNvSpPr txBox="1"/>
          <p:nvPr/>
        </p:nvSpPr>
        <p:spPr>
          <a:xfrm>
            <a:off x="9231883" y="1057663"/>
            <a:ext cx="1126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>
                <a:solidFill>
                  <a:srgbClr val="0070C0"/>
                </a:solidFill>
              </a:rPr>
              <a:t>Clock Source</a:t>
            </a:r>
            <a:endParaRPr lang="en-US" sz="1400" b="1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C27132-4F4D-4EB2-83E8-65FEAAAD5304}"/>
              </a:ext>
            </a:extLst>
          </p:cNvPr>
          <p:cNvSpPr txBox="1"/>
          <p:nvPr/>
        </p:nvSpPr>
        <p:spPr>
          <a:xfrm>
            <a:off x="10958882" y="1057663"/>
            <a:ext cx="1269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b="1">
                <a:solidFill>
                  <a:srgbClr val="00B050"/>
                </a:solidFill>
              </a:rPr>
              <a:t>Clock Follower</a:t>
            </a:r>
            <a:endParaRPr lang="en-US" sz="1400" b="1">
              <a:solidFill>
                <a:srgbClr val="00B050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9B4D0F-FA0D-42C0-B5D0-08E7575CEF04}"/>
              </a:ext>
            </a:extLst>
          </p:cNvPr>
          <p:cNvCxnSpPr>
            <a:cxnSpLocks/>
          </p:cNvCxnSpPr>
          <p:nvPr/>
        </p:nvCxnSpPr>
        <p:spPr>
          <a:xfrm>
            <a:off x="9801981" y="1794907"/>
            <a:ext cx="1858376" cy="57164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1A0019-9D0F-47F7-9130-17987A18553B}"/>
              </a:ext>
            </a:extLst>
          </p:cNvPr>
          <p:cNvSpPr txBox="1"/>
          <p:nvPr/>
        </p:nvSpPr>
        <p:spPr>
          <a:xfrm rot="997081">
            <a:off x="10115194" y="1630929"/>
            <a:ext cx="1043876" cy="7117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SYNC()</a:t>
            </a:r>
            <a:endParaRPr lang="en-DE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previous</a:t>
            </a: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D812EF-81D2-445C-AB0F-C5DFFEBC5DD4}"/>
              </a:ext>
            </a:extLst>
          </p:cNvPr>
          <p:cNvCxnSpPr>
            <a:cxnSpLocks/>
          </p:cNvCxnSpPr>
          <p:nvPr/>
        </p:nvCxnSpPr>
        <p:spPr>
          <a:xfrm>
            <a:off x="9801981" y="3149854"/>
            <a:ext cx="1398091" cy="412466"/>
          </a:xfrm>
          <a:prstGeom prst="straightConnector1">
            <a:avLst/>
          </a:prstGeom>
          <a:ln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0BF437-5694-45FE-B9CA-2F74435D94CC}"/>
              </a:ext>
            </a:extLst>
          </p:cNvPr>
          <p:cNvCxnSpPr>
            <a:cxnSpLocks/>
          </p:cNvCxnSpPr>
          <p:nvPr/>
        </p:nvCxnSpPr>
        <p:spPr>
          <a:xfrm>
            <a:off x="9793904" y="4892929"/>
            <a:ext cx="1857877" cy="583485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FB15625-7EFA-4108-8B15-FA1D7EB037E8}"/>
              </a:ext>
            </a:extLst>
          </p:cNvPr>
          <p:cNvSpPr txBox="1"/>
          <p:nvPr/>
        </p:nvSpPr>
        <p:spPr>
          <a:xfrm rot="997081">
            <a:off x="9971063" y="2973459"/>
            <a:ext cx="1151277" cy="7117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  SYNC() </a:t>
            </a:r>
          </a:p>
          <a:p>
            <a:pPr>
              <a:lnSpc>
                <a:spcPct val="15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3.aborted</a:t>
            </a:r>
            <a:endParaRPr 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344CCA-CCE8-4813-AE33-FB2B25C338F6}"/>
                  </a:ext>
                </a:extLst>
              </p:cNvPr>
              <p:cNvSpPr txBox="1"/>
              <p:nvPr/>
            </p:nvSpPr>
            <p:spPr>
              <a:xfrm>
                <a:off x="9279950" y="1552940"/>
                <a:ext cx="48654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DE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344CCA-CCE8-4813-AE33-FB2B25C33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9950" y="1552940"/>
                <a:ext cx="48654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49F2A0-DE71-4812-9A7B-6FA128788682}"/>
                  </a:ext>
                </a:extLst>
              </p:cNvPr>
              <p:cNvSpPr txBox="1"/>
              <p:nvPr/>
            </p:nvSpPr>
            <p:spPr>
              <a:xfrm>
                <a:off x="9271531" y="4932488"/>
                <a:ext cx="4528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6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849F2A0-DE71-4812-9A7B-6FA128788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531" y="4932488"/>
                <a:ext cx="452880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E1BC4B-DAF2-4BB8-802C-AB2DCB9F5E8C}"/>
                  </a:ext>
                </a:extLst>
              </p:cNvPr>
              <p:cNvSpPr txBox="1"/>
              <p:nvPr/>
            </p:nvSpPr>
            <p:spPr>
              <a:xfrm>
                <a:off x="11632704" y="2204249"/>
                <a:ext cx="4961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  <m:r>
                            <a:rPr lang="en-DE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600" b="1" i="1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2E1BC4B-DAF2-4BB8-802C-AB2DCB9F5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2704" y="2204249"/>
                <a:ext cx="496161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3DED28-604A-4ECB-9C4D-A6B9968BD70C}"/>
                  </a:ext>
                </a:extLst>
              </p:cNvPr>
              <p:cNvSpPr txBox="1"/>
              <p:nvPr/>
            </p:nvSpPr>
            <p:spPr>
              <a:xfrm>
                <a:off x="11632704" y="5318523"/>
                <a:ext cx="46249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dirty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600" b="1" i="1" dirty="0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</m:oMath>
                  </m:oMathPara>
                </a14:m>
                <a:endParaRPr lang="en-US" sz="1600" b="1" i="1"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3DED28-604A-4ECB-9C4D-A6B9968BD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32704" y="5318523"/>
                <a:ext cx="462499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577038-04FA-4C42-84FA-70266FB1002A}"/>
                  </a:ext>
                </a:extLst>
              </p:cNvPr>
              <p:cNvSpPr txBox="1"/>
              <p:nvPr/>
            </p:nvSpPr>
            <p:spPr>
              <a:xfrm>
                <a:off x="9659009" y="6021897"/>
                <a:ext cx="2168091" cy="3955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800" b="1" i="1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𝑶𝒇𝒇𝒔𝒆𝒕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1800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DE" sz="18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577038-04FA-4C42-84FA-70266FB10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9009" y="6021897"/>
                <a:ext cx="2168091" cy="395558"/>
              </a:xfrm>
              <a:prstGeom prst="rect">
                <a:avLst/>
              </a:prstGeom>
              <a:blipFill>
                <a:blip r:embed="rId7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C8EDD87B-BF0F-451B-9296-2502DE2D77D3}"/>
              </a:ext>
            </a:extLst>
          </p:cNvPr>
          <p:cNvSpPr/>
          <p:nvPr/>
        </p:nvSpPr>
        <p:spPr>
          <a:xfrm>
            <a:off x="8267893" y="2538775"/>
            <a:ext cx="957928" cy="259236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400" b="1"/>
              <a:t>Pattern Matcher</a:t>
            </a:r>
            <a:endParaRPr lang="en-US" sz="1400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32537D-1CFF-40C1-9554-590737AF87D6}"/>
              </a:ext>
            </a:extLst>
          </p:cNvPr>
          <p:cNvSpPr/>
          <p:nvPr/>
        </p:nvSpPr>
        <p:spPr>
          <a:xfrm>
            <a:off x="7014116" y="2538775"/>
            <a:ext cx="1203922" cy="259531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DE" sz="1800" b="1"/>
          </a:p>
          <a:p>
            <a:pPr algn="ctr"/>
            <a:r>
              <a:rPr lang="en-DE" sz="1800" b="1"/>
              <a:t>PLCA</a:t>
            </a:r>
            <a:endParaRPr lang="en-US" sz="1800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E56777-9DB4-45F5-9767-3CC0F7181961}"/>
              </a:ext>
            </a:extLst>
          </p:cNvPr>
          <p:cNvSpPr/>
          <p:nvPr/>
        </p:nvSpPr>
        <p:spPr>
          <a:xfrm>
            <a:off x="5042210" y="2538775"/>
            <a:ext cx="844031" cy="2588844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/>
              <a:t>MAC</a:t>
            </a:r>
            <a:endParaRPr lang="en-US" sz="1800" b="1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21F2F4B8-9760-482E-8873-038294721BD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73019" y="3180400"/>
            <a:ext cx="865966" cy="520452"/>
          </a:xfrm>
          <a:prstGeom prst="bentConnector3">
            <a:avLst>
              <a:gd name="adj1" fmla="val -1056"/>
            </a:avLst>
          </a:prstGeom>
          <a:ln>
            <a:prstDash val="sysDash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36DD7E7-67B3-48D2-812F-09F9A5260503}"/>
              </a:ext>
            </a:extLst>
          </p:cNvPr>
          <p:cNvSpPr txBox="1"/>
          <p:nvPr/>
        </p:nvSpPr>
        <p:spPr>
          <a:xfrm>
            <a:off x="5900237" y="2865512"/>
            <a:ext cx="10911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1.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14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E8AF486-9644-22D6-412C-0D55C5831FC2}"/>
              </a:ext>
            </a:extLst>
          </p:cNvPr>
          <p:cNvCxnSpPr>
            <a:cxnSpLocks/>
          </p:cNvCxnSpPr>
          <p:nvPr/>
        </p:nvCxnSpPr>
        <p:spPr>
          <a:xfrm>
            <a:off x="5922874" y="3152811"/>
            <a:ext cx="128903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1A4A160B-A287-B84F-7579-7633380CDFC4}"/>
              </a:ext>
            </a:extLst>
          </p:cNvPr>
          <p:cNvSpPr/>
          <p:nvPr/>
        </p:nvSpPr>
        <p:spPr>
          <a:xfrm>
            <a:off x="7235404" y="2865512"/>
            <a:ext cx="789371" cy="57687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1800" b="1"/>
              <a:t>Buffer</a:t>
            </a:r>
            <a:endParaRPr lang="en-US" sz="1800" b="1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5F300C1-A2DB-FE03-EBF5-E93FC5042CE1}"/>
              </a:ext>
            </a:extLst>
          </p:cNvPr>
          <p:cNvCxnSpPr>
            <a:cxnSpLocks/>
          </p:cNvCxnSpPr>
          <p:nvPr/>
        </p:nvCxnSpPr>
        <p:spPr>
          <a:xfrm>
            <a:off x="8024775" y="3149854"/>
            <a:ext cx="1720453" cy="2957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851D9B0-C9AB-8879-26FF-E24F471210E8}"/>
              </a:ext>
            </a:extLst>
          </p:cNvPr>
          <p:cNvCxnSpPr>
            <a:cxnSpLocks/>
          </p:cNvCxnSpPr>
          <p:nvPr/>
        </p:nvCxnSpPr>
        <p:spPr>
          <a:xfrm>
            <a:off x="5888148" y="3700852"/>
            <a:ext cx="1466761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D748FC8-DE04-050D-A6E7-9AC0F91E48FC}"/>
              </a:ext>
            </a:extLst>
          </p:cNvPr>
          <p:cNvSpPr txBox="1"/>
          <p:nvPr/>
        </p:nvSpPr>
        <p:spPr>
          <a:xfrm>
            <a:off x="5912441" y="3421896"/>
            <a:ext cx="931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2.COL</a:t>
            </a:r>
            <a:endParaRPr lang="en-US" sz="140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5C20806-C44D-299F-9385-77F699E7F300}"/>
              </a:ext>
            </a:extLst>
          </p:cNvPr>
          <p:cNvCxnSpPr>
            <a:cxnSpLocks/>
          </p:cNvCxnSpPr>
          <p:nvPr/>
        </p:nvCxnSpPr>
        <p:spPr>
          <a:xfrm>
            <a:off x="5888761" y="4287585"/>
            <a:ext cx="146614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666C11C-0221-8906-6C98-E30B093F80E4}"/>
              </a:ext>
            </a:extLst>
          </p:cNvPr>
          <p:cNvSpPr txBox="1"/>
          <p:nvPr/>
        </p:nvSpPr>
        <p:spPr>
          <a:xfrm>
            <a:off x="5913053" y="3958389"/>
            <a:ext cx="1155129" cy="356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4.CRS</a:t>
            </a:r>
            <a:endParaRPr lang="en-US" sz="140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0BF2474-C4C7-0EC5-1A0A-5F619D47AF90}"/>
              </a:ext>
            </a:extLst>
          </p:cNvPr>
          <p:cNvCxnSpPr>
            <a:cxnSpLocks/>
            <a:stCxn id="50" idx="1"/>
          </p:cNvCxnSpPr>
          <p:nvPr/>
        </p:nvCxnSpPr>
        <p:spPr>
          <a:xfrm>
            <a:off x="5926007" y="4872542"/>
            <a:ext cx="3819221" cy="20387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3AEBD8A-1A59-748D-DF24-CDF66DCCA226}"/>
              </a:ext>
            </a:extLst>
          </p:cNvPr>
          <p:cNvSpPr txBox="1"/>
          <p:nvPr/>
        </p:nvSpPr>
        <p:spPr>
          <a:xfrm>
            <a:off x="5926007" y="4573229"/>
            <a:ext cx="2402385" cy="59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7.</a:t>
            </a:r>
            <a:r>
              <a:rPr lang="en-US" sz="1400" b="1">
                <a:latin typeface="Courier New" panose="02070309020205020404" pitchFamily="49" charset="0"/>
                <a:cs typeface="Courier New" panose="02070309020205020404" pitchFamily="49" charset="0"/>
              </a:rPr>
              <a:t>SYNC</a:t>
            </a:r>
            <a:endParaRPr lang="en-DE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(updated Ts)</a:t>
            </a:r>
            <a:endParaRPr lang="en-US" sz="140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33F6D5FA-AD71-C5ED-23BD-EA9406E2FD60}"/>
              </a:ext>
            </a:extLst>
          </p:cNvPr>
          <p:cNvCxnSpPr>
            <a:cxnSpLocks/>
          </p:cNvCxnSpPr>
          <p:nvPr/>
        </p:nvCxnSpPr>
        <p:spPr>
          <a:xfrm>
            <a:off x="7906944" y="4287981"/>
            <a:ext cx="1838284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2240BA9-D9D6-E182-F1C2-3E72A616BD5C}"/>
              </a:ext>
            </a:extLst>
          </p:cNvPr>
          <p:cNvSpPr txBox="1"/>
          <p:nvPr/>
        </p:nvSpPr>
        <p:spPr>
          <a:xfrm>
            <a:off x="8187909" y="4009025"/>
            <a:ext cx="11086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5.COMMIT</a:t>
            </a:r>
            <a:endParaRPr 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0B57F87-82C8-C651-63C3-260F44B30225}"/>
                  </a:ext>
                </a:extLst>
              </p:cNvPr>
              <p:cNvSpPr txBox="1"/>
              <p:nvPr/>
            </p:nvSpPr>
            <p:spPr>
              <a:xfrm rot="997081">
                <a:off x="9894289" y="4801427"/>
                <a:ext cx="1795684" cy="7117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DE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  SYNC(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sz="1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DE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en-DE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7.retransmitted</a:t>
                </a:r>
                <a:endParaRPr lang="en-US" sz="1400" b="1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0B57F87-82C8-C651-63C3-260F44B30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97081">
                <a:off x="9894289" y="4801427"/>
                <a:ext cx="1795684" cy="711733"/>
              </a:xfrm>
              <a:prstGeom prst="rect">
                <a:avLst/>
              </a:prstGeom>
              <a:blipFill>
                <a:blip r:embed="rId8"/>
                <a:stretch>
                  <a:fillRect l="-1577" b="-40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284D3BD0-7961-9FCC-327A-56FBEB5E8873}"/>
              </a:ext>
            </a:extLst>
          </p:cNvPr>
          <p:cNvSpPr txBox="1"/>
          <p:nvPr/>
        </p:nvSpPr>
        <p:spPr>
          <a:xfrm>
            <a:off x="7858020" y="3432163"/>
            <a:ext cx="9311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trigger</a:t>
            </a:r>
            <a:endParaRPr lang="en-US" sz="1400"/>
          </a:p>
        </p:txBody>
      </p:sp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349CB42A-A85C-4000-B588-031F81CD9ADB}"/>
              </a:ext>
            </a:extLst>
          </p:cNvPr>
          <p:cNvSpPr/>
          <p:nvPr/>
        </p:nvSpPr>
        <p:spPr bwMode="auto">
          <a:xfrm>
            <a:off x="10641777" y="4798080"/>
            <a:ext cx="428147" cy="448311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ED1B2E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5C2D97-9366-249E-8D07-9C5A4D9CD046}"/>
              </a:ext>
            </a:extLst>
          </p:cNvPr>
          <p:cNvSpPr txBox="1"/>
          <p:nvPr/>
        </p:nvSpPr>
        <p:spPr>
          <a:xfrm>
            <a:off x="5914753" y="4218223"/>
            <a:ext cx="1155129" cy="391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DE" sz="1400" b="1">
                <a:latin typeface="Courier New" panose="02070309020205020404" pitchFamily="49" charset="0"/>
                <a:cs typeface="Courier New" panose="02070309020205020404" pitchFamily="49" charset="0"/>
              </a:rPr>
              <a:t>6.release</a:t>
            </a:r>
            <a:endParaRPr lang="en-US" sz="14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CB328A9-FE6B-2241-4A2D-553F66AE16B7}"/>
              </a:ext>
            </a:extLst>
          </p:cNvPr>
          <p:cNvCxnSpPr>
            <a:cxnSpLocks/>
          </p:cNvCxnSpPr>
          <p:nvPr/>
        </p:nvCxnSpPr>
        <p:spPr>
          <a:xfrm>
            <a:off x="9784524" y="5403239"/>
            <a:ext cx="1877258" cy="590394"/>
          </a:xfrm>
          <a:prstGeom prst="straightConnector1">
            <a:avLst/>
          </a:prstGeom>
          <a:ln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A39513-A689-F68E-179F-A4FCB2576C84}"/>
                  </a:ext>
                </a:extLst>
              </p:cNvPr>
              <p:cNvSpPr txBox="1"/>
              <p:nvPr/>
            </p:nvSpPr>
            <p:spPr>
              <a:xfrm rot="997081">
                <a:off x="9982010" y="5415953"/>
                <a:ext cx="1640706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FOLLOWUP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DE" sz="16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sub>
                    </m:sSub>
                  </m:oMath>
                </a14:m>
                <a:r>
                  <a:rPr lang="en-US" sz="1400" b="1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A39513-A689-F68E-179F-A4FCB2576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997081">
                <a:off x="9982010" y="5415953"/>
                <a:ext cx="1640706" cy="332912"/>
              </a:xfrm>
              <a:prstGeom prst="rect">
                <a:avLst/>
              </a:prstGeom>
              <a:blipFill>
                <a:blip r:embed="rId9"/>
                <a:stretch>
                  <a:fillRect l="-2190" b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49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0" grpId="0"/>
      <p:bldP spid="45" grpId="0"/>
      <p:bldP spid="47" grpId="0"/>
      <p:bldP spid="50" grpId="0"/>
      <p:bldP spid="52" grpId="0"/>
      <p:bldP spid="59" grpId="0"/>
      <p:bldP spid="68" grpId="0"/>
      <p:bldP spid="35" grpId="0" animBg="1"/>
      <p:bldP spid="43" grpId="0"/>
      <p:bldP spid="1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B1491BB-BE32-E37B-1C67-54586C2E54D7}"/>
              </a:ext>
            </a:extLst>
          </p:cNvPr>
          <p:cNvGrpSpPr/>
          <p:nvPr/>
        </p:nvGrpSpPr>
        <p:grpSpPr>
          <a:xfrm>
            <a:off x="487549" y="4793678"/>
            <a:ext cx="7944032" cy="1221224"/>
            <a:chOff x="452937" y="5048907"/>
            <a:chExt cx="7944032" cy="122122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1D29C57-DA8A-21EC-10F4-25C9F5F40021}"/>
                </a:ext>
              </a:extLst>
            </p:cNvPr>
            <p:cNvGrpSpPr/>
            <p:nvPr/>
          </p:nvGrpSpPr>
          <p:grpSpPr>
            <a:xfrm>
              <a:off x="452937" y="5048907"/>
              <a:ext cx="7944032" cy="1221222"/>
              <a:chOff x="755777" y="4580408"/>
              <a:chExt cx="10099040" cy="1531434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14D93A2-BE02-2147-70EA-0548E966F5B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7210"/>
              <a:stretch/>
            </p:blipFill>
            <p:spPr>
              <a:xfrm>
                <a:off x="755777" y="4580408"/>
                <a:ext cx="10099040" cy="1531434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1" name="Rounded Rectangle 4">
                <a:extLst>
                  <a:ext uri="{FF2B5EF4-FFF2-40B4-BE49-F238E27FC236}">
                    <a16:creationId xmlns:a16="http://schemas.microsoft.com/office/drawing/2014/main" id="{D2E526B1-91E9-8292-ABEE-7CC07858B52B}"/>
                  </a:ext>
                </a:extLst>
              </p:cNvPr>
              <p:cNvSpPr/>
              <p:nvPr/>
            </p:nvSpPr>
            <p:spPr bwMode="auto">
              <a:xfrm rot="5400000">
                <a:off x="8180614" y="4406784"/>
                <a:ext cx="367356" cy="1116171"/>
              </a:xfrm>
              <a:prstGeom prst="roundRect">
                <a:avLst/>
              </a:prstGeom>
              <a:solidFill>
                <a:srgbClr val="FF0000">
                  <a:alpha val="1176"/>
                </a:srgbClr>
              </a:solidFill>
              <a:ln w="28575" algn="ctr">
                <a:solidFill>
                  <a:srgbClr val="0070C0"/>
                </a:solidFill>
                <a:round/>
                <a:headEnd/>
                <a:tailEnd/>
              </a:ln>
              <a:effectLst>
                <a:outerShdw blurRad="38100" dist="38100" dir="2700000" algn="tl" rotWithShape="0">
                  <a:schemeClr val="bg1">
                    <a:lumMod val="75000"/>
                  </a:schemeClr>
                </a:outerShdw>
              </a:effectLst>
            </p:spPr>
            <p:txBody>
              <a:bodyPr lIns="35991" tIns="0" rIns="35991" bIns="0" rtlCol="0" anchor="t" anchorCtr="0"/>
              <a:lstStyle/>
              <a:p>
                <a:pPr marL="1202039" lvl="2" indent="-287914" algn="ctr">
                  <a:spcBef>
                    <a:spcPct val="30000"/>
                  </a:spcBef>
                  <a:buClr>
                    <a:srgbClr val="C00000"/>
                  </a:buClr>
                  <a:buSzPct val="75000"/>
                  <a:buFont typeface="Wingdings" pitchFamily="2" charset="2"/>
                  <a:buChar char="n"/>
                </a:pPr>
                <a:endParaRPr lang="en-US" sz="16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2" name="Rounded Rectangle 4">
              <a:extLst>
                <a:ext uri="{FF2B5EF4-FFF2-40B4-BE49-F238E27FC236}">
                  <a16:creationId xmlns:a16="http://schemas.microsoft.com/office/drawing/2014/main" id="{0E100B29-B0D2-9EEC-B8D3-A677A3CE4A63}"/>
                </a:ext>
              </a:extLst>
            </p:cNvPr>
            <p:cNvSpPr/>
            <p:nvPr/>
          </p:nvSpPr>
          <p:spPr bwMode="auto">
            <a:xfrm rot="5400000">
              <a:off x="4945501" y="5417947"/>
              <a:ext cx="665256" cy="103911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1202039" lvl="2" indent="-287914" algn="ctr">
                <a:spcBef>
                  <a:spcPct val="30000"/>
                </a:spcBef>
                <a:buClr>
                  <a:srgbClr val="C00000"/>
                </a:buClr>
                <a:buSzPct val="75000"/>
                <a:buFont typeface="Wingdings" pitchFamily="2" charset="2"/>
                <a:buChar char="n"/>
              </a:pPr>
              <a:endParaRPr lang="en-US" sz="1600">
                <a:solidFill>
                  <a:srgbClr val="000000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84146A-D02B-4DA4-933D-A2FF3772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sz="3200"/>
              <a:t>LAN8670/1/2 Configuration for MAC Timestamping</a:t>
            </a:r>
            <a:endParaRPr lang="en-US" sz="320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CFD2C3C-E75F-DBA4-0B5B-B0D7B775F6A7}"/>
              </a:ext>
            </a:extLst>
          </p:cNvPr>
          <p:cNvSpPr/>
          <p:nvPr/>
        </p:nvSpPr>
        <p:spPr>
          <a:xfrm>
            <a:off x="7417135" y="1352850"/>
            <a:ext cx="4557151" cy="2688306"/>
          </a:xfrm>
          <a:prstGeom prst="wedgeRoundRectCallout">
            <a:avLst>
              <a:gd name="adj1" fmla="val 27857"/>
              <a:gd name="adj2" fmla="val -15280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r>
              <a:rPr lang="en-DE" sz="1800"/>
              <a:t>In case of a </a:t>
            </a:r>
            <a:r>
              <a:rPr lang="en-US" sz="1800"/>
              <a:t>match</a:t>
            </a:r>
            <a:r>
              <a:rPr lang="en-DE" sz="1800"/>
              <a:t>,</a:t>
            </a:r>
            <a:r>
              <a:rPr lang="en-US" sz="1800"/>
              <a:t> the </a:t>
            </a:r>
            <a:r>
              <a:rPr lang="en-DE" sz="1800"/>
              <a:t>PLCA module </a:t>
            </a:r>
            <a:r>
              <a:rPr lang="en-US" sz="1800"/>
              <a:t>will be t</a:t>
            </a:r>
            <a:r>
              <a:rPr lang="en-DE" sz="1800" err="1"/>
              <a:t>riggered</a:t>
            </a:r>
            <a:r>
              <a:rPr lang="en-DE" sz="1800"/>
              <a:t> to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800"/>
              <a:t>signal a </a:t>
            </a:r>
            <a:r>
              <a:rPr lang="en-DE" sz="1800" b="1"/>
              <a:t>logical collision </a:t>
            </a:r>
            <a:r>
              <a:rPr lang="en-DE" sz="1800"/>
              <a:t>to the MAC,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800" b="1"/>
              <a:t>CRS</a:t>
            </a:r>
            <a:r>
              <a:rPr lang="en-DE" sz="1800"/>
              <a:t> is asserted until the next TO arrives,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DE" sz="1800"/>
              <a:t>and retransmitted SYNC can </a:t>
            </a:r>
            <a:r>
              <a:rPr lang="en-DE" sz="1800" b="1"/>
              <a:t>bypass the PLCA buffer</a:t>
            </a:r>
            <a:r>
              <a:rPr lang="en-DE" sz="1800"/>
              <a:t>.</a:t>
            </a:r>
            <a:endParaRPr lang="en-DE" sz="1800">
              <a:sym typeface="Wingdings" panose="05000000000000000000" pitchFamily="2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65AA0-3BC0-237C-4033-84A2427059EB}"/>
              </a:ext>
            </a:extLst>
          </p:cNvPr>
          <p:cNvSpPr txBox="1"/>
          <p:nvPr/>
        </p:nvSpPr>
        <p:spPr>
          <a:xfrm>
            <a:off x="352610" y="843098"/>
            <a:ext cx="3658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DE" sz="2400" b="1">
                <a:solidFill>
                  <a:schemeClr val="bg2"/>
                </a:solidFill>
                <a:sym typeface="Wingdings" panose="05000000000000000000" pitchFamily="2" charset="2"/>
              </a:rPr>
              <a:t>“One</a:t>
            </a:r>
            <a:r>
              <a:rPr lang="en-US" sz="2400" b="1">
                <a:solidFill>
                  <a:schemeClr val="bg2"/>
                </a:solidFill>
                <a:sym typeface="Wingdings" panose="05000000000000000000" pitchFamily="2" charset="2"/>
              </a:rPr>
              <a:t>-step-approach</a:t>
            </a:r>
            <a:r>
              <a:rPr lang="en-DE" sz="2400" b="1">
                <a:solidFill>
                  <a:schemeClr val="bg2"/>
                </a:solidFill>
                <a:sym typeface="Wingdings" panose="05000000000000000000" pitchFamily="2" charset="2"/>
              </a:rPr>
              <a:t>”</a:t>
            </a:r>
            <a:endParaRPr lang="en-US" sz="1800" b="1">
              <a:solidFill>
                <a:schemeClr val="bg2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5549A43-92F3-9608-AD5E-A4814E550195}"/>
              </a:ext>
            </a:extLst>
          </p:cNvPr>
          <p:cNvGrpSpPr/>
          <p:nvPr/>
        </p:nvGrpSpPr>
        <p:grpSpPr>
          <a:xfrm>
            <a:off x="3861320" y="2991721"/>
            <a:ext cx="3008064" cy="1044616"/>
            <a:chOff x="7069918" y="3174103"/>
            <a:chExt cx="4695361" cy="1044616"/>
          </a:xfrm>
        </p:grpSpPr>
        <p:sp>
          <p:nvSpPr>
            <p:cNvPr id="5" name="Callout: Line with No Border 4">
              <a:extLst>
                <a:ext uri="{FF2B5EF4-FFF2-40B4-BE49-F238E27FC236}">
                  <a16:creationId xmlns:a16="http://schemas.microsoft.com/office/drawing/2014/main" id="{9077F91A-5772-0DAB-9C24-18559D0A64F7}"/>
                </a:ext>
              </a:extLst>
            </p:cNvPr>
            <p:cNvSpPr/>
            <p:nvPr/>
          </p:nvSpPr>
          <p:spPr>
            <a:xfrm>
              <a:off x="10468577" y="3490225"/>
              <a:ext cx="838190" cy="573457"/>
            </a:xfrm>
            <a:prstGeom prst="callout1">
              <a:avLst>
                <a:gd name="adj1" fmla="val 125265"/>
                <a:gd name="adj2" fmla="val -84404"/>
                <a:gd name="adj3" fmla="val 283105"/>
                <a:gd name="adj4" fmla="val 74940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6" name="Speech Bubble: Rectangle with Corners Rounded 15">
              <a:extLst>
                <a:ext uri="{FF2B5EF4-FFF2-40B4-BE49-F238E27FC236}">
                  <a16:creationId xmlns:a16="http://schemas.microsoft.com/office/drawing/2014/main" id="{62CAB5A5-067B-A462-00DF-EA34B82FD891}"/>
                </a:ext>
              </a:extLst>
            </p:cNvPr>
            <p:cNvSpPr/>
            <p:nvPr/>
          </p:nvSpPr>
          <p:spPr>
            <a:xfrm>
              <a:off x="7069918" y="3174103"/>
              <a:ext cx="4695361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800" b="1"/>
                <a:t>MACTXTSE</a:t>
              </a:r>
              <a:r>
                <a:rPr lang="en-DE" sz="1800" b="1"/>
                <a:t> =1  </a:t>
              </a:r>
            </a:p>
            <a:p>
              <a:pPr>
                <a:lnSpc>
                  <a:spcPct val="150000"/>
                </a:lnSpc>
              </a:pPr>
              <a:r>
                <a:rPr lang="en-DE" sz="1800" b="1"/>
                <a:t>(</a:t>
              </a:r>
              <a:r>
                <a:rPr lang="en-US" sz="1800"/>
                <a:t>MAC </a:t>
              </a:r>
              <a:r>
                <a:rPr lang="en-DE" sz="1800"/>
                <a:t>TX</a:t>
              </a:r>
              <a:r>
                <a:rPr lang="en-US" sz="1800"/>
                <a:t> Time Stamp</a:t>
              </a:r>
              <a:r>
                <a:rPr lang="en-DE" sz="1800"/>
                <a:t> </a:t>
              </a:r>
              <a:r>
                <a:rPr lang="en-US" sz="1800"/>
                <a:t>Enable</a:t>
              </a:r>
              <a:r>
                <a:rPr lang="en-DE" sz="1800" b="1"/>
                <a:t>)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04B85D2-4191-5D1E-F9E6-40D865DB4786}"/>
              </a:ext>
            </a:extLst>
          </p:cNvPr>
          <p:cNvGrpSpPr/>
          <p:nvPr/>
        </p:nvGrpSpPr>
        <p:grpSpPr>
          <a:xfrm>
            <a:off x="487549" y="2648489"/>
            <a:ext cx="2844227" cy="1392667"/>
            <a:chOff x="7066681" y="1558399"/>
            <a:chExt cx="4695361" cy="1044616"/>
          </a:xfrm>
        </p:grpSpPr>
        <p:sp>
          <p:nvSpPr>
            <p:cNvPr id="18" name="Callout: Line with No Border 17">
              <a:extLst>
                <a:ext uri="{FF2B5EF4-FFF2-40B4-BE49-F238E27FC236}">
                  <a16:creationId xmlns:a16="http://schemas.microsoft.com/office/drawing/2014/main" id="{AA07CD33-2A7A-7B90-3C14-E972D296B27E}"/>
                </a:ext>
              </a:extLst>
            </p:cNvPr>
            <p:cNvSpPr/>
            <p:nvPr/>
          </p:nvSpPr>
          <p:spPr>
            <a:xfrm>
              <a:off x="10465340" y="1874521"/>
              <a:ext cx="838190" cy="573457"/>
            </a:xfrm>
            <a:prstGeom prst="callout1">
              <a:avLst>
                <a:gd name="adj1" fmla="val 108849"/>
                <a:gd name="adj2" fmla="val 132088"/>
                <a:gd name="adj3" fmla="val 301953"/>
                <a:gd name="adj4" fmla="val 450442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800" b="1"/>
            </a:p>
          </p:txBody>
        </p:sp>
        <p:sp>
          <p:nvSpPr>
            <p:cNvPr id="17" name="Speech Bubble: Rectangle with Corners Rounded 16">
              <a:extLst>
                <a:ext uri="{FF2B5EF4-FFF2-40B4-BE49-F238E27FC236}">
                  <a16:creationId xmlns:a16="http://schemas.microsoft.com/office/drawing/2014/main" id="{34DE9039-603D-0AAA-C2CF-2A022FEC6C2A}"/>
                </a:ext>
              </a:extLst>
            </p:cNvPr>
            <p:cNvSpPr/>
            <p:nvPr/>
          </p:nvSpPr>
          <p:spPr>
            <a:xfrm>
              <a:off x="7066681" y="1558399"/>
              <a:ext cx="4695361" cy="1044616"/>
            </a:xfrm>
            <a:prstGeom prst="wedgeRoundRectCallout">
              <a:avLst>
                <a:gd name="adj1" fmla="val 18408"/>
                <a:gd name="adj2" fmla="val 31453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DE" sz="1800"/>
                <a:t>Configure </a:t>
              </a:r>
              <a:r>
                <a:rPr lang="en-DE" sz="1800" b="1"/>
                <a:t>Pattern Matcher </a:t>
              </a:r>
            </a:p>
            <a:p>
              <a:pPr>
                <a:lnSpc>
                  <a:spcPct val="150000"/>
                </a:lnSpc>
              </a:pPr>
              <a:r>
                <a:rPr lang="en-DE" sz="1800"/>
                <a:t>to detect TX SYNC packets </a:t>
              </a:r>
            </a:p>
            <a:p>
              <a:pPr>
                <a:lnSpc>
                  <a:spcPct val="150000"/>
                </a:lnSpc>
              </a:pPr>
              <a:r>
                <a:rPr lang="en-DE" sz="1800"/>
                <a:t>(or other PTP message)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833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70540D-EC30-B4A8-F0DF-403E7AD9C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E6F4A2-FB8C-A1C1-9A63-F5A7D4DB188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de-DE"/>
              <a:t>LAN8670/1/2 and LAN8650/1 Review</a:t>
            </a:r>
          </a:p>
          <a:p>
            <a:r>
              <a:rPr lang="de-DE"/>
              <a:t>Features </a:t>
            </a:r>
            <a:r>
              <a:rPr lang="de-DE" err="1"/>
              <a:t>to</a:t>
            </a:r>
            <a:r>
              <a:rPr lang="de-DE"/>
              <a:t> Tune </a:t>
            </a:r>
            <a:r>
              <a:rPr lang="de-DE" err="1"/>
              <a:t>Bandwidth</a:t>
            </a:r>
            <a:endParaRPr lang="de-DE"/>
          </a:p>
          <a:p>
            <a:r>
              <a:rPr lang="de-DE" err="1"/>
              <a:t>Supporting</a:t>
            </a:r>
            <a:r>
              <a:rPr lang="de-DE"/>
              <a:t> Time Sensitive Networking</a:t>
            </a:r>
          </a:p>
          <a:p>
            <a:r>
              <a:rPr lang="de-DE"/>
              <a:t>Wake/Sleep</a:t>
            </a: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7700E6F0-B5D5-F635-147C-7511A0FA72C6}"/>
              </a:ext>
            </a:extLst>
          </p:cNvPr>
          <p:cNvSpPr/>
          <p:nvPr/>
        </p:nvSpPr>
        <p:spPr bwMode="auto">
          <a:xfrm rot="5400000">
            <a:off x="3851894" y="-961697"/>
            <a:ext cx="633619" cy="7627850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2">
                <a:lumMod val="75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lvl="2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99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A96B4EC1-FC0D-206A-8B38-C5208BD68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</p:spPr>
        <p:txBody>
          <a:bodyPr/>
          <a:lstStyle/>
          <a:p>
            <a:r>
              <a:rPr lang="en-DE"/>
              <a:t>Wake / Sleep</a:t>
            </a:r>
            <a:br>
              <a:rPr lang="en-DE"/>
            </a:b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1D037C-12CB-4135-BA84-2D194C51ECA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014" y="922338"/>
            <a:ext cx="6337732" cy="5581294"/>
          </a:xfrm>
        </p:spPr>
        <p:txBody>
          <a:bodyPr>
            <a:normAutofit fontScale="70000" lnSpcReduction="20000"/>
          </a:bodyPr>
          <a:lstStyle/>
          <a:p>
            <a:r>
              <a:rPr lang="en-DE"/>
              <a:t>Sleep mode</a:t>
            </a:r>
          </a:p>
          <a:p>
            <a:pPr lvl="1"/>
            <a:r>
              <a:rPr lang="en-DE"/>
              <a:t>Ultra low power consumption (&lt;= </a:t>
            </a:r>
            <a:r>
              <a:rPr lang="el-GR"/>
              <a:t>140 μ</a:t>
            </a:r>
            <a:r>
              <a:rPr lang="en-DE"/>
              <a:t>W)</a:t>
            </a:r>
          </a:p>
          <a:p>
            <a:pPr lvl="1"/>
            <a:r>
              <a:rPr lang="en-DE"/>
              <a:t>Just constant 3.3V</a:t>
            </a:r>
            <a:r>
              <a:rPr lang="en-US"/>
              <a:t> </a:t>
            </a:r>
            <a:r>
              <a:rPr lang="en-DE"/>
              <a:t>power </a:t>
            </a:r>
            <a:r>
              <a:rPr lang="en-US"/>
              <a:t>supply </a:t>
            </a:r>
            <a:r>
              <a:rPr lang="en-DE"/>
              <a:t> during sleep, but no switched power</a:t>
            </a:r>
          </a:p>
          <a:p>
            <a:pPr lvl="1"/>
            <a:r>
              <a:rPr lang="en-DE"/>
              <a:t>Go to sleep via command from host</a:t>
            </a:r>
          </a:p>
          <a:p>
            <a:pPr lvl="1"/>
            <a:endParaRPr lang="en-DE"/>
          </a:p>
          <a:p>
            <a:r>
              <a:rPr lang="en-DE"/>
              <a:t>Wake from...</a:t>
            </a:r>
          </a:p>
          <a:p>
            <a:pPr lvl="1"/>
            <a:r>
              <a:rPr lang="en-DE"/>
              <a:t>Remote network </a:t>
            </a:r>
            <a:r>
              <a:rPr lang="de-DE"/>
              <a:t>Wake-Up Tone (WUT)</a:t>
            </a:r>
            <a:r>
              <a:rPr lang="en-DE"/>
              <a:t> (MDI)</a:t>
            </a:r>
          </a:p>
          <a:p>
            <a:pPr lvl="1"/>
            <a:r>
              <a:rPr lang="en-DE"/>
              <a:t>Local event (WAKE_IN), e.g. user input</a:t>
            </a:r>
          </a:p>
          <a:p>
            <a:pPr lvl="1"/>
            <a:endParaRPr lang="en-DE"/>
          </a:p>
          <a:p>
            <a:r>
              <a:rPr lang="en-DE"/>
              <a:t>Activate switched power </a:t>
            </a:r>
          </a:p>
          <a:p>
            <a:pPr lvl="1"/>
            <a:r>
              <a:rPr lang="en-US"/>
              <a:t>INH </a:t>
            </a:r>
            <a:r>
              <a:rPr lang="en-DE"/>
              <a:t>pin </a:t>
            </a:r>
            <a:r>
              <a:rPr lang="en-US"/>
              <a:t>output </a:t>
            </a:r>
            <a:r>
              <a:rPr lang="en-DE"/>
              <a:t>to</a:t>
            </a:r>
            <a:r>
              <a:rPr lang="en-US"/>
              <a:t> enable/disable </a:t>
            </a:r>
            <a:r>
              <a:rPr lang="en-DE"/>
              <a:t>power</a:t>
            </a:r>
            <a:r>
              <a:rPr lang="en-US"/>
              <a:t> supply</a:t>
            </a:r>
            <a:endParaRPr lang="en-DE"/>
          </a:p>
          <a:p>
            <a:pPr lvl="1"/>
            <a:endParaRPr lang="en-DE"/>
          </a:p>
          <a:p>
            <a:r>
              <a:rPr lang="en-DE"/>
              <a:t>Forward wake signal </a:t>
            </a:r>
          </a:p>
          <a:p>
            <a:pPr lvl="1"/>
            <a:r>
              <a:rPr lang="en-DE"/>
              <a:t>Via WAKE_OUT to wake other local devices</a:t>
            </a:r>
          </a:p>
          <a:p>
            <a:pPr lvl="1"/>
            <a:r>
              <a:rPr lang="en-US"/>
              <a:t>Via WAKE_OUT to inform MCU that network re-assumed operation</a:t>
            </a:r>
          </a:p>
          <a:p>
            <a:pPr lvl="1"/>
            <a:r>
              <a:rPr lang="en-US"/>
              <a:t>Via activity* on MDI to wake other devices</a:t>
            </a:r>
            <a:endParaRPr lang="en-DE"/>
          </a:p>
        </p:txBody>
      </p:sp>
      <p:sp>
        <p:nvSpPr>
          <p:cNvPr id="23" name="Speech Bubble: Rectangle with Corners Rounded 22">
            <a:extLst>
              <a:ext uri="{FF2B5EF4-FFF2-40B4-BE49-F238E27FC236}">
                <a16:creationId xmlns:a16="http://schemas.microsoft.com/office/drawing/2014/main" id="{004B7170-E750-7426-3301-DC35E8500065}"/>
              </a:ext>
            </a:extLst>
          </p:cNvPr>
          <p:cNvSpPr/>
          <p:nvPr/>
        </p:nvSpPr>
        <p:spPr>
          <a:xfrm>
            <a:off x="8739545" y="322517"/>
            <a:ext cx="3152922" cy="1218359"/>
          </a:xfrm>
          <a:prstGeom prst="wedgeRoundRectCallout">
            <a:avLst>
              <a:gd name="adj1" fmla="val -23065"/>
              <a:gd name="adj2" fmla="val -9679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 </a:t>
            </a:r>
            <a:r>
              <a:rPr kumimoji="0" lang="de-DE" sz="18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required</a:t>
            </a:r>
            <a:r>
              <a:rPr kumimoji="0" lang="de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TC 10: </a:t>
            </a:r>
            <a:r>
              <a:rPr kumimoji="0" lang="en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Enables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Wake/Sleep on small MCUs without external components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B88B0D-4637-A16A-F4A0-5CE34A14DE43}"/>
              </a:ext>
            </a:extLst>
          </p:cNvPr>
          <p:cNvSpPr txBox="1"/>
          <p:nvPr/>
        </p:nvSpPr>
        <p:spPr>
          <a:xfrm>
            <a:off x="6475857" y="5187654"/>
            <a:ext cx="52795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*LAN8670/1/1 Rev C and LAN8650/1 Rev B: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MDI </a:t>
            </a: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wake </a:t>
            </a:r>
            <a:r>
              <a:rPr lang="en-US" sz="1200" u="sng" noProof="0">
                <a:solidFill>
                  <a:srgbClr val="0A0B0F"/>
                </a:solidFill>
                <a:latin typeface="OpenSans"/>
              </a:rPr>
              <a:t>signal and detection</a:t>
            </a:r>
            <a:r>
              <a:rPr kumimoji="0" lang="en-US" sz="1200" b="0" i="0" u="sng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 </a:t>
            </a:r>
            <a:r>
              <a:rPr kumimoji="0" lang="en-DE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does not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meet the OPEN Alliance</a:t>
            </a:r>
            <a:r>
              <a:rPr kumimoji="0" lang="en-DE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10BASE-T1S Sleep/Wake-up Specification, version 1.0.</a:t>
            </a:r>
            <a:endParaRPr lang="de-DE" sz="1200" noProof="0">
              <a:solidFill>
                <a:srgbClr val="0A0B0F"/>
              </a:solidFill>
              <a:latin typeface="OpenSans"/>
            </a:endParaRPr>
          </a:p>
          <a:p>
            <a:pPr marL="0" marR="0" lvl="0" indent="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Device</a:t>
            </a:r>
            <a:r>
              <a:rPr kumimoji="0" lang="de-DE" sz="1200" b="0" i="0" u="none" strike="noStrike" kern="1200" cap="none" spc="0" normalizeH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 will </a:t>
            </a:r>
            <a:r>
              <a:rPr kumimoji="0" lang="de-DE" sz="1200" b="0" i="0" u="none" strike="noStrike" kern="1200" cap="none" spc="0" normalizeH="0" err="1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wake</a:t>
            </a:r>
            <a:r>
              <a:rPr kumimoji="0" lang="de-DE" sz="1200" b="0" i="0" u="none" strike="noStrike" kern="1200" cap="none" spc="0" normalizeH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 on </a:t>
            </a:r>
            <a:r>
              <a:rPr kumimoji="0" lang="de-DE" sz="1200" b="0" i="0" u="none" strike="noStrike" kern="1200" cap="none" spc="0" normalizeH="0" err="1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any</a:t>
            </a:r>
            <a:r>
              <a:rPr kumimoji="0" lang="de-DE" sz="1200" b="0" i="0" u="none" strike="noStrike" kern="1200" cap="none" spc="0" normalizeH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 a</a:t>
            </a:r>
            <a:r>
              <a:rPr kumimoji="0" lang="en-DE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ctivity on MDI</a:t>
            </a:r>
            <a:r>
              <a:rPr lang="de-DE" sz="1200">
                <a:solidFill>
                  <a:srgbClr val="0A0B0F"/>
                </a:solidFill>
                <a:latin typeface="OpenSans"/>
              </a:rPr>
              <a:t>,</a:t>
            </a:r>
            <a:r>
              <a:rPr kumimoji="0" lang="en-DE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 not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 just</a:t>
            </a:r>
            <a:r>
              <a:rPr kumimoji="0" lang="en-DE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 Wakeup-messages</a:t>
            </a: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OpenSans"/>
                <a:ea typeface="+mn-ea"/>
                <a:cs typeface="+mn-cs"/>
              </a:rPr>
              <a:t>.</a:t>
            </a:r>
          </a:p>
          <a:p>
            <a:pPr lvl="0">
              <a:defRPr/>
            </a:pPr>
            <a:r>
              <a:rPr lang="de-DE" sz="1200" b="1">
                <a:solidFill>
                  <a:srgbClr val="FF0000"/>
                </a:solidFill>
                <a:latin typeface="OpenSans"/>
              </a:rPr>
              <a:t>LAN8670/1/1 Rev D and LAN8650/1 Rev C</a:t>
            </a:r>
            <a:r>
              <a:rPr lang="de-DE" sz="1200">
                <a:solidFill>
                  <a:srgbClr val="0A0B0F"/>
                </a:solidFill>
                <a:latin typeface="OpenSans"/>
              </a:rPr>
              <a:t>: </a:t>
            </a:r>
            <a:r>
              <a:rPr lang="de-DE" sz="1200" err="1">
                <a:solidFill>
                  <a:srgbClr val="0A0B0F"/>
                </a:solidFill>
                <a:latin typeface="OpenSans"/>
              </a:rPr>
              <a:t>react</a:t>
            </a:r>
            <a:r>
              <a:rPr lang="de-DE" sz="1200">
                <a:solidFill>
                  <a:srgbClr val="0A0B0F"/>
                </a:solidFill>
                <a:latin typeface="OpenSans"/>
              </a:rPr>
              <a:t> </a:t>
            </a:r>
            <a:r>
              <a:rPr lang="de-DE" sz="1200" err="1">
                <a:solidFill>
                  <a:srgbClr val="0A0B0F"/>
                </a:solidFill>
                <a:latin typeface="OpenSans"/>
              </a:rPr>
              <a:t>only</a:t>
            </a:r>
            <a:r>
              <a:rPr lang="de-DE" sz="1200">
                <a:solidFill>
                  <a:srgbClr val="0A0B0F"/>
                </a:solidFill>
                <a:latin typeface="OpenSans"/>
              </a:rPr>
              <a:t> </a:t>
            </a:r>
            <a:r>
              <a:rPr lang="de-DE" sz="1200" err="1">
                <a:solidFill>
                  <a:srgbClr val="0A0B0F"/>
                </a:solidFill>
                <a:latin typeface="OpenSans"/>
              </a:rPr>
              <a:t>to</a:t>
            </a:r>
            <a:r>
              <a:rPr lang="de-DE" sz="1200">
                <a:solidFill>
                  <a:srgbClr val="0A0B0F"/>
                </a:solidFill>
                <a:latin typeface="OpenSans"/>
              </a:rPr>
              <a:t> Wake </a:t>
            </a:r>
            <a:r>
              <a:rPr lang="de-DE" sz="1200" err="1">
                <a:solidFill>
                  <a:srgbClr val="0A0B0F"/>
                </a:solidFill>
                <a:latin typeface="OpenSans"/>
              </a:rPr>
              <a:t>up</a:t>
            </a:r>
            <a:r>
              <a:rPr lang="de-DE" sz="1200">
                <a:solidFill>
                  <a:srgbClr val="0A0B0F"/>
                </a:solidFill>
                <a:latin typeface="OpenSans"/>
              </a:rPr>
              <a:t> Signal </a:t>
            </a:r>
            <a:r>
              <a:rPr lang="de-DE" sz="1200" err="1">
                <a:solidFill>
                  <a:srgbClr val="0A0B0F"/>
                </a:solidFill>
                <a:latin typeface="OpenSans"/>
              </a:rPr>
              <a:t>specified</a:t>
            </a:r>
            <a:r>
              <a:rPr lang="de-DE" sz="1200">
                <a:solidFill>
                  <a:srgbClr val="0A0B0F"/>
                </a:solidFill>
                <a:latin typeface="OpenSans"/>
              </a:rPr>
              <a:t> in </a:t>
            </a:r>
            <a:r>
              <a:rPr lang="en-US" sz="1200">
                <a:solidFill>
                  <a:srgbClr val="0A0B0F"/>
                </a:solidFill>
                <a:latin typeface="OpenSans"/>
              </a:rPr>
              <a:t>OPEN Alliance</a:t>
            </a:r>
            <a:r>
              <a:rPr lang="en-DE" sz="1200">
                <a:solidFill>
                  <a:srgbClr val="0A0B0F"/>
                </a:solidFill>
                <a:latin typeface="OpenSans"/>
              </a:rPr>
              <a:t> </a:t>
            </a:r>
            <a:r>
              <a:rPr lang="en-US" sz="1200">
                <a:solidFill>
                  <a:srgbClr val="0A0B0F"/>
                </a:solidFill>
                <a:latin typeface="OpenSans"/>
              </a:rPr>
              <a:t>10BASE-T1S Sleep/Wake-up Specification, version 1.0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A0B0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2F31918-F47B-08FD-1C72-35E68E53A3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3120" y="1767097"/>
            <a:ext cx="5353050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49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1D3663DC-D035-3193-A986-AE6F4FF1CC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6011" y="1009308"/>
            <a:ext cx="6489924" cy="5102691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15145E-F296-6605-45F2-138E607207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16584" y="630037"/>
            <a:ext cx="4269882" cy="1583140"/>
          </a:xfrm>
        </p:spPr>
        <p:txBody>
          <a:bodyPr/>
          <a:lstStyle/>
          <a:p>
            <a:endParaRPr lang="en-DE" sz="1200"/>
          </a:p>
          <a:p>
            <a:pPr marL="351450" indent="-171450"/>
            <a:r>
              <a:rPr lang="en-DE" sz="1200"/>
              <a:t>VDDA = power </a:t>
            </a:r>
            <a:r>
              <a:rPr lang="en-US" sz="1200" b="0" i="0">
                <a:solidFill>
                  <a:srgbClr val="232629"/>
                </a:solidFill>
                <a:effectLst/>
                <a:latin typeface="-apple-system"/>
              </a:rPr>
              <a:t>supply </a:t>
            </a:r>
            <a:r>
              <a:rPr lang="en-DE" sz="1200" b="0" i="0">
                <a:solidFill>
                  <a:srgbClr val="232629"/>
                </a:solidFill>
                <a:effectLst/>
                <a:latin typeface="-apple-system"/>
              </a:rPr>
              <a:t>voltage for </a:t>
            </a:r>
            <a:r>
              <a:rPr lang="en-DE" sz="1200" b="0" i="0" err="1">
                <a:solidFill>
                  <a:srgbClr val="232629"/>
                </a:solidFill>
                <a:effectLst/>
                <a:latin typeface="-apple-system"/>
              </a:rPr>
              <a:t>analog</a:t>
            </a:r>
            <a:r>
              <a:rPr lang="en-DE" sz="1200" b="0" i="0">
                <a:solidFill>
                  <a:srgbClr val="232629"/>
                </a:solidFill>
                <a:effectLst/>
                <a:latin typeface="-apple-system"/>
              </a:rPr>
              <a:t> parts of the chip</a:t>
            </a:r>
          </a:p>
          <a:p>
            <a:pPr marL="351450" indent="-171450"/>
            <a:r>
              <a:rPr lang="en-DE" sz="1200"/>
              <a:t>VDDP = power </a:t>
            </a:r>
            <a:r>
              <a:rPr lang="en-US" sz="1200" b="0" i="0">
                <a:solidFill>
                  <a:srgbClr val="232629"/>
                </a:solidFill>
                <a:effectLst/>
                <a:latin typeface="-apple-system"/>
              </a:rPr>
              <a:t>supply </a:t>
            </a:r>
            <a:r>
              <a:rPr lang="en-DE" sz="1200" b="0" i="0">
                <a:solidFill>
                  <a:srgbClr val="232629"/>
                </a:solidFill>
                <a:effectLst/>
                <a:latin typeface="-apple-system"/>
              </a:rPr>
              <a:t>voltage for digital parts of the chip</a:t>
            </a:r>
          </a:p>
          <a:p>
            <a:pPr marL="351450" indent="-171450"/>
            <a:r>
              <a:rPr lang="en-DE" sz="1200"/>
              <a:t>VDDAU = uninterruptible </a:t>
            </a:r>
            <a:r>
              <a:rPr lang="en-DE" sz="1200" err="1"/>
              <a:t>analog</a:t>
            </a:r>
            <a:r>
              <a:rPr lang="en-DE" sz="1200"/>
              <a:t> supply voltage </a:t>
            </a:r>
          </a:p>
          <a:p>
            <a:pPr marL="351450" indent="-171450"/>
            <a:r>
              <a:rPr lang="en-DE" sz="1200"/>
              <a:t>VSS = common ground </a:t>
            </a:r>
            <a:r>
              <a:rPr lang="en-US" sz="1200"/>
              <a:t>exposed pad must be connected to the ground plane</a:t>
            </a:r>
            <a:r>
              <a:rPr lang="en-DE" sz="1200"/>
              <a:t> </a:t>
            </a:r>
            <a:r>
              <a:rPr lang="en-US" sz="1200"/>
              <a:t>with a via array.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0C7DB-BC8F-F150-6A4A-614C9134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Simple System without Sleep Mode</a:t>
            </a:r>
            <a:endParaRPr lang="en-US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C6C38FE1-5370-2C0F-BEE5-C689CA67BDDA}"/>
              </a:ext>
            </a:extLst>
          </p:cNvPr>
          <p:cNvSpPr/>
          <p:nvPr/>
        </p:nvSpPr>
        <p:spPr bwMode="auto">
          <a:xfrm rot="5400000">
            <a:off x="3073027" y="2111739"/>
            <a:ext cx="2037516" cy="73332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ED1B2E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marR="0" lvl="2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06075FAA-ACC1-1EA3-6AF0-E5100D83BEDA}"/>
              </a:ext>
            </a:extLst>
          </p:cNvPr>
          <p:cNvSpPr/>
          <p:nvPr/>
        </p:nvSpPr>
        <p:spPr bwMode="auto">
          <a:xfrm rot="16200000">
            <a:off x="4253666" y="2735071"/>
            <a:ext cx="1097338" cy="42683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marR="0" lvl="0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55842515-659F-0D16-B6BC-251C770B25B3}"/>
              </a:ext>
            </a:extLst>
          </p:cNvPr>
          <p:cNvSpPr/>
          <p:nvPr/>
        </p:nvSpPr>
        <p:spPr bwMode="auto">
          <a:xfrm>
            <a:off x="2695433" y="4967812"/>
            <a:ext cx="3092303" cy="1265109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marR="0" lvl="0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8BBFE9B-58F7-123C-916D-6020E740EEF3}"/>
              </a:ext>
            </a:extLst>
          </p:cNvPr>
          <p:cNvGrpSpPr/>
          <p:nvPr/>
        </p:nvGrpSpPr>
        <p:grpSpPr>
          <a:xfrm>
            <a:off x="8556750" y="3262449"/>
            <a:ext cx="3199420" cy="738759"/>
            <a:chOff x="9509541" y="656684"/>
            <a:chExt cx="2595986" cy="366962"/>
          </a:xfrm>
        </p:grpSpPr>
        <p:sp>
          <p:nvSpPr>
            <p:cNvPr id="16" name="Callout: Line with No Border 15">
              <a:extLst>
                <a:ext uri="{FF2B5EF4-FFF2-40B4-BE49-F238E27FC236}">
                  <a16:creationId xmlns:a16="http://schemas.microsoft.com/office/drawing/2014/main" id="{EB7891C7-021C-5F48-90C5-564AD2655C5C}"/>
                </a:ext>
              </a:extLst>
            </p:cNvPr>
            <p:cNvSpPr/>
            <p:nvPr/>
          </p:nvSpPr>
          <p:spPr>
            <a:xfrm>
              <a:off x="10380113" y="768652"/>
              <a:ext cx="723900" cy="177448"/>
            </a:xfrm>
            <a:prstGeom prst="callout1">
              <a:avLst>
                <a:gd name="adj1" fmla="val -15703"/>
                <a:gd name="adj2" fmla="val -118701"/>
                <a:gd name="adj3" fmla="val -24874"/>
                <a:gd name="adj4" fmla="val -453430"/>
              </a:avLst>
            </a:prstGeom>
            <a:noFill/>
            <a:ln w="28575" cap="rnd"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Speech Bubble: Rectangle with Corners Rounded 16">
              <a:extLst>
                <a:ext uri="{FF2B5EF4-FFF2-40B4-BE49-F238E27FC236}">
                  <a16:creationId xmlns:a16="http://schemas.microsoft.com/office/drawing/2014/main" id="{3B8C0592-E0DC-27AA-6434-E15BC150E4A1}"/>
                </a:ext>
              </a:extLst>
            </p:cNvPr>
            <p:cNvSpPr/>
            <p:nvPr/>
          </p:nvSpPr>
          <p:spPr>
            <a:xfrm>
              <a:off x="9509541" y="656684"/>
              <a:ext cx="2595986" cy="366962"/>
            </a:xfrm>
            <a:prstGeom prst="wedgeRoundRectCallout">
              <a:avLst>
                <a:gd name="adj1" fmla="val -6014"/>
                <a:gd name="adj2" fmla="val 1049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VDDAU only needed for wake detection in sleep mode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2A7903-F857-189D-80B6-0A4935A14E1B}"/>
              </a:ext>
            </a:extLst>
          </p:cNvPr>
          <p:cNvGrpSpPr/>
          <p:nvPr/>
        </p:nvGrpSpPr>
        <p:grpSpPr>
          <a:xfrm>
            <a:off x="8556750" y="1925021"/>
            <a:ext cx="3199420" cy="1059252"/>
            <a:chOff x="8556750" y="1925712"/>
            <a:chExt cx="3199420" cy="1185908"/>
          </a:xfrm>
        </p:grpSpPr>
        <p:sp>
          <p:nvSpPr>
            <p:cNvPr id="13" name="Callout: Line with No Border 12">
              <a:extLst>
                <a:ext uri="{FF2B5EF4-FFF2-40B4-BE49-F238E27FC236}">
                  <a16:creationId xmlns:a16="http://schemas.microsoft.com/office/drawing/2014/main" id="{B52E81B9-E53A-E086-20DD-841B79031DBD}"/>
                </a:ext>
              </a:extLst>
            </p:cNvPr>
            <p:cNvSpPr/>
            <p:nvPr/>
          </p:nvSpPr>
          <p:spPr>
            <a:xfrm>
              <a:off x="9629685" y="2287558"/>
              <a:ext cx="892170" cy="573457"/>
            </a:xfrm>
            <a:prstGeom prst="callout1">
              <a:avLst>
                <a:gd name="adj1" fmla="val -5655"/>
                <a:gd name="adj2" fmla="val -108924"/>
                <a:gd name="adj3" fmla="val -1277"/>
                <a:gd name="adj4" fmla="val -577550"/>
              </a:avLst>
            </a:prstGeom>
            <a:noFill/>
            <a:ln w="28575" cap="rnd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Speech Bubble: Rectangle with Corners Rounded 13">
              <a:extLst>
                <a:ext uri="{FF2B5EF4-FFF2-40B4-BE49-F238E27FC236}">
                  <a16:creationId xmlns:a16="http://schemas.microsoft.com/office/drawing/2014/main" id="{5F25749B-6169-A0FC-3158-BC00291D0322}"/>
                </a:ext>
              </a:extLst>
            </p:cNvPr>
            <p:cNvSpPr/>
            <p:nvPr/>
          </p:nvSpPr>
          <p:spPr>
            <a:xfrm>
              <a:off x="8556750" y="1925712"/>
              <a:ext cx="3199420" cy="1185908"/>
            </a:xfrm>
            <a:prstGeom prst="wedgeRoundRectCallout">
              <a:avLst>
                <a:gd name="adj1" fmla="val -13906"/>
                <a:gd name="adj2" fmla="val 4162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60944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1218885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828328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243777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3047213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3656656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4266097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4875541" algn="l" defTabSz="609443" rtl="0" eaLnBrk="1" latinLnBrk="0" hangingPunct="1">
                <a:defRPr sz="24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60000" marR="0" lvl="0" indent="-36000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VDDA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, VDDP,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VDD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AU </a:t>
              </a:r>
            </a:p>
            <a:p>
              <a:pPr marL="360000" marR="0" lvl="0" indent="-36000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all connected to same </a:t>
              </a:r>
            </a:p>
            <a:p>
              <a:pPr marL="360000" marR="0" lvl="0" indent="-36000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3.3V power supply</a:t>
              </a:r>
            </a:p>
          </p:txBody>
        </p:sp>
      </p:grp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714F61-8FF5-144A-3282-CD581262104E}"/>
              </a:ext>
            </a:extLst>
          </p:cNvPr>
          <p:cNvSpPr/>
          <p:nvPr/>
        </p:nvSpPr>
        <p:spPr bwMode="auto">
          <a:xfrm rot="5400000">
            <a:off x="4797322" y="2735070"/>
            <a:ext cx="1097337" cy="426833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B05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1202039" marR="0" lvl="2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E544E-9342-C2C7-51F9-575CFD837AEE}"/>
              </a:ext>
            </a:extLst>
          </p:cNvPr>
          <p:cNvGrpSpPr/>
          <p:nvPr/>
        </p:nvGrpSpPr>
        <p:grpSpPr>
          <a:xfrm>
            <a:off x="8296977" y="4759036"/>
            <a:ext cx="3403184" cy="1649821"/>
            <a:chOff x="8556751" y="3693240"/>
            <a:chExt cx="3199419" cy="1649821"/>
          </a:xfrm>
        </p:grpSpPr>
        <p:sp>
          <p:nvSpPr>
            <p:cNvPr id="20" name="Callout: Line with No Border 19">
              <a:extLst>
                <a:ext uri="{FF2B5EF4-FFF2-40B4-BE49-F238E27FC236}">
                  <a16:creationId xmlns:a16="http://schemas.microsoft.com/office/drawing/2014/main" id="{4E9C27CB-2D23-5AF3-2AAD-82025773AD07}"/>
                </a:ext>
              </a:extLst>
            </p:cNvPr>
            <p:cNvSpPr/>
            <p:nvPr/>
          </p:nvSpPr>
          <p:spPr>
            <a:xfrm>
              <a:off x="9488401" y="4558071"/>
              <a:ext cx="892170" cy="357234"/>
            </a:xfrm>
            <a:prstGeom prst="callout1">
              <a:avLst>
                <a:gd name="adj1" fmla="val 90064"/>
                <a:gd name="adj2" fmla="val -100926"/>
                <a:gd name="adj3" fmla="val 87436"/>
                <a:gd name="adj4" fmla="val -371230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893CFA23-51CA-6DF5-E661-C444A5FE7ED0}"/>
                </a:ext>
              </a:extLst>
            </p:cNvPr>
            <p:cNvSpPr/>
            <p:nvPr/>
          </p:nvSpPr>
          <p:spPr>
            <a:xfrm>
              <a:off x="8556751" y="3693240"/>
              <a:ext cx="3199419" cy="1649821"/>
            </a:xfrm>
            <a:prstGeom prst="wedgeRoundRectCallout">
              <a:avLst>
                <a:gd name="adj1" fmla="val 37817"/>
                <a:gd name="adj2" fmla="val -4642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360000" marR="0" lvl="0" indent="-36000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 err="1">
                  <a:solidFill>
                    <a:srgbClr val="FFFFFF"/>
                  </a:solidFill>
                  <a:latin typeface="Calibri"/>
                </a:rPr>
                <a:t>Since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Sleep mode </a:t>
              </a:r>
              <a:r>
                <a:rPr kumimoji="0" lang="en-US" sz="1800" b="0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not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used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:</a:t>
              </a:r>
            </a:p>
            <a:p>
              <a:pPr marL="360000" marR="0" lvl="0" indent="-36000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INH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: no connect</a:t>
              </a:r>
            </a:p>
            <a:p>
              <a:pPr marL="360000" marR="0" lvl="0" indent="-36000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WAKE_IN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: connect to VSS</a:t>
              </a: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360000" indent="-360000">
                <a:buFont typeface="Arial" panose="020B0604020202020204" pitchFamily="34" charset="0"/>
                <a:buChar char="•"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WAKE_OUT</a:t>
              </a:r>
              <a:r>
                <a:rPr kumimoji="0" lang="de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: </a:t>
              </a:r>
              <a:r>
                <a:rPr kumimoji="0" lang="de-DE" sz="1800" b="1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No</a:t>
              </a:r>
              <a:r>
                <a:rPr kumimoji="0" lang="de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Connect </a:t>
              </a:r>
              <a:endPara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4264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93D0BD4C-975F-5E8F-E6FD-D65F8EEEA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3440" y="1775753"/>
            <a:ext cx="6276975" cy="4610100"/>
          </a:xfrm>
          <a:prstGeom prst="rect">
            <a:avLst/>
          </a:prstGeom>
        </p:spPr>
      </p:pic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C4D2F59D-A9EE-D356-B2C4-EF107841AC8A}"/>
              </a:ext>
            </a:extLst>
          </p:cNvPr>
          <p:cNvSpPr/>
          <p:nvPr/>
        </p:nvSpPr>
        <p:spPr bwMode="auto">
          <a:xfrm rot="5400000">
            <a:off x="3073604" y="3068182"/>
            <a:ext cx="1602377" cy="762635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marR="0" lvl="0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EE9A9211-8D5D-D889-714F-54765BB019DF}"/>
              </a:ext>
            </a:extLst>
          </p:cNvPr>
          <p:cNvSpPr/>
          <p:nvPr/>
        </p:nvSpPr>
        <p:spPr bwMode="auto">
          <a:xfrm rot="5400000">
            <a:off x="4234233" y="3275185"/>
            <a:ext cx="1602374" cy="348631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marR="0" lvl="0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FDEDC7E7-B055-84CA-243E-997641D94012}"/>
              </a:ext>
            </a:extLst>
          </p:cNvPr>
          <p:cNvSpPr/>
          <p:nvPr/>
        </p:nvSpPr>
        <p:spPr bwMode="auto">
          <a:xfrm rot="5400000">
            <a:off x="3763565" y="3302638"/>
            <a:ext cx="1598959" cy="290313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marR="0" lvl="0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4">
            <a:extLst>
              <a:ext uri="{FF2B5EF4-FFF2-40B4-BE49-F238E27FC236}">
                <a16:creationId xmlns:a16="http://schemas.microsoft.com/office/drawing/2014/main" id="{53572B31-E36A-AC31-1F04-0EE43F2127E2}"/>
              </a:ext>
            </a:extLst>
          </p:cNvPr>
          <p:cNvSpPr/>
          <p:nvPr/>
        </p:nvSpPr>
        <p:spPr bwMode="auto">
          <a:xfrm>
            <a:off x="4464779" y="4476002"/>
            <a:ext cx="2535416" cy="1319887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FF000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marR="0" lvl="0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4">
            <a:extLst>
              <a:ext uri="{FF2B5EF4-FFF2-40B4-BE49-F238E27FC236}">
                <a16:creationId xmlns:a16="http://schemas.microsoft.com/office/drawing/2014/main" id="{F4132F04-6F79-E490-4AD6-BA47C65AFA43}"/>
              </a:ext>
            </a:extLst>
          </p:cNvPr>
          <p:cNvSpPr/>
          <p:nvPr/>
        </p:nvSpPr>
        <p:spPr bwMode="auto">
          <a:xfrm>
            <a:off x="4332145" y="4877032"/>
            <a:ext cx="2537641" cy="1319888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B05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marR="0" lvl="0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40C7DB-BC8F-F150-6A4A-614C91344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with Sleep Mode and Advanced Features</a:t>
            </a: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929FC54-5A29-3324-3205-562AE211A823}"/>
              </a:ext>
            </a:extLst>
          </p:cNvPr>
          <p:cNvSpPr/>
          <p:nvPr/>
        </p:nvSpPr>
        <p:spPr>
          <a:xfrm>
            <a:off x="8070801" y="4978315"/>
            <a:ext cx="3463095" cy="1036374"/>
          </a:xfrm>
          <a:prstGeom prst="wedgeRoundRectCallout">
            <a:avLst>
              <a:gd name="adj1" fmla="val -45212"/>
              <a:gd name="adj2" fmla="val 1560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09443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Wake-up might be forwarded</a:t>
            </a:r>
            <a:b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via WAKE_OUT to local devices</a:t>
            </a:r>
            <a:b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via MDI to wake remote nodes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FF3810A-1AFC-2113-214A-C682FA4B5D50}"/>
              </a:ext>
            </a:extLst>
          </p:cNvPr>
          <p:cNvGrpSpPr/>
          <p:nvPr/>
        </p:nvGrpSpPr>
        <p:grpSpPr>
          <a:xfrm>
            <a:off x="8061346" y="946200"/>
            <a:ext cx="3572979" cy="961686"/>
            <a:chOff x="1982323" y="816962"/>
            <a:chExt cx="3659485" cy="961686"/>
          </a:xfrm>
        </p:grpSpPr>
        <p:sp>
          <p:nvSpPr>
            <p:cNvPr id="2" name="Callout: Line with No Border 1">
              <a:extLst>
                <a:ext uri="{FF2B5EF4-FFF2-40B4-BE49-F238E27FC236}">
                  <a16:creationId xmlns:a16="http://schemas.microsoft.com/office/drawing/2014/main" id="{13B29ECA-F4BA-F42E-DB72-65FCC8F74666}"/>
                </a:ext>
              </a:extLst>
            </p:cNvPr>
            <p:cNvSpPr/>
            <p:nvPr/>
          </p:nvSpPr>
          <p:spPr>
            <a:xfrm>
              <a:off x="3641642" y="1205191"/>
              <a:ext cx="892170" cy="573457"/>
            </a:xfrm>
            <a:prstGeom prst="callout1">
              <a:avLst>
                <a:gd name="adj1" fmla="val 61017"/>
                <a:gd name="adj2" fmla="val -105289"/>
                <a:gd name="adj3" fmla="val 241838"/>
                <a:gd name="adj4" fmla="val -513046"/>
              </a:avLst>
            </a:prstGeom>
            <a:noFill/>
            <a:ln w="28575" cap="rnd">
              <a:solidFill>
                <a:schemeClr val="accent5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" name="Speech Bubble: Rectangle with Corners Rounded 3">
              <a:extLst>
                <a:ext uri="{FF2B5EF4-FFF2-40B4-BE49-F238E27FC236}">
                  <a16:creationId xmlns:a16="http://schemas.microsoft.com/office/drawing/2014/main" id="{DCF69B60-C0F4-6787-290B-E5E777C5F004}"/>
                </a:ext>
              </a:extLst>
            </p:cNvPr>
            <p:cNvSpPr/>
            <p:nvPr/>
          </p:nvSpPr>
          <p:spPr>
            <a:xfrm>
              <a:off x="1982323" y="816962"/>
              <a:ext cx="3659485" cy="767369"/>
            </a:xfrm>
            <a:prstGeom prst="wedgeRoundRectCallout">
              <a:avLst>
                <a:gd name="adj1" fmla="val 21507"/>
                <a:gd name="adj2" fmla="val 4817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09443" rtl="0" eaLnBrk="1" fontAlgn="auto" latinLnBrk="0" hangingPunct="1">
                <a:lnSpc>
                  <a:spcPct val="100000"/>
                </a:lnSpc>
                <a:spcBef>
                  <a:spcPts val="2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VDDA, VDDP disabled in sleep mode VDDAU for wake-up detection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743D96E-AC07-24DA-D24F-2CBE251EBF69}"/>
              </a:ext>
            </a:extLst>
          </p:cNvPr>
          <p:cNvGrpSpPr/>
          <p:nvPr/>
        </p:nvGrpSpPr>
        <p:grpSpPr>
          <a:xfrm>
            <a:off x="8070802" y="4978315"/>
            <a:ext cx="3563525" cy="1036374"/>
            <a:chOff x="8202099" y="4654760"/>
            <a:chExt cx="3563525" cy="1036374"/>
          </a:xfrm>
        </p:grpSpPr>
        <p:sp>
          <p:nvSpPr>
            <p:cNvPr id="19" name="Callout: Line with No Border 18">
              <a:extLst>
                <a:ext uri="{FF2B5EF4-FFF2-40B4-BE49-F238E27FC236}">
                  <a16:creationId xmlns:a16="http://schemas.microsoft.com/office/drawing/2014/main" id="{4D38BD99-75C6-A54F-E2BE-F45DFE3FC495}"/>
                </a:ext>
              </a:extLst>
            </p:cNvPr>
            <p:cNvSpPr/>
            <p:nvPr/>
          </p:nvSpPr>
          <p:spPr>
            <a:xfrm>
              <a:off x="9533049" y="4844549"/>
              <a:ext cx="892170" cy="573457"/>
            </a:xfrm>
            <a:prstGeom prst="callout1">
              <a:avLst>
                <a:gd name="adj1" fmla="val 95486"/>
                <a:gd name="adj2" fmla="val -142665"/>
                <a:gd name="adj3" fmla="val 146400"/>
                <a:gd name="adj4" fmla="val -282473"/>
              </a:avLst>
            </a:prstGeom>
            <a:noFill/>
            <a:ln w="28575" cap="rnd"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Speech Bubble: Rectangle with Corners Rounded 19">
              <a:extLst>
                <a:ext uri="{FF2B5EF4-FFF2-40B4-BE49-F238E27FC236}">
                  <a16:creationId xmlns:a16="http://schemas.microsoft.com/office/drawing/2014/main" id="{E532C1B1-1B40-7553-E042-5FEC7DE33F40}"/>
                </a:ext>
              </a:extLst>
            </p:cNvPr>
            <p:cNvSpPr/>
            <p:nvPr/>
          </p:nvSpPr>
          <p:spPr>
            <a:xfrm>
              <a:off x="8202099" y="4654760"/>
              <a:ext cx="3563525" cy="1036374"/>
            </a:xfrm>
            <a:prstGeom prst="wedgeRoundRectCallout">
              <a:avLst>
                <a:gd name="adj1" fmla="val -41529"/>
                <a:gd name="adj2" fmla="val 147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Wake-up can be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forwarded 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via</a:t>
              </a:r>
            </a:p>
            <a:p>
              <a:pPr marL="285750" marR="0" lvl="0" indent="-28575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WAKE_OUT to local devices</a:t>
              </a:r>
            </a:p>
            <a:p>
              <a:pPr marL="285750" marR="0" lvl="0" indent="-28575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MDI to wake remote nodes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5E7E98-1DD8-A3AB-A091-5523D287E12A}"/>
              </a:ext>
            </a:extLst>
          </p:cNvPr>
          <p:cNvGrpSpPr/>
          <p:nvPr/>
        </p:nvGrpSpPr>
        <p:grpSpPr>
          <a:xfrm>
            <a:off x="8061348" y="3613543"/>
            <a:ext cx="3563525" cy="1091644"/>
            <a:chOff x="8192645" y="3289988"/>
            <a:chExt cx="3563525" cy="1091644"/>
          </a:xfrm>
        </p:grpSpPr>
        <p:sp>
          <p:nvSpPr>
            <p:cNvPr id="9" name="Callout: Line with No Border 8">
              <a:extLst>
                <a:ext uri="{FF2B5EF4-FFF2-40B4-BE49-F238E27FC236}">
                  <a16:creationId xmlns:a16="http://schemas.microsoft.com/office/drawing/2014/main" id="{4279961B-1313-CEB6-7999-4409280CFEF8}"/>
                </a:ext>
              </a:extLst>
            </p:cNvPr>
            <p:cNvSpPr/>
            <p:nvPr/>
          </p:nvSpPr>
          <p:spPr>
            <a:xfrm>
              <a:off x="9400680" y="3808175"/>
              <a:ext cx="892170" cy="573457"/>
            </a:xfrm>
            <a:prstGeom prst="callout1">
              <a:avLst>
                <a:gd name="adj1" fmla="val 11931"/>
                <a:gd name="adj2" fmla="val -119702"/>
                <a:gd name="adj3" fmla="val 6189"/>
                <a:gd name="adj4" fmla="val -89596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Callout: Line with No Border 14">
              <a:extLst>
                <a:ext uri="{FF2B5EF4-FFF2-40B4-BE49-F238E27FC236}">
                  <a16:creationId xmlns:a16="http://schemas.microsoft.com/office/drawing/2014/main" id="{8CA43F4D-D541-F93F-3C11-2250895CC04F}"/>
                </a:ext>
              </a:extLst>
            </p:cNvPr>
            <p:cNvSpPr/>
            <p:nvPr/>
          </p:nvSpPr>
          <p:spPr>
            <a:xfrm>
              <a:off x="9553080" y="3429000"/>
              <a:ext cx="892170" cy="573457"/>
            </a:xfrm>
            <a:prstGeom prst="callout1">
              <a:avLst>
                <a:gd name="adj1" fmla="val 119744"/>
                <a:gd name="adj2" fmla="val -139501"/>
                <a:gd name="adj3" fmla="val 172635"/>
                <a:gd name="adj4" fmla="val -270267"/>
              </a:avLst>
            </a:prstGeom>
            <a:noFill/>
            <a:ln w="28575" cap="rnd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Speech Bubble: Rectangle with Corners Rounded 20">
              <a:extLst>
                <a:ext uri="{FF2B5EF4-FFF2-40B4-BE49-F238E27FC236}">
                  <a16:creationId xmlns:a16="http://schemas.microsoft.com/office/drawing/2014/main" id="{C54C9CE5-633A-4FA5-6239-9268FCDD51A3}"/>
                </a:ext>
              </a:extLst>
            </p:cNvPr>
            <p:cNvSpPr/>
            <p:nvPr/>
          </p:nvSpPr>
          <p:spPr>
            <a:xfrm>
              <a:off x="8192645" y="3289988"/>
              <a:ext cx="3563525" cy="1036374"/>
            </a:xfrm>
            <a:prstGeom prst="wedgeRoundRectCallout">
              <a:avLst>
                <a:gd name="adj1" fmla="val -29802"/>
                <a:gd name="adj2" fmla="val -1455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Wake-up is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initiated 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by</a:t>
              </a:r>
            </a:p>
            <a:p>
              <a:pPr marL="285750" marR="0" lvl="0" indent="-28575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 host via WAKE_IN,</a:t>
              </a:r>
            </a:p>
            <a:p>
              <a:pPr marL="285750" marR="0" lvl="0" indent="-285750" algn="l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network activity via MDI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3F7D76E-5EBE-A675-4E5D-5036554ABC99}"/>
              </a:ext>
            </a:extLst>
          </p:cNvPr>
          <p:cNvGrpSpPr/>
          <p:nvPr/>
        </p:nvGrpSpPr>
        <p:grpSpPr>
          <a:xfrm>
            <a:off x="8061348" y="2053915"/>
            <a:ext cx="3554071" cy="1219281"/>
            <a:chOff x="8202099" y="1807688"/>
            <a:chExt cx="3554071" cy="1219281"/>
          </a:xfrm>
        </p:grpSpPr>
        <p:sp>
          <p:nvSpPr>
            <p:cNvPr id="17" name="Callout: Line with No Border 16">
              <a:extLst>
                <a:ext uri="{FF2B5EF4-FFF2-40B4-BE49-F238E27FC236}">
                  <a16:creationId xmlns:a16="http://schemas.microsoft.com/office/drawing/2014/main" id="{501B3ABC-19DB-3C8C-BC49-955BE8256B0E}"/>
                </a:ext>
              </a:extLst>
            </p:cNvPr>
            <p:cNvSpPr/>
            <p:nvPr/>
          </p:nvSpPr>
          <p:spPr>
            <a:xfrm>
              <a:off x="9316810" y="2095345"/>
              <a:ext cx="892170" cy="573457"/>
            </a:xfrm>
            <a:prstGeom prst="callout1">
              <a:avLst>
                <a:gd name="adj1" fmla="val 66290"/>
                <a:gd name="adj2" fmla="val -96408"/>
                <a:gd name="adj3" fmla="val 228828"/>
                <a:gd name="adj4" fmla="val -496739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Speech Bubble: Rectangle with Corners Rounded 25">
              <a:extLst>
                <a:ext uri="{FF2B5EF4-FFF2-40B4-BE49-F238E27FC236}">
                  <a16:creationId xmlns:a16="http://schemas.microsoft.com/office/drawing/2014/main" id="{4C53A084-4CC9-AEAD-940E-0CCFB25AED05}"/>
                </a:ext>
              </a:extLst>
            </p:cNvPr>
            <p:cNvSpPr/>
            <p:nvPr/>
          </p:nvSpPr>
          <p:spPr>
            <a:xfrm>
              <a:off x="8202099" y="1807688"/>
              <a:ext cx="3554071" cy="1219281"/>
            </a:xfrm>
            <a:prstGeom prst="wedgeRoundRectCallout">
              <a:avLst>
                <a:gd name="adj1" fmla="val -31700"/>
                <a:gd name="adj2" fmla="val -10161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09443" rtl="0" eaLnBrk="1" fontAlgn="auto" latinLnBrk="0" hangingPunct="1">
                <a:lnSpc>
                  <a:spcPct val="100000"/>
                </a:lnSpc>
                <a:spcBef>
                  <a:spcPts val="2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After sleep mode starts, </a:t>
              </a:r>
              <a:b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INH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will be </a:t>
              </a:r>
              <a:r>
                <a: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deasserted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, </a:t>
              </a:r>
              <a:b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which disables the voltage regulator for VDD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/VDD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2448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4" grpId="0" animBg="1"/>
      <p:bldP spid="18" grpId="0" animBg="1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ACEB9A3-C004-7315-C0E7-4222196CF528}"/>
              </a:ext>
            </a:extLst>
          </p:cNvPr>
          <p:cNvGrpSpPr/>
          <p:nvPr/>
        </p:nvGrpSpPr>
        <p:grpSpPr>
          <a:xfrm>
            <a:off x="405556" y="5501190"/>
            <a:ext cx="6692977" cy="779619"/>
            <a:chOff x="4160661" y="2889853"/>
            <a:chExt cx="7736445" cy="77961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B787C61-10E5-E9C5-909A-48D9A9CEBE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28"/>
            <a:stretch/>
          </p:blipFill>
          <p:spPr>
            <a:xfrm>
              <a:off x="4160661" y="2928579"/>
              <a:ext cx="7736445" cy="70485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1" name="Rounded Rectangle 4">
              <a:extLst>
                <a:ext uri="{FF2B5EF4-FFF2-40B4-BE49-F238E27FC236}">
                  <a16:creationId xmlns:a16="http://schemas.microsoft.com/office/drawing/2014/main" id="{54EC9C7E-D455-396C-6EE3-ACF0E3E21EB5}"/>
                </a:ext>
              </a:extLst>
            </p:cNvPr>
            <p:cNvSpPr/>
            <p:nvPr/>
          </p:nvSpPr>
          <p:spPr bwMode="auto">
            <a:xfrm>
              <a:off x="8127567" y="2889853"/>
              <a:ext cx="1507930" cy="267488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70C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ounded Rectangle 4">
              <a:extLst>
                <a:ext uri="{FF2B5EF4-FFF2-40B4-BE49-F238E27FC236}">
                  <a16:creationId xmlns:a16="http://schemas.microsoft.com/office/drawing/2014/main" id="{554EBC94-CD37-1A24-0060-A93FD5DD15B6}"/>
                </a:ext>
              </a:extLst>
            </p:cNvPr>
            <p:cNvSpPr/>
            <p:nvPr/>
          </p:nvSpPr>
          <p:spPr bwMode="auto">
            <a:xfrm>
              <a:off x="6532105" y="2892541"/>
              <a:ext cx="1552713" cy="262111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Rounded Rectangle 4">
              <a:extLst>
                <a:ext uri="{FF2B5EF4-FFF2-40B4-BE49-F238E27FC236}">
                  <a16:creationId xmlns:a16="http://schemas.microsoft.com/office/drawing/2014/main" id="{D9BD099B-3F86-93B3-A5DF-7FAAB2549070}"/>
                </a:ext>
              </a:extLst>
            </p:cNvPr>
            <p:cNvSpPr/>
            <p:nvPr/>
          </p:nvSpPr>
          <p:spPr bwMode="auto">
            <a:xfrm>
              <a:off x="10373338" y="3415190"/>
              <a:ext cx="1510921" cy="25428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00B050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6" name="Graphic 15">
            <a:extLst>
              <a:ext uri="{FF2B5EF4-FFF2-40B4-BE49-F238E27FC236}">
                <a16:creationId xmlns:a16="http://schemas.microsoft.com/office/drawing/2014/main" id="{9FAE642C-431D-440B-1AED-EA4D111B27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462" y="1332113"/>
            <a:ext cx="5048250" cy="3438525"/>
          </a:xfrm>
          <a:prstGeom prst="rect">
            <a:avLst/>
          </a:prstGeom>
        </p:spPr>
      </p:pic>
      <p:sp>
        <p:nvSpPr>
          <p:cNvPr id="24" name="Rounded Rectangle 4">
            <a:extLst>
              <a:ext uri="{FF2B5EF4-FFF2-40B4-BE49-F238E27FC236}">
                <a16:creationId xmlns:a16="http://schemas.microsoft.com/office/drawing/2014/main" id="{40000301-9FD3-A21F-D7E1-A8EB781E4349}"/>
              </a:ext>
            </a:extLst>
          </p:cNvPr>
          <p:cNvSpPr/>
          <p:nvPr/>
        </p:nvSpPr>
        <p:spPr bwMode="auto">
          <a:xfrm rot="5400000">
            <a:off x="3010915" y="1762948"/>
            <a:ext cx="1245653" cy="383983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70C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marR="0" lvl="0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4">
            <a:extLst>
              <a:ext uri="{FF2B5EF4-FFF2-40B4-BE49-F238E27FC236}">
                <a16:creationId xmlns:a16="http://schemas.microsoft.com/office/drawing/2014/main" id="{09B88616-44DA-F36E-7E15-A87F90124CA8}"/>
              </a:ext>
            </a:extLst>
          </p:cNvPr>
          <p:cNvSpPr/>
          <p:nvPr/>
        </p:nvSpPr>
        <p:spPr bwMode="auto">
          <a:xfrm>
            <a:off x="3546708" y="2860992"/>
            <a:ext cx="2444883" cy="129704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FF000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marR="0" lvl="0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4">
            <a:extLst>
              <a:ext uri="{FF2B5EF4-FFF2-40B4-BE49-F238E27FC236}">
                <a16:creationId xmlns:a16="http://schemas.microsoft.com/office/drawing/2014/main" id="{3022F445-B318-E106-CEA9-CCF9B02861DF}"/>
              </a:ext>
            </a:extLst>
          </p:cNvPr>
          <p:cNvSpPr/>
          <p:nvPr/>
        </p:nvSpPr>
        <p:spPr bwMode="auto">
          <a:xfrm>
            <a:off x="3441752" y="3283952"/>
            <a:ext cx="2444884" cy="1305387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00B05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marR="0" lvl="0" indent="-287914" algn="ctr" defTabSz="609443" rtl="0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Clr>
                <a:srgbClr val="C00000"/>
              </a:buClr>
              <a:buSzPct val="75000"/>
              <a:buFont typeface="Wingdings" pitchFamily="2" charset="2"/>
              <a:buChar char="n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A9E0FD-0016-7797-9777-2E653878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/>
              <a:t>Host Configures Each Time </a:t>
            </a:r>
            <a:r>
              <a:rPr lang="en-DE" u="sng"/>
              <a:t>before</a:t>
            </a:r>
            <a:r>
              <a:rPr lang="en-DE"/>
              <a:t> Going to SLEEP...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DBFF1CA-0254-2E43-92C7-7D66C52196A4}"/>
              </a:ext>
            </a:extLst>
          </p:cNvPr>
          <p:cNvGrpSpPr/>
          <p:nvPr/>
        </p:nvGrpSpPr>
        <p:grpSpPr>
          <a:xfrm>
            <a:off x="7641726" y="4014201"/>
            <a:ext cx="3814562" cy="2215553"/>
            <a:chOff x="7706144" y="4079482"/>
            <a:chExt cx="3814562" cy="2215553"/>
          </a:xfrm>
        </p:grpSpPr>
        <p:sp>
          <p:nvSpPr>
            <p:cNvPr id="31" name="Callout: Line with No Border 30">
              <a:extLst>
                <a:ext uri="{FF2B5EF4-FFF2-40B4-BE49-F238E27FC236}">
                  <a16:creationId xmlns:a16="http://schemas.microsoft.com/office/drawing/2014/main" id="{0FBA0F36-358A-F75E-7E0B-1385D270BAE8}"/>
                </a:ext>
              </a:extLst>
            </p:cNvPr>
            <p:cNvSpPr/>
            <p:nvPr/>
          </p:nvSpPr>
          <p:spPr>
            <a:xfrm>
              <a:off x="9278207" y="5067948"/>
              <a:ext cx="892170" cy="573457"/>
            </a:xfrm>
            <a:prstGeom prst="callout1">
              <a:avLst>
                <a:gd name="adj1" fmla="val -115890"/>
                <a:gd name="adj2" fmla="val -168402"/>
                <a:gd name="adj3" fmla="val -114997"/>
                <a:gd name="adj4" fmla="val -371790"/>
              </a:avLst>
            </a:prstGeom>
            <a:noFill/>
            <a:ln w="28575" cap="rnd"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Speech Bubble: Rectangle with Corners Rounded 19">
              <a:extLst>
                <a:ext uri="{FF2B5EF4-FFF2-40B4-BE49-F238E27FC236}">
                  <a16:creationId xmlns:a16="http://schemas.microsoft.com/office/drawing/2014/main" id="{50AC4933-A3F0-3FA2-15BD-5C4CA221A77C}"/>
                </a:ext>
              </a:extLst>
            </p:cNvPr>
            <p:cNvSpPr/>
            <p:nvPr/>
          </p:nvSpPr>
          <p:spPr>
            <a:xfrm>
              <a:off x="7706144" y="4079482"/>
              <a:ext cx="3814562" cy="2215553"/>
            </a:xfrm>
            <a:prstGeom prst="wedgeRoundRectCallout">
              <a:avLst>
                <a:gd name="adj1" fmla="val -39423"/>
                <a:gd name="adj2" fmla="val 26220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09443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</a:t>
              </a:r>
              <a:r>
                <a:rPr kumimoji="0" lang="en-DE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hould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other network nodes / local devices also be woken up by...</a:t>
              </a:r>
            </a:p>
            <a:p>
              <a:pPr marL="285750" marR="0" lvl="0" indent="-285750" algn="l" defTabSz="609443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MDIFWDEN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</a:t>
              </a:r>
              <a:b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(MDI Forward Enable)</a:t>
              </a:r>
            </a:p>
            <a:p>
              <a:pPr marL="285750" marR="0" lvl="0" indent="-285750" algn="l" defTabSz="609443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WKOFWDEN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</a:t>
              </a:r>
              <a:b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</a:b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(WAKE_OUT Forward Enable)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D2B575B-0F5D-AC54-2743-2F9A2B71C82A}"/>
              </a:ext>
            </a:extLst>
          </p:cNvPr>
          <p:cNvGrpSpPr/>
          <p:nvPr/>
        </p:nvGrpSpPr>
        <p:grpSpPr>
          <a:xfrm>
            <a:off x="7642033" y="1025370"/>
            <a:ext cx="3814562" cy="1228447"/>
            <a:chOff x="4481014" y="2410443"/>
            <a:chExt cx="3728536" cy="1228447"/>
          </a:xfrm>
        </p:grpSpPr>
        <p:sp>
          <p:nvSpPr>
            <p:cNvPr id="30" name="Callout: Line with No Border 29">
              <a:extLst>
                <a:ext uri="{FF2B5EF4-FFF2-40B4-BE49-F238E27FC236}">
                  <a16:creationId xmlns:a16="http://schemas.microsoft.com/office/drawing/2014/main" id="{1ECA1164-862D-CC2D-A20D-E40D6EAE5BC6}"/>
                </a:ext>
              </a:extLst>
            </p:cNvPr>
            <p:cNvSpPr/>
            <p:nvPr/>
          </p:nvSpPr>
          <p:spPr>
            <a:xfrm>
              <a:off x="6186324" y="2909373"/>
              <a:ext cx="892170" cy="573457"/>
            </a:xfrm>
            <a:prstGeom prst="callout1">
              <a:avLst>
                <a:gd name="adj1" fmla="val 33906"/>
                <a:gd name="adj2" fmla="val -172548"/>
                <a:gd name="adj3" fmla="val 35543"/>
                <a:gd name="adj4" fmla="val -606187"/>
              </a:avLst>
            </a:prstGeom>
            <a:noFill/>
            <a:ln w="28575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B8897131-BDC2-FCCB-D1C2-0D83E3CE9F1A}"/>
                </a:ext>
              </a:extLst>
            </p:cNvPr>
            <p:cNvSpPr/>
            <p:nvPr/>
          </p:nvSpPr>
          <p:spPr>
            <a:xfrm>
              <a:off x="4481014" y="2410443"/>
              <a:ext cx="3728536" cy="1228447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09443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  <a:r>
                <a:rPr kumimoji="0" lang="en-DE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ime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from </a:t>
              </a:r>
              <a:r>
                <a:rPr kumimoji="0" lang="en-DE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init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SLEEP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to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INH release 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(leading to power off):</a:t>
              </a:r>
            </a:p>
            <a:p>
              <a:pPr marL="285750" marR="0" lvl="0" indent="-285750" algn="l" defTabSz="609443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SLPINHDLY  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(Sleep Inhibit Delay)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C430B2C-69C0-F97C-12AC-54189070E820}"/>
              </a:ext>
            </a:extLst>
          </p:cNvPr>
          <p:cNvGrpSpPr/>
          <p:nvPr/>
        </p:nvGrpSpPr>
        <p:grpSpPr>
          <a:xfrm>
            <a:off x="7642033" y="2475141"/>
            <a:ext cx="3814255" cy="1353738"/>
            <a:chOff x="7223911" y="2335847"/>
            <a:chExt cx="3814255" cy="1353738"/>
          </a:xfrm>
        </p:grpSpPr>
        <p:sp>
          <p:nvSpPr>
            <p:cNvPr id="8" name="Callout: Line with No Border 7">
              <a:extLst>
                <a:ext uri="{FF2B5EF4-FFF2-40B4-BE49-F238E27FC236}">
                  <a16:creationId xmlns:a16="http://schemas.microsoft.com/office/drawing/2014/main" id="{F5050E48-3459-3476-C3EF-2EC08C6D6E40}"/>
                </a:ext>
              </a:extLst>
            </p:cNvPr>
            <p:cNvSpPr/>
            <p:nvPr/>
          </p:nvSpPr>
          <p:spPr>
            <a:xfrm>
              <a:off x="8386344" y="2796762"/>
              <a:ext cx="892170" cy="573457"/>
            </a:xfrm>
            <a:prstGeom prst="callout1">
              <a:avLst>
                <a:gd name="adj1" fmla="val 38651"/>
                <a:gd name="adj2" fmla="val -124681"/>
                <a:gd name="adj3" fmla="val 39820"/>
                <a:gd name="adj4" fmla="val -314819"/>
              </a:avLst>
            </a:prstGeom>
            <a:noFill/>
            <a:ln w="28575" cap="rnd">
              <a:solidFill>
                <a:srgbClr val="ED1B2E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Speech Bubble: Rectangle with Corners Rounded 5">
              <a:extLst>
                <a:ext uri="{FF2B5EF4-FFF2-40B4-BE49-F238E27FC236}">
                  <a16:creationId xmlns:a16="http://schemas.microsoft.com/office/drawing/2014/main" id="{9849E4F2-0B69-8567-78E5-B326FEAA42D8}"/>
                </a:ext>
              </a:extLst>
            </p:cNvPr>
            <p:cNvSpPr/>
            <p:nvPr/>
          </p:nvSpPr>
          <p:spPr>
            <a:xfrm>
              <a:off x="7223911" y="2335847"/>
              <a:ext cx="3814255" cy="1353738"/>
            </a:xfrm>
            <a:prstGeom prst="wedgeRoundRectCallout">
              <a:avLst>
                <a:gd name="adj1" fmla="val -31667"/>
                <a:gd name="adj2" fmla="val -10368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609443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Select wake-modes for next wake-up:</a:t>
              </a:r>
            </a:p>
            <a:p>
              <a:pPr marL="285750" marR="0" lvl="0" indent="-285750" algn="l" defTabSz="609443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MDIWKEN  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(MDI Wakeup Enable)</a:t>
              </a:r>
            </a:p>
            <a:p>
              <a:pPr marL="285750" marR="0" lvl="0" indent="-285750" algn="l" defTabSz="609443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WKINEN  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(WAKE_IN Enable)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672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7B0A-DC38-C0F8-6D63-528E9DA1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Wake/Sleep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046EA-11A1-76CA-A52E-A39016A5F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LAN8670/1/2 Rev C</a:t>
            </a:r>
          </a:p>
          <a:p>
            <a:r>
              <a:rPr lang="de-DE"/>
              <a:t>LAN8650/1 Rev 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5948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A27A2D-CE90-67F7-9E36-BDC317C5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Going to SLEEP – Two Ways</a:t>
            </a:r>
            <a:endParaRPr 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44D7FCC-5E44-B6D8-0063-3CC6A8DB34B9}"/>
              </a:ext>
            </a:extLst>
          </p:cNvPr>
          <p:cNvSpPr/>
          <p:nvPr/>
        </p:nvSpPr>
        <p:spPr>
          <a:xfrm>
            <a:off x="398675" y="765776"/>
            <a:ext cx="2766556" cy="942683"/>
          </a:xfrm>
          <a:prstGeom prst="wedgeRoundRectCallout">
            <a:avLst>
              <a:gd name="adj1" fmla="val -8528"/>
              <a:gd name="adj2" fmla="val 4287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Host actively sets </a:t>
            </a:r>
          </a:p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SLPEN</a:t>
            </a: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(Sleep Enable) = 1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1168A5A-C400-F1D8-7C26-F1B2E8CC2D5B}"/>
              </a:ext>
            </a:extLst>
          </p:cNvPr>
          <p:cNvSpPr/>
          <p:nvPr/>
        </p:nvSpPr>
        <p:spPr>
          <a:xfrm>
            <a:off x="398675" y="1873660"/>
            <a:ext cx="2766556" cy="942683"/>
          </a:xfrm>
          <a:prstGeom prst="wedgeRoundRectCallout">
            <a:avLst>
              <a:gd name="adj1" fmla="val -5891"/>
              <a:gd name="adj2" fmla="val 11452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LAN865x or LAN867x waits for </a:t>
            </a:r>
            <a:r>
              <a:rPr kumimoji="0" lang="en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SLPINHDLY</a:t>
            </a: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(Sleep Inhibit Delay)</a:t>
            </a: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E0D426FA-AB40-4CF2-4670-6034DAC3B119}"/>
              </a:ext>
            </a:extLst>
          </p:cNvPr>
          <p:cNvSpPr/>
          <p:nvPr/>
        </p:nvSpPr>
        <p:spPr>
          <a:xfrm>
            <a:off x="7230982" y="291871"/>
            <a:ext cx="4641458" cy="536289"/>
          </a:xfrm>
          <a:prstGeom prst="wedgeRoundRectCallout">
            <a:avLst>
              <a:gd name="adj1" fmla="val -29238"/>
              <a:gd name="adj2" fmla="val 4681"/>
              <a:gd name="adj3" fmla="val 16667"/>
            </a:avLst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LAN865x or LAN867x 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automatically goes to SLEEP </a:t>
            </a:r>
          </a:p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when 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Watchdog timeout </a:t>
            </a: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occurs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8B9621A-33D4-0CCA-5AC8-8B53F7A251F6}"/>
              </a:ext>
            </a:extLst>
          </p:cNvPr>
          <p:cNvSpPr/>
          <p:nvPr/>
        </p:nvSpPr>
        <p:spPr>
          <a:xfrm>
            <a:off x="7235794" y="900437"/>
            <a:ext cx="4641458" cy="2505906"/>
          </a:xfrm>
          <a:prstGeom prst="wedgeRoundRectCallout">
            <a:avLst>
              <a:gd name="adj1" fmla="val -45459"/>
              <a:gd name="adj2" fmla="val -21077"/>
              <a:gd name="adj3" fmla="val 16667"/>
            </a:avLst>
          </a:prstGeom>
          <a:solidFill>
            <a:srgbClr val="FD7F2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Host must configure 1...3 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inactivity WD sources </a:t>
            </a:r>
          </a:p>
          <a:p>
            <a:pPr marL="285750" marR="0" lvl="0" indent="-28575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RX from n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etwork</a:t>
            </a: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	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MIRXWDEN</a:t>
            </a:r>
            <a:b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</a:t>
            </a:r>
            <a:r>
              <a:rPr kumimoji="0" lang="en-US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edia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Interface Receive Watchdog Enable</a:t>
            </a: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285750" marR="0" lvl="0" indent="-28575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TX to network:		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MITXWDEN</a:t>
            </a:r>
            <a:b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(Media Interface Transmit Watchdog Enable)</a:t>
            </a:r>
          </a:p>
          <a:p>
            <a:pPr marL="285750" marR="0" lvl="0" indent="-28575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SMI access</a:t>
            </a: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	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	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PRIWDEN</a:t>
            </a:r>
            <a:b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(PHY Register Inactivity Watchdog Enable )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8DE43BFE-EC57-85B4-8007-E0720FF01FF7}"/>
              </a:ext>
            </a:extLst>
          </p:cNvPr>
          <p:cNvSpPr/>
          <p:nvPr/>
        </p:nvSpPr>
        <p:spPr>
          <a:xfrm>
            <a:off x="7240299" y="3510519"/>
            <a:ext cx="4641458" cy="942683"/>
          </a:xfrm>
          <a:prstGeom prst="wedgeRoundRectCallout">
            <a:avLst>
              <a:gd name="adj1" fmla="val -43751"/>
              <a:gd name="adj2" fmla="val -21077"/>
              <a:gd name="adj3" fmla="val 16667"/>
            </a:avLst>
          </a:prstGeom>
          <a:solidFill>
            <a:srgbClr val="FD7F2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configure 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IWDTOH</a:t>
            </a: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/ 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IWDTOH</a:t>
            </a: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(</a:t>
            </a:r>
            <a:r>
              <a:rPr kumimoji="0" lang="en-DE" sz="16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Inact</a:t>
            </a: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WD Timeout)</a:t>
            </a:r>
          </a:p>
          <a:p>
            <a:pPr marL="342900" marR="0" lvl="0" indent="-34290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unmask IRQ_N:  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IWDTOM = 0</a:t>
            </a:r>
          </a:p>
          <a:p>
            <a:pPr marL="342900" marR="0" lvl="0" indent="-34290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 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IWDE = 1 </a:t>
            </a: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(Inactivity WD Enable)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3F4C1628-DCC9-B6AC-6F6E-C6B851AAA474}"/>
              </a:ext>
            </a:extLst>
          </p:cNvPr>
          <p:cNvSpPr/>
          <p:nvPr/>
        </p:nvSpPr>
        <p:spPr>
          <a:xfrm>
            <a:off x="7230982" y="4538978"/>
            <a:ext cx="4641458" cy="917066"/>
          </a:xfrm>
          <a:prstGeom prst="wedgeRoundRectCallout">
            <a:avLst>
              <a:gd name="adj1" fmla="val -35092"/>
              <a:gd name="adj2" fmla="val 1506"/>
              <a:gd name="adj3" fmla="val 16667"/>
            </a:avLst>
          </a:prstGeom>
          <a:solidFill>
            <a:srgbClr val="FD7F2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 case of any timeout LAN865x or LAN867x </a:t>
            </a:r>
          </a:p>
          <a:p>
            <a:pPr marL="342900" marR="0" lvl="0" indent="-34290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sets  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IWDTO = 1 </a:t>
            </a: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(Inactivity WD Timeout Status)</a:t>
            </a:r>
          </a:p>
          <a:p>
            <a:pPr marL="342900" marR="0" lvl="0" indent="-342900" algn="l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waits for 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SLPINHDLY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en-DE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and</a:t>
            </a:r>
            <a:r>
              <a:rPr kumimoji="0" lang="en-DE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releases 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INH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pin</a:t>
            </a:r>
            <a:endParaRPr kumimoji="0" lang="en-DE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76CFBFDA-7F13-3462-DA58-59EA73AF5AFC}"/>
              </a:ext>
            </a:extLst>
          </p:cNvPr>
          <p:cNvSpPr/>
          <p:nvPr/>
        </p:nvSpPr>
        <p:spPr>
          <a:xfrm>
            <a:off x="408674" y="2957658"/>
            <a:ext cx="2766556" cy="942683"/>
          </a:xfrm>
          <a:prstGeom prst="wedgeRoundRectCallout">
            <a:avLst>
              <a:gd name="adj1" fmla="val -5891"/>
              <a:gd name="adj2" fmla="val 11452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LAN865x or LAN867x releases  </a:t>
            </a:r>
            <a:r>
              <a:rPr kumimoji="0" lang="en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INH</a:t>
            </a: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pin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3C5E842-828A-2446-99F4-AFB2EB6BDBA1}"/>
              </a:ext>
            </a:extLst>
          </p:cNvPr>
          <p:cNvSpPr/>
          <p:nvPr/>
        </p:nvSpPr>
        <p:spPr>
          <a:xfrm>
            <a:off x="5072288" y="2092570"/>
            <a:ext cx="238291" cy="1712699"/>
          </a:xfrm>
          <a:prstGeom prst="downArrow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98DA37A-DAC8-667F-C37F-16C5DF434C68}"/>
              </a:ext>
            </a:extLst>
          </p:cNvPr>
          <p:cNvSpPr/>
          <p:nvPr/>
        </p:nvSpPr>
        <p:spPr>
          <a:xfrm>
            <a:off x="4550950" y="1207153"/>
            <a:ext cx="1309123" cy="482147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DD8067-58E3-508B-9C0A-9A65396E8033}"/>
              </a:ext>
            </a:extLst>
          </p:cNvPr>
          <p:cNvSpPr/>
          <p:nvPr/>
        </p:nvSpPr>
        <p:spPr>
          <a:xfrm>
            <a:off x="4536447" y="4209555"/>
            <a:ext cx="1309123" cy="482147"/>
          </a:xfrm>
          <a:prstGeom prst="ellipse">
            <a:avLst/>
          </a:prstGeom>
          <a:solidFill>
            <a:srgbClr val="ED1B2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SLEEP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3998A62-7795-2D43-866A-C350BF04869F}"/>
              </a:ext>
            </a:extLst>
          </p:cNvPr>
          <p:cNvGrpSpPr/>
          <p:nvPr/>
        </p:nvGrpSpPr>
        <p:grpSpPr>
          <a:xfrm>
            <a:off x="246491" y="5305039"/>
            <a:ext cx="6781127" cy="989561"/>
            <a:chOff x="2686430" y="1423872"/>
            <a:chExt cx="7734357" cy="106088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70E5628-A8BB-C94F-A0A9-2E36EF1AD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6430" y="1436994"/>
              <a:ext cx="7734357" cy="1047758"/>
            </a:xfrm>
            <a:prstGeom prst="rect">
              <a:avLst/>
            </a:prstGeom>
          </p:spPr>
        </p:pic>
        <p:sp>
          <p:nvSpPr>
            <p:cNvPr id="23" name="Rounded Rectangle 4">
              <a:extLst>
                <a:ext uri="{FF2B5EF4-FFF2-40B4-BE49-F238E27FC236}">
                  <a16:creationId xmlns:a16="http://schemas.microsoft.com/office/drawing/2014/main" id="{FE3C554B-90CB-E9B3-B826-6D4A5570F72D}"/>
                </a:ext>
              </a:extLst>
            </p:cNvPr>
            <p:cNvSpPr/>
            <p:nvPr/>
          </p:nvSpPr>
          <p:spPr bwMode="auto">
            <a:xfrm flipV="1">
              <a:off x="5848596" y="1423872"/>
              <a:ext cx="2320332" cy="227204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Rounded Rectangle 4">
              <a:extLst>
                <a:ext uri="{FF2B5EF4-FFF2-40B4-BE49-F238E27FC236}">
                  <a16:creationId xmlns:a16="http://schemas.microsoft.com/office/drawing/2014/main" id="{4A2BD7DE-49BC-BB5B-5DDE-096938C4B253}"/>
                </a:ext>
              </a:extLst>
            </p:cNvPr>
            <p:cNvSpPr/>
            <p:nvPr/>
          </p:nvSpPr>
          <p:spPr bwMode="auto">
            <a:xfrm flipV="1">
              <a:off x="5848596" y="1737955"/>
              <a:ext cx="2320332" cy="732560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548683-8A5C-C0EA-9BC4-3A3DA02C006F}"/>
              </a:ext>
            </a:extLst>
          </p:cNvPr>
          <p:cNvGrpSpPr/>
          <p:nvPr/>
        </p:nvGrpSpPr>
        <p:grpSpPr>
          <a:xfrm>
            <a:off x="5344878" y="5720981"/>
            <a:ext cx="6780642" cy="976986"/>
            <a:chOff x="2530207" y="4940342"/>
            <a:chExt cx="7733804" cy="104739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3C02600-AB58-14A9-6E2B-CE3B7ED765B8}"/>
                </a:ext>
              </a:extLst>
            </p:cNvPr>
            <p:cNvGrpSpPr/>
            <p:nvPr/>
          </p:nvGrpSpPr>
          <p:grpSpPr>
            <a:xfrm>
              <a:off x="2530207" y="4940342"/>
              <a:ext cx="7733804" cy="1035800"/>
              <a:chOff x="2530207" y="4940342"/>
              <a:chExt cx="7733804" cy="1035800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FFE7DEEF-1451-FE6B-E0FD-0E0D08625E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260" b="77077"/>
              <a:stretch/>
            </p:blipFill>
            <p:spPr>
              <a:xfrm>
                <a:off x="2530207" y="4940342"/>
                <a:ext cx="7733804" cy="352621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3146AA77-B166-9EC4-AD8E-17B2F28402E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7260" t="55424"/>
              <a:stretch/>
            </p:blipFill>
            <p:spPr>
              <a:xfrm>
                <a:off x="2530207" y="5290423"/>
                <a:ext cx="7733804" cy="685719"/>
              </a:xfrm>
              <a:prstGeom prst="rect">
                <a:avLst/>
              </a:prstGeom>
            </p:spPr>
          </p:pic>
        </p:grpSp>
        <p:sp>
          <p:nvSpPr>
            <p:cNvPr id="21" name="Rounded Rectangle 4">
              <a:extLst>
                <a:ext uri="{FF2B5EF4-FFF2-40B4-BE49-F238E27FC236}">
                  <a16:creationId xmlns:a16="http://schemas.microsoft.com/office/drawing/2014/main" id="{F4810DC2-C0D6-46AF-3EE4-ED1FFD345D09}"/>
                </a:ext>
              </a:extLst>
            </p:cNvPr>
            <p:cNvSpPr/>
            <p:nvPr/>
          </p:nvSpPr>
          <p:spPr bwMode="auto">
            <a:xfrm flipV="1">
              <a:off x="7169638" y="5078881"/>
              <a:ext cx="851947" cy="227204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ounded Rectangle 4">
              <a:extLst>
                <a:ext uri="{FF2B5EF4-FFF2-40B4-BE49-F238E27FC236}">
                  <a16:creationId xmlns:a16="http://schemas.microsoft.com/office/drawing/2014/main" id="{15195305-F301-3359-2D91-FD09B788FEEB}"/>
                </a:ext>
              </a:extLst>
            </p:cNvPr>
            <p:cNvSpPr/>
            <p:nvPr/>
          </p:nvSpPr>
          <p:spPr bwMode="auto">
            <a:xfrm flipV="1">
              <a:off x="5658388" y="5760537"/>
              <a:ext cx="851947" cy="227204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F294D1C6-3ACB-C448-E545-48C3BAB46D5D}"/>
              </a:ext>
            </a:extLst>
          </p:cNvPr>
          <p:cNvSpPr/>
          <p:nvPr/>
        </p:nvSpPr>
        <p:spPr>
          <a:xfrm>
            <a:off x="408674" y="3991598"/>
            <a:ext cx="2766556" cy="942683"/>
          </a:xfrm>
          <a:prstGeom prst="wedgeRoundRectCallout">
            <a:avLst>
              <a:gd name="adj1" fmla="val -5891"/>
              <a:gd name="adj2" fmla="val 11452"/>
              <a:gd name="adj3" fmla="val 16667"/>
            </a:avLst>
          </a:pr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Power </a:t>
            </a:r>
            <a:r>
              <a:rPr lang="de-DE" sz="1800">
                <a:solidFill>
                  <a:srgbClr val="FFFFFF"/>
                </a:solidFill>
                <a:latin typeface="Calibri"/>
              </a:rPr>
              <a:t>s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upplies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MUST </a:t>
            </a:r>
          </a:p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turn</a:t>
            </a:r>
            <a:r>
              <a:rPr kumimoji="0" lang="de-DE" sz="1800" b="0" i="0" u="none" strike="noStrike" kern="1200" cap="none" spc="0" normalizeH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off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408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0" grpId="0" animBg="1"/>
      <p:bldP spid="13" grpId="0" animBg="1"/>
      <p:bldP spid="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104F08D-C5FC-A9FF-8023-B6F79680B565}"/>
              </a:ext>
            </a:extLst>
          </p:cNvPr>
          <p:cNvGrpSpPr/>
          <p:nvPr/>
        </p:nvGrpSpPr>
        <p:grpSpPr>
          <a:xfrm>
            <a:off x="4671001" y="6122225"/>
            <a:ext cx="6681863" cy="704855"/>
            <a:chOff x="5260471" y="6153145"/>
            <a:chExt cx="6681863" cy="704855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271CC61-F3DB-51E1-B3EB-F578F679F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60471" y="6153145"/>
              <a:ext cx="6681863" cy="704855"/>
            </a:xfrm>
            <a:prstGeom prst="rect">
              <a:avLst/>
            </a:prstGeom>
          </p:spPr>
        </p:pic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5231DF88-705F-E809-D6D7-E4B5B5BC8988}"/>
                </a:ext>
              </a:extLst>
            </p:cNvPr>
            <p:cNvSpPr/>
            <p:nvPr/>
          </p:nvSpPr>
          <p:spPr bwMode="auto">
            <a:xfrm>
              <a:off x="9965863" y="6462783"/>
              <a:ext cx="1343288" cy="262111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E2A9E0FD-0016-7797-9777-2E653878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sz="3600"/>
              <a:t>Wake – Sleep Cycle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D6250B-B6B0-7FCF-DC6E-96AD89AE761E}"/>
              </a:ext>
            </a:extLst>
          </p:cNvPr>
          <p:cNvGrpSpPr/>
          <p:nvPr/>
        </p:nvGrpSpPr>
        <p:grpSpPr>
          <a:xfrm rot="5400000">
            <a:off x="3681455" y="2358621"/>
            <a:ext cx="4925098" cy="1368262"/>
            <a:chOff x="3474567" y="2528454"/>
            <a:chExt cx="5508875" cy="136826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C7992ED-3B67-FB4F-C368-68832B9DD0CE}"/>
                </a:ext>
              </a:extLst>
            </p:cNvPr>
            <p:cNvSpPr/>
            <p:nvPr/>
          </p:nvSpPr>
          <p:spPr>
            <a:xfrm rot="16200000">
              <a:off x="3744046" y="2870015"/>
              <a:ext cx="1309123" cy="74427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ACTIVE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38FFBFF-6704-4757-36CC-A1CB3984230A}"/>
                </a:ext>
              </a:extLst>
            </p:cNvPr>
            <p:cNvSpPr/>
            <p:nvPr/>
          </p:nvSpPr>
          <p:spPr>
            <a:xfrm rot="16200000">
              <a:off x="7372964" y="2810876"/>
              <a:ext cx="1309123" cy="744279"/>
            </a:xfrm>
            <a:prstGeom prst="ellipse">
              <a:avLst/>
            </a:prstGeom>
            <a:solidFill>
              <a:srgbClr val="ED1B2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SLEEP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A4E59E2-BDAD-3694-09D8-FEB5E7D553E9}"/>
                </a:ext>
              </a:extLst>
            </p:cNvPr>
            <p:cNvCxnSpPr>
              <a:cxnSpLocks/>
            </p:cNvCxnSpPr>
            <p:nvPr/>
          </p:nvCxnSpPr>
          <p:spPr>
            <a:xfrm>
              <a:off x="5098083" y="3625939"/>
              <a:ext cx="2397611" cy="0"/>
            </a:xfrm>
            <a:prstGeom prst="straightConnector1">
              <a:avLst/>
            </a:prstGeom>
            <a:ln w="57150">
              <a:solidFill>
                <a:srgbClr val="1879C5"/>
              </a:solidFill>
              <a:headEnd w="med" len="lg"/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D267FA7-CA88-C26A-C474-BE724D8712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7156" y="2824810"/>
              <a:ext cx="2397610" cy="12532"/>
            </a:xfrm>
            <a:prstGeom prst="straightConnector1">
              <a:avLst/>
            </a:prstGeom>
            <a:ln w="57150">
              <a:solidFill>
                <a:srgbClr val="1879C5"/>
              </a:solidFill>
              <a:headEnd type="triangle" w="lg" len="lg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rrow: Curved Left 9">
              <a:extLst>
                <a:ext uri="{FF2B5EF4-FFF2-40B4-BE49-F238E27FC236}">
                  <a16:creationId xmlns:a16="http://schemas.microsoft.com/office/drawing/2014/main" id="{6725051D-C1E1-C5B8-E260-30EBC4BC2770}"/>
                </a:ext>
              </a:extLst>
            </p:cNvPr>
            <p:cNvSpPr/>
            <p:nvPr/>
          </p:nvSpPr>
          <p:spPr>
            <a:xfrm rot="10800000" flipH="1">
              <a:off x="8636111" y="2779001"/>
              <a:ext cx="347331" cy="808026"/>
            </a:xfrm>
            <a:prstGeom prst="curvedLeftArrow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Arrow: Curved Left 10">
              <a:extLst>
                <a:ext uri="{FF2B5EF4-FFF2-40B4-BE49-F238E27FC236}">
                  <a16:creationId xmlns:a16="http://schemas.microsoft.com/office/drawing/2014/main" id="{C2CFD12A-97F2-2023-83E1-B3967EFF9EAD}"/>
                </a:ext>
              </a:extLst>
            </p:cNvPr>
            <p:cNvSpPr/>
            <p:nvPr/>
          </p:nvSpPr>
          <p:spPr>
            <a:xfrm flipH="1">
              <a:off x="3474567" y="2824811"/>
              <a:ext cx="347331" cy="773590"/>
            </a:xfrm>
            <a:prstGeom prst="curvedLeftArrow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E6880FA-8C89-9BF6-6F7A-4BC8B2C64034}"/>
              </a:ext>
            </a:extLst>
          </p:cNvPr>
          <p:cNvGrpSpPr/>
          <p:nvPr/>
        </p:nvGrpSpPr>
        <p:grpSpPr>
          <a:xfrm>
            <a:off x="246491" y="5750486"/>
            <a:ext cx="6692977" cy="769278"/>
            <a:chOff x="4160661" y="2889853"/>
            <a:chExt cx="7736445" cy="76927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962FB39-5D40-7913-CD6A-1927CEE873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7228"/>
            <a:stretch/>
          </p:blipFill>
          <p:spPr>
            <a:xfrm>
              <a:off x="4160661" y="2928579"/>
              <a:ext cx="7736445" cy="70485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Rounded Rectangle 4">
              <a:extLst>
                <a:ext uri="{FF2B5EF4-FFF2-40B4-BE49-F238E27FC236}">
                  <a16:creationId xmlns:a16="http://schemas.microsoft.com/office/drawing/2014/main" id="{31EDFD3C-5833-FADC-06E0-2FF69E7D7C40}"/>
                </a:ext>
              </a:extLst>
            </p:cNvPr>
            <p:cNvSpPr/>
            <p:nvPr/>
          </p:nvSpPr>
          <p:spPr bwMode="auto">
            <a:xfrm>
              <a:off x="8127567" y="2889853"/>
              <a:ext cx="1507930" cy="267488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1879C5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4055DC56-FDC2-DEF3-4374-67977FC6C4F7}"/>
                </a:ext>
              </a:extLst>
            </p:cNvPr>
            <p:cNvSpPr/>
            <p:nvPr/>
          </p:nvSpPr>
          <p:spPr bwMode="auto">
            <a:xfrm>
              <a:off x="5849792" y="2895443"/>
              <a:ext cx="768692" cy="262111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rgbClr val="1879C5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ounded Rectangle 4">
              <a:extLst>
                <a:ext uri="{FF2B5EF4-FFF2-40B4-BE49-F238E27FC236}">
                  <a16:creationId xmlns:a16="http://schemas.microsoft.com/office/drawing/2014/main" id="{07CECF67-FB16-B0A8-B08A-8BCB9B567DB9}"/>
                </a:ext>
              </a:extLst>
            </p:cNvPr>
            <p:cNvSpPr/>
            <p:nvPr/>
          </p:nvSpPr>
          <p:spPr bwMode="auto">
            <a:xfrm>
              <a:off x="8115421" y="3404849"/>
              <a:ext cx="1510921" cy="254282"/>
            </a:xfrm>
            <a:prstGeom prst="roundRect">
              <a:avLst/>
            </a:prstGeom>
            <a:solidFill>
              <a:srgbClr val="FF0000">
                <a:alpha val="1176"/>
              </a:srgbClr>
            </a:solidFill>
            <a:ln w="28575" algn="ctr">
              <a:solidFill>
                <a:schemeClr val="accent2"/>
              </a:solidFill>
              <a:round/>
              <a:headEnd/>
              <a:tailEnd/>
            </a:ln>
            <a:effectLst>
              <a:outerShdw blurRad="38100" dist="38100" dir="2700000" algn="tl" rotWithShape="0">
                <a:schemeClr val="bg1">
                  <a:lumMod val="75000"/>
                </a:schemeClr>
              </a:outerShdw>
            </a:effectLst>
          </p:spPr>
          <p:txBody>
            <a:bodyPr lIns="35991" tIns="0" rIns="35991" bIns="0" rtlCol="0" anchor="t" anchorCtr="0"/>
            <a:lstStyle/>
            <a:p>
              <a:pPr marL="287914" marR="0" lvl="0" indent="-287914" algn="ctr" defTabSz="609443" rtl="0" eaLnBrk="1" fontAlgn="auto" latinLnBrk="0" hangingPunct="1">
                <a:lnSpc>
                  <a:spcPct val="100000"/>
                </a:lnSpc>
                <a:spcBef>
                  <a:spcPct val="30000"/>
                </a:spcBef>
                <a:spcAft>
                  <a:spcPts val="0"/>
                </a:spcAft>
                <a:buClr>
                  <a:srgbClr val="C00000"/>
                </a:buClr>
                <a:buSzPct val="75000"/>
                <a:buFont typeface="Wingdings" pitchFamily="2" charset="2"/>
                <a:buChar char="n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8C886F-1FEA-B611-4E34-71D695942441}"/>
              </a:ext>
            </a:extLst>
          </p:cNvPr>
          <p:cNvGrpSpPr/>
          <p:nvPr/>
        </p:nvGrpSpPr>
        <p:grpSpPr>
          <a:xfrm>
            <a:off x="2894151" y="1010881"/>
            <a:ext cx="1926922" cy="631454"/>
            <a:chOff x="4637526" y="2352707"/>
            <a:chExt cx="3728536" cy="1228447"/>
          </a:xfrm>
        </p:grpSpPr>
        <p:sp>
          <p:nvSpPr>
            <p:cNvPr id="21" name="Callout: Line with No Border 20">
              <a:extLst>
                <a:ext uri="{FF2B5EF4-FFF2-40B4-BE49-F238E27FC236}">
                  <a16:creationId xmlns:a16="http://schemas.microsoft.com/office/drawing/2014/main" id="{6C0E5CDE-9596-4E86-B495-F80DF73A5417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16672"/>
                <a:gd name="adj2" fmla="val 204257"/>
                <a:gd name="adj3" fmla="val 56464"/>
                <a:gd name="adj4" fmla="val 311776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Speech Bubble: Rectangle with Corners Rounded 23">
              <a:extLst>
                <a:ext uri="{FF2B5EF4-FFF2-40B4-BE49-F238E27FC236}">
                  <a16:creationId xmlns:a16="http://schemas.microsoft.com/office/drawing/2014/main" id="{A6A9246E-8E1D-893A-1A73-4036D99EF8BE}"/>
                </a:ext>
              </a:extLst>
            </p:cNvPr>
            <p:cNvSpPr/>
            <p:nvPr/>
          </p:nvSpPr>
          <p:spPr>
            <a:xfrm>
              <a:off x="4637526" y="2352707"/>
              <a:ext cx="3728536" cy="1228447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DDA/P/U = ON,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INH = 1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AB0EB5-1DD3-EC07-DB7B-B8CA832A942B}"/>
              </a:ext>
            </a:extLst>
          </p:cNvPr>
          <p:cNvGrpSpPr/>
          <p:nvPr/>
        </p:nvGrpSpPr>
        <p:grpSpPr>
          <a:xfrm>
            <a:off x="415811" y="2024429"/>
            <a:ext cx="4314813" cy="1778538"/>
            <a:chOff x="4420808" y="2361533"/>
            <a:chExt cx="3728536" cy="1228447"/>
          </a:xfrm>
        </p:grpSpPr>
        <p:sp>
          <p:nvSpPr>
            <p:cNvPr id="27" name="Callout: Line with No Border 26">
              <a:extLst>
                <a:ext uri="{FF2B5EF4-FFF2-40B4-BE49-F238E27FC236}">
                  <a16:creationId xmlns:a16="http://schemas.microsoft.com/office/drawing/2014/main" id="{9F0AA74A-5040-2BC2-ECD9-932246F65A7A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11143"/>
                <a:gd name="adj2" fmla="val 205025"/>
                <a:gd name="adj3" fmla="val 32471"/>
                <a:gd name="adj4" fmla="val 256086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Speech Bubble: Rectangle with Corners Rounded 29">
              <a:extLst>
                <a:ext uri="{FF2B5EF4-FFF2-40B4-BE49-F238E27FC236}">
                  <a16:creationId xmlns:a16="http://schemas.microsoft.com/office/drawing/2014/main" id="{F909F21E-A861-3961-2B88-4459E857C9AB}"/>
                </a:ext>
              </a:extLst>
            </p:cNvPr>
            <p:cNvSpPr/>
            <p:nvPr/>
          </p:nvSpPr>
          <p:spPr>
            <a:xfrm>
              <a:off x="4420808" y="2361533"/>
              <a:ext cx="3728536" cy="1228447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Inactivity watchdog timeout </a:t>
              </a:r>
              <a:r>
                <a:rPr kumimoji="0" lang="en-DE" sz="1800" b="0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or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app sets 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SLPEN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(Sleep Enable) = 1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ait for 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SLPINHDLY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(Sleep Inhibit Delay)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Then release 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INH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pin</a:t>
              </a:r>
              <a:r>
                <a:rPr lang="en-US" sz="1800">
                  <a:solidFill>
                    <a:srgbClr val="FFFFFF"/>
                  </a:solidFill>
                  <a:latin typeface="Calibri"/>
                </a:rPr>
                <a:t>.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</a:t>
              </a:r>
              <a:r>
                <a:rPr lang="en-US" sz="1800" err="1">
                  <a:solidFill>
                    <a:srgbClr val="FFFFFF"/>
                  </a:solidFill>
                  <a:latin typeface="Calibri"/>
                </a:rPr>
                <a:t>ower</a:t>
              </a:r>
              <a:r>
                <a:rPr lang="en-US" sz="1800">
                  <a:solidFill>
                    <a:srgbClr val="FFFFFF"/>
                  </a:solidFill>
                  <a:latin typeface="Calibri"/>
                </a:rPr>
                <a:t> supplies turn off</a:t>
              </a:r>
              <a:endPara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7FECD12-3213-D8CD-585C-8DE5B6C1A48B}"/>
              </a:ext>
            </a:extLst>
          </p:cNvPr>
          <p:cNvGrpSpPr/>
          <p:nvPr/>
        </p:nvGrpSpPr>
        <p:grpSpPr>
          <a:xfrm>
            <a:off x="2834040" y="4146208"/>
            <a:ext cx="1987033" cy="974975"/>
            <a:chOff x="3785341" y="2405503"/>
            <a:chExt cx="4567236" cy="1267561"/>
          </a:xfrm>
        </p:grpSpPr>
        <p:sp>
          <p:nvSpPr>
            <p:cNvPr id="32" name="Callout: Line with No Border 31">
              <a:extLst>
                <a:ext uri="{FF2B5EF4-FFF2-40B4-BE49-F238E27FC236}">
                  <a16:creationId xmlns:a16="http://schemas.microsoft.com/office/drawing/2014/main" id="{2AFA3444-0D3F-D86A-164B-5DFBBABEDD7E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-2511"/>
                <a:gd name="adj2" fmla="val 188268"/>
                <a:gd name="adj3" fmla="val 34404"/>
                <a:gd name="adj4" fmla="val 343438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Speech Bubble: Rectangle with Corners Rounded 34">
              <a:extLst>
                <a:ext uri="{FF2B5EF4-FFF2-40B4-BE49-F238E27FC236}">
                  <a16:creationId xmlns:a16="http://schemas.microsoft.com/office/drawing/2014/main" id="{BCD3E071-1ED5-D39C-F53E-E31B337176ED}"/>
                </a:ext>
              </a:extLst>
            </p:cNvPr>
            <p:cNvSpPr/>
            <p:nvPr/>
          </p:nvSpPr>
          <p:spPr>
            <a:xfrm>
              <a:off x="3785341" y="2405503"/>
              <a:ext cx="4567236" cy="1267561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Device in SLEEP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DDAU = ON,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INH = 0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23981B1-FD5D-A83D-1331-16C0DB1208F9}"/>
              </a:ext>
            </a:extLst>
          </p:cNvPr>
          <p:cNvGrpSpPr/>
          <p:nvPr/>
        </p:nvGrpSpPr>
        <p:grpSpPr>
          <a:xfrm>
            <a:off x="7546849" y="4495899"/>
            <a:ext cx="3290869" cy="1214630"/>
            <a:chOff x="4603544" y="2705168"/>
            <a:chExt cx="3728536" cy="1093811"/>
          </a:xfrm>
          <a:solidFill>
            <a:schemeClr val="accent2"/>
          </a:solidFill>
        </p:grpSpPr>
        <p:sp>
          <p:nvSpPr>
            <p:cNvPr id="37" name="Callout: Line with No Border 36">
              <a:extLst>
                <a:ext uri="{FF2B5EF4-FFF2-40B4-BE49-F238E27FC236}">
                  <a16:creationId xmlns:a16="http://schemas.microsoft.com/office/drawing/2014/main" id="{5B6B82FE-5D6B-8EFB-4677-97442F031D00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104407"/>
                <a:gd name="adj2" fmla="val -177954"/>
                <a:gd name="adj3" fmla="val 64393"/>
                <a:gd name="adj4" fmla="val -278332"/>
              </a:avLst>
            </a:prstGeom>
            <a:noFill/>
            <a:ln w="38100" cap="rnd">
              <a:solidFill>
                <a:srgbClr val="FD6E0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Speech Bubble: Rectangle with Corners Rounded 39">
              <a:extLst>
                <a:ext uri="{FF2B5EF4-FFF2-40B4-BE49-F238E27FC236}">
                  <a16:creationId xmlns:a16="http://schemas.microsoft.com/office/drawing/2014/main" id="{D4226150-DBA5-DBA1-37B5-32C28816A3D4}"/>
                </a:ext>
              </a:extLst>
            </p:cNvPr>
            <p:cNvSpPr/>
            <p:nvPr/>
          </p:nvSpPr>
          <p:spPr>
            <a:xfrm>
              <a:off x="4603544" y="2705168"/>
              <a:ext cx="3728536" cy="1093811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>
                  <a:solidFill>
                    <a:srgbClr val="FFFFFF"/>
                  </a:solidFill>
                  <a:latin typeface="Calibri"/>
                </a:rPr>
                <a:t>WAKE_IN asserted or 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800" b="1">
                  <a:solidFill>
                    <a:srgbClr val="FFFFFF"/>
                  </a:solidFill>
                  <a:latin typeface="Calibri"/>
                </a:rPr>
                <a:t>any activity detected on MDI</a:t>
              </a:r>
              <a:endParaRPr kumimoji="0" lang="en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Drive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INH = 1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VDDA/P/U = ON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9BF9BC7-DD3A-63F6-8D64-77759C25EA35}"/>
              </a:ext>
            </a:extLst>
          </p:cNvPr>
          <p:cNvGrpSpPr/>
          <p:nvPr/>
        </p:nvGrpSpPr>
        <p:grpSpPr>
          <a:xfrm>
            <a:off x="7458202" y="2603263"/>
            <a:ext cx="4314813" cy="1406910"/>
            <a:chOff x="4481014" y="2523787"/>
            <a:chExt cx="3728536" cy="1228448"/>
          </a:xfrm>
          <a:solidFill>
            <a:schemeClr val="accent2"/>
          </a:solidFill>
        </p:grpSpPr>
        <p:sp>
          <p:nvSpPr>
            <p:cNvPr id="42" name="Callout: Line with No Border 41">
              <a:extLst>
                <a:ext uri="{FF2B5EF4-FFF2-40B4-BE49-F238E27FC236}">
                  <a16:creationId xmlns:a16="http://schemas.microsoft.com/office/drawing/2014/main" id="{C9C208AF-59F1-7A2E-EE03-52235B0C44A0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94264"/>
                <a:gd name="adj2" fmla="val -200921"/>
                <a:gd name="adj3" fmla="val 66322"/>
                <a:gd name="adj4" fmla="val -256933"/>
              </a:avLst>
            </a:prstGeom>
            <a:noFill/>
            <a:ln w="38100" cap="rnd">
              <a:solidFill>
                <a:srgbClr val="FD6E0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Speech Bubble: Rectangle with Corners Rounded 44">
              <a:extLst>
                <a:ext uri="{FF2B5EF4-FFF2-40B4-BE49-F238E27FC236}">
                  <a16:creationId xmlns:a16="http://schemas.microsoft.com/office/drawing/2014/main" id="{A4E6D6FE-4D5C-836E-82DC-3A9FF563C977}"/>
                </a:ext>
              </a:extLst>
            </p:cNvPr>
            <p:cNvSpPr/>
            <p:nvPr/>
          </p:nvSpPr>
          <p:spPr>
            <a:xfrm>
              <a:off x="4481014" y="2523787"/>
              <a:ext cx="3728536" cy="1228448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if 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WAKEIND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(Wake Indication) = 1,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set 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CLRWKI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(clear wake indication) = 1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to activate wake-detection for the next wake-up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5FBCB99-B17D-07E6-DF57-033C9F8AB8C7}"/>
              </a:ext>
            </a:extLst>
          </p:cNvPr>
          <p:cNvGrpSpPr/>
          <p:nvPr/>
        </p:nvGrpSpPr>
        <p:grpSpPr>
          <a:xfrm>
            <a:off x="7441357" y="787495"/>
            <a:ext cx="4314813" cy="1406909"/>
            <a:chOff x="4466458" y="2553974"/>
            <a:chExt cx="3728536" cy="1228447"/>
          </a:xfrm>
          <a:solidFill>
            <a:schemeClr val="accent2"/>
          </a:solidFill>
        </p:grpSpPr>
        <p:sp>
          <p:nvSpPr>
            <p:cNvPr id="47" name="Callout: Line with No Border 46">
              <a:extLst>
                <a:ext uri="{FF2B5EF4-FFF2-40B4-BE49-F238E27FC236}">
                  <a16:creationId xmlns:a16="http://schemas.microsoft.com/office/drawing/2014/main" id="{86890F94-F745-919E-3606-B377FD3C834A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94264"/>
                <a:gd name="adj2" fmla="val -198460"/>
                <a:gd name="adj3" fmla="val 64265"/>
                <a:gd name="adj4" fmla="val -255813"/>
              </a:avLst>
            </a:prstGeom>
            <a:noFill/>
            <a:ln w="38100" cap="rnd">
              <a:solidFill>
                <a:srgbClr val="FD6E0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Speech Bubble: Rectangle with Corners Rounded 49">
              <a:extLst>
                <a:ext uri="{FF2B5EF4-FFF2-40B4-BE49-F238E27FC236}">
                  <a16:creationId xmlns:a16="http://schemas.microsoft.com/office/drawing/2014/main" id="{505FF004-AECF-4410-D3BC-4A2828C011C4}"/>
                </a:ext>
              </a:extLst>
            </p:cNvPr>
            <p:cNvSpPr/>
            <p:nvPr/>
          </p:nvSpPr>
          <p:spPr>
            <a:xfrm>
              <a:off x="4466458" y="2553974"/>
              <a:ext cx="3728536" cy="1228447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heck if 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WAKEIND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(Wake Indication) = 1,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 case of a wake event: 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 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WKEWI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(wake over Wake IN), 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check 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WKEMDI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 (wake over MDI)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871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7B0A-DC38-C0F8-6D63-528E9DA1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Wake/Sleep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046EA-11A1-76CA-A52E-A39016A5F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LAN8670/1/2 Rev D</a:t>
            </a:r>
          </a:p>
          <a:p>
            <a:r>
              <a:rPr lang="de-DE"/>
              <a:t>LAN8650/1 Rev 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937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4A27A2D-CE90-67F7-9E36-BDC317C5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Going to SLEEP – </a:t>
            </a:r>
            <a:r>
              <a:rPr lang="de-DE" err="1"/>
              <a:t>Only</a:t>
            </a:r>
            <a:r>
              <a:rPr lang="de-DE"/>
              <a:t> </a:t>
            </a:r>
            <a:r>
              <a:rPr lang="de-DE" err="1"/>
              <a:t>One</a:t>
            </a:r>
            <a:r>
              <a:rPr lang="en-DE"/>
              <a:t> Way</a:t>
            </a:r>
            <a:endParaRPr lang="en-US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44D7FCC-5E44-B6D8-0063-3CC6A8DB34B9}"/>
              </a:ext>
            </a:extLst>
          </p:cNvPr>
          <p:cNvSpPr/>
          <p:nvPr/>
        </p:nvSpPr>
        <p:spPr>
          <a:xfrm>
            <a:off x="398675" y="1113732"/>
            <a:ext cx="2766556" cy="942683"/>
          </a:xfrm>
          <a:prstGeom prst="wedgeRoundRectCallout">
            <a:avLst>
              <a:gd name="adj1" fmla="val -8528"/>
              <a:gd name="adj2" fmla="val 42871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Host actively sets </a:t>
            </a:r>
          </a:p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SLPEN</a:t>
            </a: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(Sleep Enable) = 1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E1168A5A-C400-F1D8-7C26-F1B2E8CC2D5B}"/>
              </a:ext>
            </a:extLst>
          </p:cNvPr>
          <p:cNvSpPr/>
          <p:nvPr/>
        </p:nvSpPr>
        <p:spPr>
          <a:xfrm>
            <a:off x="398675" y="2306070"/>
            <a:ext cx="2766556" cy="942683"/>
          </a:xfrm>
          <a:prstGeom prst="wedgeRoundRectCallout">
            <a:avLst>
              <a:gd name="adj1" fmla="val -5891"/>
              <a:gd name="adj2" fmla="val 11452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LAN865x or LAN867x waits for </a:t>
            </a:r>
            <a:r>
              <a:rPr kumimoji="0" lang="en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SLPINHDLY</a:t>
            </a: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</a:t>
            </a:r>
          </a:p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(Sleep Inhibit Delay)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76CFBFDA-7F13-3462-DA58-59EA73AF5AFC}"/>
              </a:ext>
            </a:extLst>
          </p:cNvPr>
          <p:cNvSpPr/>
          <p:nvPr/>
        </p:nvSpPr>
        <p:spPr>
          <a:xfrm>
            <a:off x="398675" y="3498408"/>
            <a:ext cx="2766556" cy="942683"/>
          </a:xfrm>
          <a:prstGeom prst="wedgeRoundRectCallout">
            <a:avLst>
              <a:gd name="adj1" fmla="val -5891"/>
              <a:gd name="adj2" fmla="val 11452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LAN865x or LAN867x releases  </a:t>
            </a:r>
            <a:r>
              <a:rPr kumimoji="0" lang="en-DE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INH</a:t>
            </a:r>
            <a:r>
              <a: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pin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3C5E842-828A-2446-99F4-AFB2EB6BDBA1}"/>
              </a:ext>
            </a:extLst>
          </p:cNvPr>
          <p:cNvSpPr/>
          <p:nvPr/>
        </p:nvSpPr>
        <p:spPr>
          <a:xfrm>
            <a:off x="5088619" y="1873660"/>
            <a:ext cx="238291" cy="1712699"/>
          </a:xfrm>
          <a:prstGeom prst="downArrow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98DA37A-DAC8-667F-C37F-16C5DF434C68}"/>
              </a:ext>
            </a:extLst>
          </p:cNvPr>
          <p:cNvSpPr/>
          <p:nvPr/>
        </p:nvSpPr>
        <p:spPr>
          <a:xfrm>
            <a:off x="4550950" y="1207153"/>
            <a:ext cx="1309123" cy="482147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ACTIVE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CDD8067-58E3-508B-9C0A-9A65396E8033}"/>
              </a:ext>
            </a:extLst>
          </p:cNvPr>
          <p:cNvSpPr/>
          <p:nvPr/>
        </p:nvSpPr>
        <p:spPr>
          <a:xfrm>
            <a:off x="4536447" y="3813047"/>
            <a:ext cx="1309123" cy="482147"/>
          </a:xfrm>
          <a:prstGeom prst="ellipse">
            <a:avLst/>
          </a:prstGeom>
          <a:solidFill>
            <a:srgbClr val="ED1B2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0944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DE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SLEEP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1128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2" grpId="0" animBg="1"/>
      <p:bldP spid="10" grpId="0" animBg="1"/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A9E0FD-0016-7797-9777-2E653878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DE" sz="3600"/>
              <a:t>Wake – Sleep Cycle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6D6250B-B6B0-7FCF-DC6E-96AD89AE761E}"/>
              </a:ext>
            </a:extLst>
          </p:cNvPr>
          <p:cNvGrpSpPr/>
          <p:nvPr/>
        </p:nvGrpSpPr>
        <p:grpSpPr>
          <a:xfrm rot="5400000">
            <a:off x="3905343" y="2134734"/>
            <a:ext cx="4477321" cy="1368262"/>
            <a:chOff x="3474567" y="2528454"/>
            <a:chExt cx="5508875" cy="136826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EC7992ED-3B67-FB4F-C368-68832B9DD0CE}"/>
                </a:ext>
              </a:extLst>
            </p:cNvPr>
            <p:cNvSpPr/>
            <p:nvPr/>
          </p:nvSpPr>
          <p:spPr>
            <a:xfrm rot="16200000">
              <a:off x="3744046" y="2870015"/>
              <a:ext cx="1309123" cy="744279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ACTIVE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38FFBFF-6704-4757-36CC-A1CB3984230A}"/>
                </a:ext>
              </a:extLst>
            </p:cNvPr>
            <p:cNvSpPr/>
            <p:nvPr/>
          </p:nvSpPr>
          <p:spPr>
            <a:xfrm rot="16200000">
              <a:off x="7372964" y="2810876"/>
              <a:ext cx="1309123" cy="744279"/>
            </a:xfrm>
            <a:prstGeom prst="ellipse">
              <a:avLst/>
            </a:prstGeom>
            <a:solidFill>
              <a:srgbClr val="ED1B2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SLEEP</a:t>
              </a: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A4E59E2-BDAD-3694-09D8-FEB5E7D553E9}"/>
                </a:ext>
              </a:extLst>
            </p:cNvPr>
            <p:cNvCxnSpPr>
              <a:cxnSpLocks/>
            </p:cNvCxnSpPr>
            <p:nvPr/>
          </p:nvCxnSpPr>
          <p:spPr>
            <a:xfrm>
              <a:off x="5098083" y="3625939"/>
              <a:ext cx="2397611" cy="0"/>
            </a:xfrm>
            <a:prstGeom prst="straightConnector1">
              <a:avLst/>
            </a:prstGeom>
            <a:ln w="57150">
              <a:solidFill>
                <a:srgbClr val="1879C5"/>
              </a:solidFill>
              <a:headEnd w="med" len="lg"/>
              <a:tailEnd type="triangl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D267FA7-CA88-C26A-C474-BE724D8712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7156" y="2824810"/>
              <a:ext cx="2397610" cy="12532"/>
            </a:xfrm>
            <a:prstGeom prst="straightConnector1">
              <a:avLst/>
            </a:prstGeom>
            <a:ln w="57150">
              <a:solidFill>
                <a:srgbClr val="1879C5"/>
              </a:solidFill>
              <a:headEnd type="triangle" w="lg" len="lg"/>
              <a:tailEnd type="none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Arrow: Curved Left 9">
              <a:extLst>
                <a:ext uri="{FF2B5EF4-FFF2-40B4-BE49-F238E27FC236}">
                  <a16:creationId xmlns:a16="http://schemas.microsoft.com/office/drawing/2014/main" id="{6725051D-C1E1-C5B8-E260-30EBC4BC2770}"/>
                </a:ext>
              </a:extLst>
            </p:cNvPr>
            <p:cNvSpPr/>
            <p:nvPr/>
          </p:nvSpPr>
          <p:spPr>
            <a:xfrm rot="10800000" flipH="1">
              <a:off x="8636111" y="2779001"/>
              <a:ext cx="347331" cy="808026"/>
            </a:xfrm>
            <a:prstGeom prst="curvedLeftArrow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Arrow: Curved Left 10">
              <a:extLst>
                <a:ext uri="{FF2B5EF4-FFF2-40B4-BE49-F238E27FC236}">
                  <a16:creationId xmlns:a16="http://schemas.microsoft.com/office/drawing/2014/main" id="{C2CFD12A-97F2-2023-83E1-B3967EFF9EAD}"/>
                </a:ext>
              </a:extLst>
            </p:cNvPr>
            <p:cNvSpPr/>
            <p:nvPr/>
          </p:nvSpPr>
          <p:spPr>
            <a:xfrm flipH="1">
              <a:off x="3474567" y="2824811"/>
              <a:ext cx="347331" cy="773590"/>
            </a:xfrm>
            <a:prstGeom prst="curvedLeftArrow">
              <a:avLst/>
            </a:prstGeom>
            <a:solidFill>
              <a:srgbClr val="0070C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A0B0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8C886F-1FEA-B611-4E34-71D695942441}"/>
              </a:ext>
            </a:extLst>
          </p:cNvPr>
          <p:cNvGrpSpPr/>
          <p:nvPr/>
        </p:nvGrpSpPr>
        <p:grpSpPr>
          <a:xfrm>
            <a:off x="2894151" y="1010881"/>
            <a:ext cx="1926922" cy="631454"/>
            <a:chOff x="4637526" y="2352707"/>
            <a:chExt cx="3728536" cy="1228447"/>
          </a:xfrm>
        </p:grpSpPr>
        <p:sp>
          <p:nvSpPr>
            <p:cNvPr id="21" name="Callout: Line with No Border 20">
              <a:extLst>
                <a:ext uri="{FF2B5EF4-FFF2-40B4-BE49-F238E27FC236}">
                  <a16:creationId xmlns:a16="http://schemas.microsoft.com/office/drawing/2014/main" id="{6C0E5CDE-9596-4E86-B495-F80DF73A5417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16672"/>
                <a:gd name="adj2" fmla="val 204257"/>
                <a:gd name="adj3" fmla="val 56464"/>
                <a:gd name="adj4" fmla="val 311776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Speech Bubble: Rectangle with Corners Rounded 23">
              <a:extLst>
                <a:ext uri="{FF2B5EF4-FFF2-40B4-BE49-F238E27FC236}">
                  <a16:creationId xmlns:a16="http://schemas.microsoft.com/office/drawing/2014/main" id="{A6A9246E-8E1D-893A-1A73-4036D99EF8BE}"/>
                </a:ext>
              </a:extLst>
            </p:cNvPr>
            <p:cNvSpPr/>
            <p:nvPr/>
          </p:nvSpPr>
          <p:spPr>
            <a:xfrm>
              <a:off x="4637526" y="2352707"/>
              <a:ext cx="3728536" cy="1228447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DDA/P/U = ON,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INH = 1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AB0EB5-1DD3-EC07-DB7B-B8CA832A942B}"/>
              </a:ext>
            </a:extLst>
          </p:cNvPr>
          <p:cNvGrpSpPr/>
          <p:nvPr/>
        </p:nvGrpSpPr>
        <p:grpSpPr>
          <a:xfrm>
            <a:off x="522772" y="1915463"/>
            <a:ext cx="4314813" cy="1406909"/>
            <a:chOff x="4513236" y="2526605"/>
            <a:chExt cx="3728536" cy="1228447"/>
          </a:xfrm>
        </p:grpSpPr>
        <p:sp>
          <p:nvSpPr>
            <p:cNvPr id="27" name="Callout: Line with No Border 26">
              <a:extLst>
                <a:ext uri="{FF2B5EF4-FFF2-40B4-BE49-F238E27FC236}">
                  <a16:creationId xmlns:a16="http://schemas.microsoft.com/office/drawing/2014/main" id="{9F0AA74A-5040-2BC2-ECD9-932246F65A7A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11143"/>
                <a:gd name="adj2" fmla="val 205025"/>
                <a:gd name="adj3" fmla="val 32471"/>
                <a:gd name="adj4" fmla="val 256086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Speech Bubble: Rectangle with Corners Rounded 29">
              <a:extLst>
                <a:ext uri="{FF2B5EF4-FFF2-40B4-BE49-F238E27FC236}">
                  <a16:creationId xmlns:a16="http://schemas.microsoft.com/office/drawing/2014/main" id="{F909F21E-A861-3961-2B88-4459E857C9AB}"/>
                </a:ext>
              </a:extLst>
            </p:cNvPr>
            <p:cNvSpPr/>
            <p:nvPr/>
          </p:nvSpPr>
          <p:spPr>
            <a:xfrm>
              <a:off x="4513236" y="2526605"/>
              <a:ext cx="3728536" cy="1228447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pp sets  </a:t>
              </a:r>
              <a:r>
                <a:rPr lang="de-DE" sz="1800" b="1">
                  <a:solidFill>
                    <a:srgbClr val="FFFFFF"/>
                  </a:solidFill>
                  <a:latin typeface="Calibri"/>
                </a:rPr>
                <a:t>LPREQ </a:t>
              </a:r>
              <a:r>
                <a:rPr lang="de-DE" sz="1800" err="1">
                  <a:solidFill>
                    <a:srgbClr val="FFFFFF"/>
                  </a:solidFill>
                  <a:latin typeface="Calibri"/>
                </a:rPr>
                <a:t>bit</a:t>
              </a:r>
              <a:r>
                <a:rPr lang="de-DE" sz="1800">
                  <a:solidFill>
                    <a:srgbClr val="FFFFFF"/>
                  </a:solidFill>
                  <a:latin typeface="Calibri"/>
                </a:rPr>
                <a:t> in </a:t>
              </a:r>
              <a:r>
                <a:rPr lang="de-DE" sz="1800" b="1">
                  <a:solidFill>
                    <a:srgbClr val="FFFFFF"/>
                  </a:solidFill>
                  <a:latin typeface="Calibri"/>
                </a:rPr>
                <a:t>WS_CTRL </a:t>
              </a:r>
              <a:r>
                <a:rPr lang="de-DE" sz="1800" err="1">
                  <a:solidFill>
                    <a:srgbClr val="FFFFFF"/>
                  </a:solidFill>
                  <a:latin typeface="Calibri"/>
                </a:rPr>
                <a:t>register</a:t>
              </a:r>
              <a:r>
                <a:rPr lang="de-DE" sz="1800">
                  <a:solidFill>
                    <a:srgbClr val="FFFFFF"/>
                  </a:solidFill>
                  <a:latin typeface="Calibri"/>
                </a:rPr>
                <a:t>.</a:t>
              </a:r>
              <a:endParaRPr kumimoji="0" lang="en-DE" sz="18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DE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ait for 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SLPINHDLY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(Sleep Inhibit Delay)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Then release  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INH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pin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7FECD12-3213-D8CD-585C-8DE5B6C1A48B}"/>
              </a:ext>
            </a:extLst>
          </p:cNvPr>
          <p:cNvGrpSpPr/>
          <p:nvPr/>
        </p:nvGrpSpPr>
        <p:grpSpPr>
          <a:xfrm>
            <a:off x="2825076" y="3692164"/>
            <a:ext cx="1987033" cy="974975"/>
            <a:chOff x="3785341" y="2405503"/>
            <a:chExt cx="4567236" cy="1267561"/>
          </a:xfrm>
        </p:grpSpPr>
        <p:sp>
          <p:nvSpPr>
            <p:cNvPr id="32" name="Callout: Line with No Border 31">
              <a:extLst>
                <a:ext uri="{FF2B5EF4-FFF2-40B4-BE49-F238E27FC236}">
                  <a16:creationId xmlns:a16="http://schemas.microsoft.com/office/drawing/2014/main" id="{2AFA3444-0D3F-D86A-164B-5DFBBABEDD7E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-2511"/>
                <a:gd name="adj2" fmla="val 188268"/>
                <a:gd name="adj3" fmla="val 54584"/>
                <a:gd name="adj4" fmla="val 349692"/>
              </a:avLst>
            </a:prstGeom>
            <a:noFill/>
            <a:ln w="38100" cap="rnd"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Speech Bubble: Rectangle with Corners Rounded 34">
              <a:extLst>
                <a:ext uri="{FF2B5EF4-FFF2-40B4-BE49-F238E27FC236}">
                  <a16:creationId xmlns:a16="http://schemas.microsoft.com/office/drawing/2014/main" id="{BCD3E071-1ED5-D39C-F53E-E31B337176ED}"/>
                </a:ext>
              </a:extLst>
            </p:cNvPr>
            <p:cNvSpPr/>
            <p:nvPr/>
          </p:nvSpPr>
          <p:spPr>
            <a:xfrm>
              <a:off x="3785341" y="2405503"/>
              <a:ext cx="4567236" cy="1267561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solidFill>
              <a:srgbClr val="1879C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Device in SLEEP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DDAU = ON,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INH = 0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23981B1-FD5D-A83D-1331-16C0DB1208F9}"/>
              </a:ext>
            </a:extLst>
          </p:cNvPr>
          <p:cNvGrpSpPr/>
          <p:nvPr/>
        </p:nvGrpSpPr>
        <p:grpSpPr>
          <a:xfrm>
            <a:off x="7458202" y="3978152"/>
            <a:ext cx="2697475" cy="974975"/>
            <a:chOff x="4603544" y="2705168"/>
            <a:chExt cx="3728536" cy="1093811"/>
          </a:xfrm>
          <a:solidFill>
            <a:schemeClr val="accent2"/>
          </a:solidFill>
        </p:grpSpPr>
        <p:sp>
          <p:nvSpPr>
            <p:cNvPr id="37" name="Callout: Line with No Border 36">
              <a:extLst>
                <a:ext uri="{FF2B5EF4-FFF2-40B4-BE49-F238E27FC236}">
                  <a16:creationId xmlns:a16="http://schemas.microsoft.com/office/drawing/2014/main" id="{5B6B82FE-5D6B-8EFB-4677-97442F031D00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104407"/>
                <a:gd name="adj2" fmla="val -177954"/>
                <a:gd name="adj3" fmla="val 64393"/>
                <a:gd name="adj4" fmla="val -278332"/>
              </a:avLst>
            </a:prstGeom>
            <a:noFill/>
            <a:ln w="38100" cap="rnd">
              <a:solidFill>
                <a:srgbClr val="FD6E0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Speech Bubble: Rectangle with Corners Rounded 39">
              <a:extLst>
                <a:ext uri="{FF2B5EF4-FFF2-40B4-BE49-F238E27FC236}">
                  <a16:creationId xmlns:a16="http://schemas.microsoft.com/office/drawing/2014/main" id="{D4226150-DBA5-DBA1-37B5-32C28816A3D4}"/>
                </a:ext>
              </a:extLst>
            </p:cNvPr>
            <p:cNvSpPr/>
            <p:nvPr/>
          </p:nvSpPr>
          <p:spPr>
            <a:xfrm>
              <a:off x="4603544" y="2705168"/>
              <a:ext cx="3728536" cy="1093811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45720" rIns="36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W</a:t>
              </a:r>
              <a:r>
                <a:rPr kumimoji="0" lang="en-DE" sz="1800" b="1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ake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event </a:t>
              </a: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occurred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,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Drive</a:t>
              </a: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INH = 1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DE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VDDA/P/U = ON</a:t>
              </a: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5FBCB99-B17D-07E6-DF57-033C9F8AB8C7}"/>
              </a:ext>
            </a:extLst>
          </p:cNvPr>
          <p:cNvGrpSpPr/>
          <p:nvPr/>
        </p:nvGrpSpPr>
        <p:grpSpPr>
          <a:xfrm>
            <a:off x="7441357" y="777335"/>
            <a:ext cx="4314813" cy="1406909"/>
            <a:chOff x="4466458" y="2553974"/>
            <a:chExt cx="3728536" cy="1228447"/>
          </a:xfrm>
          <a:solidFill>
            <a:schemeClr val="accent2"/>
          </a:solidFill>
        </p:grpSpPr>
        <p:sp>
          <p:nvSpPr>
            <p:cNvPr id="47" name="Callout: Line with No Border 46">
              <a:extLst>
                <a:ext uri="{FF2B5EF4-FFF2-40B4-BE49-F238E27FC236}">
                  <a16:creationId xmlns:a16="http://schemas.microsoft.com/office/drawing/2014/main" id="{86890F94-F745-919E-3606-B377FD3C834A}"/>
                </a:ext>
              </a:extLst>
            </p:cNvPr>
            <p:cNvSpPr/>
            <p:nvPr/>
          </p:nvSpPr>
          <p:spPr>
            <a:xfrm>
              <a:off x="6345282" y="2849490"/>
              <a:ext cx="892170" cy="573457"/>
            </a:xfrm>
            <a:prstGeom prst="callout1">
              <a:avLst>
                <a:gd name="adj1" fmla="val 94264"/>
                <a:gd name="adj2" fmla="val -198460"/>
                <a:gd name="adj3" fmla="val 64265"/>
                <a:gd name="adj4" fmla="val -255813"/>
              </a:avLst>
            </a:prstGeom>
            <a:noFill/>
            <a:ln w="38100" cap="rnd">
              <a:solidFill>
                <a:srgbClr val="FD6E0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20" rIns="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Speech Bubble: Rectangle with Corners Rounded 49">
              <a:extLst>
                <a:ext uri="{FF2B5EF4-FFF2-40B4-BE49-F238E27FC236}">
                  <a16:creationId xmlns:a16="http://schemas.microsoft.com/office/drawing/2014/main" id="{505FF004-AECF-4410-D3BC-4A2828C011C4}"/>
                </a:ext>
              </a:extLst>
            </p:cNvPr>
            <p:cNvSpPr/>
            <p:nvPr/>
          </p:nvSpPr>
          <p:spPr>
            <a:xfrm>
              <a:off x="4466458" y="2553974"/>
              <a:ext cx="3728536" cy="1228447"/>
            </a:xfrm>
            <a:prstGeom prst="wedgeRoundRectCallout">
              <a:avLst>
                <a:gd name="adj1" fmla="val 25261"/>
                <a:gd name="adj2" fmla="val 23996"/>
                <a:gd name="adj3" fmla="val 16667"/>
              </a:avLst>
            </a:prstGeom>
            <a:grp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44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Exact </a:t>
              </a:r>
              <a:r>
                <a:rPr kumimoji="0" lang="de-DE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indicators</a:t>
              </a:r>
              <a:r>
                <a: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 will match </a:t>
              </a:r>
              <a:r>
                <a:rPr kumimoji="0" lang="de-DE" sz="18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standard</a:t>
              </a:r>
              <a:r>
                <a:rPr kumimoji="0" lang="de-DE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.</a:t>
              </a:r>
            </a:p>
            <a:p>
              <a:pPr marL="0" marR="0" lvl="0" indent="0" algn="ctr" defTabSz="60944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800">
                  <a:solidFill>
                    <a:srgbClr val="FFFFFF"/>
                  </a:solidFill>
                  <a:latin typeface="Calibri"/>
                </a:rPr>
                <a:t>Vendor </a:t>
              </a:r>
              <a:r>
                <a:rPr lang="de-DE" sz="1800" err="1">
                  <a:solidFill>
                    <a:srgbClr val="FFFFFF"/>
                  </a:solidFill>
                  <a:latin typeface="Calibri"/>
                </a:rPr>
                <a:t>specific</a:t>
              </a:r>
              <a:r>
                <a:rPr lang="de-DE" sz="1800">
                  <a:solidFill>
                    <a:srgbClr val="FFFFFF"/>
                  </a:solidFill>
                  <a:latin typeface="Calibri"/>
                </a:rPr>
                <a:t> </a:t>
              </a:r>
              <a:r>
                <a:rPr lang="de-DE" sz="1800" err="1">
                  <a:solidFill>
                    <a:srgbClr val="FFFFFF"/>
                  </a:solidFill>
                  <a:latin typeface="Calibri"/>
                </a:rPr>
                <a:t>registers</a:t>
              </a:r>
              <a:r>
                <a:rPr lang="de-DE" sz="1800">
                  <a:solidFill>
                    <a:srgbClr val="FFFFFF"/>
                  </a:solidFill>
                  <a:latin typeface="Calibri"/>
                </a:rPr>
                <a:t> </a:t>
              </a:r>
              <a:r>
                <a:rPr lang="de-DE" sz="1800" err="1">
                  <a:solidFill>
                    <a:srgbClr val="FFFFFF"/>
                  </a:solidFill>
                  <a:latin typeface="Calibri"/>
                </a:rPr>
                <a:t>are</a:t>
              </a:r>
              <a:r>
                <a:rPr lang="de-DE" sz="1800">
                  <a:solidFill>
                    <a:srgbClr val="FFFFFF"/>
                  </a:solidFill>
                  <a:latin typeface="Calibri"/>
                </a:rPr>
                <a:t> not </a:t>
              </a:r>
              <a:r>
                <a:rPr lang="de-DE" sz="1800" err="1">
                  <a:solidFill>
                    <a:srgbClr val="FFFFFF"/>
                  </a:solidFill>
                  <a:latin typeface="Calibri"/>
                </a:rPr>
                <a:t>yet</a:t>
              </a:r>
              <a:r>
                <a:rPr lang="de-DE" sz="1800">
                  <a:solidFill>
                    <a:srgbClr val="FFFFFF"/>
                  </a:solidFill>
                  <a:latin typeface="Calibri"/>
                </a:rPr>
                <a:t> </a:t>
              </a:r>
              <a:r>
                <a:rPr lang="de-DE" sz="1800" err="1">
                  <a:solidFill>
                    <a:srgbClr val="FFFFFF"/>
                  </a:solidFill>
                  <a:latin typeface="Calibri"/>
                </a:rPr>
                <a:t>defined</a:t>
              </a:r>
              <a:r>
                <a:rPr lang="de-DE" sz="1800">
                  <a:solidFill>
                    <a:srgbClr val="FFFFFF"/>
                  </a:solidFill>
                  <a:latin typeface="Calibri"/>
                </a:rPr>
                <a:t>.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B759B5-94C0-348F-F591-69D52159AEE7}"/>
              </a:ext>
            </a:extLst>
          </p:cNvPr>
          <p:cNvSpPr/>
          <p:nvPr/>
        </p:nvSpPr>
        <p:spPr>
          <a:xfrm>
            <a:off x="4982898" y="5145297"/>
            <a:ext cx="2639799" cy="559838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DE" sz="1800" err="1">
                <a:solidFill>
                  <a:srgbClr val="FFFFFF"/>
                </a:solidFill>
                <a:latin typeface="Calibri"/>
              </a:rPr>
              <a:t>Lowest</a:t>
            </a:r>
            <a:r>
              <a:rPr lang="de-DE" sz="1800">
                <a:solidFill>
                  <a:srgbClr val="FFFFFF"/>
                </a:solidFill>
                <a:latin typeface="Calibri"/>
              </a:rPr>
              <a:t> power </a:t>
            </a:r>
            <a:r>
              <a:rPr lang="de-DE" sz="1800" err="1">
                <a:solidFill>
                  <a:srgbClr val="FFFFFF"/>
                </a:solidFill>
                <a:latin typeface="Calibri"/>
              </a:rPr>
              <a:t>only</a:t>
            </a:r>
            <a:endParaRPr lang="de-DE" sz="180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de-DE" sz="1800" err="1">
                <a:solidFill>
                  <a:srgbClr val="FFFFFF"/>
                </a:solidFill>
                <a:latin typeface="Calibri"/>
              </a:rPr>
              <a:t>when</a:t>
            </a:r>
            <a:r>
              <a:rPr lang="de-DE" sz="1800">
                <a:solidFill>
                  <a:srgbClr val="FFFFFF"/>
                </a:solidFill>
                <a:latin typeface="Calibri"/>
              </a:rPr>
              <a:t> </a:t>
            </a:r>
            <a:r>
              <a:rPr lang="de-DE" sz="1800" err="1">
                <a:solidFill>
                  <a:srgbClr val="FFFFFF"/>
                </a:solidFill>
                <a:latin typeface="Calibri"/>
              </a:rPr>
              <a:t>supplies</a:t>
            </a:r>
            <a:r>
              <a:rPr lang="de-DE" sz="1800">
                <a:solidFill>
                  <a:srgbClr val="FFFFFF"/>
                </a:solidFill>
                <a:latin typeface="Calibri"/>
              </a:rPr>
              <a:t> off</a:t>
            </a:r>
            <a:endParaRPr lang="en-US" sz="180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640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A7B0A-DC38-C0F8-6D63-528E9DA1A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Current vs New Wake/Sleep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046EA-11A1-76CA-A52E-A39016A5F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LAN8670/1/2 Rev D</a:t>
            </a:r>
          </a:p>
          <a:p>
            <a:r>
              <a:rPr lang="de-DE"/>
              <a:t>LAN8650/1 Rev C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36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77A17F-3223-9863-879D-2B7F3226C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Current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593C0-95D6-BE46-06AF-7045493936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New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DC2531-93D9-45B9-9BBF-E880B343B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Sleep – Direct Comparison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F1AF1D-AFBB-BA44-A9CE-BF6102E543D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Host actively sets </a:t>
            </a:r>
            <a:r>
              <a:rPr lang="en-US" b="1"/>
              <a:t>SLPEN</a:t>
            </a:r>
            <a:r>
              <a:rPr lang="en-US"/>
              <a:t> (Sleep Enable) = 1</a:t>
            </a:r>
          </a:p>
          <a:p>
            <a:r>
              <a:rPr lang="en-US"/>
              <a:t>Host can activate inactivity watchdog</a:t>
            </a:r>
          </a:p>
          <a:p>
            <a:pPr lvl="1"/>
            <a:r>
              <a:rPr lang="en-US"/>
              <a:t>No RX from Network</a:t>
            </a:r>
          </a:p>
          <a:p>
            <a:pPr lvl="1"/>
            <a:r>
              <a:rPr lang="en-US"/>
              <a:t>No TX to Network</a:t>
            </a:r>
          </a:p>
          <a:p>
            <a:pPr lvl="1"/>
            <a:r>
              <a:rPr lang="en-US"/>
              <a:t>No PHY/SMI Register Access</a:t>
            </a:r>
          </a:p>
          <a:p>
            <a:endParaRPr lang="en-US"/>
          </a:p>
          <a:p>
            <a:r>
              <a:rPr lang="en-US"/>
              <a:t>Device waits for SLPINHDLY (Sleep Inhibit Delay)</a:t>
            </a:r>
          </a:p>
          <a:p>
            <a:r>
              <a:rPr lang="en-US"/>
              <a:t>Device releases INH pin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ECF88-4937-A0F3-D5A2-FFBA3FBEDC4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2" y="1561175"/>
            <a:ext cx="5474567" cy="4795019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Host actively sets </a:t>
            </a:r>
            <a:r>
              <a:rPr lang="en-US" err="1"/>
              <a:t>lpreq</a:t>
            </a:r>
            <a:r>
              <a:rPr lang="en-US"/>
              <a:t> = 1 in WS_CTRL register</a:t>
            </a:r>
          </a:p>
          <a:p>
            <a:pPr lvl="1"/>
            <a:r>
              <a:rPr lang="en-US"/>
              <a:t>New register required by OA Spec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Device waits for SLPINHDLY (Sleep Inhibit Delay)</a:t>
            </a:r>
          </a:p>
          <a:p>
            <a:r>
              <a:rPr lang="en-US"/>
              <a:t>Device releases INH pin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33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FFF2BE-EA70-52CA-F88F-9AAC3FA46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Current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85A7CE-FF44-DBCB-5459-6A3DB663F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New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77310E-30DB-BB53-0C7F-D458B6B32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Wake – Direct Comparison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CAC5F2-41F4-698F-834B-B1015C763BF4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/>
              <a:t>Network activity on MDI</a:t>
            </a:r>
          </a:p>
          <a:p>
            <a:r>
              <a:rPr lang="en-US"/>
              <a:t>External Controller via WAKE_IN</a:t>
            </a:r>
          </a:p>
          <a:p>
            <a:endParaRPr lang="en-US"/>
          </a:p>
          <a:p>
            <a:r>
              <a:rPr lang="en-US"/>
              <a:t>Wake Forwarding: </a:t>
            </a:r>
          </a:p>
          <a:p>
            <a:pPr lvl="1"/>
            <a:r>
              <a:rPr lang="en-US"/>
              <a:t>External Controller/PHY on WAKE_OUT</a:t>
            </a:r>
          </a:p>
          <a:p>
            <a:pPr lvl="1"/>
            <a:r>
              <a:rPr lang="en-US"/>
              <a:t>Network via MDI activity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DCBFE3-2185-607F-AC89-84A918A50DB4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en-US">
                <a:highlight>
                  <a:srgbClr val="FFFF00"/>
                </a:highlight>
              </a:rPr>
              <a:t>Wake-Up Tone </a:t>
            </a:r>
            <a:r>
              <a:rPr lang="en-US"/>
              <a:t>on MDI</a:t>
            </a:r>
          </a:p>
          <a:p>
            <a:r>
              <a:rPr lang="en-US"/>
              <a:t>External Controller via WAKE_IN</a:t>
            </a:r>
          </a:p>
          <a:p>
            <a:endParaRPr lang="en-US"/>
          </a:p>
          <a:p>
            <a:r>
              <a:rPr lang="en-US"/>
              <a:t>Wake Forwarding: </a:t>
            </a:r>
          </a:p>
          <a:p>
            <a:pPr lvl="1"/>
            <a:r>
              <a:rPr lang="en-US"/>
              <a:t>External Controller/PHY on WAKE_OUT</a:t>
            </a:r>
          </a:p>
          <a:p>
            <a:pPr lvl="1"/>
            <a:r>
              <a:rPr lang="en-US"/>
              <a:t>Network via MDI Wake-Up Tone</a:t>
            </a:r>
          </a:p>
        </p:txBody>
      </p:sp>
    </p:spTree>
    <p:extLst>
      <p:ext uri="{BB962C8B-B14F-4D97-AF65-F5344CB8AC3E}">
        <p14:creationId xmlns:p14="http://schemas.microsoft.com/office/powerpoint/2010/main" val="16865738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F23D79-2D67-B6FF-59BF-39CCB716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/>
              <a:t>Agenda</a:t>
            </a:r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49E5FC-93EC-008B-7ABE-E99A30F29E63}"/>
              </a:ext>
            </a:extLst>
          </p:cNvPr>
          <p:cNvSpPr/>
          <p:nvPr/>
        </p:nvSpPr>
        <p:spPr bwMode="auto">
          <a:xfrm>
            <a:off x="639998" y="4772776"/>
            <a:ext cx="5370714" cy="496562"/>
          </a:xfrm>
          <a:prstGeom prst="roundRect">
            <a:avLst/>
          </a:prstGeom>
          <a:solidFill>
            <a:srgbClr val="FF0000">
              <a:alpha val="1176"/>
            </a:srgbClr>
          </a:solidFill>
          <a:ln w="28575" algn="ctr">
            <a:solidFill>
              <a:srgbClr val="FF0000"/>
            </a:solidFill>
            <a:round/>
            <a:headEnd/>
            <a:tailEnd/>
          </a:ln>
          <a:effectLst>
            <a:outerShdw blurRad="38100" dist="38100" dir="2700000" algn="tl" rotWithShape="0">
              <a:schemeClr val="bg1">
                <a:lumMod val="75000"/>
              </a:schemeClr>
            </a:outerShdw>
          </a:effectLst>
        </p:spPr>
        <p:txBody>
          <a:bodyPr lIns="35991" tIns="0" rIns="35991" bIns="0" rtlCol="0" anchor="t" anchorCtr="0"/>
          <a:lstStyle/>
          <a:p>
            <a:pPr marL="287914" indent="-287914" algn="ctr">
              <a:spcBef>
                <a:spcPct val="30000"/>
              </a:spcBef>
              <a:buClr>
                <a:srgbClr val="C00000"/>
              </a:buClr>
              <a:buSzPct val="75000"/>
              <a:buFont typeface="Wingdings" pitchFamily="2" charset="2"/>
              <a:buChar char="n"/>
            </a:pPr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54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A49B7B-311C-BE8E-6C3E-9EBD776502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755446" cy="538596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err="1"/>
              <a:t>PoDL</a:t>
            </a:r>
            <a:r>
              <a:rPr lang="en-US"/>
              <a:t> for </a:t>
            </a:r>
            <a:r>
              <a:rPr lang="en-DE" u="sng"/>
              <a:t>m</a:t>
            </a:r>
            <a:r>
              <a:rPr lang="en-US" u="sng" err="1"/>
              <a:t>ultidrop</a:t>
            </a:r>
            <a:r>
              <a:rPr lang="en-DE"/>
              <a:t> networks is</a:t>
            </a:r>
            <a:r>
              <a:rPr lang="en-US"/>
              <a:t> </a:t>
            </a:r>
            <a:r>
              <a:rPr lang="en-US" u="sng"/>
              <a:t>not</a:t>
            </a:r>
            <a:r>
              <a:rPr lang="en-US"/>
              <a:t> specified</a:t>
            </a:r>
            <a:r>
              <a:rPr lang="en-DE"/>
              <a:t> in IEEE802.3cg,</a:t>
            </a:r>
            <a:br>
              <a:rPr lang="en-DE"/>
            </a:br>
            <a:r>
              <a:rPr lang="en-DE"/>
              <a:t>but only for 10BASE-T1L and 10BASE-T1S point-to-point</a:t>
            </a:r>
            <a:br>
              <a:rPr lang="en-DE"/>
            </a:br>
            <a:endParaRPr lang="en-US"/>
          </a:p>
          <a:p>
            <a:pPr>
              <a:spcBef>
                <a:spcPts val="600"/>
              </a:spcBef>
            </a:pPr>
            <a:r>
              <a:rPr lang="en-US"/>
              <a:t>N</a:t>
            </a:r>
            <a:r>
              <a:rPr lang="en-DE"/>
              <a:t>umber of nodes, stub length, bus length </a:t>
            </a:r>
            <a:r>
              <a:rPr lang="en-DE" b="1">
                <a:solidFill>
                  <a:srgbClr val="0070C0"/>
                </a:solidFill>
              </a:rPr>
              <a:t>consume margin </a:t>
            </a:r>
            <a:br>
              <a:rPr lang="en-DE" b="1">
                <a:solidFill>
                  <a:srgbClr val="0070C0"/>
                </a:solidFill>
              </a:rPr>
            </a:br>
            <a:r>
              <a:rPr lang="en-DE"/>
              <a:t>of signal integrity and robustness (</a:t>
            </a:r>
            <a:r>
              <a:rPr lang="en-DE" err="1"/>
              <a:t>incl</a:t>
            </a:r>
            <a:r>
              <a:rPr lang="en-DE"/>
              <a:t> EMC/EMI)</a:t>
            </a:r>
            <a:br>
              <a:rPr lang="en-DE"/>
            </a:br>
            <a:endParaRPr lang="en-DE"/>
          </a:p>
          <a:p>
            <a:pPr>
              <a:spcBef>
                <a:spcPts val="600"/>
              </a:spcBef>
            </a:pPr>
            <a:r>
              <a:rPr lang="en-US" err="1"/>
              <a:t>PoDL</a:t>
            </a:r>
            <a:r>
              <a:rPr lang="en-US"/>
              <a:t> would be an engineered system,</a:t>
            </a:r>
            <a:r>
              <a:rPr lang="en-DE"/>
              <a:t> </a:t>
            </a:r>
            <a:r>
              <a:rPr lang="en-US" b="1">
                <a:solidFill>
                  <a:srgbClr val="0070C0"/>
                </a:solidFill>
              </a:rPr>
              <a:t>customer is in </a:t>
            </a:r>
            <a:r>
              <a:rPr lang="en-DE" b="1">
                <a:solidFill>
                  <a:srgbClr val="0070C0"/>
                </a:solidFill>
              </a:rPr>
              <a:t>c</a:t>
            </a:r>
            <a:r>
              <a:rPr lang="en-US" b="1" err="1">
                <a:solidFill>
                  <a:srgbClr val="0070C0"/>
                </a:solidFill>
              </a:rPr>
              <a:t>harge</a:t>
            </a:r>
            <a:r>
              <a:rPr lang="en-US"/>
              <a:t>.</a:t>
            </a:r>
          </a:p>
          <a:p>
            <a:pPr>
              <a:spcBef>
                <a:spcPts val="1200"/>
              </a:spcBef>
            </a:pPr>
            <a:endParaRPr lang="en-US" sz="24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F84B92-463C-5D43-BC03-909508DA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err="1"/>
              <a:t>PoDL</a:t>
            </a:r>
            <a:r>
              <a:rPr lang="en-DE"/>
              <a:t> – Power over Data Line</a:t>
            </a:r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B818BC3-8E26-21ED-3E8E-33ABD1878290}"/>
              </a:ext>
            </a:extLst>
          </p:cNvPr>
          <p:cNvGrpSpPr/>
          <p:nvPr/>
        </p:nvGrpSpPr>
        <p:grpSpPr>
          <a:xfrm>
            <a:off x="2230871" y="3870345"/>
            <a:ext cx="7540917" cy="2483296"/>
            <a:chOff x="1353896" y="983304"/>
            <a:chExt cx="9942737" cy="337234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9387F9D-AC09-B19F-58DD-9352F646E0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783" t="956" r="5820" b="90784"/>
            <a:stretch/>
          </p:blipFill>
          <p:spPr>
            <a:xfrm>
              <a:off x="1353896" y="983304"/>
              <a:ext cx="9942737" cy="29202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4745906-1FBB-C126-629F-2A38E39650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306" t="8415" r="1527" b="3999"/>
            <a:stretch/>
          </p:blipFill>
          <p:spPr>
            <a:xfrm>
              <a:off x="1435349" y="1259353"/>
              <a:ext cx="9861284" cy="30963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04930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B21C895-4230-0549-2A92-8F1C347B6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91" y="3211103"/>
            <a:ext cx="7219389" cy="3426104"/>
          </a:xfrm>
          <a:prstGeom prst="rect">
            <a:avLst/>
          </a:prstGeom>
          <a:ln>
            <a:noFill/>
          </a:ln>
          <a:effectLst/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F84B92-463C-5D43-BC03-909508DA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err="1"/>
              <a:t>PoDL</a:t>
            </a:r>
            <a:r>
              <a:rPr lang="en-US" sz="3200"/>
              <a:t> Power Sourcing Equipment (PSE)</a:t>
            </a:r>
            <a:r>
              <a:rPr lang="en-DE" sz="3200"/>
              <a:t> </a:t>
            </a:r>
            <a:r>
              <a:rPr lang="en-DE" sz="3200">
                <a:solidFill>
                  <a:srgbClr val="FD6E03"/>
                </a:solidFill>
              </a:rPr>
              <a:t>– Internal Test Boards Only</a:t>
            </a:r>
            <a:br>
              <a:rPr lang="en-DE" sz="3200"/>
            </a:br>
            <a:br>
              <a:rPr lang="en-DE" sz="3200"/>
            </a:br>
            <a:r>
              <a:rPr lang="en-DE" sz="3200"/>
              <a:t>		</a:t>
            </a:r>
            <a:br>
              <a:rPr lang="en-US" sz="3200"/>
            </a:br>
            <a:endParaRPr lang="en-US" sz="32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54B318-6157-009D-F1DB-3EB251B459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90" r="11195" b="3389"/>
          <a:stretch/>
        </p:blipFill>
        <p:spPr>
          <a:xfrm>
            <a:off x="13202986" y="4115904"/>
            <a:ext cx="3889367" cy="31088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F8431DAE-89DC-98D8-C4EE-10E91EC3AD12}"/>
              </a:ext>
            </a:extLst>
          </p:cNvPr>
          <p:cNvSpPr/>
          <p:nvPr/>
        </p:nvSpPr>
        <p:spPr>
          <a:xfrm>
            <a:off x="8871164" y="1549432"/>
            <a:ext cx="2201874" cy="1133704"/>
          </a:xfrm>
          <a:prstGeom prst="wedgeRoundRectCallout">
            <a:avLst>
              <a:gd name="adj1" fmla="val -87863"/>
              <a:gd name="adj2" fmla="val 30594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D</a:t>
            </a:r>
            <a:r>
              <a:rPr lang="en-DE" sz="2000" b="1" err="1"/>
              <a:t>isplay</a:t>
            </a:r>
            <a:r>
              <a:rPr lang="en-DE" sz="2000" b="1"/>
              <a:t> shows current power</a:t>
            </a:r>
            <a:endParaRPr lang="en-US" sz="20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456E3-33F6-E4FD-50F4-218C5BF8B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660" y="1444180"/>
            <a:ext cx="2491305" cy="19003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681EB57E-EBC1-3C8C-7248-9A83BAE30B62}"/>
              </a:ext>
            </a:extLst>
          </p:cNvPr>
          <p:cNvSpPr/>
          <p:nvPr/>
        </p:nvSpPr>
        <p:spPr>
          <a:xfrm>
            <a:off x="787775" y="1363132"/>
            <a:ext cx="3190547" cy="1133704"/>
          </a:xfrm>
          <a:prstGeom prst="wedgeRoundRectCallout">
            <a:avLst>
              <a:gd name="adj1" fmla="val 35926"/>
              <a:gd name="adj2" fmla="val 77164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000" b="1" err="1"/>
              <a:t>PoDL</a:t>
            </a:r>
            <a:r>
              <a:rPr lang="en-DE" sz="2000" b="1"/>
              <a:t> output power</a:t>
            </a:r>
          </a:p>
          <a:p>
            <a:pPr algn="ctr"/>
            <a:r>
              <a:rPr lang="en-DE" sz="2000" b="1"/>
              <a:t>4 - 24V / max 1600 mA</a:t>
            </a:r>
          </a:p>
          <a:p>
            <a:pPr algn="ctr"/>
            <a:r>
              <a:rPr lang="en-US" sz="2000" b="1"/>
              <a:t>C</a:t>
            </a:r>
            <a:r>
              <a:rPr lang="en-DE" sz="2000" b="1" err="1"/>
              <a:t>onfigurable</a:t>
            </a:r>
            <a:r>
              <a:rPr lang="en-DE" sz="2000" b="1"/>
              <a:t> via jumpers</a:t>
            </a:r>
            <a:endParaRPr lang="en-US" sz="2000" b="1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FC058169-0897-16EA-4C5D-AE54A83A0715}"/>
              </a:ext>
            </a:extLst>
          </p:cNvPr>
          <p:cNvSpPr/>
          <p:nvPr/>
        </p:nvSpPr>
        <p:spPr>
          <a:xfrm>
            <a:off x="8880108" y="3397403"/>
            <a:ext cx="2201874" cy="1133704"/>
          </a:xfrm>
          <a:prstGeom prst="wedgeRoundRectCallout">
            <a:avLst>
              <a:gd name="adj1" fmla="val -104679"/>
              <a:gd name="adj2" fmla="val 58669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1</a:t>
            </a:r>
            <a:r>
              <a:rPr lang="en-DE" sz="2000" b="1"/>
              <a:t>0BASE-T1S interface</a:t>
            </a:r>
            <a:endParaRPr lang="en-US" sz="2000" b="1"/>
          </a:p>
        </p:txBody>
      </p:sp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CC36D11E-DDD7-6624-E502-5A724501D6A8}"/>
              </a:ext>
            </a:extLst>
          </p:cNvPr>
          <p:cNvSpPr/>
          <p:nvPr/>
        </p:nvSpPr>
        <p:spPr>
          <a:xfrm>
            <a:off x="8880108" y="5245374"/>
            <a:ext cx="2201874" cy="1133704"/>
          </a:xfrm>
          <a:prstGeom prst="wedgeRoundRectCallout">
            <a:avLst>
              <a:gd name="adj1" fmla="val -100988"/>
              <a:gd name="adj2" fmla="val -24345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1</a:t>
            </a:r>
            <a:r>
              <a:rPr lang="en-DE" sz="2000" b="1"/>
              <a:t>0BASE-T1S </a:t>
            </a:r>
            <a:br>
              <a:rPr lang="en-DE" sz="2000" b="1"/>
            </a:br>
            <a:r>
              <a:rPr lang="en-DE" sz="2000" b="1"/>
              <a:t>bus termination via jumpers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93010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3B6A73-867A-31BF-DECD-605821159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56" y="1333686"/>
            <a:ext cx="6611482" cy="552133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F84B92-463C-5D43-BC03-909508DA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PoDL</a:t>
            </a:r>
            <a:r>
              <a:rPr lang="en-US"/>
              <a:t> Powered Device (PD)</a:t>
            </a:r>
            <a:r>
              <a:rPr lang="en-DE"/>
              <a:t> </a:t>
            </a:r>
            <a:r>
              <a:rPr lang="en-DE">
                <a:solidFill>
                  <a:srgbClr val="FD6E03"/>
                </a:solidFill>
              </a:rPr>
              <a:t>– </a:t>
            </a:r>
            <a:r>
              <a:rPr lang="en-DE" sz="3600">
                <a:solidFill>
                  <a:srgbClr val="FD6E03"/>
                </a:solidFill>
              </a:rPr>
              <a:t>Internal Test Boards Only</a:t>
            </a:r>
            <a:br>
              <a:rPr lang="en-US"/>
            </a:br>
            <a:endParaRPr lang="en-US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1C634674-D9EE-A60E-5F2D-CB7F0B1ED968}"/>
              </a:ext>
            </a:extLst>
          </p:cNvPr>
          <p:cNvSpPr/>
          <p:nvPr/>
        </p:nvSpPr>
        <p:spPr>
          <a:xfrm>
            <a:off x="7952648" y="978574"/>
            <a:ext cx="3976014" cy="1617464"/>
          </a:xfrm>
          <a:prstGeom prst="wedgeRoundRectCallout">
            <a:avLst>
              <a:gd name="adj1" fmla="val -78914"/>
              <a:gd name="adj2" fmla="val 38613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DE" sz="2000" b="1" err="1"/>
              <a:t>PoDL</a:t>
            </a:r>
            <a:r>
              <a:rPr lang="en-DE" sz="2000" b="1"/>
              <a:t> </a:t>
            </a:r>
            <a:r>
              <a:rPr lang="en-US" sz="2000" b="1"/>
              <a:t>B</a:t>
            </a:r>
            <a:r>
              <a:rPr lang="en-DE" sz="2000" b="1" err="1"/>
              <a:t>oard</a:t>
            </a:r>
            <a:r>
              <a:rPr lang="en-DE" sz="2000" b="1"/>
              <a:t> AIS20040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/>
              <a:t>3.3V / 150 mA LDO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/>
              <a:t>3.3V / 500 mA switched power,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B</a:t>
            </a:r>
            <a:r>
              <a:rPr lang="en-DE" sz="2000"/>
              <a:t>us termination via jumpers</a:t>
            </a:r>
            <a:endParaRPr lang="en-US" sz="2000"/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F8431DAE-89DC-98D8-C4EE-10E91EC3AD12}"/>
              </a:ext>
            </a:extLst>
          </p:cNvPr>
          <p:cNvSpPr/>
          <p:nvPr/>
        </p:nvSpPr>
        <p:spPr>
          <a:xfrm>
            <a:off x="7952648" y="2896341"/>
            <a:ext cx="3976013" cy="1532312"/>
          </a:xfrm>
          <a:prstGeom prst="wedgeRoundRectCallout">
            <a:avLst>
              <a:gd name="adj1" fmla="val -95678"/>
              <a:gd name="adj2" fmla="val 22986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b="1"/>
              <a:t>LAN8651</a:t>
            </a:r>
            <a:r>
              <a:rPr lang="en-DE" sz="2000" b="1"/>
              <a:t> node AIS20039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err="1"/>
              <a:t>mikroBUS</a:t>
            </a:r>
            <a:r>
              <a:rPr lang="en-US" sz="2000"/>
              <a:t>™ </a:t>
            </a:r>
            <a:r>
              <a:rPr lang="en-US" sz="2000" err="1"/>
              <a:t>clickboard</a:t>
            </a:r>
            <a:r>
              <a:rPr lang="en-US" sz="2000"/>
              <a:t>™</a:t>
            </a:r>
            <a:endParaRPr lang="en-DE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/>
              <a:t>5V / 500 mA optional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/>
              <a:t>V</a:t>
            </a:r>
            <a:r>
              <a:rPr lang="en-DE" sz="2000" err="1"/>
              <a:t>oltage</a:t>
            </a:r>
            <a:r>
              <a:rPr lang="en-DE" sz="2000"/>
              <a:t> regulation via jumpers</a:t>
            </a:r>
            <a:endParaRPr lang="en-US" sz="2000"/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20803283-38FB-93DF-DED0-45BF8C2D7899}"/>
              </a:ext>
            </a:extLst>
          </p:cNvPr>
          <p:cNvSpPr/>
          <p:nvPr/>
        </p:nvSpPr>
        <p:spPr>
          <a:xfrm>
            <a:off x="7952648" y="4728956"/>
            <a:ext cx="3976015" cy="680873"/>
          </a:xfrm>
          <a:prstGeom prst="wedgeRoundRectCallout">
            <a:avLst>
              <a:gd name="adj1" fmla="val -94988"/>
              <a:gd name="adj2" fmla="val 24722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b="1"/>
              <a:t>Curiosity Nano Base</a:t>
            </a:r>
            <a:r>
              <a:rPr lang="en-DE" sz="2000" b="1"/>
              <a:t> Board</a:t>
            </a:r>
            <a:endParaRPr lang="en-US" sz="2000" b="1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D838E6B4-FF32-9247-7432-C3A96F3F5749}"/>
              </a:ext>
            </a:extLst>
          </p:cNvPr>
          <p:cNvSpPr/>
          <p:nvPr/>
        </p:nvSpPr>
        <p:spPr>
          <a:xfrm>
            <a:off x="7952648" y="5710132"/>
            <a:ext cx="3976014" cy="680873"/>
          </a:xfrm>
          <a:prstGeom prst="wedgeRoundRectCallout">
            <a:avLst>
              <a:gd name="adj1" fmla="val -136077"/>
              <a:gd name="adj2" fmla="val -38418"/>
              <a:gd name="adj3" fmla="val 16667"/>
            </a:avLst>
          </a:prstGeom>
          <a:solidFill>
            <a:srgbClr val="1879C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DE" sz="2000" b="1"/>
              <a:t>SAMD21 </a:t>
            </a:r>
            <a:r>
              <a:rPr lang="en-US" sz="2000" b="1"/>
              <a:t>Curiosity Nano M</a:t>
            </a:r>
            <a:r>
              <a:rPr lang="en-DE" sz="2000" b="1" err="1"/>
              <a:t>icrocontroller</a:t>
            </a:r>
            <a:r>
              <a:rPr lang="en-DE" sz="2000" b="1"/>
              <a:t> board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65136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85E58-DCE4-71D0-34DB-91F4A1BE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A qr code on a computer&#10;&#10;Description automatically generated">
            <a:extLst>
              <a:ext uri="{FF2B5EF4-FFF2-40B4-BE49-F238E27FC236}">
                <a16:creationId xmlns:a16="http://schemas.microsoft.com/office/drawing/2014/main" id="{872CD9EB-E2A9-60E2-A55C-67F9C09CEDA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612837" y="271482"/>
            <a:ext cx="6410535" cy="6321026"/>
          </a:xfrm>
        </p:spPr>
      </p:pic>
    </p:spTree>
    <p:extLst>
      <p:ext uri="{BB962C8B-B14F-4D97-AF65-F5344CB8AC3E}">
        <p14:creationId xmlns:p14="http://schemas.microsoft.com/office/powerpoint/2010/main" val="42550721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10309-FF88-837C-127E-2374AAF212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00722" y="1167355"/>
            <a:ext cx="11399838" cy="776287"/>
          </a:xfrm>
        </p:spPr>
        <p:txBody>
          <a:bodyPr/>
          <a:lstStyle/>
          <a:p>
            <a:pPr algn="ctr"/>
            <a:r>
              <a:rPr lang="de-DE" err="1"/>
              <a:t>Thanks</a:t>
            </a:r>
            <a:r>
              <a:rPr lang="de-DE"/>
              <a:t> </a:t>
            </a:r>
            <a:r>
              <a:rPr lang="de-DE" err="1"/>
              <a:t>for</a:t>
            </a:r>
            <a:r>
              <a:rPr lang="de-DE"/>
              <a:t> </a:t>
            </a:r>
            <a:r>
              <a:rPr lang="de-DE" err="1"/>
              <a:t>your</a:t>
            </a:r>
            <a:r>
              <a:rPr lang="de-DE"/>
              <a:t> time!</a:t>
            </a:r>
            <a:endParaRPr lang="en-US"/>
          </a:p>
        </p:txBody>
      </p:sp>
      <p:pic>
        <p:nvPicPr>
          <p:cNvPr id="5" name="Content Placeholder 4" descr="Question Mark with solid fill">
            <a:extLst>
              <a:ext uri="{FF2B5EF4-FFF2-40B4-BE49-F238E27FC236}">
                <a16:creationId xmlns:a16="http://schemas.microsoft.com/office/drawing/2014/main" id="{AD0D7DCE-41D5-B5E2-C53A-7687BECF73A5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43441" y="3653767"/>
            <a:ext cx="914400" cy="914400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5D3B5EE-6456-2CEB-DBBC-E1CBBC8F3F50}"/>
              </a:ext>
            </a:extLst>
          </p:cNvPr>
          <p:cNvSpPr txBox="1">
            <a:spLocks/>
          </p:cNvSpPr>
          <p:nvPr/>
        </p:nvSpPr>
        <p:spPr>
          <a:xfrm>
            <a:off x="200722" y="4568167"/>
            <a:ext cx="11399838" cy="776287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 algn="l" defTabSz="609443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 normalizeH="0" baseline="0">
                <a:solidFill>
                  <a:srgbClr val="0E3689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/>
              <a:t>Do </a:t>
            </a:r>
            <a:r>
              <a:rPr lang="de-DE" err="1"/>
              <a:t>you</a:t>
            </a:r>
            <a:r>
              <a:rPr lang="de-DE"/>
              <a:t> </a:t>
            </a:r>
            <a:r>
              <a:rPr lang="de-DE" err="1"/>
              <a:t>have</a:t>
            </a:r>
            <a:r>
              <a:rPr lang="de-DE"/>
              <a:t> </a:t>
            </a:r>
            <a:r>
              <a:rPr lang="de-DE" err="1"/>
              <a:t>any</a:t>
            </a:r>
            <a:r>
              <a:rPr lang="de-DE"/>
              <a:t> </a:t>
            </a:r>
            <a:r>
              <a:rPr lang="de-DE" err="1"/>
              <a:t>questions</a:t>
            </a:r>
            <a:r>
              <a:rPr lang="de-DE"/>
              <a:t>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037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1|3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UBLISH_MODE" val="2"/>
  <p:tag name="ARTICULATE_SOURCE_IMAGE" val="C:\Users\WWittmer\AppData\Local\Temp\articulate\presenter\imgtemp\fm5Dvx1H_files\slide0001_image001.p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2.7|0.8|0.8|0.9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3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2.4|6|7.7|6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2.4|6|7.7|6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2.4|6|7.7|6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2.4|6|7.7|6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|2.4|6|7.7|6.4"/>
</p:tagLst>
</file>

<file path=ppt/theme/theme1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CHP-Corporate PowerPointTemplate-16x9-2020(2).pptx" id="{DAE3D200-487A-4171-998D-C02AAC794F46}" vid="{A0EB0502-FF59-4646-9FEC-9433E94D18D0}"/>
    </a:ext>
  </a:extLst>
</a:theme>
</file>

<file path=ppt/theme/theme2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68CCC6BA744340B7BDD1B04AA6D09B" ma:contentTypeVersion="15" ma:contentTypeDescription="Create a new document." ma:contentTypeScope="" ma:versionID="86d4ba458c4525dca54f7ef1f867b86d">
  <xsd:schema xmlns:xsd="http://www.w3.org/2001/XMLSchema" xmlns:xs="http://www.w3.org/2001/XMLSchema" xmlns:p="http://schemas.microsoft.com/office/2006/metadata/properties" xmlns:ns2="b620b847-2645-4358-96f3-240bfaa5dba9" xmlns:ns3="fabaaf3a-fd5f-4449-bc0f-2189a22f4476" targetNamespace="http://schemas.microsoft.com/office/2006/metadata/properties" ma:root="true" ma:fieldsID="a74423e8e7515a972565cf9ef80297c5" ns2:_="" ns3:_="">
    <xsd:import namespace="b620b847-2645-4358-96f3-240bfaa5dba9"/>
    <xsd:import namespace="fabaaf3a-fd5f-4449-bc0f-2189a22f4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20b847-2645-4358-96f3-240bfaa5db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a05317c1-dc7b-42fe-8bc5-04171b90da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baaf3a-fd5f-4449-bc0f-2189a22f44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7811623d-5cce-413f-ab6e-e90c16194a13}" ma:internalName="TaxCatchAll" ma:showField="CatchAllData" ma:web="fabaaf3a-fd5f-4449-bc0f-2189a22f4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abaaf3a-fd5f-4449-bc0f-2189a22f4476" xsi:nil="true"/>
    <lcf76f155ced4ddcb4097134ff3c332f xmlns="b620b847-2645-4358-96f3-240bfaa5dba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88CBB35-2E64-41B1-99EA-97375F5683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20b847-2645-4358-96f3-240bfaa5dba9"/>
    <ds:schemaRef ds:uri="fabaaf3a-fd5f-4449-bc0f-2189a22f4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774815-801A-4D0C-AAC8-304A8EA5EAE0}">
  <ds:schemaRefs>
    <ds:schemaRef ds:uri="http://schemas.microsoft.com/office/2006/metadata/properties"/>
    <ds:schemaRef ds:uri="http://schemas.microsoft.com/office/infopath/2007/PartnerControls"/>
    <ds:schemaRef ds:uri="fabaaf3a-fd5f-4449-bc0f-2189a22f4476"/>
    <ds:schemaRef ds:uri="b620b847-2645-4358-96f3-240bfaa5dba9"/>
  </ds:schemaRefs>
</ds:datastoreItem>
</file>

<file path=customXml/itemProps3.xml><?xml version="1.0" encoding="utf-8"?>
<ds:datastoreItem xmlns:ds="http://schemas.openxmlformats.org/officeDocument/2006/customXml" ds:itemID="{0CE24DD7-9317-4AD8-82D4-5A6998DA79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MCHP-Corporate PowerPointTemplate-16x9-2020(2)</Template>
  <Application>Microsoft Office PowerPoint</Application>
  <PresentationFormat>Custom</PresentationFormat>
  <Slides>65</Slides>
  <Notes>41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Office Theme</vt:lpstr>
      <vt:lpstr>Office Theme</vt:lpstr>
      <vt:lpstr>Office Theme</vt:lpstr>
      <vt:lpstr>Special Features of LAN8670/1/2 and LAN8650/1</vt:lpstr>
      <vt:lpstr>Agenda</vt:lpstr>
      <vt:lpstr>What is 10BASE-T1S?</vt:lpstr>
      <vt:lpstr>System Block Diagram  -  LAN8670/1/2 Family </vt:lpstr>
      <vt:lpstr>LAN8650/1 MAC-PHY</vt:lpstr>
      <vt:lpstr>References</vt:lpstr>
      <vt:lpstr>Agenda</vt:lpstr>
      <vt:lpstr>PLCA  - Basics</vt:lpstr>
      <vt:lpstr>PLCA  - Basics</vt:lpstr>
      <vt:lpstr>PLCA  - Basics</vt:lpstr>
      <vt:lpstr>Increasing Node Bandwidth</vt:lpstr>
      <vt:lpstr>Burst Mode</vt:lpstr>
      <vt:lpstr>Controlling Burst: PLCA_BURST Register</vt:lpstr>
      <vt:lpstr>Multiple Transmit Opportunities / Node IDs Example   </vt:lpstr>
      <vt:lpstr>Controlling Multiple Transmit Opportunities</vt:lpstr>
      <vt:lpstr>Decreasing Node Bandwidth</vt:lpstr>
      <vt:lpstr>Transmit Opportunity Skipping</vt:lpstr>
      <vt:lpstr>Controlling Transmit Opportunity Skipping</vt:lpstr>
      <vt:lpstr>CBS – Credit Based Traffic Shaping </vt:lpstr>
      <vt:lpstr>PowerPoint Presentation</vt:lpstr>
      <vt:lpstr>Controlling CBS</vt:lpstr>
      <vt:lpstr>Summary of CBS Configuration</vt:lpstr>
      <vt:lpstr>Time Division Multiplexing</vt:lpstr>
      <vt:lpstr>Reminder: PLCA Bus Cycle</vt:lpstr>
      <vt:lpstr>Application Controlled Multiple Access (ACMA)</vt:lpstr>
      <vt:lpstr>Common Configuration</vt:lpstr>
      <vt:lpstr>LAN8670 in RMII Mode</vt:lpstr>
      <vt:lpstr>LAN8650 ACMA</vt:lpstr>
      <vt:lpstr>Agenda</vt:lpstr>
      <vt:lpstr>What is Time Synchronization</vt:lpstr>
      <vt:lpstr>Clock Synchronization</vt:lpstr>
      <vt:lpstr>Possible Software Architecture</vt:lpstr>
      <vt:lpstr>Better Software Architecture</vt:lpstr>
      <vt:lpstr>But LAN8650/1 Updates via SPI?</vt:lpstr>
      <vt:lpstr>How does the Clock Source Share It‘s Time?</vt:lpstr>
      <vt:lpstr>What is the Real Time at the Follower?</vt:lpstr>
      <vt:lpstr>LAN8650/1  Receive Timestamp Configuration</vt:lpstr>
      <vt:lpstr>LAN8650/1 Wall Clock Registers</vt:lpstr>
      <vt:lpstr>LAN8650/1 Software</vt:lpstr>
      <vt:lpstr>Optional: Filter for SYNC Packets</vt:lpstr>
      <vt:lpstr>LAN8670/1/2 Timestamping</vt:lpstr>
      <vt:lpstr>IEEE 802.1AS  –  Clock Synchronization (Standard)</vt:lpstr>
      <vt:lpstr>IEEE 802.1AS  –  LAN8670/1/2 Configuration for Standard Clocksynchronization</vt:lpstr>
      <vt:lpstr>IEEE 802.1AS  –  Clock Synchronization (MAC Timestamping)</vt:lpstr>
      <vt:lpstr>LAN8670/1/2 Configuration for MAC Timestamping</vt:lpstr>
      <vt:lpstr>Agenda</vt:lpstr>
      <vt:lpstr>Wake / Sleep </vt:lpstr>
      <vt:lpstr>Simple System without Sleep Mode</vt:lpstr>
      <vt:lpstr>System with Sleep Mode and Advanced Features</vt:lpstr>
      <vt:lpstr>Host Configures Each Time before Going to SLEEP...</vt:lpstr>
      <vt:lpstr>Current Wake/Sleep</vt:lpstr>
      <vt:lpstr>Going to SLEEP – Two Ways</vt:lpstr>
      <vt:lpstr>Wake – Sleep Cycle</vt:lpstr>
      <vt:lpstr>New Wake/Sleep</vt:lpstr>
      <vt:lpstr>Going to SLEEP – Only One Way</vt:lpstr>
      <vt:lpstr>Wake – Sleep Cycle</vt:lpstr>
      <vt:lpstr>Current vs New Wake/Sleep</vt:lpstr>
      <vt:lpstr>Sleep – Direct Comparison</vt:lpstr>
      <vt:lpstr>Wake – Direct Comparison</vt:lpstr>
      <vt:lpstr>Agenda</vt:lpstr>
      <vt:lpstr>PoDL – Power over Data Line</vt:lpstr>
      <vt:lpstr>PoDL Power Sourcing Equipment (PSE) – Internal Test Boards Only     </vt:lpstr>
      <vt:lpstr>PoDL Powered Device (PD) – Internal Test Boards Only </vt:lpstr>
      <vt:lpstr>PowerPoint Presentation</vt:lpstr>
      <vt:lpstr>Thanks for your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Proprietary Features of LAN8670/1/2 and LAN8650/1</dc:title>
  <dc:creator>Mary Sue Haydt - M70043</dc:creator>
  <cp:revision>2</cp:revision>
  <dcterms:created xsi:type="dcterms:W3CDTF">2024-05-26T15:44:34Z</dcterms:created>
  <dcterms:modified xsi:type="dcterms:W3CDTF">2026-04-27T20:09:46Z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8fbba442-8e62-441a-8a37-77e419e57804</vt:lpwstr>
  </property>
  <property fmtid="{D5CDD505-2E9C-101B-9397-08002B2CF9AE}" pid="3" name="ContentTypeId">
    <vt:lpwstr>0x0101006F2FBDE82520C946BD19273829A3FFFC</vt:lpwstr>
  </property>
</Properties>
</file>