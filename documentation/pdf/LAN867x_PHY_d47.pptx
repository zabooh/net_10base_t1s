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597" r:id="rId5"/>
    <p:sldId id="2103813063" r:id="rId6"/>
    <p:sldId id="2103812980" r:id="rId7"/>
    <p:sldId id="2103812890" r:id="rId8"/>
    <p:sldId id="2103812987" r:id="rId9"/>
    <p:sldId id="2103812892" r:id="rId10"/>
    <p:sldId id="2103812910" r:id="rId11"/>
    <p:sldId id="2103812911" r:id="rId12"/>
    <p:sldId id="2103812912" r:id="rId13"/>
    <p:sldId id="2103813091" r:id="rId14"/>
    <p:sldId id="2103812897" r:id="rId15"/>
    <p:sldId id="2103812981" r:id="rId16"/>
    <p:sldId id="2103812831" r:id="rId17"/>
    <p:sldId id="2103812833" r:id="rId18"/>
    <p:sldId id="2103813111" r:id="rId19"/>
    <p:sldId id="2103813112" r:id="rId20"/>
    <p:sldId id="2103813113" r:id="rId21"/>
    <p:sldId id="2103812982" r:id="rId22"/>
    <p:sldId id="2103812931" r:id="rId23"/>
    <p:sldId id="2103813080" r:id="rId24"/>
    <p:sldId id="2103813079" r:id="rId25"/>
    <p:sldId id="2103813109" r:id="rId26"/>
    <p:sldId id="2103813082" r:id="rId27"/>
    <p:sldId id="2103813083" r:id="rId28"/>
    <p:sldId id="2103812983" r:id="rId29"/>
    <p:sldId id="2103812954" r:id="rId30"/>
    <p:sldId id="2103813110" r:id="rId31"/>
    <p:sldId id="2103813114" r:id="rId32"/>
    <p:sldId id="2103812984" r:id="rId33"/>
    <p:sldId id="2103813028" r:id="rId34"/>
    <p:sldId id="2103813040" r:id="rId35"/>
    <p:sldId id="2103812970" r:id="rId36"/>
    <p:sldId id="2103812985" r:id="rId37"/>
    <p:sldId id="2103813106" r:id="rId38"/>
    <p:sldId id="2103813116" r:id="rId39"/>
    <p:sldId id="2103813107" r:id="rId40"/>
    <p:sldId id="2103813009" r:id="rId41"/>
    <p:sldId id="2103813086" r:id="rId42"/>
    <p:sldId id="2103812991" r:id="rId43"/>
    <p:sldId id="2103813084" r:id="rId44"/>
    <p:sldId id="2103812995" r:id="rId45"/>
    <p:sldId id="2103813090" r:id="rId46"/>
    <p:sldId id="2103813018" r:id="rId47"/>
    <p:sldId id="2103813092" r:id="rId48"/>
    <p:sldId id="2103813096" r:id="rId49"/>
    <p:sldId id="2103813108" r:id="rId50"/>
    <p:sldId id="2463" r:id="rId51"/>
  </p:sldIdLst>
  <p:sldSz cx="12188825" cy="6858000"/>
  <p:notesSz cx="6858000" cy="9945688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A3A6DB-D10E-C411-F2B0-AD946D7D77E3}" name="Wolfgang Wittmer - M21200" initials="WWM" userId="S::wolfgang.wittmer@microchip.com::0e6af9d7-88e4-4110-a0fa-93517c9183be" providerId="AD"/>
  <p188:author id="{385FB6E2-BD21-6A92-0D60-97EB0762C9CD}" name="Marc Edwards - C15964" initials="MEC" userId="S::marc.edwards@microchip.com::a5ce67ae-55ad-4c98-8c51-9b5e4d2fc3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79C5"/>
    <a:srgbClr val="FF0000"/>
    <a:srgbClr val="FD6E03"/>
    <a:srgbClr val="ED1B2E"/>
    <a:srgbClr val="77C4EF"/>
    <a:srgbClr val="D9D9D9"/>
    <a:srgbClr val="7F7F7F"/>
    <a:srgbClr val="BFBFBF"/>
    <a:srgbClr val="FD7F20"/>
    <a:srgbClr val="FEA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60"/>
        <p:guide pos="24"/>
        <p:guide orient="horz" pos="80"/>
        <p:guide pos="3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8/10/relationships/authors" Target="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99012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6679"/>
            <a:ext cx="2971800" cy="499011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4" y="9446679"/>
            <a:ext cx="2971800" cy="499011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6725" y="573088"/>
            <a:ext cx="5957888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70" tIns="45935" rIns="91870" bIns="45935" rtlCol="0" anchor="ctr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853795" y="9591646"/>
            <a:ext cx="2971800" cy="313522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r">
              <a:defRPr sz="1100"/>
            </a:lvl1pPr>
          </a:lstStyle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‹#›</a:t>
            </a:fld>
            <a:endParaRPr lang="en-US" sz="110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0C46A820-4447-436F-94F8-C68FA4E5D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6568" y="4314058"/>
            <a:ext cx="6045521" cy="5142460"/>
          </a:xfrm>
          <a:prstGeom prst="rect">
            <a:avLst/>
          </a:prstGeom>
        </p:spPr>
        <p:txBody>
          <a:bodyPr vert="horz" lIns="91870" tIns="45935" rIns="91870" bIns="4593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2CC1E2-1949-4D05-9109-54FE69E54BEA}"/>
              </a:ext>
            </a:extLst>
          </p:cNvPr>
          <p:cNvCxnSpPr/>
          <p:nvPr/>
        </p:nvCxnSpPr>
        <p:spPr>
          <a:xfrm>
            <a:off x="446568" y="9591646"/>
            <a:ext cx="60455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36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264236D2-5FAD-BDAA-E0B9-9D31C4149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908E0-AB8F-774E-38FF-94D10B85C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</a:t>
            </a:fld>
            <a:endParaRPr lang="en-US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7A0C-5ABF-7DBB-51A6-42DB1A402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5454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51BBD-564D-4B58-C2AE-43284425E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0002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Microchip LAN8670/1/2 is a compact, low power, and cost-effective single-port 10BASE-T1S</a:t>
            </a:r>
            <a:r>
              <a:rPr lang="en-DE"/>
              <a:t> </a:t>
            </a:r>
            <a:r>
              <a:rPr lang="en-US"/>
              <a:t>Ethernet PHY designed according to the IEEE Std 802.3cg-2019 specification. The device provides</a:t>
            </a:r>
            <a:r>
              <a:rPr lang="en-DE"/>
              <a:t> </a:t>
            </a:r>
            <a:r>
              <a:rPr lang="en-US"/>
              <a:t>10 Mbit/s </a:t>
            </a:r>
            <a:r>
              <a:rPr lang="en-DE"/>
              <a:t>h</a:t>
            </a:r>
            <a:r>
              <a:rPr lang="en-US" err="1"/>
              <a:t>alf</a:t>
            </a:r>
            <a:r>
              <a:rPr lang="en-US"/>
              <a:t>‑duplex transmit and receive capability over a single balanced pair of conductors</a:t>
            </a:r>
            <a:r>
              <a:rPr lang="en-DE"/>
              <a:t> </a:t>
            </a:r>
            <a:r>
              <a:rPr lang="en-US"/>
              <a:t>such as Unshielded Twisted Pair (UTP) cable. The LAN8670/1/2 is designed for use in applications</a:t>
            </a:r>
            <a:r>
              <a:rPr lang="en-DE"/>
              <a:t> </a:t>
            </a:r>
            <a:r>
              <a:rPr lang="en-US"/>
              <a:t>requiring an extended temperature range (-40°C to +125°C ambient) and is optimized for AEC-Q100</a:t>
            </a:r>
            <a:r>
              <a:rPr lang="en-DE"/>
              <a:t> </a:t>
            </a:r>
            <a:r>
              <a:rPr lang="en-US"/>
              <a:t>automotive Grade 1 use cases. The device is also compliant to automotive and industrial EMC</a:t>
            </a:r>
            <a:r>
              <a:rPr lang="en-DE"/>
              <a:t> </a:t>
            </a:r>
            <a:r>
              <a:rPr lang="en-US"/>
              <a:t>and EMI requirements. The single power supply and simple bus interface network simplifies its</a:t>
            </a:r>
            <a:r>
              <a:rPr lang="en-DE"/>
              <a:t> </a:t>
            </a:r>
            <a:r>
              <a:rPr lang="en-US"/>
              <a:t>integration into small form factor applications.</a:t>
            </a:r>
          </a:p>
          <a:p>
            <a:r>
              <a:rPr lang="en-US"/>
              <a:t>The LAN8670/1/2 allows for the creation of both half‑duplex multidrop and point-to-point network</a:t>
            </a:r>
            <a:r>
              <a:rPr lang="en-DE"/>
              <a:t> </a:t>
            </a:r>
            <a:r>
              <a:rPr lang="en-US"/>
              <a:t>topologies. Point-to-point link segments of up to at least 15m in length are supported. The</a:t>
            </a:r>
            <a:r>
              <a:rPr lang="en-DE"/>
              <a:t> </a:t>
            </a:r>
            <a:r>
              <a:rPr lang="en-US"/>
              <a:t>multidrop mode supports up to at least 8 PHYs connected to a common mixing segment of up</a:t>
            </a:r>
            <a:r>
              <a:rPr lang="en-DE"/>
              <a:t> </a:t>
            </a:r>
            <a:r>
              <a:rPr lang="en-US"/>
              <a:t>to at least 25m in length. The ability to connect multiple PHYs to a common mixing segment reduces</a:t>
            </a:r>
            <a:r>
              <a:rPr lang="en-DE"/>
              <a:t> </a:t>
            </a:r>
            <a:r>
              <a:rPr lang="en-US"/>
              <a:t>weight and implementation costs by requiring fewer connectors, individual cables and switch ports.</a:t>
            </a:r>
          </a:p>
          <a:p>
            <a:r>
              <a:rPr lang="en-US"/>
              <a:t>Access to the physical medium is managed by CSMA/CD and optionally supplemented by Physical</a:t>
            </a:r>
            <a:r>
              <a:rPr lang="en-DE"/>
              <a:t> </a:t>
            </a:r>
            <a:r>
              <a:rPr lang="en-US"/>
              <a:t>Layer Collision Avoidance (PLCA) as per IEEE Std 802.3cg-2019. In addition to the single transmit</a:t>
            </a:r>
            <a:r>
              <a:rPr lang="en-DE"/>
              <a:t> </a:t>
            </a:r>
            <a:r>
              <a:rPr lang="en-US"/>
              <a:t>opportunity per bus cycle in this standard, the LAN8670/1/2 has the ability to be configured with up</a:t>
            </a:r>
            <a:r>
              <a:rPr lang="en-DE"/>
              <a:t> </a:t>
            </a:r>
            <a:r>
              <a:rPr lang="en-US"/>
              <a:t>to 8 additional transmit opportunities in each bus cycle. As an alternative to PLCA, the Application</a:t>
            </a:r>
            <a:r>
              <a:rPr lang="en-DE"/>
              <a:t> </a:t>
            </a:r>
            <a:r>
              <a:rPr lang="en-US"/>
              <a:t>Controlled Media Access (ACMA) pin can be used to implement time-division multiple access (TDMA)</a:t>
            </a:r>
            <a:r>
              <a:rPr lang="en-DE"/>
              <a:t> </a:t>
            </a:r>
            <a:r>
              <a:rPr lang="en-US"/>
              <a:t>to the physical medium.</a:t>
            </a:r>
          </a:p>
          <a:p>
            <a:r>
              <a:rPr lang="en-US"/>
              <a:t>The LAN8670/1/2 interfaces with an Ethernet MAC via standard MII/RMII, or via the Single Clock</a:t>
            </a:r>
            <a:r>
              <a:rPr lang="en-DE"/>
              <a:t> </a:t>
            </a:r>
            <a:r>
              <a:rPr lang="en-US"/>
              <a:t>Media Independent Interface (SC-MII) which is similar to the MII but with fewer pins. An integrated</a:t>
            </a:r>
            <a:r>
              <a:rPr lang="en-DE"/>
              <a:t> </a:t>
            </a:r>
            <a:r>
              <a:rPr lang="en-US"/>
              <a:t>serial management interface (SMI) provides rapid register access and configuration at up to 4 </a:t>
            </a:r>
            <a:r>
              <a:rPr lang="en-US" err="1"/>
              <a:t>MHz.</a:t>
            </a:r>
            <a:endParaRPr lang="en-US"/>
          </a:p>
          <a:p>
            <a:r>
              <a:rPr lang="en-US"/>
              <a:t>Microchip’s LAN8670/1/2 </a:t>
            </a:r>
            <a:r>
              <a:rPr lang="en-US" err="1"/>
              <a:t>EtherGREEN</a:t>
            </a:r>
            <a:r>
              <a:rPr lang="en-US"/>
              <a:t> energy efficient technology provides low power 10BASE-T1S</a:t>
            </a:r>
            <a:r>
              <a:rPr lang="en-DE"/>
              <a:t> </a:t>
            </a:r>
            <a:r>
              <a:rPr lang="en-US"/>
              <a:t>PHY operation along with an ultra-low power sleep mode with flexible wake options.</a:t>
            </a:r>
          </a:p>
          <a:p>
            <a:r>
              <a:rPr lang="en-US"/>
              <a:t>In addition, the LAN8670/1/2 can be used to implement high-precision clock synchronization.</a:t>
            </a:r>
            <a:r>
              <a:rPr lang="en-DE"/>
              <a:t> </a:t>
            </a:r>
            <a:r>
              <a:rPr lang="en-US"/>
              <a:t>This enables implementation of the IEEE Std 802.1AS profile, among others, of IEEE Std 1588 for</a:t>
            </a:r>
            <a:r>
              <a:rPr lang="en-DE"/>
              <a:t> </a:t>
            </a:r>
            <a:r>
              <a:rPr lang="en-US"/>
              <a:t>applications utilizing AVB or other Time Sensitive Networking (TSN) standards. This feature can be</a:t>
            </a:r>
            <a:r>
              <a:rPr lang="en-DE"/>
              <a:t> </a:t>
            </a:r>
            <a:r>
              <a:rPr lang="en-US"/>
              <a:t>used to provide a Timing Synchronization Service Interface (TSSI) as specified in IEEE Std 802.3™</a:t>
            </a:r>
            <a:r>
              <a:rPr lang="en-DE"/>
              <a:t> </a:t>
            </a:r>
            <a:r>
              <a:rPr lang="en-US"/>
              <a:t>Clause 90 as part of a TSN </a:t>
            </a:r>
            <a:r>
              <a:rPr lang="en-DE" err="1"/>
              <a:t>i</a:t>
            </a:r>
            <a:r>
              <a:rPr lang="en-US" err="1"/>
              <a:t>mplementation</a:t>
            </a:r>
            <a:r>
              <a:rPr lang="en-US"/>
              <a:t>.</a:t>
            </a:r>
          </a:p>
          <a:p>
            <a:r>
              <a:rPr lang="en-US"/>
              <a:t>Advanced PHY diagnostics are provided, which enable troubleshooting and monitoring capabilities</a:t>
            </a:r>
            <a:r>
              <a:rPr lang="en-DE"/>
              <a:t> </a:t>
            </a:r>
            <a:r>
              <a:rPr lang="en-US"/>
              <a:t>such as cable defect detection of shorts or opens, a receiver Signal Quality Indicator (SQI), PLCA</a:t>
            </a:r>
            <a:r>
              <a:rPr lang="en-DE"/>
              <a:t> </a:t>
            </a:r>
            <a:r>
              <a:rPr lang="en-US"/>
              <a:t>diagnostics, over-temperature, under-voltage detection, comprehensive status interrupt support,</a:t>
            </a:r>
            <a:r>
              <a:rPr lang="en-DE"/>
              <a:t> </a:t>
            </a:r>
            <a:r>
              <a:rPr lang="en-US"/>
              <a:t>and various loopback and test modes.</a:t>
            </a: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22A4733-03D6-B056-AD9D-97C04E24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B369C-EDB8-8A4E-A1EA-3E65C8145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82563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Through the SMI interface the MCU has direct access to the registers defined in </a:t>
            </a:r>
            <a:r>
              <a:rPr lang="en-US"/>
              <a:t>Clause 22 of IEEE Std 802.3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Registers mapped into IEEE Std 802.3 Clause 45 are accessed indirectly through</a:t>
            </a:r>
          </a:p>
          <a:p>
            <a:r>
              <a:rPr lang="en-US"/>
              <a:t>the MMD Access Control (MMDCTRL) </a:t>
            </a:r>
            <a:r>
              <a:rPr lang="en-DE"/>
              <a:t>register 0D </a:t>
            </a:r>
          </a:p>
          <a:p>
            <a:r>
              <a:rPr lang="en-US"/>
              <a:t>and MMD Access Data (MMDAD) register</a:t>
            </a:r>
            <a:r>
              <a:rPr lang="en-DE"/>
              <a:t> 0E.</a:t>
            </a:r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22A4733-03D6-B056-AD9D-97C04E24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3C6AD-EC0A-9082-68D6-2862D84F6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44245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22A4733-03D6-B056-AD9D-97C04E24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64906-30A6-BA25-75EA-8D68611C4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6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783826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22A4733-03D6-B056-AD9D-97C04E24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5AAC3-5EA9-32FC-833E-D6269E8AD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7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31325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22A4733-03D6-B056-AD9D-97C04E24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563AA-AE9D-2CB2-94DD-D263692AA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48149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22A4733-03D6-B056-AD9D-97C04E24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AAB2F-25FE-CA79-DE16-7A921BF31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9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09927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8A7F-5AF8-BA0D-2E99-660D9783B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74765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B660B-049F-BBB8-7EB3-4DE826466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14608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EA34D-AB75-DE02-B788-5ABCD00E2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22349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There are several terms used for the configuration interface of the LAN8670/1/2:</a:t>
            </a:r>
          </a:p>
          <a:p>
            <a:endParaRPr lang="en-DE"/>
          </a:p>
          <a:p>
            <a:r>
              <a:rPr lang="en-DE"/>
              <a:t>M</a:t>
            </a:r>
            <a:r>
              <a:rPr lang="en-US" err="1"/>
              <a:t>anagement</a:t>
            </a:r>
            <a:r>
              <a:rPr lang="en-US"/>
              <a:t> Data Input/Output</a:t>
            </a:r>
            <a:r>
              <a:rPr lang="en-DE"/>
              <a:t>  - or </a:t>
            </a:r>
            <a:r>
              <a:rPr lang="en-US"/>
              <a:t> MDIO </a:t>
            </a:r>
            <a:r>
              <a:rPr lang="en-DE"/>
              <a:t> 	</a:t>
            </a:r>
            <a:endParaRPr lang="en-US"/>
          </a:p>
          <a:p>
            <a:r>
              <a:rPr lang="en-DE"/>
              <a:t>S</a:t>
            </a:r>
            <a:r>
              <a:rPr lang="en-US" err="1"/>
              <a:t>erial</a:t>
            </a:r>
            <a:r>
              <a:rPr lang="en-US"/>
              <a:t> Management Interface </a:t>
            </a:r>
            <a:r>
              <a:rPr lang="en-DE"/>
              <a:t> - or </a:t>
            </a:r>
            <a:r>
              <a:rPr lang="en-US"/>
              <a:t>SMI </a:t>
            </a:r>
            <a:r>
              <a:rPr lang="en-DE"/>
              <a:t> 	</a:t>
            </a:r>
            <a:endParaRPr lang="en-US"/>
          </a:p>
          <a:p>
            <a:r>
              <a:rPr lang="en-DE"/>
              <a:t>M</a:t>
            </a:r>
            <a:r>
              <a:rPr lang="en-US" err="1"/>
              <a:t>edia</a:t>
            </a:r>
            <a:r>
              <a:rPr lang="en-US"/>
              <a:t> Independent Interface Management</a:t>
            </a:r>
            <a:r>
              <a:rPr lang="en-DE"/>
              <a:t> - or  </a:t>
            </a:r>
            <a:r>
              <a:rPr lang="en-US"/>
              <a:t>MIIM </a:t>
            </a:r>
            <a:r>
              <a:rPr lang="en-DE"/>
              <a:t> 	</a:t>
            </a:r>
          </a:p>
          <a:p>
            <a:endParaRPr lang="en-DE"/>
          </a:p>
          <a:p>
            <a:r>
              <a:rPr lang="en-DE"/>
              <a:t>However, they basically all mean the same 2-wire serial bus interface which is used to read and write the control and status registers of the PHY.</a:t>
            </a:r>
            <a:endParaRPr lang="en-US"/>
          </a:p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4EFB47FC-F587-3A52-2E67-2D17CCEB4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32FBA-FCC0-CBFA-3FFB-6A143F91E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278685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A certain sequence of register accesses is needed for initial configuration of the LAN8670/1/2.</a:t>
            </a:r>
          </a:p>
          <a:p>
            <a:r>
              <a:rPr lang="en-DE"/>
              <a:t>Microchip’s Linux driver, the Windows driver and the Harmony Example will write this sequence to the LAN8670/1/2 immediately after reset.</a:t>
            </a:r>
          </a:p>
          <a:p>
            <a:r>
              <a:rPr lang="en-DE"/>
              <a:t>Customers who develop their own application need to integrate this sequence.</a:t>
            </a:r>
          </a:p>
          <a:p>
            <a:r>
              <a:rPr lang="en-DE"/>
              <a:t>The latest sequence for the initial configuration is available as an </a:t>
            </a:r>
            <a:r>
              <a:rPr lang="en-DE" err="1"/>
              <a:t>AppNote</a:t>
            </a:r>
            <a:r>
              <a:rPr lang="en-DE"/>
              <a:t> AN1699 on the product page of the LAN8670/1/2.</a:t>
            </a: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D59A67E8-2F9B-6D4D-9644-1E501DB4B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C77F9-9566-901C-BEA2-6BD25D130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07708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Device Mode (MODE[1:0])</a:t>
            </a:r>
          </a:p>
          <a:p>
            <a:r>
              <a:rPr lang="en-US"/>
              <a:t>The MODE[1:0] configuration straps determine whether the interface to the MAC is MII, RMII, or</a:t>
            </a:r>
          </a:p>
          <a:p>
            <a:r>
              <a:rPr lang="en-US"/>
              <a:t>SC-MII, as shown in Table 3-12 below. The value can be read in the STRAP_CTRL0 register, if needed.</a:t>
            </a:r>
          </a:p>
          <a:p>
            <a:r>
              <a:rPr lang="en-US"/>
              <a:t>Note: As the LAN8672 only supports operation in MII mode, the MODE[1:0] configuration straps</a:t>
            </a:r>
          </a:p>
          <a:p>
            <a:r>
              <a:rPr lang="en-US"/>
              <a:t>must be set to 01b.</a:t>
            </a:r>
            <a:endParaRPr lang="en-DE"/>
          </a:p>
          <a:p>
            <a:endParaRPr lang="en-DE"/>
          </a:p>
          <a:p>
            <a:r>
              <a:rPr lang="en-US"/>
              <a:t>Configuration straps are latched on Power-On Reset (POR) and pin reset (RESET_N). At the</a:t>
            </a:r>
            <a:r>
              <a:rPr lang="en-DE"/>
              <a:t> </a:t>
            </a:r>
            <a:r>
              <a:rPr lang="en-US"/>
              <a:t>completion of the reset, that is when all power supplies are above the thresholds and the RESET_N</a:t>
            </a:r>
            <a:r>
              <a:rPr lang="en-DE"/>
              <a:t> </a:t>
            </a:r>
            <a:r>
              <a:rPr lang="en-US"/>
              <a:t>pin is no longer asserted, the associated register bit values are loaded.</a:t>
            </a:r>
            <a:endParaRPr lang="en-D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69F394-5568-BBCB-C01A-CBB2CE7E9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462A65FF-B8D5-9C5A-42C0-4306B9471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8609048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800" b="0" i="0" u="none" strike="noStrike" baseline="0">
                <a:latin typeface="OpenSans"/>
              </a:rPr>
              <a:t>The Device Mode determines the interface to the MAC, that is whether the communication between the LAN867x is using the MII, RMII or SC-MII interface.</a:t>
            </a:r>
          </a:p>
          <a:p>
            <a:r>
              <a:rPr lang="en-DE" sz="1800" b="0" i="0" u="none" strike="noStrike" baseline="0">
                <a:latin typeface="OpenSans"/>
              </a:rPr>
              <a:t>Setting the MAC interface results in a specific Pin configuration. </a:t>
            </a:r>
            <a:r>
              <a:rPr lang="en-US" sz="1800" b="0" i="0" u="none" strike="noStrike" baseline="0">
                <a:latin typeface="OpenSans"/>
              </a:rPr>
              <a:t>Some pins of the LAN8670/1/2 may take on multiple functions depending on the device and mode</a:t>
            </a:r>
            <a:r>
              <a:rPr lang="en-DE" sz="1800" b="0" i="0" u="none" strike="noStrike" baseline="0">
                <a:latin typeface="OpenSans"/>
              </a:rPr>
              <a:t>. </a:t>
            </a:r>
          </a:p>
          <a:p>
            <a:endParaRPr lang="en-US" sz="1800" b="0" i="0" u="none" strike="noStrike" baseline="0">
              <a:solidFill>
                <a:srgbClr val="000000"/>
              </a:solidFill>
              <a:latin typeface="Open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69F394-5568-BBCB-C01A-CBB2CE7E9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462A65FF-B8D5-9C5A-42C0-4306B9471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7629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baseline="0">
                <a:latin typeface="OpenSans"/>
              </a:rPr>
              <a:t>The GPIO0 pin is a multipurpose pin that can be configured as desired for multiple uses.</a:t>
            </a:r>
            <a:endParaRPr lang="en-DE" sz="1800" b="0" i="0" u="none" strike="noStrike" baseline="0">
              <a:latin typeface="OpenSans"/>
            </a:endParaRPr>
          </a:p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OpenSans"/>
              </a:rPr>
              <a:t>The GPIO0 pin functionality is configured by writing to the GPIO0 Signal Select (GPIO0SS) field of</a:t>
            </a:r>
          </a:p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OpenSans"/>
              </a:rPr>
              <a:t>the Pin Control (PINCTRL) register. The GPIO0 Signal Select should be configured prior to configuring</a:t>
            </a:r>
          </a:p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OpenSans"/>
              </a:rPr>
              <a:t>and enabling the underlying Packet Pattern Matching or Application Controlled Media Access blocks.</a:t>
            </a:r>
          </a:p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OpenSans"/>
              </a:rPr>
              <a:t>Valid configurations for the GPIO0 pin depend on the device in use and its operating mode. When</a:t>
            </a:r>
          </a:p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OpenSans"/>
              </a:rPr>
              <a:t>a dedicated pin is available, it must be used rather than the GPIO0 pin. </a:t>
            </a:r>
            <a:r>
              <a:rPr lang="en-US" sz="1800" b="0" i="0" u="none" strike="noStrike" baseline="0">
                <a:solidFill>
                  <a:srgbClr val="0000FF"/>
                </a:solidFill>
                <a:latin typeface="OpenSans"/>
              </a:rPr>
              <a:t>Table 3-14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OpenSans"/>
              </a:rPr>
              <a:t>below shows the</a:t>
            </a:r>
          </a:p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OpenSans"/>
              </a:rPr>
              <a:t>valid configurations for the GPIO0 pin. When a pin number is shown, this is an invalid configuration</a:t>
            </a:r>
          </a:p>
          <a:p>
            <a:pPr algn="l"/>
            <a:r>
              <a:rPr lang="en-US" sz="1800" b="0" i="0" u="none" strike="noStrike" baseline="0">
                <a:solidFill>
                  <a:srgbClr val="000000"/>
                </a:solidFill>
                <a:latin typeface="OpenSans"/>
              </a:rPr>
              <a:t>for the GPIO0 Signal Select and the designated dedicated pin must be used instead.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69F394-5568-BBCB-C01A-CBB2CE7E9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462A65FF-B8D5-9C5A-42C0-4306B9471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99428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971F1-BD3E-3498-CA4F-5F72D26B0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4074517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>
                <a:latin typeface="OpenSans-Bold"/>
              </a:rPr>
              <a:t>Note: </a:t>
            </a:r>
            <a:r>
              <a:rPr lang="en-US" sz="1800" b="0" i="0" u="none" strike="noStrike" baseline="0">
                <a:latin typeface="OpenSans"/>
              </a:rPr>
              <a:t>In the LAN8670/1/2</a:t>
            </a:r>
            <a:r>
              <a:rPr lang="en-DE" sz="1800" b="0" i="0" u="none" strike="noStrike" baseline="0">
                <a:latin typeface="OpenSans"/>
              </a:rPr>
              <a:t> and LAN8650/1 </a:t>
            </a:r>
            <a:r>
              <a:rPr lang="en-US" sz="1800" b="0" i="0" u="none" strike="noStrike" baseline="0">
                <a:latin typeface="OpenSans"/>
              </a:rPr>
              <a:t>MDI wake detection was not designed to meet the OPEN Alliance</a:t>
            </a:r>
          </a:p>
          <a:p>
            <a:pPr algn="l"/>
            <a:r>
              <a:rPr lang="en-US" sz="1800" b="0" i="0" u="none" strike="noStrike" baseline="0">
                <a:latin typeface="OpenSans"/>
              </a:rPr>
              <a:t>10BASE-T1S Sleep/Wake-up Specification, version 1.0. Received energy that is of sufficient length</a:t>
            </a:r>
          </a:p>
          <a:p>
            <a:pPr algn="l"/>
            <a:r>
              <a:rPr lang="en-US" sz="1800" b="0" i="0" u="none" strike="noStrike" baseline="0">
                <a:latin typeface="OpenSans"/>
              </a:rPr>
              <a:t>that is detected either from other nodes transmitting onto the segment or from noise will trigger the</a:t>
            </a:r>
          </a:p>
          <a:p>
            <a:pPr algn="l"/>
            <a:r>
              <a:rPr lang="en-US" sz="1800" b="0" i="0" u="none" strike="noStrike" baseline="0">
                <a:latin typeface="OpenSans"/>
              </a:rPr>
              <a:t>device to wake when MDI wake-up is enabled.</a:t>
            </a:r>
            <a:endParaRPr lang="en-DE"/>
          </a:p>
          <a:p>
            <a:endParaRPr lang="en-DE"/>
          </a:p>
          <a:p>
            <a:endParaRPr lang="en-DE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A6581-499D-EAB6-F6BA-2F49BE470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DE"/>
              <a:t>Overview  LAN8670/1/2  and  LAN8650/1    </a:t>
            </a:r>
            <a:r>
              <a:rPr lang="en-US"/>
              <a:t>p.</a:t>
            </a:r>
            <a:fld id="{BFF8CB49-A7FB-5E4A-B599-DE211813512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32D3D448-2B1D-FBFA-73E4-907CAE3D2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11735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C5FE0-73A5-78FD-1994-BEC9DA382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870145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This slide </a:t>
            </a:r>
            <a:r>
              <a:rPr lang="en-US"/>
              <a:t>shows an example of how power should be supplied in a system that will use the</a:t>
            </a:r>
            <a:r>
              <a:rPr lang="en-DE"/>
              <a:t> </a:t>
            </a:r>
            <a:r>
              <a:rPr lang="en-US"/>
              <a:t>low-power sleep mode of the LAN8670/1/2</a:t>
            </a:r>
            <a:r>
              <a:rPr lang="en-DE"/>
              <a:t> and LAN865/1</a:t>
            </a:r>
            <a:r>
              <a:rPr lang="en-US"/>
              <a:t>. In this diagram, VDDAU is provided by a constant supply,</a:t>
            </a:r>
            <a:r>
              <a:rPr lang="en-DE"/>
              <a:t> </a:t>
            </a:r>
            <a:r>
              <a:rPr lang="en-US"/>
              <a:t>so that it is always enabled, even during sleep mode. On system power-up, once this supply is active,</a:t>
            </a:r>
            <a:r>
              <a:rPr lang="en-DE"/>
              <a:t> </a:t>
            </a:r>
            <a:r>
              <a:rPr lang="en-US"/>
              <a:t>the INH pin will be asserted so that its active high output can drive the enable pins of the external</a:t>
            </a:r>
            <a:r>
              <a:rPr lang="en-DE"/>
              <a:t> </a:t>
            </a:r>
            <a:r>
              <a:rPr lang="en-US"/>
              <a:t>switchable supplies for VDDA and VDDP.</a:t>
            </a:r>
            <a:endParaRPr lang="en-DE"/>
          </a:p>
          <a:p>
            <a:r>
              <a:rPr lang="en-US"/>
              <a:t>After the device enters sleep mode, the INH pin will enter a high-impedance state. The external</a:t>
            </a:r>
            <a:r>
              <a:rPr lang="en-DE"/>
              <a:t> </a:t>
            </a:r>
            <a:r>
              <a:rPr lang="en-US"/>
              <a:t>resistor will pull the signal down to ground, which will then disable any voltage sources controlled</a:t>
            </a:r>
            <a:r>
              <a:rPr lang="en-DE"/>
              <a:t> </a:t>
            </a:r>
            <a:r>
              <a:rPr lang="en-US"/>
              <a:t>by INH. This can be used to disable power to additional devices, including, when needed, the station</a:t>
            </a:r>
            <a:r>
              <a:rPr lang="en-DE"/>
              <a:t> </a:t>
            </a:r>
            <a:r>
              <a:rPr lang="en-US"/>
              <a:t>controller.</a:t>
            </a:r>
            <a:endParaRPr lang="en-DE"/>
          </a:p>
          <a:p>
            <a:r>
              <a:rPr lang="en-US"/>
              <a:t>The sleep/wake module is powered by the externally protected continuous VDDAU supply and</a:t>
            </a:r>
            <a:r>
              <a:rPr lang="en-DE"/>
              <a:t> </a:t>
            </a:r>
            <a:r>
              <a:rPr lang="en-US"/>
              <a:t>detects a wake condition when the device is in the SLEEP state. This module monitors activity energy</a:t>
            </a:r>
            <a:r>
              <a:rPr lang="en-DE"/>
              <a:t> </a:t>
            </a:r>
            <a:r>
              <a:rPr lang="en-US"/>
              <a:t>on the MDI interface and/or wake pulses on the WAKE_IN pin to determine if the device has received</a:t>
            </a:r>
            <a:r>
              <a:rPr lang="en-DE"/>
              <a:t> </a:t>
            </a:r>
            <a:r>
              <a:rPr lang="en-US"/>
              <a:t>wake-up signaling. Once wake-up signaling has been received and validated, this module will drive</a:t>
            </a:r>
            <a:r>
              <a:rPr lang="en-DE"/>
              <a:t> </a:t>
            </a:r>
            <a:r>
              <a:rPr lang="en-US"/>
              <a:t>the INH pin high to the VDDAU supply to enable the external switched power supplies.</a:t>
            </a:r>
            <a:endParaRPr lang="en-DE"/>
          </a:p>
          <a:p>
            <a:endParaRPr lang="en-DE"/>
          </a:p>
          <a:p>
            <a:r>
              <a:rPr lang="en-US"/>
              <a:t>If wake from the WAKE_IN pin is enabled (WKIEN=1), the WAKE_IN pin must</a:t>
            </a:r>
            <a:r>
              <a:rPr lang="en-DE"/>
              <a:t> </a:t>
            </a:r>
            <a:r>
              <a:rPr lang="en-US"/>
              <a:t>be </a:t>
            </a:r>
            <a:r>
              <a:rPr lang="en-US" err="1"/>
              <a:t>deasserted</a:t>
            </a:r>
            <a:r>
              <a:rPr lang="en-US"/>
              <a:t> before the Sleep Inhibit Delay timer will be started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Wake from MDI is enabled by writing a ’1’ to the MDI Wake Enable (MDIWKEN) bit in the Sleep</a:t>
            </a:r>
          </a:p>
          <a:p>
            <a:r>
              <a:rPr lang="en-US"/>
              <a:t>Control 0 (SLPCTL0) register prior to entering the SLEEP state.</a:t>
            </a:r>
            <a:endParaRPr lang="en-DE"/>
          </a:p>
          <a:p>
            <a:endParaRPr lang="en-DE"/>
          </a:p>
          <a:p>
            <a:r>
              <a:rPr lang="en-US"/>
              <a:t>The device may be configured to generate activity signaling on the MDI upon wake from SLEEP</a:t>
            </a:r>
            <a:r>
              <a:rPr lang="en-DE"/>
              <a:t> </a:t>
            </a:r>
            <a:r>
              <a:rPr lang="en-US"/>
              <a:t>due to a </a:t>
            </a:r>
            <a:r>
              <a:rPr lang="en-DE"/>
              <a:t>w</a:t>
            </a:r>
            <a:r>
              <a:rPr lang="en-US" err="1"/>
              <a:t>ake</a:t>
            </a:r>
            <a:r>
              <a:rPr lang="en-US"/>
              <a:t> pulse on WAKE_IN. The wake signaling consists of a 1 </a:t>
            </a:r>
            <a:r>
              <a:rPr lang="en-US" err="1"/>
              <a:t>ms</a:t>
            </a:r>
            <a:r>
              <a:rPr lang="en-US"/>
              <a:t> transmission of differential</a:t>
            </a:r>
            <a:r>
              <a:rPr lang="en-DE"/>
              <a:t> </a:t>
            </a:r>
            <a:r>
              <a:rPr lang="en-US"/>
              <a:t>Manchester encoded pseudo-random binary data. The device will not listen for activity on the</a:t>
            </a:r>
            <a:r>
              <a:rPr lang="en-DE"/>
              <a:t> </a:t>
            </a:r>
            <a:r>
              <a:rPr lang="en-US"/>
              <a:t>network prior to transmitting the wake signaling.</a:t>
            </a:r>
          </a:p>
          <a:p>
            <a:r>
              <a:rPr lang="en-US"/>
              <a:t>Enabling of MDI wake activity forwarding is accomplished by setting the MDI Forward Enable</a:t>
            </a:r>
          </a:p>
          <a:p>
            <a:r>
              <a:rPr lang="en-US"/>
              <a:t>(MDIFWDEN) bit of the Sleep Control 1 (SLPCTL1) register.</a:t>
            </a:r>
            <a:endParaRPr lang="en-DE"/>
          </a:p>
          <a:p>
            <a:endParaRPr lang="en-DE"/>
          </a:p>
          <a:p>
            <a:r>
              <a:rPr lang="en-US"/>
              <a:t>The WAKE_OUT pin may be configured to assert for 90 </a:t>
            </a:r>
            <a:r>
              <a:rPr lang="en-US" err="1"/>
              <a:t>μs</a:t>
            </a:r>
            <a:r>
              <a:rPr lang="en-US"/>
              <a:t> upon wake from SLEEP due to MDI activity</a:t>
            </a:r>
            <a:r>
              <a:rPr lang="en-DE"/>
              <a:t> </a:t>
            </a:r>
            <a:r>
              <a:rPr lang="en-US"/>
              <a:t>or a wake pulse on WAKE_IN. Enabling of WAKE_OUT pin forwarding is accomplished by setting</a:t>
            </a:r>
            <a:r>
              <a:rPr lang="en-DE"/>
              <a:t> </a:t>
            </a:r>
            <a:r>
              <a:rPr lang="en-US"/>
              <a:t>the WAKE_OUT Forward Enable (WKOFWDEN) bit of the Sleep Control 1 (SLPCTL1) register prior</a:t>
            </a:r>
            <a:r>
              <a:rPr lang="en-DE"/>
              <a:t> </a:t>
            </a:r>
            <a:r>
              <a:rPr lang="en-US"/>
              <a:t>to entering the SLEEP state.</a:t>
            </a:r>
            <a:endParaRPr lang="en-DE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BBB60-3EAA-2B92-3BCC-9CA15DF91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696869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entering SLEEP mode, the desired wake configuration must be</a:t>
            </a:r>
          </a:p>
          <a:p>
            <a:r>
              <a:rPr lang="en-US"/>
              <a:t>configured in the LAN8670/1/2 and LAN8650/1. It is recommended that this mode is configured</a:t>
            </a:r>
          </a:p>
          <a:p>
            <a:r>
              <a:rPr lang="en-US"/>
              <a:t>immediately after a reset.</a:t>
            </a:r>
            <a:endParaRPr lang="en-DE"/>
          </a:p>
          <a:p>
            <a:r>
              <a:rPr lang="en-US"/>
              <a:t>Some systems may require a delay between the trigger for the start of sleep mode and disable</a:t>
            </a:r>
          </a:p>
          <a:p>
            <a:r>
              <a:rPr lang="en-US"/>
              <a:t>of the local power supplies, for example, to allow for other nodes on the mixing segment to go</a:t>
            </a:r>
          </a:p>
          <a:p>
            <a:r>
              <a:rPr lang="en-US"/>
              <a:t>quiet. Delay timing is configured with the Sleep Inhibit Delay (SLPINHDLY) field of the Sleep Control</a:t>
            </a:r>
          </a:p>
          <a:p>
            <a:r>
              <a:rPr lang="en-US"/>
              <a:t>0 (SLPCTL0) register.</a:t>
            </a:r>
            <a:endParaRPr lang="en-DE"/>
          </a:p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7740D-3D0F-FA53-1365-DFA01747E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8956211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wake-up has been configured, the device may at any time be commanded to enter the SLEEP</a:t>
            </a:r>
          </a:p>
          <a:p>
            <a:r>
              <a:rPr lang="en-US"/>
              <a:t>state. This may be done in one of two ways. The station controller may initiate a transition to SLEEP</a:t>
            </a:r>
          </a:p>
          <a:p>
            <a:r>
              <a:rPr lang="en-US"/>
              <a:t>by writing a ‘1’ to the Sleep Enable (SLPEN) bit in the Sleep Control 0 (SLPCTL0) register. Alternatively,</a:t>
            </a:r>
          </a:p>
          <a:p>
            <a:r>
              <a:rPr lang="en-US"/>
              <a:t>the device may be configured to enter SLEEP automatically upon expiration of an inactivity watchdog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The inactivity watchdog can be configured to trigger on inactivity of three sources: no receive</a:t>
            </a:r>
          </a:p>
          <a:p>
            <a:r>
              <a:rPr lang="en-US"/>
              <a:t>packets from the network, no transmit packets from the MAC, and no SMI access by the controller.</a:t>
            </a:r>
          </a:p>
          <a:p>
            <a:r>
              <a:rPr lang="en-US"/>
              <a:t>Each of these three inactivity sources may be enabled separately or together in any combination.</a:t>
            </a:r>
          </a:p>
          <a:p>
            <a:r>
              <a:rPr lang="en-US"/>
              <a:t>Once enabled, the watchdog timer will be reset upon detected activity on any of the selected</a:t>
            </a:r>
          </a:p>
          <a:p>
            <a:r>
              <a:rPr lang="en-US"/>
              <a:t>watchdog sources. When the watchdog expires, the Inactivity Watchdog Timeout (IWDTO) bit in</a:t>
            </a:r>
          </a:p>
          <a:p>
            <a:r>
              <a:rPr lang="en-US"/>
              <a:t>the Status 2 (STS2) register will be set commanding the transition to the SLEEP state and initiating</a:t>
            </a:r>
          </a:p>
          <a:p>
            <a:r>
              <a:rPr lang="en-US"/>
              <a:t>the Sleep Inhibit Delay timer.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09928-FBB8-C99C-1CAF-5EB4B7FC2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2201943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F403C-8F05-7EB8-313E-B6B55D720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22223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CC083-6CED-033C-E41C-9930753DC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523672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058FFA0-122B-709A-EDBC-E87DDFB8C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67B413-F23E-299D-61C4-2D61FF8F3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26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2114415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  <a:p>
            <a:r>
              <a:rPr lang="en-DE"/>
              <a:t>The LAN8670 supports a dedicated ACMA pin in SC-MII mode and in RMII mode.</a:t>
            </a:r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058FFA0-122B-709A-EDBC-E87DDFB8C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AFBB0E-F62D-6997-C29B-D16A99D20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27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450449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058FFA0-122B-709A-EDBC-E87DDFB8C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4F1A20-23E3-0267-33FA-18B6C0431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081135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3CE58-C707-8CE4-3DE8-C69AE4981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29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648794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The LAN8670/1/2 and LAN8650/1 implements a hardware credit based traffic shaper (CBS) to control the station’s</a:t>
            </a:r>
            <a:r>
              <a:rPr lang="en-DE"/>
              <a:t> </a:t>
            </a:r>
            <a:r>
              <a:rPr lang="en-US"/>
              <a:t>transmit bandwidth. A hardware credit counter is used to enable and disable the ability to transmit</a:t>
            </a:r>
            <a:r>
              <a:rPr lang="en-DE"/>
              <a:t> </a:t>
            </a:r>
            <a:r>
              <a:rPr lang="en-US"/>
              <a:t>packets onto the medium. The PHY decrements the credit counter during transmit and increments</a:t>
            </a:r>
            <a:r>
              <a:rPr lang="en-DE"/>
              <a:t> </a:t>
            </a:r>
            <a:r>
              <a:rPr lang="en-US"/>
              <a:t>the counter when the PHY is receiving data or the medium is idle. When the credit counter is</a:t>
            </a:r>
            <a:r>
              <a:rPr lang="en-DE"/>
              <a:t> </a:t>
            </a:r>
            <a:r>
              <a:rPr lang="en-US"/>
              <a:t>below the stop threshold, the PHY does not have enough credits to transmit. The PHY will then</a:t>
            </a:r>
            <a:r>
              <a:rPr lang="en-DE"/>
              <a:t> </a:t>
            </a:r>
            <a:r>
              <a:rPr lang="en-US"/>
              <a:t>hold the MAC off from transmitting by asserting the MII CRS or RMII CRSDV pin. When the PHY</a:t>
            </a:r>
            <a:r>
              <a:rPr lang="en-DE"/>
              <a:t> </a:t>
            </a:r>
            <a:r>
              <a:rPr lang="en-US"/>
              <a:t>is not transmitting, it will accumulate credits. Once the credit counter exceeds the start threshold,</a:t>
            </a:r>
            <a:r>
              <a:rPr lang="en-DE"/>
              <a:t> </a:t>
            </a:r>
            <a:r>
              <a:rPr lang="en-US"/>
              <a:t>CRS/CRSDV will operate normally. </a:t>
            </a: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2394309C-089C-9306-62CB-6DE067376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8CDDEF-A287-B496-7BEF-D53A60AE8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928801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The PHY can only start transmitting when its credits are higher than the start threshold. </a:t>
            </a:r>
            <a:r>
              <a:rPr lang="en-US"/>
              <a:t>Once the PHY allows the MAC to begin transmitting a packet, the</a:t>
            </a:r>
            <a:r>
              <a:rPr lang="en-DE"/>
              <a:t> </a:t>
            </a:r>
            <a:r>
              <a:rPr lang="en-US"/>
              <a:t>entire packet will be transmitted even if the credit counter decrements below the stop threshold</a:t>
            </a:r>
            <a:r>
              <a:rPr lang="en-DE"/>
              <a:t> </a:t>
            </a:r>
            <a:r>
              <a:rPr lang="en-US"/>
              <a:t>while it is transmitting.</a:t>
            </a:r>
            <a:endParaRPr lang="en-DE"/>
          </a:p>
          <a:p>
            <a:endParaRPr lang="en-DE"/>
          </a:p>
          <a:p>
            <a:r>
              <a:rPr lang="en-US"/>
              <a:t>The Falling Slope (FALLSLP) field of the Credit Based Shaper Slope Control (CBSSLPCTL) register</a:t>
            </a:r>
            <a:r>
              <a:rPr lang="en-DE"/>
              <a:t> </a:t>
            </a:r>
            <a:r>
              <a:rPr lang="en-US"/>
              <a:t>configures the rate at which the credit counter loses credits when transmitting. Similarly, the Rising</a:t>
            </a:r>
            <a:r>
              <a:rPr lang="en-DE"/>
              <a:t> </a:t>
            </a:r>
            <a:r>
              <a:rPr lang="en-US"/>
              <a:t>Slope (RISESLP) field configures the rate at which the credit counter will accumulate credits when</a:t>
            </a:r>
            <a:r>
              <a:rPr lang="en-DE"/>
              <a:t> </a:t>
            </a:r>
            <a:r>
              <a:rPr lang="en-US"/>
              <a:t>the medium is idle or the PHY is receiving data. </a:t>
            </a:r>
            <a:endParaRPr lang="en-DE"/>
          </a:p>
          <a:p>
            <a:r>
              <a:rPr lang="en-US"/>
              <a:t>When PLCA is enabled, credits may additionally be</a:t>
            </a:r>
            <a:r>
              <a:rPr lang="en-DE"/>
              <a:t> </a:t>
            </a:r>
            <a:r>
              <a:rPr lang="en-US"/>
              <a:t>accumulated at an accelerated rate when no </a:t>
            </a:r>
            <a:r>
              <a:rPr lang="en-DE"/>
              <a:t>t</a:t>
            </a:r>
            <a:r>
              <a:rPr lang="en-US" err="1"/>
              <a:t>ransmission</a:t>
            </a:r>
            <a:r>
              <a:rPr lang="en-US"/>
              <a:t> is detected within each PLCA bus cycle.</a:t>
            </a:r>
            <a:r>
              <a:rPr lang="en-DE"/>
              <a:t> </a:t>
            </a:r>
            <a:r>
              <a:rPr lang="en-US"/>
              <a:t>The rate at which credits are accumulated for each empty PLCA bus cycle is configured by the Empty</a:t>
            </a:r>
            <a:r>
              <a:rPr lang="en-DE"/>
              <a:t> </a:t>
            </a:r>
            <a:r>
              <a:rPr lang="en-US"/>
              <a:t>Cycle Credits (ECCRDS) field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The credit counter will saturate and stop accumulating credits when the limit set by the Top Limit</a:t>
            </a:r>
            <a:r>
              <a:rPr lang="en-DE"/>
              <a:t> </a:t>
            </a:r>
            <a:r>
              <a:rPr lang="en-US"/>
              <a:t>(TOPLIMIT) field in the Credit Based Shaper Top Limit High/Low (CBSTPLMTH/CBSTPLMTL) registers</a:t>
            </a:r>
            <a:r>
              <a:rPr lang="en-DE"/>
              <a:t> </a:t>
            </a:r>
            <a:r>
              <a:rPr lang="en-US"/>
              <a:t>is reached. Likewise, the credit counter will saturate and stop losing credits at the limit set by</a:t>
            </a:r>
            <a:r>
              <a:rPr lang="en-DE"/>
              <a:t> </a:t>
            </a:r>
            <a:r>
              <a:rPr lang="en-US"/>
              <a:t>the Bottom Limit (BOTLIMIT) field. This prevents the credit counter from incrementing or decrementing into</a:t>
            </a:r>
            <a:r>
              <a:rPr lang="en-DE"/>
              <a:t> </a:t>
            </a:r>
            <a:r>
              <a:rPr lang="en-US"/>
              <a:t>an overflow condition. The saturation of the credit counter also prevents the PHY from delaying</a:t>
            </a:r>
            <a:r>
              <a:rPr lang="en-DE"/>
              <a:t> </a:t>
            </a:r>
            <a:r>
              <a:rPr lang="en-US"/>
              <a:t>transmission of a packet too long or transmitting a burst of packets. For example, the PHY may lose</a:t>
            </a:r>
            <a:r>
              <a:rPr lang="en-DE"/>
              <a:t> </a:t>
            </a:r>
            <a:r>
              <a:rPr lang="en-US"/>
              <a:t>a significant number of credits by transmitting a maximal size packet. If the credit counter were not</a:t>
            </a:r>
            <a:r>
              <a:rPr lang="en-DE"/>
              <a:t> </a:t>
            </a:r>
            <a:r>
              <a:rPr lang="en-US"/>
              <a:t>limited by a lower bound, it may take a significant amount of time for the PHY to accumulate enough</a:t>
            </a:r>
            <a:r>
              <a:rPr lang="en-DE"/>
              <a:t> </a:t>
            </a:r>
            <a:r>
              <a:rPr lang="en-US"/>
              <a:t>credits to transmit another packet. Similarly, if the PHY has not transmitted in a long time, it may</a:t>
            </a:r>
            <a:r>
              <a:rPr lang="en-DE"/>
              <a:t> </a:t>
            </a:r>
            <a:r>
              <a:rPr lang="en-US"/>
              <a:t>accumulate too many credits allowing it to transmit multiple frames if the credit counter were not</a:t>
            </a:r>
            <a:r>
              <a:rPr lang="en-DE"/>
              <a:t> </a:t>
            </a:r>
            <a:r>
              <a:rPr lang="en-US"/>
              <a:t>limited by an upper bound. By controlling the top and bottom limits of the credit counter, the credit</a:t>
            </a:r>
            <a:r>
              <a:rPr lang="en-DE"/>
              <a:t> </a:t>
            </a:r>
            <a:r>
              <a:rPr lang="en-US"/>
              <a:t>based shaper may be configured to transmit at the desired rate.</a:t>
            </a:r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7AD8024E-E64B-3A45-8D3A-9D83488B6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E7E18B-34CE-C4A7-701A-71E58D161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578220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2394309C-089C-9306-62CB-6DE067376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77AB4A-EF14-7354-9285-DF80E18B6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917428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FC8BC-57E5-4BE2-F47A-4856A05F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88780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803F9-595A-7F4A-09FF-BAA0FD654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DE"/>
              <a:t>Overview  LAN8670/1/2  and  LAN8650/1    </a:t>
            </a:r>
            <a:r>
              <a:rPr lang="en-US"/>
              <a:t>p.</a:t>
            </a:r>
            <a:fld id="{BFF8CB49-A7FB-5E4A-B599-DE211813512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6304501D-FC58-AFBD-68D8-B20AEB83C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6827469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  <a:p>
            <a:r>
              <a:rPr lang="en-DE"/>
              <a:t>The LAN8670/1/2 and LAN8650/1  support the IEEE 802.1AS standard, and e</a:t>
            </a:r>
            <a:r>
              <a:rPr lang="en-US" err="1"/>
              <a:t>nable</a:t>
            </a:r>
            <a:r>
              <a:rPr lang="en-US"/>
              <a:t> high-precision clock recovery with</a:t>
            </a:r>
            <a:r>
              <a:rPr lang="en-DE"/>
              <a:t> </a:t>
            </a:r>
            <a:r>
              <a:rPr lang="en-US"/>
              <a:t>ultra-low jitter</a:t>
            </a:r>
            <a:r>
              <a:rPr lang="en-DE"/>
              <a:t>.  </a:t>
            </a:r>
          </a:p>
          <a:p>
            <a:r>
              <a:rPr lang="en-DE"/>
              <a:t>In the operation mode, activated by the TXME-bit (Transmit Match Enable), the pattern matcher can assert a GPIO pin to inform the MCU/MAC on any ingress or egress packets.</a:t>
            </a:r>
          </a:p>
          <a:p>
            <a:endParaRPr lang="en-DE"/>
          </a:p>
          <a:p>
            <a:r>
              <a:rPr lang="en-DE"/>
              <a:t>The LAN8670/1/2  supports a second mode, activated by setting the MACTXTSE-bit (MAC Transmit Timestamp Enable). In this mode the pattern matcher triggers a PLCA-aware transmission of </a:t>
            </a:r>
            <a:r>
              <a:rPr lang="en-DE" err="1"/>
              <a:t>gPTP</a:t>
            </a:r>
            <a:r>
              <a:rPr lang="en-DE"/>
              <a:t> messages, where the message directly passes the PHY without any delay by the PLCA buffer, just having a very low and constant PHY-delay.</a:t>
            </a:r>
          </a:p>
          <a:p>
            <a:endParaRPr lang="en-DE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803F9-595A-7F4A-09FF-BAA0FD654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DE"/>
              <a:t>Overview  LAN8670/1/2  and  LAN8650/1    </a:t>
            </a:r>
            <a:r>
              <a:rPr lang="en-US"/>
              <a:t>p.</a:t>
            </a:r>
            <a:fld id="{BFF8CB49-A7FB-5E4A-B599-DE211813512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6304501D-FC58-AFBD-68D8-B20AEB83C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648243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841C3-1E94-2D78-7287-13FA27940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36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659830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Some pins of the LAN8670/1/2 may take on multiple functions depending on the device and mode.</a:t>
            </a:r>
            <a:endParaRPr lang="en-DE"/>
          </a:p>
          <a:p>
            <a:r>
              <a:rPr lang="en-US"/>
              <a:t>The GPIO0 pin functionality is configured by writing to the GPIO0 Signal Select (GPIO0SS) field of</a:t>
            </a:r>
          </a:p>
          <a:p>
            <a:r>
              <a:rPr lang="en-US"/>
              <a:t>the Pin Control (PINCTRL) register. The GPIO0 Signal Select should be configured prior to configuring</a:t>
            </a:r>
          </a:p>
          <a:p>
            <a:r>
              <a:rPr lang="en-US"/>
              <a:t>and enabling the underlying Packet Pattern Matching or Application Controlled Media Access blocks.</a:t>
            </a:r>
          </a:p>
          <a:p>
            <a:r>
              <a:rPr lang="en-US"/>
              <a:t>Valid configurations for the GPIO0 pin depend on the device in use and its operating mode. When</a:t>
            </a:r>
          </a:p>
          <a:p>
            <a:r>
              <a:rPr lang="en-US"/>
              <a:t>a dedicated pin is available, it must be used rather than the GPIO0 pin. Table 3-14 shows the</a:t>
            </a:r>
          </a:p>
          <a:p>
            <a:r>
              <a:rPr lang="en-US"/>
              <a:t>valid configurations for the GPIO0 pin. When a pin number is shown, this is an invalid configuration</a:t>
            </a:r>
          </a:p>
          <a:p>
            <a:r>
              <a:rPr lang="en-US"/>
              <a:t>for the GPIO0 Signal Select and the designated dedicated pin must be used instead.</a:t>
            </a:r>
          </a:p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4ED48B0D-0556-2A13-17E0-F9645458A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B8709A-0C13-8984-D0EF-0264113CC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37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900132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F9A59E41-D2A9-AC92-B241-496406580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DA98C53D-2D58-4932-F9BC-91E2FE28F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100" b="0" i="0" u="none" strike="noStrike" baseline="0">
                <a:latin typeface="OpenSans"/>
              </a:rPr>
              <a:t>The LAN86</a:t>
            </a:r>
            <a:r>
              <a:rPr lang="en-DE" sz="1100" b="0" i="0" u="none" strike="noStrike" baseline="0">
                <a:latin typeface="OpenSans"/>
              </a:rPr>
              <a:t>xx</a:t>
            </a:r>
            <a:r>
              <a:rPr lang="en-US" sz="1100" b="0" i="0" u="none" strike="noStrike" baseline="0">
                <a:latin typeface="OpenSans"/>
              </a:rPr>
              <a:t> supports the implementation of PTP over Ethernet within the station controller by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being able to detect the exact time of transmission and reception of PTP messages. This is done by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examining the bytes of a packet that contain the </a:t>
            </a:r>
            <a:r>
              <a:rPr lang="en-US" sz="1100" b="0" i="0" u="none" strike="noStrike" baseline="0" err="1">
                <a:latin typeface="OpenSans"/>
              </a:rPr>
              <a:t>EtherType</a:t>
            </a:r>
            <a:r>
              <a:rPr lang="en-US" sz="1100" b="0" i="0" u="none" strike="noStrike" baseline="0">
                <a:latin typeface="OpenSans"/>
              </a:rPr>
              <a:t> and the first 2 bytes of the PTP header,</a:t>
            </a:r>
            <a:r>
              <a:rPr lang="en-DE" sz="1100" b="0" i="0" u="none" strike="noStrike" baseline="0">
                <a:latin typeface="OpenSans"/>
              </a:rPr>
              <a:t> </a:t>
            </a:r>
            <a:r>
              <a:rPr lang="en-US" sz="1100" b="0" i="0" u="none" strike="noStrike" baseline="0">
                <a:latin typeface="OpenSans"/>
              </a:rPr>
              <a:t>and signaling when the correct pattern is detected.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To configure the desired pattern on transmitted packets, the most significant byte of the desired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value is written into the Transmit Match Pattern High (TXMPATH) register and the lower two octets of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the match value is written into the Transmit Match Pattern Low (TXMPATL) register. As an example,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to match on a SYNC message, the </a:t>
            </a:r>
            <a:r>
              <a:rPr lang="en-US" sz="1100" b="0" i="0" u="none" strike="noStrike" baseline="0" err="1">
                <a:latin typeface="OpenSans"/>
              </a:rPr>
              <a:t>EtherType</a:t>
            </a:r>
            <a:r>
              <a:rPr lang="en-US" sz="1100" b="0" i="0" u="none" strike="noStrike" baseline="0">
                <a:latin typeface="OpenSans"/>
              </a:rPr>
              <a:t> value of 0x88F7 and PTP header value of 0x10 creates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a 24-bit match value of 0x88F710. The value 0x88 is written into TXMPATH and the value 0xF710 is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written into TXMPATL.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Configuring the receive pattern matcher is done in a similar manner but using Receive Match</a:t>
            </a:r>
            <a:r>
              <a:rPr lang="en-DE" sz="1100" b="0" i="0" u="none" strike="noStrike" baseline="0">
                <a:latin typeface="OpenSans"/>
              </a:rPr>
              <a:t> </a:t>
            </a:r>
            <a:r>
              <a:rPr lang="en-US" sz="1100" b="0" i="0" u="none" strike="noStrike" baseline="0">
                <a:latin typeface="OpenSans"/>
              </a:rPr>
              <a:t>Pattern High (RXMPATH) register and Receive Match Pattern Low (RXMPATL) register.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Pattern match</a:t>
            </a:r>
            <a:r>
              <a:rPr lang="en-DE" sz="1100" b="0" i="0" u="none" strike="noStrike" baseline="0">
                <a:latin typeface="OpenSans"/>
              </a:rPr>
              <a:t> </a:t>
            </a:r>
            <a:r>
              <a:rPr lang="en-US" sz="1100" b="0" i="0" u="none" strike="noStrike" baseline="0">
                <a:latin typeface="OpenSans"/>
              </a:rPr>
              <a:t>output pins can be used on both transmitted and received packets.</a:t>
            </a:r>
            <a:endParaRPr lang="en-US" sz="7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9F5666-F864-4033-6D68-C1CE73E99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545252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D453834-7F2C-583B-974C-0274D4AE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37BA1-6BE1-DE5B-CBFB-C5939B473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39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078766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D453834-7F2C-583B-974C-0274D4AE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575390-E6C7-D40B-B37C-6423EEE3F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322504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D453834-7F2C-583B-974C-0274D4AE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74E8B-E975-6D1D-D583-03225A154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709818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D453834-7F2C-583B-974C-0274D4AE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03B6A-079A-AF1A-284A-F9C2C8A2D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539102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99EEF-00CE-72E6-63A1-DF109E6B2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0736102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channel Signal Quality Indication (SQI) provides an indication of channel quality between nodes</a:t>
            </a:r>
          </a:p>
          <a:p>
            <a:r>
              <a:rPr lang="en-US"/>
              <a:t>on the network segment. In the LAN8670/1/2</a:t>
            </a:r>
            <a:r>
              <a:rPr lang="en-DE"/>
              <a:t> and LAN8650/1</a:t>
            </a:r>
            <a:r>
              <a:rPr lang="en-US"/>
              <a:t>, the SQI implementation is designed to be compatible</a:t>
            </a:r>
          </a:p>
          <a:p>
            <a:r>
              <a:rPr lang="en-US"/>
              <a:t>with the OPEN Alliance specification for advanced diagnostic features for automotive Ethernet </a:t>
            </a:r>
            <a:r>
              <a:rPr lang="en-US" err="1"/>
              <a:t>PHYs.</a:t>
            </a:r>
            <a:endParaRPr lang="en-US"/>
          </a:p>
          <a:p>
            <a:r>
              <a:rPr lang="en-US"/>
              <a:t>The SQI is determined by accumulating statistics on received data. When PLCA is used, a single node</a:t>
            </a:r>
          </a:p>
          <a:p>
            <a:r>
              <a:rPr lang="en-US"/>
              <a:t>is selected by using </a:t>
            </a:r>
            <a:r>
              <a:rPr lang="en-DE"/>
              <a:t>its</a:t>
            </a:r>
            <a:r>
              <a:rPr lang="en-US"/>
              <a:t> Transmit Opportunity ID (TOID) </a:t>
            </a:r>
            <a:r>
              <a:rPr lang="en-DE"/>
              <a:t>in </a:t>
            </a:r>
            <a:r>
              <a:rPr lang="en-US"/>
              <a:t>the SQI Configuration;</a:t>
            </a:r>
          </a:p>
          <a:p>
            <a:r>
              <a:rPr lang="en-US"/>
              <a:t>the SQI is then computed from the data received only during that transmit opportunity. When PLCA</a:t>
            </a:r>
          </a:p>
          <a:p>
            <a:r>
              <a:rPr lang="en-US"/>
              <a:t>is not enabled, this field should be set to request that the SQI will be computed over all received</a:t>
            </a:r>
          </a:p>
          <a:p>
            <a:r>
              <a:rPr lang="en-US"/>
              <a:t>data. Statistics are calculated on the selected data and the resulting quality index is stored in the SQI</a:t>
            </a:r>
          </a:p>
          <a:p>
            <a:r>
              <a:rPr lang="en-US"/>
              <a:t>Value (SQIVAL) in eight levels (between ‘000’ = worst value</a:t>
            </a:r>
            <a:r>
              <a:rPr lang="en-DE"/>
              <a:t> </a:t>
            </a:r>
            <a:r>
              <a:rPr lang="en-US"/>
              <a:t>and ‘111’ = best value).</a:t>
            </a:r>
            <a:endParaRPr lang="en-DE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882F74AA-2364-84C6-305E-CF6DE271B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ED858-971C-CF45-E082-C7028B6D0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606130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Programming Model - Polling</a:t>
            </a:r>
          </a:p>
          <a:p>
            <a:r>
              <a:rPr lang="en-US"/>
              <a:t>In polling mode, the station controller polls the device to identify when a new SQI estimation is</a:t>
            </a:r>
          </a:p>
          <a:p>
            <a:r>
              <a:rPr lang="en-US"/>
              <a:t>available. Polling mode is selected by setting the SQI Interrupt Threshold (SQIINTTHR) field of the</a:t>
            </a:r>
          </a:p>
          <a:p>
            <a:r>
              <a:rPr lang="en-US"/>
              <a:t>SQI Configuration 2 (SQICFG2) to 11111b, which disables interrupts.</a:t>
            </a:r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D07174AA-87CA-5D57-AA2A-8FB23B0E4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EC23C2-0B88-2AA8-8796-F403E2640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665495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Programming Model - Threshold Alert Mode</a:t>
            </a:r>
          </a:p>
          <a:p>
            <a:r>
              <a:rPr lang="en-US"/>
              <a:t>In threshold alert mode, the device is configured to continually estimate the SQI and alert the station</a:t>
            </a:r>
          </a:p>
          <a:p>
            <a:r>
              <a:rPr lang="en-US"/>
              <a:t>controller via an interrupt when the measured SQI falls below a specified threshold. When the SQI</a:t>
            </a:r>
          </a:p>
          <a:p>
            <a:r>
              <a:rPr lang="en-US"/>
              <a:t>Interrupt Threshold is set to a value from 1 to 7, the device will assert the SQI status bit in the Status</a:t>
            </a:r>
          </a:p>
          <a:p>
            <a:r>
              <a:rPr lang="en-US"/>
              <a:t>1 (STS1) register any time the measured SQI is equal to or below the configured threshold. If the</a:t>
            </a:r>
          </a:p>
          <a:p>
            <a:r>
              <a:rPr lang="en-US"/>
              <a:t>SQI Interrupt Mask (SQIM) bit is ‘0’ in the Interrupt Mask 1 (IMSK1) register, the assertion of the SQI</a:t>
            </a:r>
          </a:p>
          <a:p>
            <a:r>
              <a:rPr lang="en-US"/>
              <a:t>status bit will additionally generate an assertion on the IRQ_N pin.</a:t>
            </a:r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9D6BA7B2-4A34-35CC-EF48-FC3C4F707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87CC7C-7E77-8212-F33F-D033444B8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46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6777804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2">
            <a:extLst>
              <a:ext uri="{FF2B5EF4-FFF2-40B4-BE49-F238E27FC236}">
                <a16:creationId xmlns:a16="http://schemas.microsoft.com/office/drawing/2014/main" id="{30D32DE6-1A3A-0516-CB24-B6024B51A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3">
            <a:extLst>
              <a:ext uri="{FF2B5EF4-FFF2-40B4-BE49-F238E27FC236}">
                <a16:creationId xmlns:a16="http://schemas.microsoft.com/office/drawing/2014/main" id="{2EFF61CF-0B02-AA87-EA2A-751670FD0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41141-8CC3-DD8B-AF90-2ABDD57AA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47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8451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10652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>
            <a:noAutofit/>
          </a:bodyPr>
          <a:lstStyle>
            <a:lvl1pPr marL="360000" indent="-360000">
              <a:defRPr sz="2000"/>
            </a:lvl1pPr>
            <a:lvl2pPr marL="720000" indent="-360000">
              <a:defRPr sz="2000"/>
            </a:lvl2pPr>
            <a:lvl3pPr marL="868680" indent="-274320">
              <a:defRPr sz="1600"/>
            </a:lvl3pPr>
            <a:lvl4pPr marL="1143000" indent="-274320">
              <a:defRPr sz="1400"/>
            </a:lvl4pPr>
            <a:lvl5pPr marL="1435608" indent="-274320">
              <a:defRPr sz="1400"/>
            </a:lvl5pPr>
          </a:lstStyle>
          <a:p>
            <a:pPr lvl="0"/>
            <a:r>
              <a:rPr lang="en-US"/>
              <a:t>First level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0F1EA-8213-48AD-9872-F1D91E74D1F2}"/>
              </a:ext>
            </a:extLst>
          </p:cNvPr>
          <p:cNvSpPr txBox="1">
            <a:spLocks/>
          </p:cNvSpPr>
          <p:nvPr userDrawn="1"/>
        </p:nvSpPr>
        <p:spPr>
          <a:xfrm>
            <a:off x="2414355" y="6599583"/>
            <a:ext cx="6903815" cy="258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© 202</a:t>
            </a:r>
            <a:r>
              <a:rPr lang="en-DE" sz="1050"/>
              <a:t>3</a:t>
            </a:r>
            <a:r>
              <a:rPr lang="en-US" sz="1050"/>
              <a:t>  Microchip Technology  Inc.     All Rights Reserved</a:t>
            </a:r>
            <a:endParaRPr lang="de-DE" sz="1050"/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DE"/>
              <a:t>Agenda  LAN8670/1/2  PHY</a:t>
            </a:r>
            <a:endParaRPr 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5D80E8-9083-42EB-8610-CE895C692521}"/>
              </a:ext>
            </a:extLst>
          </p:cNvPr>
          <p:cNvSpPr/>
          <p:nvPr userDrawn="1"/>
        </p:nvSpPr>
        <p:spPr>
          <a:xfrm>
            <a:off x="532943" y="1392642"/>
            <a:ext cx="7244907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443" lvl="1" indent="-307691" algn="l" defTabSz="609443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Register Overview</a:t>
            </a:r>
          </a:p>
          <a:p>
            <a:pPr marL="609443" lvl="1" indent="-307691" algn="l" defTabSz="609443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Chip Configuration</a:t>
            </a:r>
          </a:p>
          <a:p>
            <a:pPr marL="609443" lvl="1" indent="-307691" algn="l" defTabSz="609443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Wake/Sleep</a:t>
            </a:r>
          </a:p>
          <a:p>
            <a:pPr marL="609443" lvl="1" indent="-307691" algn="l" defTabSz="609443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ACMA</a:t>
            </a:r>
            <a:r>
              <a:rPr lang="en-DE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 – Application Controlled Media Access</a:t>
            </a:r>
            <a:endParaRPr lang="en-US" sz="2400" b="1" kern="1200">
              <a:solidFill>
                <a:srgbClr val="1879C5"/>
              </a:solidFill>
              <a:latin typeface="+mn-lt"/>
              <a:ea typeface="+mn-ea"/>
              <a:cs typeface="+mn-cs"/>
            </a:endParaRPr>
          </a:p>
          <a:p>
            <a:pPr marL="609443" lvl="1" indent="-307691" algn="l" defTabSz="609443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CBS</a:t>
            </a:r>
            <a:r>
              <a:rPr lang="en-DE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 – Credit Based Traffic Shaping</a:t>
            </a:r>
            <a:endParaRPr lang="en-US" sz="2400" b="1" kern="1200">
              <a:solidFill>
                <a:srgbClr val="1879C5"/>
              </a:solidFill>
              <a:latin typeface="+mn-lt"/>
              <a:ea typeface="+mn-ea"/>
              <a:cs typeface="+mn-cs"/>
            </a:endParaRPr>
          </a:p>
          <a:p>
            <a:pPr marL="609443" lvl="1" indent="-307691" algn="l" defTabSz="609443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TSN</a:t>
            </a:r>
            <a:r>
              <a:rPr lang="en-DE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 – Time Sensitive Networking</a:t>
            </a:r>
          </a:p>
          <a:p>
            <a:pPr marL="609443" marR="0" lvl="1" indent="-307691" algn="l" defTabSz="609443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E" sz="2400" b="1" kern="1200">
                <a:solidFill>
                  <a:srgbClr val="1879C5"/>
                </a:solidFill>
                <a:latin typeface="+mn-lt"/>
                <a:ea typeface="+mn-ea"/>
                <a:cs typeface="+mn-cs"/>
              </a:rPr>
              <a:t>SQI – Signal Quality Index</a:t>
            </a:r>
            <a:endParaRPr lang="en-US" sz="2400" b="1" kern="1200">
              <a:solidFill>
                <a:srgbClr val="1879C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232DDA7-7531-4324-A8CE-CB416029C864}"/>
              </a:ext>
            </a:extLst>
          </p:cNvPr>
          <p:cNvSpPr txBox="1">
            <a:spLocks/>
          </p:cNvSpPr>
          <p:nvPr userDrawn="1"/>
        </p:nvSpPr>
        <p:spPr>
          <a:xfrm>
            <a:off x="2414355" y="6492875"/>
            <a:ext cx="6903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</a:t>
            </a:r>
            <a:r>
              <a:rPr lang="en-DE"/>
              <a:t>3</a:t>
            </a:r>
            <a:r>
              <a:rPr lang="en-US"/>
              <a:t>  Microchip Technology  Inc.     All Rights Reserved</a:t>
            </a:r>
            <a:endParaRPr lang="de-DE"/>
          </a:p>
        </p:txBody>
      </p:sp>
      <p:pic>
        <p:nvPicPr>
          <p:cNvPr id="4" name="Picture 3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C093DABE-E84D-7DBB-377F-71AF83F89A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7850" y="2020178"/>
            <a:ext cx="3080640" cy="2768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4108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5D80E8-9083-42EB-8610-CE895C692521}"/>
              </a:ext>
            </a:extLst>
          </p:cNvPr>
          <p:cNvSpPr/>
          <p:nvPr userDrawn="1"/>
        </p:nvSpPr>
        <p:spPr>
          <a:xfrm>
            <a:off x="869342" y="778342"/>
            <a:ext cx="6092825" cy="55904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Introduction to 10BASE-T1S</a:t>
            </a: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/ PLCA</a:t>
            </a:r>
          </a:p>
          <a:p>
            <a:pPr marL="0" marR="0" lvl="0" indent="-307691" algn="l" defTabSz="609443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1D9CE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PLCA Summary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Tools &amp; Software Support</a:t>
            </a:r>
            <a:endParaRPr lang="en-US" sz="2400" b="1" kern="120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LAN8670/1/2</a:t>
            </a:r>
          </a:p>
          <a:p>
            <a:pPr marL="609443" lvl="1" indent="-307691" algn="l" defTabSz="609443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0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Features Overview</a:t>
            </a:r>
          </a:p>
          <a:p>
            <a:pPr marL="609443" lvl="1" indent="-307691" algn="l" defTabSz="609443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0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Configuration </a:t>
            </a:r>
          </a:p>
          <a:p>
            <a:pPr marL="609443" lvl="1" indent="-307691" algn="l" defTabSz="609443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0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Reference Schematics</a:t>
            </a:r>
          </a:p>
          <a:p>
            <a:pPr marL="0" lvl="0" indent="-307691" algn="l" defTabSz="609443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Bus Interface Network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LAN865x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10BASE-T1S Demo</a:t>
            </a:r>
          </a:p>
          <a:p>
            <a:pPr marL="0" marR="0" lvl="0" indent="-307691" algn="l" defTabSz="609443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1D9CE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E" sz="2400" b="1" kern="1200" err="1">
                <a:solidFill>
                  <a:srgbClr val="0070C0"/>
                </a:solidFill>
                <a:latin typeface="+mn-lt"/>
                <a:ea typeface="+mn-ea"/>
                <a:cs typeface="+mn-cs"/>
              </a:rPr>
              <a:t>PoDL</a:t>
            </a:r>
            <a:endParaRPr lang="en-DE" sz="2400" b="1" kern="120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232DDA7-7531-4324-A8CE-CB416029C864}"/>
              </a:ext>
            </a:extLst>
          </p:cNvPr>
          <p:cNvSpPr txBox="1">
            <a:spLocks/>
          </p:cNvSpPr>
          <p:nvPr userDrawn="1"/>
        </p:nvSpPr>
        <p:spPr>
          <a:xfrm>
            <a:off x="2414355" y="6492875"/>
            <a:ext cx="6903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</a:t>
            </a:r>
            <a:r>
              <a:rPr lang="en-DE"/>
              <a:t>3</a:t>
            </a:r>
            <a:r>
              <a:rPr lang="en-US"/>
              <a:t>  Microchip Technology  Inc.     All Rights Reserved</a:t>
            </a:r>
            <a:r>
              <a:rPr lang="en-DE"/>
              <a:t>       CONFIDENTIAL</a:t>
            </a:r>
            <a:r>
              <a:rPr lang="en-US"/>
              <a:t> </a:t>
            </a:r>
            <a:endParaRPr lang="de-DE"/>
          </a:p>
        </p:txBody>
      </p:sp>
      <p:pic>
        <p:nvPicPr>
          <p:cNvPr id="7" name="Content Placeholder 6" descr="A picture containing yellow, several&#10;&#10;Description automatically generated">
            <a:extLst>
              <a:ext uri="{FF2B5EF4-FFF2-40B4-BE49-F238E27FC236}">
                <a16:creationId xmlns:a16="http://schemas.microsoft.com/office/drawing/2014/main" id="{47818875-ED9A-CF15-6D36-4D0E85EB5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0121" y="2137770"/>
            <a:ext cx="4709534" cy="2768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63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0970D-D44F-4FDE-934D-225B6FC5F4CE}"/>
              </a:ext>
            </a:extLst>
          </p:cNvPr>
          <p:cNvSpPr/>
          <p:nvPr userDrawn="1"/>
        </p:nvSpPr>
        <p:spPr>
          <a:xfrm>
            <a:off x="0" y="0"/>
            <a:ext cx="285225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222" y="1999957"/>
            <a:ext cx="7422132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12222" y="3028405"/>
            <a:ext cx="7422132" cy="2874948"/>
          </a:xfrm>
          <a:prstGeom prst="rect">
            <a:avLst/>
          </a:prstGeom>
        </p:spPr>
        <p:txBody>
          <a:bodyPr/>
          <a:lstStyle>
            <a:lvl1pPr marL="252000" indent="-360000">
              <a:defRPr>
                <a:solidFill>
                  <a:schemeClr val="accent1"/>
                </a:solidFill>
              </a:defRPr>
            </a:lvl1pPr>
            <a:lvl2pPr marL="720000" indent="-324000">
              <a:defRPr>
                <a:solidFill>
                  <a:schemeClr val="accent1"/>
                </a:solidFill>
              </a:defRPr>
            </a:lvl2pPr>
            <a:lvl3pPr marL="868680" indent="-468000">
              <a:defRPr>
                <a:solidFill>
                  <a:schemeClr val="accent1"/>
                </a:solidFill>
              </a:defRPr>
            </a:lvl3pPr>
            <a:lvl4pPr marL="1143000" indent="-468000">
              <a:defRPr>
                <a:solidFill>
                  <a:schemeClr val="accent1"/>
                </a:solidFill>
              </a:defRPr>
            </a:lvl4pPr>
            <a:lvl5pPr marL="1435608" indent="-468000"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42" y="1826084"/>
            <a:ext cx="2692195" cy="322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576072" indent="-274320">
              <a:defRPr sz="2000" b="1">
                <a:solidFill>
                  <a:schemeClr val="bg1"/>
                </a:solidFill>
              </a:defRPr>
            </a:lvl2pPr>
            <a:lvl3pPr marL="868680" indent="-274320">
              <a:defRPr sz="1800" b="1">
                <a:solidFill>
                  <a:schemeClr val="bg1"/>
                </a:solidFill>
              </a:defRPr>
            </a:lvl3pPr>
            <a:lvl4pPr marL="1143000" indent="-274320">
              <a:defRPr sz="1600" b="1">
                <a:solidFill>
                  <a:schemeClr val="bg1"/>
                </a:solidFill>
              </a:defRPr>
            </a:lvl4pPr>
            <a:lvl5pPr marL="1435608" indent="-274320"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A6798-DA08-638A-E64E-82051A669C0D}"/>
              </a:ext>
            </a:extLst>
          </p:cNvPr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21484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63" y="6532886"/>
            <a:ext cx="1101725" cy="2774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6491" y="96296"/>
            <a:ext cx="11509679" cy="633617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6491" y="866693"/>
            <a:ext cx="11784072" cy="5584710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BCAF6-27B2-4B52-BA3B-D43D4F975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62200" y="6588183"/>
            <a:ext cx="6779870" cy="259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202</a:t>
            </a:r>
            <a:r>
              <a:rPr lang="en-DE"/>
              <a:t>3</a:t>
            </a:r>
            <a:r>
              <a:rPr lang="en-US"/>
              <a:t>  Microchip Technology  Inc.     All Rights Reserved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733" r:id="rId4"/>
    <p:sldLayoutId id="2147483736" r:id="rId5"/>
    <p:sldLayoutId id="2147483656" r:id="rId6"/>
    <p:sldLayoutId id="2147483660" r:id="rId7"/>
    <p:sldLayoutId id="2147483657" r:id="rId8"/>
    <p:sldLayoutId id="2147483653" r:id="rId9"/>
    <p:sldLayoutId id="2147483658" r:id="rId10"/>
    <p:sldLayoutId id="2147483654" r:id="rId11"/>
    <p:sldLayoutId id="2147483734" r:id="rId12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36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324000" indent="-288000" algn="l" defTabSz="609443" rtl="0" eaLnBrk="1" latinLnBrk="0" hangingPunct="1">
        <a:spcBef>
          <a:spcPts val="300"/>
        </a:spcBef>
        <a:buClr>
          <a:schemeClr val="bg2"/>
        </a:buClr>
        <a:buFont typeface="Arial"/>
        <a:buChar char="•"/>
        <a:defRPr sz="2000" b="0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Symbol" panose="05050102010706020507" pitchFamily="18" charset="2"/>
        <a:buChar char="-"/>
        <a:defRPr sz="20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16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14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14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hyperlink" Target="https://mu.microchip.com/10base-t1s-single-pair-ethernet-system-integration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287" name="Rectangle 15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DE"/>
              <a:t>LAN8670/1/2</a:t>
            </a:r>
            <a:r>
              <a:rPr lang="de-DE"/>
              <a:t>  </a:t>
            </a:r>
            <a:r>
              <a:rPr lang="en-DE"/>
              <a:t>PHY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DE"/>
              <a:t>December 2023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AAA042-2709-4C4C-8491-EE6250609F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DE"/>
              <a:t>Wolfgang Wittmer</a:t>
            </a:r>
            <a:endParaRPr lang="de-D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60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628C7A-6D8F-1562-A866-72615BD669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4528" y="5247780"/>
            <a:ext cx="4342765" cy="1494103"/>
          </a:xfrm>
        </p:spPr>
        <p:txBody>
          <a:bodyPr/>
          <a:lstStyle/>
          <a:p>
            <a:r>
              <a:rPr lang="en-DE" sz="1600" b="1">
                <a:solidFill>
                  <a:srgbClr val="0E3689"/>
                </a:solidFill>
              </a:rPr>
              <a:t>10BASE-T1S, </a:t>
            </a:r>
          </a:p>
          <a:p>
            <a:r>
              <a:rPr lang="en-DE" sz="1600" b="1">
                <a:solidFill>
                  <a:srgbClr val="0E3689"/>
                </a:solidFill>
              </a:rPr>
              <a:t>PLCA, </a:t>
            </a:r>
          </a:p>
          <a:p>
            <a:r>
              <a:rPr lang="en-DE" sz="1600" b="1">
                <a:solidFill>
                  <a:srgbClr val="0E3689"/>
                </a:solidFill>
              </a:rPr>
              <a:t>Live Demo using MCHP Eval Boards, </a:t>
            </a:r>
          </a:p>
          <a:p>
            <a:r>
              <a:rPr lang="en-DE" sz="1600" b="1">
                <a:solidFill>
                  <a:srgbClr val="0E3689"/>
                </a:solidFill>
              </a:rPr>
              <a:t>Analysis of Network Bandwidth</a:t>
            </a:r>
            <a:endParaRPr lang="en-US" sz="1600" b="1">
              <a:solidFill>
                <a:srgbClr val="0E3689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2853D-611E-8953-5432-DC07989D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Recommended Previous Knowledge for this Training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88ECCB-12C7-A702-D57D-A3931ADCA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566" y="1791690"/>
            <a:ext cx="5068069" cy="3031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4E7C7-9EAC-019D-3B21-7F08541CCB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561"/>
          <a:stretch/>
        </p:blipFill>
        <p:spPr>
          <a:xfrm>
            <a:off x="846277" y="1783692"/>
            <a:ext cx="2177802" cy="3290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B2BAA87-902F-70C0-3174-F1C75A25A332}"/>
              </a:ext>
            </a:extLst>
          </p:cNvPr>
          <p:cNvSpPr/>
          <p:nvPr/>
        </p:nvSpPr>
        <p:spPr>
          <a:xfrm>
            <a:off x="884441" y="3950047"/>
            <a:ext cx="2139638" cy="1124193"/>
          </a:xfrm>
          <a:prstGeom prst="wedgeRoundRectCallout">
            <a:avLst>
              <a:gd name="adj1" fmla="val -6138"/>
              <a:gd name="adj2" fmla="val -582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10base-t1s-single-pair-ethernet-system-integration</a:t>
            </a:r>
            <a:r>
              <a:rPr lang="en-DE" sz="1600" b="1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DE" sz="1600" b="1">
                <a:solidFill>
                  <a:schemeClr val="bg1"/>
                </a:solidFill>
              </a:rPr>
              <a:t>~1 hour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F067D7-E969-1631-2B4B-20C16790B4D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356" t="16247" r="59312" b="57119"/>
          <a:stretch/>
        </p:blipFill>
        <p:spPr>
          <a:xfrm>
            <a:off x="842079" y="992220"/>
            <a:ext cx="2310858" cy="7702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55A00F-10E8-E466-5FE0-C7156E9E4096}"/>
              </a:ext>
            </a:extLst>
          </p:cNvPr>
          <p:cNvSpPr txBox="1"/>
          <p:nvPr/>
        </p:nvSpPr>
        <p:spPr>
          <a:xfrm>
            <a:off x="4136686" y="3232127"/>
            <a:ext cx="1553994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DE" sz="9600" b="1">
                <a:solidFill>
                  <a:srgbClr val="0E3689"/>
                </a:solidFill>
              </a:rPr>
              <a:t>&amp;</a:t>
            </a:r>
            <a:endParaRPr lang="en-US" sz="9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E2CF8-1EAC-E7E0-D122-7238B9EB689B}"/>
              </a:ext>
            </a:extLst>
          </p:cNvPr>
          <p:cNvSpPr txBox="1"/>
          <p:nvPr/>
        </p:nvSpPr>
        <p:spPr>
          <a:xfrm>
            <a:off x="6607566" y="1025970"/>
            <a:ext cx="3146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400" b="1" err="1">
                <a:solidFill>
                  <a:srgbClr val="0E3689"/>
                </a:solidFill>
              </a:rPr>
              <a:t>Trainingpresentation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9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4C266-8F6C-A56A-79C5-8F3AA4B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Agenda  LAN8670/1/2  PHY</a:t>
            </a:r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9473ED-F49C-7675-7925-7B86099754E6}"/>
              </a:ext>
            </a:extLst>
          </p:cNvPr>
          <p:cNvSpPr/>
          <p:nvPr/>
        </p:nvSpPr>
        <p:spPr bwMode="auto">
          <a:xfrm rot="5400000">
            <a:off x="2577712" y="-447987"/>
            <a:ext cx="633619" cy="4396355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20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35D34F3-B681-20E3-5754-66E026BE9C36}"/>
              </a:ext>
            </a:extLst>
          </p:cNvPr>
          <p:cNvSpPr txBox="1">
            <a:spLocks/>
          </p:cNvSpPr>
          <p:nvPr/>
        </p:nvSpPr>
        <p:spPr>
          <a:xfrm>
            <a:off x="118117" y="1626980"/>
            <a:ext cx="2723797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4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Symbol" panose="05050102010706020507" pitchFamily="18" charset="2"/>
              <a:buNone/>
            </a:pPr>
            <a:endParaRPr lang="en-DE" sz="3200" b="1"/>
          </a:p>
          <a:p>
            <a:pPr marL="0" lvl="1" indent="0" algn="ctr">
              <a:buNone/>
            </a:pPr>
            <a:r>
              <a:rPr lang="en-DE" sz="3200" b="1"/>
              <a:t>Internal </a:t>
            </a:r>
          </a:p>
          <a:p>
            <a:pPr marL="0" lvl="1" indent="0" algn="ctr">
              <a:buNone/>
            </a:pPr>
            <a:r>
              <a:rPr lang="en-DE" sz="3200" b="1"/>
              <a:t>Block Diagram </a:t>
            </a:r>
            <a:r>
              <a:rPr lang="en-US" sz="3200" b="1"/>
              <a:t>LAN867</a:t>
            </a:r>
            <a:r>
              <a:rPr lang="en-DE" sz="3200" b="1"/>
              <a:t>0/1/2</a:t>
            </a:r>
            <a:endParaRPr lang="en-US" sz="3200" b="1"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709B49-B069-EDD1-370C-94A0A24F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081" y="721082"/>
            <a:ext cx="7720464" cy="548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6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B47BB8E-C81D-443D-7359-F2FCE3976425}"/>
              </a:ext>
            </a:extLst>
          </p:cNvPr>
          <p:cNvGrpSpPr/>
          <p:nvPr/>
        </p:nvGrpSpPr>
        <p:grpSpPr>
          <a:xfrm>
            <a:off x="4009508" y="1894667"/>
            <a:ext cx="7157972" cy="3743242"/>
            <a:chOff x="4222519" y="1894667"/>
            <a:chExt cx="7157972" cy="374324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DA4889-E510-E3DF-1561-A850DBAE0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22519" y="2294777"/>
              <a:ext cx="7154539" cy="33431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7226A6-AA7A-7F97-9BDE-4A243402AFAA}"/>
                </a:ext>
              </a:extLst>
            </p:cNvPr>
            <p:cNvSpPr txBox="1"/>
            <p:nvPr/>
          </p:nvSpPr>
          <p:spPr>
            <a:xfrm>
              <a:off x="4225952" y="1894667"/>
              <a:ext cx="715453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>
                  <a:solidFill>
                    <a:schemeClr val="accent1"/>
                  </a:solidFill>
                </a:rPr>
                <a:t>SMI Basic Control and Status Registers </a:t>
              </a:r>
              <a:r>
                <a:rPr lang="en-US" sz="2000" b="1">
                  <a:solidFill>
                    <a:schemeClr val="accent2"/>
                  </a:solidFill>
                </a:rPr>
                <a:t>(Clause 22)</a:t>
              </a:r>
            </a:p>
          </p:txBody>
        </p: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6FF8F677-5E89-750A-85DB-D7B7B1645F5C}"/>
                </a:ext>
              </a:extLst>
            </p:cNvPr>
            <p:cNvSpPr/>
            <p:nvPr/>
          </p:nvSpPr>
          <p:spPr bwMode="auto">
            <a:xfrm>
              <a:off x="4225951" y="4195038"/>
              <a:ext cx="5955111" cy="66689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3FB28BD1-9BA2-39C2-E6B3-ED0D595DB7E0}"/>
              </a:ext>
            </a:extLst>
          </p:cNvPr>
          <p:cNvSpPr/>
          <p:nvPr/>
        </p:nvSpPr>
        <p:spPr>
          <a:xfrm>
            <a:off x="4012941" y="390003"/>
            <a:ext cx="2399628" cy="924916"/>
          </a:xfrm>
          <a:prstGeom prst="wedgeRoundRectCallout">
            <a:avLst>
              <a:gd name="adj1" fmla="val -7380"/>
              <a:gd name="adj2" fmla="val 121770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1"/>
              <a:t>D</a:t>
            </a:r>
            <a:r>
              <a:rPr lang="en-DE" sz="1800" b="1" err="1"/>
              <a:t>irect</a:t>
            </a:r>
            <a:r>
              <a:rPr lang="en-DE" sz="1800" b="1"/>
              <a:t> RW access to standardized </a:t>
            </a:r>
            <a:br>
              <a:rPr lang="en-DE" sz="1800" b="1"/>
            </a:br>
            <a:r>
              <a:rPr lang="en-DE" sz="1800" b="1"/>
              <a:t>Clause 22 registers</a:t>
            </a:r>
            <a:endParaRPr lang="en-US" sz="1800" b="1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35D34F3-B681-20E3-5754-66E026BE9C36}"/>
              </a:ext>
            </a:extLst>
          </p:cNvPr>
          <p:cNvSpPr txBox="1">
            <a:spLocks/>
          </p:cNvSpPr>
          <p:nvPr/>
        </p:nvSpPr>
        <p:spPr>
          <a:xfrm>
            <a:off x="118117" y="5993"/>
            <a:ext cx="2739384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4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Symbol" panose="05050102010706020507" pitchFamily="18" charset="2"/>
              <a:buNone/>
            </a:pPr>
            <a:endParaRPr lang="en-DE" sz="3200" b="1"/>
          </a:p>
          <a:p>
            <a:pPr marL="0" lvl="1" indent="0" algn="ctr">
              <a:buNone/>
            </a:pPr>
            <a:r>
              <a:rPr lang="en-DE" sz="3200" b="1"/>
              <a:t>Register Overview</a:t>
            </a:r>
            <a:r>
              <a:rPr lang="en-US" sz="3200" b="1"/>
              <a:t> LAN867</a:t>
            </a:r>
            <a:r>
              <a:rPr lang="en-DE" sz="3200" b="1"/>
              <a:t>0/1/2</a:t>
            </a:r>
            <a:endParaRPr lang="en-US" sz="3200" b="1">
              <a:sym typeface="Wingdings" panose="05000000000000000000" pitchFamily="2" charset="2"/>
            </a:endParaRPr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72B1BD70-7EC0-C3C8-8D62-994B2B4AAB06}"/>
              </a:ext>
            </a:extLst>
          </p:cNvPr>
          <p:cNvSpPr/>
          <p:nvPr/>
        </p:nvSpPr>
        <p:spPr>
          <a:xfrm>
            <a:off x="7552911" y="5174896"/>
            <a:ext cx="2959705" cy="1125588"/>
          </a:xfrm>
          <a:prstGeom prst="wedgeRoundRectCallout">
            <a:avLst>
              <a:gd name="adj1" fmla="val -30942"/>
              <a:gd name="adj2" fmla="val -76875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800" b="1">
                <a:solidFill>
                  <a:srgbClr val="FFFFFF"/>
                </a:solidFill>
              </a:rPr>
              <a:t>I</a:t>
            </a:r>
            <a:r>
              <a:rPr lang="en-DE" sz="1800" b="1" err="1">
                <a:solidFill>
                  <a:srgbClr val="FFFFFF"/>
                </a:solidFill>
              </a:rPr>
              <a:t>ndirect</a:t>
            </a:r>
            <a:r>
              <a:rPr lang="en-DE" sz="1800" b="1">
                <a:solidFill>
                  <a:srgbClr val="FFFFFF"/>
                </a:solidFill>
              </a:rPr>
              <a:t> access to Clause 45 registers via Clause 22 MMDCTRL and MMDAD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CAB1550-59F1-3B57-FEFB-0D63284F322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116" y="3996275"/>
            <a:ext cx="2739385" cy="28617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1879C5"/>
                </a:solidFill>
              </a:rPr>
              <a:t>SMI Basic Control and Status Registers </a:t>
            </a:r>
            <a:endParaRPr lang="en-DE" sz="2000" b="1">
              <a:solidFill>
                <a:srgbClr val="1879C5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PMA/PMD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PCS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bg1"/>
                </a:solidFill>
              </a:rPr>
              <a:t>Misc</a:t>
            </a:r>
            <a:r>
              <a:rPr lang="en-DE" sz="2000">
                <a:solidFill>
                  <a:schemeClr val="bg1"/>
                </a:solidFill>
              </a:rPr>
              <a:t>.</a:t>
            </a:r>
            <a:r>
              <a:rPr lang="en-US" sz="2000">
                <a:solidFill>
                  <a:schemeClr val="bg1"/>
                </a:solidFill>
              </a:rPr>
              <a:t>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3216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466FF1B-AA15-CDD1-C616-D392270279F6}"/>
              </a:ext>
            </a:extLst>
          </p:cNvPr>
          <p:cNvGrpSpPr/>
          <p:nvPr/>
        </p:nvGrpSpPr>
        <p:grpSpPr>
          <a:xfrm>
            <a:off x="5393712" y="1262826"/>
            <a:ext cx="6372468" cy="3620459"/>
            <a:chOff x="3592056" y="1708852"/>
            <a:chExt cx="6372468" cy="362045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6157CDB-F266-C463-9CA9-0079482F28B6}"/>
                </a:ext>
              </a:extLst>
            </p:cNvPr>
            <p:cNvGrpSpPr/>
            <p:nvPr/>
          </p:nvGrpSpPr>
          <p:grpSpPr>
            <a:xfrm>
              <a:off x="3592056" y="1708852"/>
              <a:ext cx="6372468" cy="3620459"/>
              <a:chOff x="6527062" y="3293823"/>
              <a:chExt cx="5661763" cy="2658563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F71BE8F-66AE-5E25-7C02-6EB61D7FD4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7062" y="3608138"/>
                <a:ext cx="5661763" cy="2344248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2FA395-3A29-357B-3259-A734B868CD33}"/>
                  </a:ext>
                </a:extLst>
              </p:cNvPr>
              <p:cNvSpPr txBox="1"/>
              <p:nvPr/>
            </p:nvSpPr>
            <p:spPr>
              <a:xfrm>
                <a:off x="6527062" y="3293823"/>
                <a:ext cx="5661763" cy="293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>
                    <a:solidFill>
                      <a:schemeClr val="accent1"/>
                    </a:solidFill>
                  </a:rPr>
                  <a:t>PMA/PMD Registers </a:t>
                </a:r>
                <a:r>
                  <a:rPr lang="en-US" sz="2000" b="1">
                    <a:solidFill>
                      <a:schemeClr val="accent2"/>
                    </a:solidFill>
                  </a:rPr>
                  <a:t>(MMD 1)</a:t>
                </a:r>
              </a:p>
            </p:txBody>
          </p:sp>
        </p:grp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6FF8F677-5E89-750A-85DB-D7B7B1645F5C}"/>
                </a:ext>
              </a:extLst>
            </p:cNvPr>
            <p:cNvSpPr/>
            <p:nvPr/>
          </p:nvSpPr>
          <p:spPr bwMode="auto">
            <a:xfrm>
              <a:off x="5294319" y="4333461"/>
              <a:ext cx="1245629" cy="22621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8" name="Rounded Rectangle 4">
              <a:extLst>
                <a:ext uri="{FF2B5EF4-FFF2-40B4-BE49-F238E27FC236}">
                  <a16:creationId xmlns:a16="http://schemas.microsoft.com/office/drawing/2014/main" id="{BAA7CEA8-6F45-DDD5-3D3F-869581A7CF98}"/>
                </a:ext>
              </a:extLst>
            </p:cNvPr>
            <p:cNvSpPr/>
            <p:nvPr/>
          </p:nvSpPr>
          <p:spPr bwMode="auto">
            <a:xfrm>
              <a:off x="7643191" y="4333461"/>
              <a:ext cx="566918" cy="22621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9" name="Rounded Rectangle 4">
              <a:extLst>
                <a:ext uri="{FF2B5EF4-FFF2-40B4-BE49-F238E27FC236}">
                  <a16:creationId xmlns:a16="http://schemas.microsoft.com/office/drawing/2014/main" id="{A6EA829B-359A-479F-20F3-8AA337C576C0}"/>
                </a:ext>
              </a:extLst>
            </p:cNvPr>
            <p:cNvSpPr/>
            <p:nvPr/>
          </p:nvSpPr>
          <p:spPr bwMode="auto">
            <a:xfrm>
              <a:off x="9388054" y="4485861"/>
              <a:ext cx="566918" cy="22621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B75D669F-4263-75B9-CAC0-9220167A7BD9}"/>
                </a:ext>
              </a:extLst>
            </p:cNvPr>
            <p:cNvSpPr/>
            <p:nvPr/>
          </p:nvSpPr>
          <p:spPr bwMode="auto">
            <a:xfrm>
              <a:off x="5294319" y="4959019"/>
              <a:ext cx="1245629" cy="22621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35D34F3-B681-20E3-5754-66E026BE9C36}"/>
              </a:ext>
            </a:extLst>
          </p:cNvPr>
          <p:cNvSpPr txBox="1">
            <a:spLocks/>
          </p:cNvSpPr>
          <p:nvPr/>
        </p:nvSpPr>
        <p:spPr>
          <a:xfrm>
            <a:off x="118118" y="0"/>
            <a:ext cx="2744578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4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Symbol" panose="05050102010706020507" pitchFamily="18" charset="2"/>
              <a:buNone/>
            </a:pPr>
            <a:endParaRPr lang="en-DE" sz="3200" b="1"/>
          </a:p>
          <a:p>
            <a:pPr marL="0" lvl="1" indent="0" algn="ctr">
              <a:buNone/>
            </a:pPr>
            <a:r>
              <a:rPr lang="en-DE" sz="3200" b="1"/>
              <a:t>Register Overview</a:t>
            </a:r>
            <a:r>
              <a:rPr lang="en-US" sz="3200" b="1"/>
              <a:t> LAN867</a:t>
            </a:r>
            <a:r>
              <a:rPr lang="en-DE" sz="3200" b="1"/>
              <a:t>0/1/2</a:t>
            </a:r>
            <a:endParaRPr lang="en-US" sz="3200" b="1">
              <a:sym typeface="Wingdings" panose="05000000000000000000" pitchFamily="2" charset="2"/>
            </a:endParaRP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E1ADC2FB-0437-DC41-2208-74718E6DFC32}"/>
              </a:ext>
            </a:extLst>
          </p:cNvPr>
          <p:cNvSpPr txBox="1">
            <a:spLocks/>
          </p:cNvSpPr>
          <p:nvPr/>
        </p:nvSpPr>
        <p:spPr>
          <a:xfrm>
            <a:off x="118117" y="3949782"/>
            <a:ext cx="2744580" cy="2495281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SMI Basic Control and Status Registers </a:t>
            </a:r>
            <a:endParaRPr lang="en-DE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0070C0"/>
                </a:solidFill>
              </a:rPr>
              <a:t>PMA/PMD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PCS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bg1"/>
                </a:solidFill>
              </a:rPr>
              <a:t>Misc</a:t>
            </a:r>
            <a:r>
              <a:rPr lang="en-DE" sz="2000">
                <a:solidFill>
                  <a:schemeClr val="bg1"/>
                </a:solidFill>
              </a:rPr>
              <a:t>.</a:t>
            </a:r>
            <a:r>
              <a:rPr lang="en-US" sz="2000">
                <a:solidFill>
                  <a:schemeClr val="bg1"/>
                </a:solidFill>
              </a:rPr>
              <a:t>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CA7825AE-9DDA-FAEF-F89E-A0E1B4E734D6}"/>
              </a:ext>
            </a:extLst>
          </p:cNvPr>
          <p:cNvSpPr/>
          <p:nvPr/>
        </p:nvSpPr>
        <p:spPr>
          <a:xfrm>
            <a:off x="9342239" y="282638"/>
            <a:ext cx="2399628" cy="725902"/>
          </a:xfrm>
          <a:prstGeom prst="wedgeRoundRectCallout">
            <a:avLst>
              <a:gd name="adj1" fmla="val -9920"/>
              <a:gd name="adj2" fmla="val 16316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B</a:t>
            </a:r>
            <a:r>
              <a:rPr lang="en-DE" sz="2000" b="1" err="1"/>
              <a:t>asic</a:t>
            </a:r>
            <a:r>
              <a:rPr lang="en-DE" sz="2000" b="1"/>
              <a:t> chip configuration</a:t>
            </a:r>
            <a:endParaRPr lang="en-US" sz="2000" b="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33EF39-529A-67B9-E9A0-AF9F03FC6897}"/>
              </a:ext>
            </a:extLst>
          </p:cNvPr>
          <p:cNvGrpSpPr/>
          <p:nvPr/>
        </p:nvGrpSpPr>
        <p:grpSpPr>
          <a:xfrm>
            <a:off x="3332450" y="3155838"/>
            <a:ext cx="1670436" cy="731597"/>
            <a:chOff x="8608161" y="365859"/>
            <a:chExt cx="2877595" cy="1318905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C64A8747-BF08-4E43-D3E9-C4D8EEC9C7B3}"/>
                </a:ext>
              </a:extLst>
            </p:cNvPr>
            <p:cNvSpPr/>
            <p:nvPr/>
          </p:nvSpPr>
          <p:spPr>
            <a:xfrm>
              <a:off x="9685008" y="840551"/>
              <a:ext cx="723900" cy="421054"/>
            </a:xfrm>
            <a:prstGeom prst="callout1">
              <a:avLst>
                <a:gd name="adj1" fmla="val 48615"/>
                <a:gd name="adj2" fmla="val 236891"/>
                <a:gd name="adj3" fmla="val 194229"/>
                <a:gd name="adj4" fmla="val 73515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C6850530-FF0A-A00E-E9B6-B536356436D8}"/>
                </a:ext>
              </a:extLst>
            </p:cNvPr>
            <p:cNvSpPr/>
            <p:nvPr/>
          </p:nvSpPr>
          <p:spPr>
            <a:xfrm>
              <a:off x="8608161" y="365859"/>
              <a:ext cx="2877595" cy="1318905"/>
            </a:xfrm>
            <a:prstGeom prst="wedgeRoundRectCallout">
              <a:avLst>
                <a:gd name="adj1" fmla="val 1455"/>
                <a:gd name="adj2" fmla="val -16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b="1"/>
                <a:t>R</a:t>
              </a:r>
              <a:r>
                <a:rPr lang="en-DE" sz="1800" b="1" err="1"/>
                <a:t>eset</a:t>
              </a:r>
              <a:r>
                <a:rPr lang="en-DE" sz="1800" b="1"/>
                <a:t> the device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A20B7B-2D2F-E495-55C3-FC90B8F40772}"/>
              </a:ext>
            </a:extLst>
          </p:cNvPr>
          <p:cNvGrpSpPr/>
          <p:nvPr/>
        </p:nvGrpSpPr>
        <p:grpSpPr>
          <a:xfrm>
            <a:off x="3332450" y="4465825"/>
            <a:ext cx="1670436" cy="731597"/>
            <a:chOff x="8608161" y="365859"/>
            <a:chExt cx="2877595" cy="1318905"/>
          </a:xfrm>
        </p:grpSpPr>
        <p:sp>
          <p:nvSpPr>
            <p:cNvPr id="20" name="Callout: Line with No Border 19">
              <a:extLst>
                <a:ext uri="{FF2B5EF4-FFF2-40B4-BE49-F238E27FC236}">
                  <a16:creationId xmlns:a16="http://schemas.microsoft.com/office/drawing/2014/main" id="{D0155C7B-4846-6105-0E47-9C36ECBB6EED}"/>
                </a:ext>
              </a:extLst>
            </p:cNvPr>
            <p:cNvSpPr/>
            <p:nvPr/>
          </p:nvSpPr>
          <p:spPr>
            <a:xfrm>
              <a:off x="9685008" y="840551"/>
              <a:ext cx="723900" cy="421054"/>
            </a:xfrm>
            <a:prstGeom prst="callout1">
              <a:avLst>
                <a:gd name="adj1" fmla="val 54052"/>
                <a:gd name="adj2" fmla="val 233869"/>
                <a:gd name="adj3" fmla="val -251654"/>
                <a:gd name="adj4" fmla="val 73515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3" name="Speech Bubble: Rectangle with Corners Rounded 22">
              <a:extLst>
                <a:ext uri="{FF2B5EF4-FFF2-40B4-BE49-F238E27FC236}">
                  <a16:creationId xmlns:a16="http://schemas.microsoft.com/office/drawing/2014/main" id="{41D665F3-1741-B66C-B4D9-20F693D71E27}"/>
                </a:ext>
              </a:extLst>
            </p:cNvPr>
            <p:cNvSpPr/>
            <p:nvPr/>
          </p:nvSpPr>
          <p:spPr>
            <a:xfrm>
              <a:off x="8608161" y="365859"/>
              <a:ext cx="2877595" cy="1318905"/>
            </a:xfrm>
            <a:prstGeom prst="wedgeRoundRectCallout">
              <a:avLst>
                <a:gd name="adj1" fmla="val 1455"/>
                <a:gd name="adj2" fmla="val -16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b="1"/>
                <a:t>T</a:t>
              </a:r>
              <a:r>
                <a:rPr lang="en-DE" sz="1800" b="1" err="1"/>
                <a:t>ransmit</a:t>
              </a:r>
              <a:r>
                <a:rPr lang="en-DE" sz="1800" b="1"/>
                <a:t> disable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88DCE31-3F58-AF35-E915-4823FCB1BF44}"/>
              </a:ext>
            </a:extLst>
          </p:cNvPr>
          <p:cNvGrpSpPr/>
          <p:nvPr/>
        </p:nvGrpSpPr>
        <p:grpSpPr>
          <a:xfrm>
            <a:off x="6012975" y="5607987"/>
            <a:ext cx="1670436" cy="731597"/>
            <a:chOff x="8608161" y="365859"/>
            <a:chExt cx="2877595" cy="1318905"/>
          </a:xfrm>
        </p:grpSpPr>
        <p:sp>
          <p:nvSpPr>
            <p:cNvPr id="25" name="Callout: Line with No Border 24">
              <a:extLst>
                <a:ext uri="{FF2B5EF4-FFF2-40B4-BE49-F238E27FC236}">
                  <a16:creationId xmlns:a16="http://schemas.microsoft.com/office/drawing/2014/main" id="{D07DBA6C-98E0-EB57-9CF6-BA5C1E34CB8C}"/>
                </a:ext>
              </a:extLst>
            </p:cNvPr>
            <p:cNvSpPr/>
            <p:nvPr/>
          </p:nvSpPr>
          <p:spPr>
            <a:xfrm>
              <a:off x="9685008" y="840551"/>
              <a:ext cx="723900" cy="421054"/>
            </a:xfrm>
            <a:prstGeom prst="callout1">
              <a:avLst>
                <a:gd name="adj1" fmla="val -71013"/>
                <a:gd name="adj2" fmla="val 49515"/>
                <a:gd name="adj3" fmla="val -458282"/>
                <a:gd name="adj4" fmla="val 25764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B9F25DF7-E883-B37A-CC3F-F9653E507C7D}"/>
                </a:ext>
              </a:extLst>
            </p:cNvPr>
            <p:cNvSpPr/>
            <p:nvPr/>
          </p:nvSpPr>
          <p:spPr>
            <a:xfrm>
              <a:off x="8608161" y="365859"/>
              <a:ext cx="2877595" cy="1318905"/>
            </a:xfrm>
            <a:prstGeom prst="wedgeRoundRectCallout">
              <a:avLst>
                <a:gd name="adj1" fmla="val 1455"/>
                <a:gd name="adj2" fmla="val -16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800" b="1"/>
                <a:t>Select test mode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FC9F23-9FA7-2905-8C93-330AFFE7AAA7}"/>
              </a:ext>
            </a:extLst>
          </p:cNvPr>
          <p:cNvGrpSpPr/>
          <p:nvPr/>
        </p:nvGrpSpPr>
        <p:grpSpPr>
          <a:xfrm>
            <a:off x="8050849" y="5607987"/>
            <a:ext cx="1670436" cy="731597"/>
            <a:chOff x="8608161" y="365859"/>
            <a:chExt cx="2877595" cy="1318905"/>
          </a:xfrm>
        </p:grpSpPr>
        <p:sp>
          <p:nvSpPr>
            <p:cNvPr id="28" name="Callout: Line with No Border 27">
              <a:extLst>
                <a:ext uri="{FF2B5EF4-FFF2-40B4-BE49-F238E27FC236}">
                  <a16:creationId xmlns:a16="http://schemas.microsoft.com/office/drawing/2014/main" id="{59AC5125-FCDC-A783-C787-78975CD53234}"/>
                </a:ext>
              </a:extLst>
            </p:cNvPr>
            <p:cNvSpPr/>
            <p:nvPr/>
          </p:nvSpPr>
          <p:spPr>
            <a:xfrm>
              <a:off x="9685008" y="840551"/>
              <a:ext cx="723900" cy="421054"/>
            </a:xfrm>
            <a:prstGeom prst="callout1">
              <a:avLst>
                <a:gd name="adj1" fmla="val -98200"/>
                <a:gd name="adj2" fmla="val 64625"/>
                <a:gd name="adj3" fmla="val -697537"/>
                <a:gd name="adj4" fmla="val 23044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0A91DC8E-B40E-E806-9162-868CE80887B6}"/>
                </a:ext>
              </a:extLst>
            </p:cNvPr>
            <p:cNvSpPr/>
            <p:nvPr/>
          </p:nvSpPr>
          <p:spPr>
            <a:xfrm>
              <a:off x="8608161" y="365859"/>
              <a:ext cx="2877595" cy="1318905"/>
            </a:xfrm>
            <a:prstGeom prst="wedgeRoundRectCallout">
              <a:avLst>
                <a:gd name="adj1" fmla="val 1455"/>
                <a:gd name="adj2" fmla="val -16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b="1"/>
                <a:t>L</a:t>
              </a:r>
              <a:r>
                <a:rPr lang="en-DE" sz="1800" b="1"/>
                <a:t>ow power enable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0350EDC-3A81-E46C-AEC9-1B949BA4BD5A}"/>
              </a:ext>
            </a:extLst>
          </p:cNvPr>
          <p:cNvGrpSpPr/>
          <p:nvPr/>
        </p:nvGrpSpPr>
        <p:grpSpPr>
          <a:xfrm>
            <a:off x="10095744" y="5595174"/>
            <a:ext cx="1670436" cy="731597"/>
            <a:chOff x="8608161" y="365859"/>
            <a:chExt cx="2877595" cy="1318905"/>
          </a:xfrm>
        </p:grpSpPr>
        <p:sp>
          <p:nvSpPr>
            <p:cNvPr id="31" name="Callout: Line with No Border 30">
              <a:extLst>
                <a:ext uri="{FF2B5EF4-FFF2-40B4-BE49-F238E27FC236}">
                  <a16:creationId xmlns:a16="http://schemas.microsoft.com/office/drawing/2014/main" id="{35F281DD-1455-B70F-3D08-05FC70FB7A13}"/>
                </a:ext>
              </a:extLst>
            </p:cNvPr>
            <p:cNvSpPr/>
            <p:nvPr/>
          </p:nvSpPr>
          <p:spPr>
            <a:xfrm>
              <a:off x="9685008" y="840551"/>
              <a:ext cx="723900" cy="421054"/>
            </a:xfrm>
            <a:prstGeom prst="callout1">
              <a:avLst>
                <a:gd name="adj1" fmla="val -81888"/>
                <a:gd name="adj2" fmla="val 49514"/>
                <a:gd name="adj3" fmla="val -626848"/>
                <a:gd name="adj4" fmla="val 145818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2" name="Speech Bubble: Rectangle with Corners Rounded 31">
              <a:extLst>
                <a:ext uri="{FF2B5EF4-FFF2-40B4-BE49-F238E27FC236}">
                  <a16:creationId xmlns:a16="http://schemas.microsoft.com/office/drawing/2014/main" id="{4D9C00C6-96F1-21E5-80D6-04E3A2F096E6}"/>
                </a:ext>
              </a:extLst>
            </p:cNvPr>
            <p:cNvSpPr/>
            <p:nvPr/>
          </p:nvSpPr>
          <p:spPr>
            <a:xfrm>
              <a:off x="8608161" y="365859"/>
              <a:ext cx="2877595" cy="1318905"/>
            </a:xfrm>
            <a:prstGeom prst="wedgeRoundRectCallout">
              <a:avLst>
                <a:gd name="adj1" fmla="val 1455"/>
                <a:gd name="adj2" fmla="val -16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800" b="1"/>
                <a:t>PMA loopback enable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457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82FA37-3F95-B709-239D-13041193CC23}"/>
              </a:ext>
            </a:extLst>
          </p:cNvPr>
          <p:cNvGrpSpPr/>
          <p:nvPr/>
        </p:nvGrpSpPr>
        <p:grpSpPr>
          <a:xfrm>
            <a:off x="3693656" y="1612434"/>
            <a:ext cx="7792100" cy="2679505"/>
            <a:chOff x="3693656" y="829008"/>
            <a:chExt cx="7139996" cy="267950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B4769C-636F-5C0F-113B-8DF51276CEDA}"/>
                </a:ext>
              </a:extLst>
            </p:cNvPr>
            <p:cNvGrpSpPr/>
            <p:nvPr/>
          </p:nvGrpSpPr>
          <p:grpSpPr>
            <a:xfrm>
              <a:off x="3693656" y="829008"/>
              <a:ext cx="7139996" cy="2679505"/>
              <a:chOff x="6627800" y="5403144"/>
              <a:chExt cx="5217312" cy="156663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D721206-234F-02BC-B07E-B0291A6B8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7800" y="5648291"/>
                <a:ext cx="5217312" cy="1321490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2E07CC-7E8E-4DE4-6213-154D76DFF01E}"/>
                  </a:ext>
                </a:extLst>
              </p:cNvPr>
              <p:cNvSpPr txBox="1"/>
              <p:nvPr/>
            </p:nvSpPr>
            <p:spPr>
              <a:xfrm>
                <a:off x="6627800" y="5403144"/>
                <a:ext cx="5206247" cy="233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>
                    <a:solidFill>
                      <a:schemeClr val="accent1"/>
                    </a:solidFill>
                  </a:rPr>
                  <a:t>PCS Registers </a:t>
                </a:r>
                <a:r>
                  <a:rPr lang="en-US" sz="2000" b="1">
                    <a:solidFill>
                      <a:schemeClr val="accent2"/>
                    </a:solidFill>
                  </a:rPr>
                  <a:t>(MMD 3)</a:t>
                </a:r>
              </a:p>
            </p:txBody>
          </p:sp>
        </p:grp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6FF8F677-5E89-750A-85DB-D7B7B1645F5C}"/>
                </a:ext>
              </a:extLst>
            </p:cNvPr>
            <p:cNvSpPr/>
            <p:nvPr/>
          </p:nvSpPr>
          <p:spPr bwMode="auto">
            <a:xfrm>
              <a:off x="7062663" y="2733261"/>
              <a:ext cx="2194726" cy="38584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" name="Rounded Rectangle 4">
              <a:extLst>
                <a:ext uri="{FF2B5EF4-FFF2-40B4-BE49-F238E27FC236}">
                  <a16:creationId xmlns:a16="http://schemas.microsoft.com/office/drawing/2014/main" id="{139B1DDE-0001-0E5D-6F69-8095FBA0C52F}"/>
                </a:ext>
              </a:extLst>
            </p:cNvPr>
            <p:cNvSpPr/>
            <p:nvPr/>
          </p:nvSpPr>
          <p:spPr bwMode="auto">
            <a:xfrm>
              <a:off x="7062663" y="3120887"/>
              <a:ext cx="2194726" cy="38584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35D34F3-B681-20E3-5754-66E026BE9C36}"/>
              </a:ext>
            </a:extLst>
          </p:cNvPr>
          <p:cNvSpPr txBox="1">
            <a:spLocks/>
          </p:cNvSpPr>
          <p:nvPr/>
        </p:nvSpPr>
        <p:spPr>
          <a:xfrm>
            <a:off x="118116" y="0"/>
            <a:ext cx="2728994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4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Symbol" panose="05050102010706020507" pitchFamily="18" charset="2"/>
              <a:buNone/>
            </a:pPr>
            <a:endParaRPr lang="en-DE" sz="3200" b="1"/>
          </a:p>
          <a:p>
            <a:pPr marL="0" lvl="1" indent="0" algn="ctr">
              <a:buNone/>
            </a:pPr>
            <a:r>
              <a:rPr lang="en-DE" sz="3200" b="1"/>
              <a:t>Register Overview</a:t>
            </a:r>
            <a:r>
              <a:rPr lang="en-US" sz="3200" b="1"/>
              <a:t> LAN867</a:t>
            </a:r>
            <a:r>
              <a:rPr lang="en-DE" sz="3200" b="1"/>
              <a:t>0/1/2</a:t>
            </a:r>
            <a:endParaRPr lang="en-US" sz="3200" b="1">
              <a:sym typeface="Wingdings" panose="05000000000000000000" pitchFamily="2" charset="2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79BBAE-6B52-303E-769E-C610F8B7EB49}"/>
              </a:ext>
            </a:extLst>
          </p:cNvPr>
          <p:cNvGrpSpPr/>
          <p:nvPr/>
        </p:nvGrpSpPr>
        <p:grpSpPr>
          <a:xfrm>
            <a:off x="8608161" y="365859"/>
            <a:ext cx="2877595" cy="1318905"/>
            <a:chOff x="8608161" y="365859"/>
            <a:chExt cx="2877595" cy="1318905"/>
          </a:xfrm>
        </p:grpSpPr>
        <p:sp>
          <p:nvSpPr>
            <p:cNvPr id="5" name="Callout: Line with No Border 4">
              <a:extLst>
                <a:ext uri="{FF2B5EF4-FFF2-40B4-BE49-F238E27FC236}">
                  <a16:creationId xmlns:a16="http://schemas.microsoft.com/office/drawing/2014/main" id="{0D351EF4-AE5C-7111-C84D-E2DFAC069A20}"/>
                </a:ext>
              </a:extLst>
            </p:cNvPr>
            <p:cNvSpPr/>
            <p:nvPr/>
          </p:nvSpPr>
          <p:spPr>
            <a:xfrm>
              <a:off x="9685008" y="840551"/>
              <a:ext cx="723900" cy="421054"/>
            </a:xfrm>
            <a:prstGeom prst="callout1">
              <a:avLst>
                <a:gd name="adj1" fmla="val 188040"/>
                <a:gd name="adj2" fmla="val 3311"/>
                <a:gd name="adj3" fmla="val 618362"/>
                <a:gd name="adj4" fmla="val -156403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" name="Speech Bubble: Rectangle with Corners Rounded 2">
              <a:extLst>
                <a:ext uri="{FF2B5EF4-FFF2-40B4-BE49-F238E27FC236}">
                  <a16:creationId xmlns:a16="http://schemas.microsoft.com/office/drawing/2014/main" id="{1523DDF9-8075-FC14-D775-1595688FFC6D}"/>
                </a:ext>
              </a:extLst>
            </p:cNvPr>
            <p:cNvSpPr/>
            <p:nvPr/>
          </p:nvSpPr>
          <p:spPr>
            <a:xfrm>
              <a:off x="8608161" y="365859"/>
              <a:ext cx="2877595" cy="1318905"/>
            </a:xfrm>
            <a:prstGeom prst="wedgeRoundRectCallout">
              <a:avLst>
                <a:gd name="adj1" fmla="val 1455"/>
                <a:gd name="adj2" fmla="val -16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800" b="1"/>
                <a:t>Remote Jabber Count</a:t>
              </a:r>
            </a:p>
            <a:p>
              <a:pPr algn="ctr"/>
              <a:endParaRPr lang="en-DE" sz="1800" b="1"/>
            </a:p>
            <a:p>
              <a:pPr algn="ctr"/>
              <a:r>
                <a:rPr lang="en-US" sz="1800" b="1"/>
                <a:t>ESDJAB events received since the last read</a:t>
              </a:r>
              <a:endParaRPr lang="en-DE" sz="1800" b="1"/>
            </a:p>
          </p:txBody>
        </p:sp>
      </p:grp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88EC294E-4271-C9C8-F9A4-ABD70014237A}"/>
              </a:ext>
            </a:extLst>
          </p:cNvPr>
          <p:cNvSpPr txBox="1">
            <a:spLocks/>
          </p:cNvSpPr>
          <p:nvPr/>
        </p:nvSpPr>
        <p:spPr>
          <a:xfrm>
            <a:off x="118117" y="3977641"/>
            <a:ext cx="2728994" cy="2467422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SMI Basic Control and Status Registers </a:t>
            </a:r>
            <a:endParaRPr lang="en-DE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PMA/PMD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0070C0"/>
                </a:solidFill>
              </a:rPr>
              <a:t>PCS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bg1"/>
                </a:solidFill>
              </a:rPr>
              <a:t>Misc</a:t>
            </a:r>
            <a:r>
              <a:rPr lang="en-DE" sz="2000">
                <a:solidFill>
                  <a:schemeClr val="bg1"/>
                </a:solidFill>
              </a:rPr>
              <a:t>.</a:t>
            </a:r>
            <a:r>
              <a:rPr lang="en-US" sz="2000">
                <a:solidFill>
                  <a:schemeClr val="bg1"/>
                </a:solidFill>
              </a:rPr>
              <a:t>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630E08-697D-0307-5442-F4A8B9C97CBA}"/>
              </a:ext>
            </a:extLst>
          </p:cNvPr>
          <p:cNvGrpSpPr/>
          <p:nvPr/>
        </p:nvGrpSpPr>
        <p:grpSpPr>
          <a:xfrm>
            <a:off x="6570212" y="4851511"/>
            <a:ext cx="3195319" cy="1591768"/>
            <a:chOff x="8608161" y="365859"/>
            <a:chExt cx="2877595" cy="1318905"/>
          </a:xfrm>
        </p:grpSpPr>
        <p:sp>
          <p:nvSpPr>
            <p:cNvPr id="14" name="Callout: Line with No Border 13">
              <a:extLst>
                <a:ext uri="{FF2B5EF4-FFF2-40B4-BE49-F238E27FC236}">
                  <a16:creationId xmlns:a16="http://schemas.microsoft.com/office/drawing/2014/main" id="{A0E104EA-67F9-0139-7405-C07296328EEF}"/>
                </a:ext>
              </a:extLst>
            </p:cNvPr>
            <p:cNvSpPr/>
            <p:nvPr/>
          </p:nvSpPr>
          <p:spPr>
            <a:xfrm>
              <a:off x="9685008" y="840551"/>
              <a:ext cx="723900" cy="421054"/>
            </a:xfrm>
            <a:prstGeom prst="callout1">
              <a:avLst>
                <a:gd name="adj1" fmla="val -107381"/>
                <a:gd name="adj2" fmla="val -19177"/>
                <a:gd name="adj3" fmla="val -201373"/>
                <a:gd name="adj4" fmla="val 3161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D4485673-2BA5-D934-4237-9C2035ECFFC2}"/>
                </a:ext>
              </a:extLst>
            </p:cNvPr>
            <p:cNvSpPr/>
            <p:nvPr/>
          </p:nvSpPr>
          <p:spPr>
            <a:xfrm>
              <a:off x="8608161" y="365859"/>
              <a:ext cx="2877595" cy="1318905"/>
            </a:xfrm>
            <a:prstGeom prst="wedgeRoundRectCallout">
              <a:avLst>
                <a:gd name="adj1" fmla="val 1455"/>
                <a:gd name="adj2" fmla="val -16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800" b="1"/>
                <a:t>Corrupted Transmit Count</a:t>
              </a:r>
            </a:p>
            <a:p>
              <a:pPr algn="ctr"/>
              <a:endParaRPr lang="en-DE" sz="1800" b="1"/>
            </a:p>
            <a:p>
              <a:pPr algn="ctr"/>
              <a:r>
                <a:rPr lang="en-DE" sz="1800" b="1"/>
                <a:t>T</a:t>
              </a:r>
              <a:r>
                <a:rPr lang="en-US" sz="1800" b="1" err="1"/>
                <a:t>ransmission</a:t>
              </a:r>
              <a:r>
                <a:rPr lang="en-US" sz="1800" b="1"/>
                <a:t> resulted in a corrupted signal</a:t>
              </a:r>
              <a:r>
                <a:rPr lang="en-DE" sz="1800" b="1"/>
                <a:t> </a:t>
              </a:r>
              <a:r>
                <a:rPr lang="en-US" sz="1800" b="1"/>
                <a:t>at MDI</a:t>
              </a:r>
              <a:r>
                <a:rPr lang="en-DE" sz="1800" b="1"/>
                <a:t>, typically because of collision.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26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35D34F3-B681-20E3-5754-66E026BE9C36}"/>
              </a:ext>
            </a:extLst>
          </p:cNvPr>
          <p:cNvSpPr txBox="1">
            <a:spLocks/>
          </p:cNvSpPr>
          <p:nvPr/>
        </p:nvSpPr>
        <p:spPr>
          <a:xfrm>
            <a:off x="118117" y="-2716"/>
            <a:ext cx="2739383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4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Symbol" panose="05050102010706020507" pitchFamily="18" charset="2"/>
              <a:buNone/>
            </a:pPr>
            <a:endParaRPr lang="en-DE" sz="3200" b="1"/>
          </a:p>
          <a:p>
            <a:pPr marL="0" lvl="1" indent="0" algn="ctr">
              <a:buNone/>
            </a:pPr>
            <a:r>
              <a:rPr lang="en-DE" sz="3200" b="1"/>
              <a:t>Register Overview</a:t>
            </a:r>
            <a:r>
              <a:rPr lang="en-US" sz="3200" b="1"/>
              <a:t> LAN867</a:t>
            </a:r>
            <a:r>
              <a:rPr lang="en-DE" sz="3200" b="1"/>
              <a:t>0/1/2</a:t>
            </a:r>
            <a:endParaRPr lang="en-US" sz="3200" b="1">
              <a:sym typeface="Wingdings" panose="05000000000000000000" pitchFamily="2" charset="2"/>
            </a:endParaRP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3EB68D7B-292D-A934-F320-25AB62D7AFED}"/>
              </a:ext>
            </a:extLst>
          </p:cNvPr>
          <p:cNvSpPr txBox="1">
            <a:spLocks/>
          </p:cNvSpPr>
          <p:nvPr/>
        </p:nvSpPr>
        <p:spPr>
          <a:xfrm>
            <a:off x="118117" y="3977641"/>
            <a:ext cx="2739384" cy="2467422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SMI Basic Control and Status Registers </a:t>
            </a:r>
            <a:endParaRPr lang="en-DE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PMA/PMD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PCS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err="1">
                <a:solidFill>
                  <a:srgbClr val="0070C0"/>
                </a:solidFill>
              </a:rPr>
              <a:t>Misc</a:t>
            </a:r>
            <a:r>
              <a:rPr lang="en-DE" sz="2000" b="1">
                <a:solidFill>
                  <a:srgbClr val="0070C0"/>
                </a:solidFill>
              </a:rPr>
              <a:t>.</a:t>
            </a:r>
            <a:r>
              <a:rPr lang="en-US" sz="2000" b="1">
                <a:solidFill>
                  <a:srgbClr val="0070C0"/>
                </a:solidFill>
              </a:rPr>
              <a:t>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CB452E6-BB9F-0941-F2F4-98F9D564C7EC}"/>
              </a:ext>
            </a:extLst>
          </p:cNvPr>
          <p:cNvGrpSpPr/>
          <p:nvPr/>
        </p:nvGrpSpPr>
        <p:grpSpPr>
          <a:xfrm>
            <a:off x="3112996" y="133978"/>
            <a:ext cx="5945683" cy="6616050"/>
            <a:chOff x="3237678" y="133978"/>
            <a:chExt cx="5945683" cy="6616050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1EE4A30-B140-EB86-5BF7-C4DA075439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97"/>
            <a:stretch/>
          </p:blipFill>
          <p:spPr>
            <a:xfrm>
              <a:off x="3245361" y="564777"/>
              <a:ext cx="5938000" cy="6185251"/>
            </a:xfrm>
            <a:prstGeom prst="rect">
              <a:avLst/>
            </a:prstGeom>
          </p:spPr>
        </p:pic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6FF8F677-5E89-750A-85DB-D7B7B1645F5C}"/>
                </a:ext>
              </a:extLst>
            </p:cNvPr>
            <p:cNvSpPr/>
            <p:nvPr/>
          </p:nvSpPr>
          <p:spPr bwMode="auto">
            <a:xfrm>
              <a:off x="4874178" y="1060279"/>
              <a:ext cx="4299994" cy="25603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" name="Rounded Rectangle 4">
              <a:extLst>
                <a:ext uri="{FF2B5EF4-FFF2-40B4-BE49-F238E27FC236}">
                  <a16:creationId xmlns:a16="http://schemas.microsoft.com/office/drawing/2014/main" id="{139B1DDE-0001-0E5D-6F69-8095FBA0C52F}"/>
                </a:ext>
              </a:extLst>
            </p:cNvPr>
            <p:cNvSpPr/>
            <p:nvPr/>
          </p:nvSpPr>
          <p:spPr bwMode="auto">
            <a:xfrm>
              <a:off x="5882836" y="4087976"/>
              <a:ext cx="2194726" cy="1001760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0" name="Rounded Rectangle 4">
              <a:extLst>
                <a:ext uri="{FF2B5EF4-FFF2-40B4-BE49-F238E27FC236}">
                  <a16:creationId xmlns:a16="http://schemas.microsoft.com/office/drawing/2014/main" id="{90BC77BE-FEB0-65C0-0612-92EE72AD6A16}"/>
                </a:ext>
              </a:extLst>
            </p:cNvPr>
            <p:cNvSpPr/>
            <p:nvPr/>
          </p:nvSpPr>
          <p:spPr bwMode="auto">
            <a:xfrm>
              <a:off x="4874178" y="1572345"/>
              <a:ext cx="4299994" cy="25603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D9ACBE49-78E6-C320-06B9-3FC6449EEB6D}"/>
                </a:ext>
              </a:extLst>
            </p:cNvPr>
            <p:cNvSpPr/>
            <p:nvPr/>
          </p:nvSpPr>
          <p:spPr bwMode="auto">
            <a:xfrm>
              <a:off x="4874178" y="2148492"/>
              <a:ext cx="4299994" cy="25603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3AFA0760-657C-A724-99EB-4B20645BCB06}"/>
                </a:ext>
              </a:extLst>
            </p:cNvPr>
            <p:cNvSpPr/>
            <p:nvPr/>
          </p:nvSpPr>
          <p:spPr bwMode="auto">
            <a:xfrm>
              <a:off x="4875684" y="2401135"/>
              <a:ext cx="4299994" cy="25603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5" name="Rounded Rectangle 4">
              <a:extLst>
                <a:ext uri="{FF2B5EF4-FFF2-40B4-BE49-F238E27FC236}">
                  <a16:creationId xmlns:a16="http://schemas.microsoft.com/office/drawing/2014/main" id="{AC3F817F-4C88-1AFA-9CC8-FA69F05AFA6E}"/>
                </a:ext>
              </a:extLst>
            </p:cNvPr>
            <p:cNvSpPr/>
            <p:nvPr/>
          </p:nvSpPr>
          <p:spPr bwMode="auto">
            <a:xfrm>
              <a:off x="5882836" y="5410808"/>
              <a:ext cx="2194726" cy="1001760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87808323-7B47-5044-61EE-4A771B8E076A}"/>
                </a:ext>
              </a:extLst>
            </p:cNvPr>
            <p:cNvSpPr/>
            <p:nvPr/>
          </p:nvSpPr>
          <p:spPr bwMode="auto">
            <a:xfrm>
              <a:off x="8077562" y="3579300"/>
              <a:ext cx="1096610" cy="25603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B99AE64-B3C7-CD22-E14D-D7BB83344325}"/>
                </a:ext>
              </a:extLst>
            </p:cNvPr>
            <p:cNvSpPr txBox="1"/>
            <p:nvPr/>
          </p:nvSpPr>
          <p:spPr>
            <a:xfrm>
              <a:off x="3237678" y="133978"/>
              <a:ext cx="50659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>
                  <a:solidFill>
                    <a:schemeClr val="accent1"/>
                  </a:solidFill>
                </a:rPr>
                <a:t>Miscellaneous Registers </a:t>
              </a:r>
              <a:r>
                <a:rPr lang="en-US" sz="2000" b="1">
                  <a:solidFill>
                    <a:schemeClr val="accent2"/>
                  </a:solidFill>
                </a:rPr>
                <a:t>(MMD 31)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2BE08E-A223-8E7A-75AD-9FC78B6C09EB}"/>
              </a:ext>
            </a:extLst>
          </p:cNvPr>
          <p:cNvGrpSpPr/>
          <p:nvPr/>
        </p:nvGrpSpPr>
        <p:grpSpPr>
          <a:xfrm>
            <a:off x="9384859" y="447500"/>
            <a:ext cx="2595986" cy="576147"/>
            <a:chOff x="9509541" y="447500"/>
            <a:chExt cx="2595986" cy="576147"/>
          </a:xfrm>
        </p:grpSpPr>
        <p:sp>
          <p:nvSpPr>
            <p:cNvPr id="7" name="Callout: Line with No Border 6">
              <a:extLst>
                <a:ext uri="{FF2B5EF4-FFF2-40B4-BE49-F238E27FC236}">
                  <a16:creationId xmlns:a16="http://schemas.microsoft.com/office/drawing/2014/main" id="{EE76C0A1-5E5A-150D-9AF9-B98291AA8CFA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73423"/>
                <a:gd name="adj2" fmla="val -115987"/>
                <a:gd name="adj3" fmla="val 126714"/>
                <a:gd name="adj4" fmla="val -166929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6577927F-1581-5513-978D-B0B17CF6D6D0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Configuration protection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F4D33F-6262-C024-634E-DFAB31FAADF3}"/>
              </a:ext>
            </a:extLst>
          </p:cNvPr>
          <p:cNvGrpSpPr/>
          <p:nvPr/>
        </p:nvGrpSpPr>
        <p:grpSpPr>
          <a:xfrm>
            <a:off x="9384859" y="1136208"/>
            <a:ext cx="2595986" cy="576147"/>
            <a:chOff x="9509541" y="1136208"/>
            <a:chExt cx="2595986" cy="576147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9B9261A6-F39F-4442-9624-9E28643B72FC}"/>
                </a:ext>
              </a:extLst>
            </p:cNvPr>
            <p:cNvSpPr/>
            <p:nvPr/>
          </p:nvSpPr>
          <p:spPr>
            <a:xfrm>
              <a:off x="10445584" y="1184455"/>
              <a:ext cx="723900" cy="421054"/>
            </a:xfrm>
            <a:prstGeom prst="callout1">
              <a:avLst>
                <a:gd name="adj1" fmla="val 73423"/>
                <a:gd name="adj2" fmla="val -115987"/>
                <a:gd name="adj3" fmla="val 111633"/>
                <a:gd name="adj4" fmla="val -17219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7" name="Speech Bubble: Rectangle with Corners Rounded 26">
              <a:extLst>
                <a:ext uri="{FF2B5EF4-FFF2-40B4-BE49-F238E27FC236}">
                  <a16:creationId xmlns:a16="http://schemas.microsoft.com/office/drawing/2014/main" id="{69EA6CAC-8C1C-FB91-1016-576818329123}"/>
                </a:ext>
              </a:extLst>
            </p:cNvPr>
            <p:cNvSpPr/>
            <p:nvPr/>
          </p:nvSpPr>
          <p:spPr>
            <a:xfrm>
              <a:off x="9509541" y="1136208"/>
              <a:ext cx="2595986" cy="576147"/>
            </a:xfrm>
            <a:prstGeom prst="wedgeRoundRectCallout">
              <a:avLst>
                <a:gd name="adj1" fmla="val -5334"/>
                <a:gd name="adj2" fmla="val 2939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Pin configuration </a:t>
              </a:r>
            </a:p>
            <a:p>
              <a:pPr algn="ctr"/>
              <a:r>
                <a:rPr lang="en-DE" sz="1600" b="1"/>
                <a:t>GPIO, ACMA, polarities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DB29451-2EF4-B669-D53D-16AF4B8AD81B}"/>
              </a:ext>
            </a:extLst>
          </p:cNvPr>
          <p:cNvGrpSpPr/>
          <p:nvPr/>
        </p:nvGrpSpPr>
        <p:grpSpPr>
          <a:xfrm>
            <a:off x="9384859" y="1842978"/>
            <a:ext cx="2595986" cy="576147"/>
            <a:chOff x="9509541" y="1842978"/>
            <a:chExt cx="2595986" cy="576147"/>
          </a:xfrm>
        </p:grpSpPr>
        <p:sp>
          <p:nvSpPr>
            <p:cNvPr id="23" name="Callout: Line with No Border 22">
              <a:extLst>
                <a:ext uri="{FF2B5EF4-FFF2-40B4-BE49-F238E27FC236}">
                  <a16:creationId xmlns:a16="http://schemas.microsoft.com/office/drawing/2014/main" id="{3F337946-3E51-8AE0-0490-A3E66B11A335}"/>
                </a:ext>
              </a:extLst>
            </p:cNvPr>
            <p:cNvSpPr/>
            <p:nvPr/>
          </p:nvSpPr>
          <p:spPr>
            <a:xfrm>
              <a:off x="10475363" y="1887026"/>
              <a:ext cx="723900" cy="421054"/>
            </a:xfrm>
            <a:prstGeom prst="callout1">
              <a:avLst>
                <a:gd name="adj1" fmla="val 73423"/>
                <a:gd name="adj2" fmla="val -115987"/>
                <a:gd name="adj3" fmla="val 87503"/>
                <a:gd name="adj4" fmla="val -175701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8" name="Speech Bubble: Rectangle with Corners Rounded 27">
              <a:extLst>
                <a:ext uri="{FF2B5EF4-FFF2-40B4-BE49-F238E27FC236}">
                  <a16:creationId xmlns:a16="http://schemas.microsoft.com/office/drawing/2014/main" id="{C35A6CC0-D29B-ED23-D8E0-8038AD8C64BE}"/>
                </a:ext>
              </a:extLst>
            </p:cNvPr>
            <p:cNvSpPr/>
            <p:nvPr/>
          </p:nvSpPr>
          <p:spPr>
            <a:xfrm>
              <a:off x="9509541" y="1842978"/>
              <a:ext cx="2595986" cy="576147"/>
            </a:xfrm>
            <a:prstGeom prst="wedgeRoundRectCallout">
              <a:avLst>
                <a:gd name="adj1" fmla="val -1893"/>
                <a:gd name="adj2" fmla="val 2254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Status and errors of</a:t>
              </a:r>
            </a:p>
            <a:p>
              <a:pPr algn="ctr"/>
              <a:r>
                <a:rPr lang="en-DE" sz="1600" b="1"/>
                <a:t>PLCA, SQI, time sync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78E983A-897C-D6DF-5136-4C0DFB4AB58D}"/>
              </a:ext>
            </a:extLst>
          </p:cNvPr>
          <p:cNvGrpSpPr/>
          <p:nvPr/>
        </p:nvGrpSpPr>
        <p:grpSpPr>
          <a:xfrm>
            <a:off x="9384859" y="2545010"/>
            <a:ext cx="2595986" cy="883990"/>
            <a:chOff x="9509541" y="2545010"/>
            <a:chExt cx="2595986" cy="883990"/>
          </a:xfrm>
        </p:grpSpPr>
        <p:sp>
          <p:nvSpPr>
            <p:cNvPr id="22" name="Callout: Line with No Border 21">
              <a:extLst>
                <a:ext uri="{FF2B5EF4-FFF2-40B4-BE49-F238E27FC236}">
                  <a16:creationId xmlns:a16="http://schemas.microsoft.com/office/drawing/2014/main" id="{A6DC9D55-9CED-B225-F7E9-A52E42163953}"/>
                </a:ext>
              </a:extLst>
            </p:cNvPr>
            <p:cNvSpPr/>
            <p:nvPr/>
          </p:nvSpPr>
          <p:spPr>
            <a:xfrm>
              <a:off x="10445584" y="2790460"/>
              <a:ext cx="723900" cy="421054"/>
            </a:xfrm>
            <a:prstGeom prst="callout1">
              <a:avLst>
                <a:gd name="adj1" fmla="val 73423"/>
                <a:gd name="adj2" fmla="val -115987"/>
                <a:gd name="adj3" fmla="val -58282"/>
                <a:gd name="adj4" fmla="val -17394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C4793FB6-330A-CF6A-8B81-B2ECD3DCC9D4}"/>
                </a:ext>
              </a:extLst>
            </p:cNvPr>
            <p:cNvSpPr/>
            <p:nvPr/>
          </p:nvSpPr>
          <p:spPr>
            <a:xfrm>
              <a:off x="9509541" y="2545010"/>
              <a:ext cx="2595986" cy="883990"/>
            </a:xfrm>
            <a:prstGeom prst="wedgeRoundRectCallout">
              <a:avLst>
                <a:gd name="adj1" fmla="val -1576"/>
                <a:gd name="adj2" fmla="val 284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Status of</a:t>
              </a:r>
            </a:p>
            <a:p>
              <a:pPr algn="ctr"/>
              <a:r>
                <a:rPr lang="en-DE" sz="1600" b="1"/>
                <a:t>reset, wake-up, under-voltage, </a:t>
              </a:r>
              <a:r>
                <a:rPr lang="en-DE" sz="1600" b="1" err="1"/>
                <a:t>overtemp</a:t>
              </a:r>
              <a:r>
                <a:rPr lang="en-DE" sz="1600" b="1"/>
                <a:t>, watchdog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AC3BFA7-010F-40F9-ABA1-5BB3703E6F14}"/>
              </a:ext>
            </a:extLst>
          </p:cNvPr>
          <p:cNvGrpSpPr/>
          <p:nvPr/>
        </p:nvGrpSpPr>
        <p:grpSpPr>
          <a:xfrm>
            <a:off x="9384859" y="4363834"/>
            <a:ext cx="2595986" cy="725902"/>
            <a:chOff x="9474723" y="4199904"/>
            <a:chExt cx="2595986" cy="725902"/>
          </a:xfrm>
        </p:grpSpPr>
        <p:sp>
          <p:nvSpPr>
            <p:cNvPr id="20" name="Callout: Line with No Border 19">
              <a:extLst>
                <a:ext uri="{FF2B5EF4-FFF2-40B4-BE49-F238E27FC236}">
                  <a16:creationId xmlns:a16="http://schemas.microsoft.com/office/drawing/2014/main" id="{D47AFE33-47B8-1C2F-6C22-B385A36C7079}"/>
                </a:ext>
              </a:extLst>
            </p:cNvPr>
            <p:cNvSpPr/>
            <p:nvPr/>
          </p:nvSpPr>
          <p:spPr>
            <a:xfrm>
              <a:off x="10475363" y="4360712"/>
              <a:ext cx="723900" cy="421054"/>
            </a:xfrm>
            <a:prstGeom prst="callout1">
              <a:avLst>
                <a:gd name="adj1" fmla="val 55325"/>
                <a:gd name="adj2" fmla="val -115987"/>
                <a:gd name="adj3" fmla="val 54325"/>
                <a:gd name="adj4" fmla="val -33067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1" name="Speech Bubble: Rectangle with Corners Rounded 30">
              <a:extLst>
                <a:ext uri="{FF2B5EF4-FFF2-40B4-BE49-F238E27FC236}">
                  <a16:creationId xmlns:a16="http://schemas.microsoft.com/office/drawing/2014/main" id="{FA6614AC-F45C-47A3-0103-E37118C39749}"/>
                </a:ext>
              </a:extLst>
            </p:cNvPr>
            <p:cNvSpPr/>
            <p:nvPr/>
          </p:nvSpPr>
          <p:spPr>
            <a:xfrm>
              <a:off x="9474723" y="4199904"/>
              <a:ext cx="2595986" cy="725902"/>
            </a:xfrm>
            <a:prstGeom prst="wedgeRoundRectCallout">
              <a:avLst>
                <a:gd name="adj1" fmla="val -15613"/>
                <a:gd name="adj2" fmla="val -637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TO counter</a:t>
              </a:r>
            </a:p>
            <a:p>
              <a:pPr algn="ctr"/>
              <a:r>
                <a:rPr lang="en-DE" sz="1600" b="1"/>
                <a:t>Beacon counter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687429B-3464-69D5-474B-6AEF20261065}"/>
              </a:ext>
            </a:extLst>
          </p:cNvPr>
          <p:cNvGrpSpPr/>
          <p:nvPr/>
        </p:nvGrpSpPr>
        <p:grpSpPr>
          <a:xfrm>
            <a:off x="9384859" y="5410808"/>
            <a:ext cx="2595986" cy="725902"/>
            <a:chOff x="9474723" y="5507668"/>
            <a:chExt cx="2595986" cy="725902"/>
          </a:xfrm>
        </p:grpSpPr>
        <p:sp>
          <p:nvSpPr>
            <p:cNvPr id="17" name="Callout: Line with No Border 16">
              <a:extLst>
                <a:ext uri="{FF2B5EF4-FFF2-40B4-BE49-F238E27FC236}">
                  <a16:creationId xmlns:a16="http://schemas.microsoft.com/office/drawing/2014/main" id="{9A8DF9E0-4DB4-59C7-16AF-ABE14764F9A1}"/>
                </a:ext>
              </a:extLst>
            </p:cNvPr>
            <p:cNvSpPr/>
            <p:nvPr/>
          </p:nvSpPr>
          <p:spPr>
            <a:xfrm>
              <a:off x="10445584" y="5721792"/>
              <a:ext cx="723900" cy="421054"/>
            </a:xfrm>
            <a:prstGeom prst="callout1">
              <a:avLst>
                <a:gd name="adj1" fmla="val 41250"/>
                <a:gd name="adj2" fmla="val -111309"/>
                <a:gd name="adj3" fmla="val 41254"/>
                <a:gd name="adj4" fmla="val -324239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2" name="Speech Bubble: Rectangle with Corners Rounded 31">
              <a:extLst>
                <a:ext uri="{FF2B5EF4-FFF2-40B4-BE49-F238E27FC236}">
                  <a16:creationId xmlns:a16="http://schemas.microsoft.com/office/drawing/2014/main" id="{B6440961-70BC-E12B-8C67-40DE8BBD810E}"/>
                </a:ext>
              </a:extLst>
            </p:cNvPr>
            <p:cNvSpPr/>
            <p:nvPr/>
          </p:nvSpPr>
          <p:spPr>
            <a:xfrm>
              <a:off x="9474723" y="5507668"/>
              <a:ext cx="2595986" cy="725902"/>
            </a:xfrm>
            <a:prstGeom prst="wedgeRoundRectCallout">
              <a:avLst>
                <a:gd name="adj1" fmla="val -28593"/>
                <a:gd name="adj2" fmla="val -4312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Additional Node IDs</a:t>
              </a:r>
            </a:p>
            <a:p>
              <a:pPr algn="ctr"/>
              <a:r>
                <a:rPr lang="en-DE" sz="1600" b="1"/>
                <a:t>for Multi TOs 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91341ED-9D78-9EE8-1F95-D8E9440BA1F5}"/>
              </a:ext>
            </a:extLst>
          </p:cNvPr>
          <p:cNvGrpSpPr/>
          <p:nvPr/>
        </p:nvGrpSpPr>
        <p:grpSpPr>
          <a:xfrm>
            <a:off x="9384859" y="3526378"/>
            <a:ext cx="2595986" cy="576147"/>
            <a:chOff x="9509541" y="3526378"/>
            <a:chExt cx="2595986" cy="576147"/>
          </a:xfrm>
        </p:grpSpPr>
        <p:sp>
          <p:nvSpPr>
            <p:cNvPr id="21" name="Callout: Line with No Border 20">
              <a:extLst>
                <a:ext uri="{FF2B5EF4-FFF2-40B4-BE49-F238E27FC236}">
                  <a16:creationId xmlns:a16="http://schemas.microsoft.com/office/drawing/2014/main" id="{EE38766F-941A-779B-8106-2EBA75E972F7}"/>
                </a:ext>
              </a:extLst>
            </p:cNvPr>
            <p:cNvSpPr/>
            <p:nvPr/>
          </p:nvSpPr>
          <p:spPr>
            <a:xfrm>
              <a:off x="10475363" y="3616520"/>
              <a:ext cx="723900" cy="421054"/>
            </a:xfrm>
            <a:prstGeom prst="callout1">
              <a:avLst>
                <a:gd name="adj1" fmla="val 59347"/>
                <a:gd name="adj2" fmla="val -117157"/>
                <a:gd name="adj3" fmla="val 20140"/>
                <a:gd name="adj4" fmla="val -17394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" name="Speech Bubble: Rectangle with Corners Rounded 2">
              <a:extLst>
                <a:ext uri="{FF2B5EF4-FFF2-40B4-BE49-F238E27FC236}">
                  <a16:creationId xmlns:a16="http://schemas.microsoft.com/office/drawing/2014/main" id="{E2BF522D-05EF-8761-8F17-BD2A80B458FA}"/>
                </a:ext>
              </a:extLst>
            </p:cNvPr>
            <p:cNvSpPr/>
            <p:nvPr/>
          </p:nvSpPr>
          <p:spPr>
            <a:xfrm>
              <a:off x="9509541" y="3526378"/>
              <a:ext cx="2595986" cy="576147"/>
            </a:xfrm>
            <a:prstGeom prst="wedgeRoundRectCallout">
              <a:avLst>
                <a:gd name="adj1" fmla="val -14863"/>
                <a:gd name="adj2" fmla="val -2903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Enable monitoring counters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579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35D34F3-B681-20E3-5754-66E026BE9C36}"/>
              </a:ext>
            </a:extLst>
          </p:cNvPr>
          <p:cNvSpPr txBox="1">
            <a:spLocks/>
          </p:cNvSpPr>
          <p:nvPr/>
        </p:nvSpPr>
        <p:spPr>
          <a:xfrm>
            <a:off x="118117" y="-2716"/>
            <a:ext cx="2724381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4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4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Symbol" panose="05050102010706020507" pitchFamily="18" charset="2"/>
              <a:buNone/>
            </a:pPr>
            <a:endParaRPr lang="en-DE" sz="3200" b="1"/>
          </a:p>
          <a:p>
            <a:pPr marL="0" lvl="1" indent="0" algn="ctr">
              <a:buNone/>
            </a:pPr>
            <a:r>
              <a:rPr lang="en-DE" sz="3200" b="1"/>
              <a:t>Register Overview</a:t>
            </a:r>
            <a:r>
              <a:rPr lang="en-US" sz="3200" b="1"/>
              <a:t> LAN867</a:t>
            </a:r>
            <a:r>
              <a:rPr lang="en-DE" sz="3200" b="1"/>
              <a:t>0/1/2</a:t>
            </a:r>
            <a:endParaRPr lang="en-US" sz="3200" b="1">
              <a:sym typeface="Wingdings" panose="05000000000000000000" pitchFamily="2" charset="2"/>
            </a:endParaRP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3EB68D7B-292D-A934-F320-25AB62D7AFED}"/>
              </a:ext>
            </a:extLst>
          </p:cNvPr>
          <p:cNvSpPr txBox="1">
            <a:spLocks/>
          </p:cNvSpPr>
          <p:nvPr/>
        </p:nvSpPr>
        <p:spPr>
          <a:xfrm>
            <a:off x="118116" y="3977641"/>
            <a:ext cx="2724381" cy="2467422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SMI Basic Control and Status Registers </a:t>
            </a:r>
            <a:endParaRPr lang="en-DE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PMA/PMD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PCS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err="1">
                <a:solidFill>
                  <a:srgbClr val="0070C0"/>
                </a:solidFill>
              </a:rPr>
              <a:t>Misc</a:t>
            </a:r>
            <a:r>
              <a:rPr lang="en-DE" sz="2000" b="1">
                <a:solidFill>
                  <a:srgbClr val="0070C0"/>
                </a:solidFill>
              </a:rPr>
              <a:t>.</a:t>
            </a:r>
            <a:r>
              <a:rPr lang="en-US" sz="2000" b="1">
                <a:solidFill>
                  <a:srgbClr val="0070C0"/>
                </a:solidFill>
              </a:rPr>
              <a:t> Registers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3082BD-A6EE-9FD6-8398-DA012E5AA6A5}"/>
              </a:ext>
            </a:extLst>
          </p:cNvPr>
          <p:cNvGrpSpPr/>
          <p:nvPr/>
        </p:nvGrpSpPr>
        <p:grpSpPr>
          <a:xfrm>
            <a:off x="3272049" y="1628308"/>
            <a:ext cx="6315014" cy="3113378"/>
            <a:chOff x="3397698" y="1682421"/>
            <a:chExt cx="5299631" cy="25079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9A15825-F49F-9FBD-1EEB-A2FFEB589C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7102"/>
            <a:stretch/>
          </p:blipFill>
          <p:spPr>
            <a:xfrm>
              <a:off x="3451169" y="2019300"/>
              <a:ext cx="5246160" cy="216600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6FF8F677-5E89-750A-85DB-D7B7B1645F5C}"/>
                </a:ext>
              </a:extLst>
            </p:cNvPr>
            <p:cNvSpPr/>
            <p:nvPr/>
          </p:nvSpPr>
          <p:spPr bwMode="auto">
            <a:xfrm>
              <a:off x="5417948" y="2489218"/>
              <a:ext cx="1302892" cy="25603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" name="Rounded Rectangle 4">
              <a:extLst>
                <a:ext uri="{FF2B5EF4-FFF2-40B4-BE49-F238E27FC236}">
                  <a16:creationId xmlns:a16="http://schemas.microsoft.com/office/drawing/2014/main" id="{139B1DDE-0001-0E5D-6F69-8095FBA0C52F}"/>
                </a:ext>
              </a:extLst>
            </p:cNvPr>
            <p:cNvSpPr/>
            <p:nvPr/>
          </p:nvSpPr>
          <p:spPr bwMode="auto">
            <a:xfrm>
              <a:off x="7446532" y="2836929"/>
              <a:ext cx="1104602" cy="18442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0" name="Rounded Rectangle 4">
              <a:extLst>
                <a:ext uri="{FF2B5EF4-FFF2-40B4-BE49-F238E27FC236}">
                  <a16:creationId xmlns:a16="http://schemas.microsoft.com/office/drawing/2014/main" id="{291D1F30-8EF5-52B8-F9BB-70298BE4EB85}"/>
                </a:ext>
              </a:extLst>
            </p:cNvPr>
            <p:cNvSpPr/>
            <p:nvPr/>
          </p:nvSpPr>
          <p:spPr bwMode="auto">
            <a:xfrm>
              <a:off x="7446532" y="3021358"/>
              <a:ext cx="1104602" cy="18442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470D589-3E8E-F946-69E4-870C24515635}"/>
                </a:ext>
              </a:extLst>
            </p:cNvPr>
            <p:cNvSpPr txBox="1"/>
            <p:nvPr/>
          </p:nvSpPr>
          <p:spPr>
            <a:xfrm>
              <a:off x="3397698" y="1682421"/>
              <a:ext cx="5065922" cy="322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>
                  <a:solidFill>
                    <a:schemeClr val="accent1"/>
                  </a:solidFill>
                </a:rPr>
                <a:t>Miscellaneous Registers </a:t>
              </a:r>
              <a:r>
                <a:rPr lang="en-US" sz="2000" b="1">
                  <a:solidFill>
                    <a:schemeClr val="accent2"/>
                  </a:solidFill>
                </a:rPr>
                <a:t>(MMD 31)</a:t>
              </a:r>
              <a:r>
                <a:rPr lang="en-DE" sz="2000" b="1">
                  <a:solidFill>
                    <a:schemeClr val="accent2"/>
                  </a:solidFill>
                </a:rPr>
                <a:t> </a:t>
              </a:r>
              <a:r>
                <a:rPr lang="en-DE" sz="2000" b="1">
                  <a:solidFill>
                    <a:schemeClr val="accent1"/>
                  </a:solidFill>
                </a:rPr>
                <a:t>cont...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3946E24C-B5DC-260E-AA23-51AB7996E755}"/>
                </a:ext>
              </a:extLst>
            </p:cNvPr>
            <p:cNvSpPr/>
            <p:nvPr/>
          </p:nvSpPr>
          <p:spPr bwMode="auto">
            <a:xfrm>
              <a:off x="5417948" y="3136432"/>
              <a:ext cx="676464" cy="256033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2C5DD020-E443-CDB5-417C-3A610BD6BD26}"/>
                </a:ext>
              </a:extLst>
            </p:cNvPr>
            <p:cNvSpPr/>
            <p:nvPr/>
          </p:nvSpPr>
          <p:spPr bwMode="auto">
            <a:xfrm>
              <a:off x="7446532" y="3636137"/>
              <a:ext cx="1104602" cy="18442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4" name="Rounded Rectangle 4">
              <a:extLst>
                <a:ext uri="{FF2B5EF4-FFF2-40B4-BE49-F238E27FC236}">
                  <a16:creationId xmlns:a16="http://schemas.microsoft.com/office/drawing/2014/main" id="{04E45E1B-618C-D11E-6677-B08AB55648D5}"/>
                </a:ext>
              </a:extLst>
            </p:cNvPr>
            <p:cNvSpPr/>
            <p:nvPr/>
          </p:nvSpPr>
          <p:spPr bwMode="auto">
            <a:xfrm>
              <a:off x="7446532" y="3820566"/>
              <a:ext cx="1104602" cy="18442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5" name="Rounded Rectangle 4">
              <a:extLst>
                <a:ext uri="{FF2B5EF4-FFF2-40B4-BE49-F238E27FC236}">
                  <a16:creationId xmlns:a16="http://schemas.microsoft.com/office/drawing/2014/main" id="{69132B5A-85BA-53C7-E2F9-C79635AC5C7A}"/>
                </a:ext>
              </a:extLst>
            </p:cNvPr>
            <p:cNvSpPr/>
            <p:nvPr/>
          </p:nvSpPr>
          <p:spPr bwMode="auto">
            <a:xfrm>
              <a:off x="7446532" y="4005947"/>
              <a:ext cx="1104602" cy="18442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F6796DE8-43BB-9EB1-1BAC-261781525DDA}"/>
              </a:ext>
            </a:extLst>
          </p:cNvPr>
          <p:cNvSpPr/>
          <p:nvPr/>
        </p:nvSpPr>
        <p:spPr>
          <a:xfrm>
            <a:off x="4122664" y="572239"/>
            <a:ext cx="2399628" cy="725902"/>
          </a:xfrm>
          <a:prstGeom prst="wedgeRoundRectCallout">
            <a:avLst>
              <a:gd name="adj1" fmla="val -9920"/>
              <a:gd name="adj2" fmla="val 16316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C</a:t>
            </a:r>
            <a:r>
              <a:rPr lang="en-DE" sz="2000" b="1" err="1"/>
              <a:t>onfigure</a:t>
            </a:r>
            <a:r>
              <a:rPr lang="en-DE" sz="2000" b="1"/>
              <a:t> PLCA</a:t>
            </a:r>
            <a:endParaRPr lang="en-US" sz="2000" b="1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C552AD-B8F6-5049-4ABD-DE5E90EAEF9F}"/>
              </a:ext>
            </a:extLst>
          </p:cNvPr>
          <p:cNvGrpSpPr/>
          <p:nvPr/>
        </p:nvGrpSpPr>
        <p:grpSpPr>
          <a:xfrm>
            <a:off x="8435902" y="560579"/>
            <a:ext cx="1953913" cy="725902"/>
            <a:chOff x="9509541" y="447500"/>
            <a:chExt cx="2595986" cy="576147"/>
          </a:xfrm>
        </p:grpSpPr>
        <p:sp>
          <p:nvSpPr>
            <p:cNvPr id="11" name="Callout: Line with No Border 10">
              <a:extLst>
                <a:ext uri="{FF2B5EF4-FFF2-40B4-BE49-F238E27FC236}">
                  <a16:creationId xmlns:a16="http://schemas.microsoft.com/office/drawing/2014/main" id="{32924E6B-9EB6-8E50-761F-01704EB124EB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106939"/>
                <a:gd name="adj2" fmla="val -11097"/>
                <a:gd name="adj3" fmla="val 356537"/>
                <a:gd name="adj4" fmla="val -334753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4" name="Speech Bubble: Rectangle with Corners Rounded 13">
              <a:extLst>
                <a:ext uri="{FF2B5EF4-FFF2-40B4-BE49-F238E27FC236}">
                  <a16:creationId xmlns:a16="http://schemas.microsoft.com/office/drawing/2014/main" id="{24873668-578F-ECAE-8B9A-8E0EF453755B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Enable and reset </a:t>
              </a:r>
            </a:p>
            <a:p>
              <a:pPr algn="ctr"/>
              <a:r>
                <a:rPr lang="en-DE" sz="1600" b="1"/>
                <a:t>PLCA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FEB6F7-A603-C3B2-2853-83C8ED00707E}"/>
              </a:ext>
            </a:extLst>
          </p:cNvPr>
          <p:cNvGrpSpPr/>
          <p:nvPr/>
        </p:nvGrpSpPr>
        <p:grpSpPr>
          <a:xfrm>
            <a:off x="10047589" y="3061515"/>
            <a:ext cx="1953913" cy="478293"/>
            <a:chOff x="9509541" y="447500"/>
            <a:chExt cx="2595986" cy="576147"/>
          </a:xfrm>
        </p:grpSpPr>
        <p:sp>
          <p:nvSpPr>
            <p:cNvPr id="26" name="Callout: Line with No Border 25">
              <a:extLst>
                <a:ext uri="{FF2B5EF4-FFF2-40B4-BE49-F238E27FC236}">
                  <a16:creationId xmlns:a16="http://schemas.microsoft.com/office/drawing/2014/main" id="{B189B612-AC17-18AF-C290-381BCFCD384B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54348"/>
                <a:gd name="adj2" fmla="val -121231"/>
                <a:gd name="adj3" fmla="val 80389"/>
                <a:gd name="adj4" fmla="val -22636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7" name="Speech Bubble: Rectangle with Corners Rounded 26">
              <a:extLst>
                <a:ext uri="{FF2B5EF4-FFF2-40B4-BE49-F238E27FC236}">
                  <a16:creationId xmlns:a16="http://schemas.microsoft.com/office/drawing/2014/main" id="{2FD58293-B545-5A3A-C34B-5D7E60A7455C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Node ID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F5910E-729F-9028-4894-C03EFBB2EB3A}"/>
              </a:ext>
            </a:extLst>
          </p:cNvPr>
          <p:cNvGrpSpPr/>
          <p:nvPr/>
        </p:nvGrpSpPr>
        <p:grpSpPr>
          <a:xfrm>
            <a:off x="10016614" y="1973252"/>
            <a:ext cx="1953913" cy="877849"/>
            <a:chOff x="9509541" y="447500"/>
            <a:chExt cx="2595986" cy="576147"/>
          </a:xfrm>
        </p:grpSpPr>
        <p:sp>
          <p:nvSpPr>
            <p:cNvPr id="29" name="Callout: Line with No Border 28">
              <a:extLst>
                <a:ext uri="{FF2B5EF4-FFF2-40B4-BE49-F238E27FC236}">
                  <a16:creationId xmlns:a16="http://schemas.microsoft.com/office/drawing/2014/main" id="{0D17DAE5-2A02-9266-49C6-0E11EA484B7C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73423"/>
                <a:gd name="adj2" fmla="val -115987"/>
                <a:gd name="adj3" fmla="val 147500"/>
                <a:gd name="adj4" fmla="val -22287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0" name="Speech Bubble: Rectangle with Corners Rounded 29">
              <a:extLst>
                <a:ext uri="{FF2B5EF4-FFF2-40B4-BE49-F238E27FC236}">
                  <a16:creationId xmlns:a16="http://schemas.microsoft.com/office/drawing/2014/main" id="{57E680DF-7E37-D481-1D1A-FF32ABBAB41A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Node Count</a:t>
              </a:r>
            </a:p>
            <a:p>
              <a:pPr algn="ctr"/>
              <a:r>
                <a:rPr lang="en-DE" sz="1600" b="1"/>
                <a:t>= number of TOs in one bus cycle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4A41F48-364C-CC8C-FC7E-5AD0219A98B2}"/>
              </a:ext>
            </a:extLst>
          </p:cNvPr>
          <p:cNvGrpSpPr/>
          <p:nvPr/>
        </p:nvGrpSpPr>
        <p:grpSpPr>
          <a:xfrm>
            <a:off x="9587063" y="5295120"/>
            <a:ext cx="1953913" cy="881768"/>
            <a:chOff x="9509541" y="447500"/>
            <a:chExt cx="2595986" cy="576147"/>
          </a:xfrm>
        </p:grpSpPr>
        <p:sp>
          <p:nvSpPr>
            <p:cNvPr id="32" name="Callout: Line with No Border 31">
              <a:extLst>
                <a:ext uri="{FF2B5EF4-FFF2-40B4-BE49-F238E27FC236}">
                  <a16:creationId xmlns:a16="http://schemas.microsoft.com/office/drawing/2014/main" id="{3A639B9F-8DAC-099A-65A5-84AE143A7569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-19698"/>
                <a:gd name="adj2" fmla="val -14593"/>
                <a:gd name="adj3" fmla="val -152648"/>
                <a:gd name="adj4" fmla="val -14245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3" name="Speech Bubble: Rectangle with Corners Rounded 32">
              <a:extLst>
                <a:ext uri="{FF2B5EF4-FFF2-40B4-BE49-F238E27FC236}">
                  <a16:creationId xmlns:a16="http://schemas.microsoft.com/office/drawing/2014/main" id="{AEBCDD1F-B0EE-0E16-55A8-63AAD623605A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Max burst count</a:t>
              </a:r>
            </a:p>
            <a:p>
              <a:pPr algn="ctr"/>
              <a:r>
                <a:rPr lang="en-DE" sz="1600" b="1"/>
                <a:t>= number of add. frames per TO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C839782-30CE-2DF9-0808-FC8352E343AE}"/>
              </a:ext>
            </a:extLst>
          </p:cNvPr>
          <p:cNvGrpSpPr/>
          <p:nvPr/>
        </p:nvGrpSpPr>
        <p:grpSpPr>
          <a:xfrm>
            <a:off x="6738589" y="5288822"/>
            <a:ext cx="2272756" cy="881768"/>
            <a:chOff x="9509541" y="447500"/>
            <a:chExt cx="2595986" cy="576147"/>
          </a:xfrm>
        </p:grpSpPr>
        <p:sp>
          <p:nvSpPr>
            <p:cNvPr id="35" name="Callout: Line with No Border 34">
              <a:extLst>
                <a:ext uri="{FF2B5EF4-FFF2-40B4-BE49-F238E27FC236}">
                  <a16:creationId xmlns:a16="http://schemas.microsoft.com/office/drawing/2014/main" id="{74278FAF-3805-3D50-DE42-84D406F24B80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-19698"/>
                <a:gd name="adj2" fmla="val 128989"/>
                <a:gd name="adj3" fmla="val -97959"/>
                <a:gd name="adj4" fmla="val 153193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6" name="Speech Bubble: Rectangle with Corners Rounded 35">
              <a:extLst>
                <a:ext uri="{FF2B5EF4-FFF2-40B4-BE49-F238E27FC236}">
                  <a16:creationId xmlns:a16="http://schemas.microsoft.com/office/drawing/2014/main" id="{4A21953A-B479-94E0-4813-2937086490BD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Burst timer</a:t>
              </a:r>
            </a:p>
            <a:p>
              <a:pPr algn="ctr"/>
              <a:r>
                <a:rPr lang="en-DE" sz="1600" b="1"/>
                <a:t>= max time between two frames of the burst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6D42FAF-4F20-0225-B133-45E026E93B33}"/>
              </a:ext>
            </a:extLst>
          </p:cNvPr>
          <p:cNvGrpSpPr/>
          <p:nvPr/>
        </p:nvGrpSpPr>
        <p:grpSpPr>
          <a:xfrm>
            <a:off x="3860773" y="5288821"/>
            <a:ext cx="2260368" cy="881768"/>
            <a:chOff x="9509541" y="447500"/>
            <a:chExt cx="2595986" cy="576147"/>
          </a:xfrm>
        </p:grpSpPr>
        <p:sp>
          <p:nvSpPr>
            <p:cNvPr id="38" name="Callout: Line with No Border 37">
              <a:extLst>
                <a:ext uri="{FF2B5EF4-FFF2-40B4-BE49-F238E27FC236}">
                  <a16:creationId xmlns:a16="http://schemas.microsoft.com/office/drawing/2014/main" id="{D844CC72-CA43-6700-CAE9-BC8512E0EEFA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-21176"/>
                <a:gd name="adj2" fmla="val 134865"/>
                <a:gd name="adj3" fmla="val -250204"/>
                <a:gd name="adj4" fmla="val 227483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9" name="Speech Bubble: Rectangle with Corners Rounded 38">
              <a:extLst>
                <a:ext uri="{FF2B5EF4-FFF2-40B4-BE49-F238E27FC236}">
                  <a16:creationId xmlns:a16="http://schemas.microsoft.com/office/drawing/2014/main" id="{47680371-30D8-0233-F2EB-C9C551153A7D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PLCA status</a:t>
              </a:r>
            </a:p>
            <a:p>
              <a:pPr algn="ctr"/>
              <a:r>
                <a:rPr lang="en-DE" sz="1600" b="1"/>
                <a:t>indicates if PLCA is active, (Beacons transmitted)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58B2DB-0DB2-C110-05DC-FF7B7542F0F9}"/>
              </a:ext>
            </a:extLst>
          </p:cNvPr>
          <p:cNvGrpSpPr/>
          <p:nvPr/>
        </p:nvGrpSpPr>
        <p:grpSpPr>
          <a:xfrm>
            <a:off x="10047589" y="3754674"/>
            <a:ext cx="1953913" cy="879208"/>
            <a:chOff x="9509541" y="447500"/>
            <a:chExt cx="2595986" cy="576147"/>
          </a:xfrm>
        </p:grpSpPr>
        <p:sp>
          <p:nvSpPr>
            <p:cNvPr id="41" name="Callout: Line with No Border 40">
              <a:extLst>
                <a:ext uri="{FF2B5EF4-FFF2-40B4-BE49-F238E27FC236}">
                  <a16:creationId xmlns:a16="http://schemas.microsoft.com/office/drawing/2014/main" id="{30FCBAAC-89B9-D207-1A1F-A4AE6BD98C13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48222"/>
                <a:gd name="adj2" fmla="val -115987"/>
                <a:gd name="adj3" fmla="val 49629"/>
                <a:gd name="adj4" fmla="val -22811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2" name="Speech Bubble: Rectangle with Corners Rounded 41">
              <a:extLst>
                <a:ext uri="{FF2B5EF4-FFF2-40B4-BE49-F238E27FC236}">
                  <a16:creationId xmlns:a16="http://schemas.microsoft.com/office/drawing/2014/main" id="{A83C5475-86CC-B44B-6CD3-BEF2AE6F31B0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Transmit opportunity </a:t>
              </a:r>
            </a:p>
            <a:p>
              <a:pPr algn="ctr"/>
              <a:r>
                <a:rPr lang="en-DE" sz="1600" b="1"/>
                <a:t>timer</a:t>
              </a:r>
            </a:p>
            <a:p>
              <a:pPr algn="ctr"/>
              <a:r>
                <a:rPr lang="en-DE" sz="1600" b="1"/>
                <a:t>= 32 bit default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976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99FB7F7-A8CC-8D93-9292-29EC47610E54}"/>
              </a:ext>
            </a:extLst>
          </p:cNvPr>
          <p:cNvGrpSpPr/>
          <p:nvPr/>
        </p:nvGrpSpPr>
        <p:grpSpPr>
          <a:xfrm>
            <a:off x="913673" y="5323876"/>
            <a:ext cx="10361478" cy="692229"/>
            <a:chOff x="488494" y="5536032"/>
            <a:chExt cx="11267676" cy="71468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F89F74E-C245-B715-FE07-A558FA43D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494" y="5558488"/>
              <a:ext cx="11267676" cy="64824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6DA344D8-D67C-82AC-2ADC-1594512EBD5C}"/>
                </a:ext>
              </a:extLst>
            </p:cNvPr>
            <p:cNvSpPr/>
            <p:nvPr/>
          </p:nvSpPr>
          <p:spPr bwMode="auto">
            <a:xfrm>
              <a:off x="7313130" y="5536032"/>
              <a:ext cx="3344710" cy="34627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2A823360-FBF1-C04F-FA4D-A2FA55B493A4}"/>
                </a:ext>
              </a:extLst>
            </p:cNvPr>
            <p:cNvSpPr/>
            <p:nvPr/>
          </p:nvSpPr>
          <p:spPr bwMode="auto">
            <a:xfrm>
              <a:off x="8411460" y="5904438"/>
              <a:ext cx="3344710" cy="34627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1879C5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9BF5E01-02F4-4CAF-AA4C-FD532A59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sz="2800"/>
              <a:t>PLCA - Status 1 Register (MMD 31)</a:t>
            </a:r>
            <a:endParaRPr lang="en-US" sz="2800"/>
          </a:p>
        </p:txBody>
      </p:sp>
      <p:graphicFrame>
        <p:nvGraphicFramePr>
          <p:cNvPr id="5" name="Table 21">
            <a:extLst>
              <a:ext uri="{FF2B5EF4-FFF2-40B4-BE49-F238E27FC236}">
                <a16:creationId xmlns:a16="http://schemas.microsoft.com/office/drawing/2014/main" id="{73A95EAF-4E71-BEE2-1987-60F7D666E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96062"/>
              </p:ext>
            </p:extLst>
          </p:nvPr>
        </p:nvGraphicFramePr>
        <p:xfrm>
          <a:off x="488494" y="1188009"/>
          <a:ext cx="5088332" cy="304036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88332">
                  <a:extLst>
                    <a:ext uri="{9D8B030D-6E8A-4147-A177-3AD203B41FA5}">
                      <a16:colId xmlns:a16="http://schemas.microsoft.com/office/drawing/2014/main" val="1088666139"/>
                    </a:ext>
                  </a:extLst>
                </a:gridCol>
              </a:tblGrid>
              <a:tr h="962128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11 – PSTC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PLCA Status Changed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bit is set to indicate that the PLCA Status (PST) bit has changed within the PLCA Status (PLCA_STS) register.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04940"/>
                  </a:ext>
                </a:extLst>
              </a:tr>
              <a:tr h="920858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10 – TXCOL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Transmit Collision Status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Physical collision on the network detected. This does not include logical collisions due to normal operation of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PLCA.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208969"/>
                  </a:ext>
                </a:extLst>
              </a:tr>
              <a:tr h="115738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9 – TXJAB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Transmit Jabber Status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transmit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jabber condition occurs when the PHY detects that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PCS has remained in transmit state longer than 2 </a:t>
                      </a:r>
                      <a:r>
                        <a:rPr 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ms.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this case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the transmitter is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disabled for 16 </a:t>
                      </a:r>
                      <a:r>
                        <a:rPr 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ms.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87437"/>
                  </a:ext>
                </a:extLst>
              </a:tr>
            </a:tbl>
          </a:graphicData>
        </a:graphic>
      </p:graphicFrame>
      <p:graphicFrame>
        <p:nvGraphicFramePr>
          <p:cNvPr id="2" name="Table 21">
            <a:extLst>
              <a:ext uri="{FF2B5EF4-FFF2-40B4-BE49-F238E27FC236}">
                <a16:creationId xmlns:a16="http://schemas.microsoft.com/office/drawing/2014/main" id="{C8797567-27F2-4AAD-DFC8-3F39A3DD0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089160"/>
              </p:ext>
            </p:extLst>
          </p:nvPr>
        </p:nvGraphicFramePr>
        <p:xfrm>
          <a:off x="7645167" y="1182945"/>
          <a:ext cx="4055164" cy="2540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55164">
                  <a:extLst>
                    <a:ext uri="{9D8B030D-6E8A-4147-A177-3AD203B41FA5}">
                      <a16:colId xmlns:a16="http://schemas.microsoft.com/office/drawing/2014/main" val="1088666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2 – PLCASYM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PLCA Symbols Detected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bit indicates the detection of PLCA BEACON symbols when PLCA is not enabled. This condition may indicate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local node is operating with PLCA disabled on a segment with PLCA enabled nodes.</a:t>
                      </a:r>
                      <a:endParaRPr lang="en-DE" sz="16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303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1 – ESDERR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End-of-Stream Delimiter Error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124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0 – DEC5B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5B Decode Error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074839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F261BCC2-538D-C555-0CD4-0E461E026264}"/>
              </a:ext>
            </a:extLst>
          </p:cNvPr>
          <p:cNvGrpSpPr/>
          <p:nvPr/>
        </p:nvGrpSpPr>
        <p:grpSpPr>
          <a:xfrm>
            <a:off x="3659125" y="4135770"/>
            <a:ext cx="1953913" cy="628199"/>
            <a:chOff x="9509541" y="525046"/>
            <a:chExt cx="2595986" cy="498600"/>
          </a:xfrm>
        </p:grpSpPr>
        <p:sp>
          <p:nvSpPr>
            <p:cNvPr id="10" name="Callout: Line with No Border 9">
              <a:extLst>
                <a:ext uri="{FF2B5EF4-FFF2-40B4-BE49-F238E27FC236}">
                  <a16:creationId xmlns:a16="http://schemas.microsoft.com/office/drawing/2014/main" id="{4E0EA13D-1152-49E5-F2C5-91BC104B917F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107266"/>
                <a:gd name="adj2" fmla="val 227036"/>
                <a:gd name="adj3" fmla="val 231075"/>
                <a:gd name="adj4" fmla="val 536086"/>
              </a:avLst>
            </a:prstGeom>
            <a:noFill/>
            <a:ln w="38100" cap="rnd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F56502E2-C704-9FD1-AF91-DCF2980B74F9}"/>
                </a:ext>
              </a:extLst>
            </p:cNvPr>
            <p:cNvSpPr/>
            <p:nvPr/>
          </p:nvSpPr>
          <p:spPr>
            <a:xfrm>
              <a:off x="9509541" y="656684"/>
              <a:ext cx="2595986" cy="366962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/>
                <a:t>P</a:t>
              </a:r>
              <a:r>
                <a:rPr lang="en-DE" sz="1600" b="1"/>
                <a:t>LCA-related status</a:t>
              </a:r>
              <a:endParaRPr lang="en-US" sz="1600" b="1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3BDED6-1950-45A6-7DED-D4A6959BA803}"/>
              </a:ext>
            </a:extLst>
          </p:cNvPr>
          <p:cNvGrpSpPr/>
          <p:nvPr/>
        </p:nvGrpSpPr>
        <p:grpSpPr>
          <a:xfrm>
            <a:off x="9511695" y="3814240"/>
            <a:ext cx="2204182" cy="852026"/>
            <a:chOff x="9527850" y="654010"/>
            <a:chExt cx="2595986" cy="366962"/>
          </a:xfrm>
        </p:grpSpPr>
        <p:sp>
          <p:nvSpPr>
            <p:cNvPr id="13" name="Callout: Line with No Border 12">
              <a:extLst>
                <a:ext uri="{FF2B5EF4-FFF2-40B4-BE49-F238E27FC236}">
                  <a16:creationId xmlns:a16="http://schemas.microsoft.com/office/drawing/2014/main" id="{44AF3AAA-45F4-28AB-F2BD-2E02C6FFC43C}"/>
                </a:ext>
              </a:extLst>
            </p:cNvPr>
            <p:cNvSpPr/>
            <p:nvPr/>
          </p:nvSpPr>
          <p:spPr>
            <a:xfrm>
              <a:off x="10380113" y="768652"/>
              <a:ext cx="723900" cy="177448"/>
            </a:xfrm>
            <a:prstGeom prst="callout1">
              <a:avLst>
                <a:gd name="adj1" fmla="val 143522"/>
                <a:gd name="adj2" fmla="val 187932"/>
                <a:gd name="adj3" fmla="val 383058"/>
                <a:gd name="adj4" fmla="val 12715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5D72250D-E5E2-1409-A0E7-B26B138B5BB0}"/>
                </a:ext>
              </a:extLst>
            </p:cNvPr>
            <p:cNvSpPr/>
            <p:nvPr/>
          </p:nvSpPr>
          <p:spPr>
            <a:xfrm>
              <a:off x="9527850" y="654010"/>
              <a:ext cx="2595986" cy="366962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/>
                <a:t>PLCA-related errors</a:t>
              </a:r>
            </a:p>
            <a:p>
              <a:pPr algn="ctr"/>
              <a:r>
                <a:rPr lang="en-US" sz="1600" b="1"/>
                <a:t> can be signaled via interrupt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21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A5F7D1-557D-CA52-0149-7A07BBF0BA3C}"/>
              </a:ext>
            </a:extLst>
          </p:cNvPr>
          <p:cNvGrpSpPr/>
          <p:nvPr/>
        </p:nvGrpSpPr>
        <p:grpSpPr>
          <a:xfrm>
            <a:off x="913673" y="5738594"/>
            <a:ext cx="10361478" cy="627880"/>
            <a:chOff x="488494" y="5558488"/>
            <a:chExt cx="11267676" cy="6482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D19EE08-60A1-C53B-87EB-4349A2A3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8494" y="5558488"/>
              <a:ext cx="11267676" cy="64824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Rounded Rectangle 4">
              <a:extLst>
                <a:ext uri="{FF2B5EF4-FFF2-40B4-BE49-F238E27FC236}">
                  <a16:creationId xmlns:a16="http://schemas.microsoft.com/office/drawing/2014/main" id="{23EBBD53-2C82-0AF4-205B-62A63C14C449}"/>
                </a:ext>
              </a:extLst>
            </p:cNvPr>
            <p:cNvSpPr/>
            <p:nvPr/>
          </p:nvSpPr>
          <p:spPr bwMode="auto">
            <a:xfrm>
              <a:off x="2907696" y="5859710"/>
              <a:ext cx="5552706" cy="32614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9BF5E01-02F4-4CAF-AA4C-FD532A59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sz="2800"/>
              <a:t>PLCA - Status 1 Register (MMD 31) - continued</a:t>
            </a:r>
            <a:endParaRPr lang="en-US" sz="2800"/>
          </a:p>
        </p:txBody>
      </p:sp>
      <p:graphicFrame>
        <p:nvGraphicFramePr>
          <p:cNvPr id="23" name="Table 21">
            <a:extLst>
              <a:ext uri="{FF2B5EF4-FFF2-40B4-BE49-F238E27FC236}">
                <a16:creationId xmlns:a16="http://schemas.microsoft.com/office/drawing/2014/main" id="{BE555E0C-7A63-869A-9B8B-0E0D57586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274628"/>
              </p:ext>
            </p:extLst>
          </p:nvPr>
        </p:nvGraphicFramePr>
        <p:xfrm>
          <a:off x="398205" y="822152"/>
          <a:ext cx="11357965" cy="3627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357965">
                  <a:extLst>
                    <a:ext uri="{9D8B030D-6E8A-4147-A177-3AD203B41FA5}">
                      <a16:colId xmlns:a16="http://schemas.microsoft.com/office/drawing/2014/main" val="1088666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7 – EMPCYC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PLCA Empty Cycle Status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indicates an empty PLCA bus cycle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which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occurs when the node detects no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transmissions in any of the possible transmit opportunities between two successive BEACONs.</a:t>
                      </a:r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04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6 – RXINTO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Receive in Transmit Opportunity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indicates another node transmitting in this node’s assigned 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This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could indicate multiple nodes being assigned the same Local ID.</a:t>
                      </a:r>
                      <a:endParaRPr lang="en-US" sz="105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208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5 – UNEXPB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Unexpected BEACON Received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When configured as the PLCA coordinator in charge of transmitting the periodic BEACONs, this bit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indicates the detection of an unexpected BEACON on the segment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coming from another or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multiple PLCA coordinators on the segment.</a:t>
                      </a:r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8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4 – BCNBFTO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BEACON Received Before Transmit Opportunity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indicates the detection of a BEACON before the 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node’s assigned transmit opportunity. 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Either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multiple PLCA coordinators on the segment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or  </a:t>
                      </a:r>
                      <a:r>
                        <a:rPr lang="en-DE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NodeCount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(NCNT) in the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PLCA coordinator 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 or equal to local ID, i.e. PLCA cycle is “too small”</a:t>
                      </a:r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66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 3 – UNCRS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Unexpected Carrier Sense</a:t>
                      </a:r>
                    </a:p>
                    <a:p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When operating in ACMA mode, this bit will indicate carrier sense during this PHY’s transmit slot</a:t>
                      </a:r>
                      <a:r>
                        <a:rPr lang="en-DE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when ACMA is asserted</a:t>
                      </a:r>
                      <a:endParaRPr lang="en-US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64472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8A31570F-5517-44D6-FF78-D01ABB7D45F9}"/>
              </a:ext>
            </a:extLst>
          </p:cNvPr>
          <p:cNvGrpSpPr/>
          <p:nvPr/>
        </p:nvGrpSpPr>
        <p:grpSpPr>
          <a:xfrm>
            <a:off x="398205" y="4722671"/>
            <a:ext cx="2314221" cy="653268"/>
            <a:chOff x="9509541" y="656684"/>
            <a:chExt cx="2595986" cy="366962"/>
          </a:xfrm>
        </p:grpSpPr>
        <p:sp>
          <p:nvSpPr>
            <p:cNvPr id="10" name="Callout: Line with No Border 9">
              <a:extLst>
                <a:ext uri="{FF2B5EF4-FFF2-40B4-BE49-F238E27FC236}">
                  <a16:creationId xmlns:a16="http://schemas.microsoft.com/office/drawing/2014/main" id="{432FB26A-1051-4961-BF57-784BD86D056F}"/>
                </a:ext>
              </a:extLst>
            </p:cNvPr>
            <p:cNvSpPr/>
            <p:nvPr/>
          </p:nvSpPr>
          <p:spPr>
            <a:xfrm>
              <a:off x="10380113" y="768652"/>
              <a:ext cx="723900" cy="177448"/>
            </a:xfrm>
            <a:prstGeom prst="callout1">
              <a:avLst>
                <a:gd name="adj1" fmla="val 20990"/>
                <a:gd name="adj2" fmla="val 192432"/>
                <a:gd name="adj3" fmla="val 345371"/>
                <a:gd name="adj4" fmla="val 306821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b="1"/>
            </a:p>
          </p:txBody>
        </p:sp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1EEFC124-3FE9-912C-A0D6-5F19AE07ED1E}"/>
                </a:ext>
              </a:extLst>
            </p:cNvPr>
            <p:cNvSpPr/>
            <p:nvPr/>
          </p:nvSpPr>
          <p:spPr>
            <a:xfrm>
              <a:off x="9509541" y="656684"/>
              <a:ext cx="2595986" cy="366962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b="1"/>
                <a:t>PLCA-related </a:t>
              </a:r>
              <a:endParaRPr lang="en-DE" sz="1800" b="1"/>
            </a:p>
            <a:p>
              <a:pPr algn="ctr"/>
              <a:r>
                <a:rPr lang="en-DE" sz="1800" b="1"/>
                <a:t>monitoring</a:t>
              </a:r>
              <a:endParaRPr lang="en-US" sz="1800" b="1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02363F8-A78A-51C1-3CE7-9028A93871D0}"/>
              </a:ext>
            </a:extLst>
          </p:cNvPr>
          <p:cNvGrpSpPr/>
          <p:nvPr/>
        </p:nvGrpSpPr>
        <p:grpSpPr>
          <a:xfrm>
            <a:off x="3138312" y="4722671"/>
            <a:ext cx="2314221" cy="653268"/>
            <a:chOff x="9509541" y="656684"/>
            <a:chExt cx="2595986" cy="366962"/>
          </a:xfrm>
        </p:grpSpPr>
        <p:sp>
          <p:nvSpPr>
            <p:cNvPr id="13" name="Callout: Line with No Border 12">
              <a:extLst>
                <a:ext uri="{FF2B5EF4-FFF2-40B4-BE49-F238E27FC236}">
                  <a16:creationId xmlns:a16="http://schemas.microsoft.com/office/drawing/2014/main" id="{667074F5-1E3E-B12D-29DA-2B32E69513FD}"/>
                </a:ext>
              </a:extLst>
            </p:cNvPr>
            <p:cNvSpPr/>
            <p:nvPr/>
          </p:nvSpPr>
          <p:spPr>
            <a:xfrm>
              <a:off x="10380113" y="768652"/>
              <a:ext cx="723900" cy="177448"/>
            </a:xfrm>
            <a:prstGeom prst="callout1">
              <a:avLst>
                <a:gd name="adj1" fmla="val 36137"/>
                <a:gd name="adj2" fmla="val 108181"/>
                <a:gd name="adj3" fmla="val -11556"/>
                <a:gd name="adj4" fmla="val 53273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b="1"/>
            </a:p>
          </p:txBody>
        </p:sp>
        <p:sp>
          <p:nvSpPr>
            <p:cNvPr id="14" name="Speech Bubble: Rectangle with Corners Rounded 13">
              <a:extLst>
                <a:ext uri="{FF2B5EF4-FFF2-40B4-BE49-F238E27FC236}">
                  <a16:creationId xmlns:a16="http://schemas.microsoft.com/office/drawing/2014/main" id="{AEA60E18-3456-C5E5-388A-397BA159B4B0}"/>
                </a:ext>
              </a:extLst>
            </p:cNvPr>
            <p:cNvSpPr/>
            <p:nvPr/>
          </p:nvSpPr>
          <p:spPr>
            <a:xfrm>
              <a:off x="9509541" y="656684"/>
              <a:ext cx="2595986" cy="366962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b="1"/>
                <a:t>Changes can be signaled via interrupt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85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4C266-8F6C-A56A-79C5-8F3AA4B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Agenda  LAN8670/1/2  PHY</a:t>
            </a:r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9473ED-F49C-7675-7925-7B86099754E6}"/>
              </a:ext>
            </a:extLst>
          </p:cNvPr>
          <p:cNvSpPr/>
          <p:nvPr/>
        </p:nvSpPr>
        <p:spPr bwMode="auto">
          <a:xfrm rot="5400000">
            <a:off x="2577712" y="102074"/>
            <a:ext cx="633619" cy="4396355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95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F16C1-D297-1370-B6B0-18CB9570FB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28812" y="525991"/>
            <a:ext cx="8541895" cy="28749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>
                <a:solidFill>
                  <a:srgbClr val="1D9CE4"/>
                </a:solidFill>
              </a:rPr>
              <a:t>MDIO </a:t>
            </a:r>
            <a:r>
              <a:rPr lang="en-DE" sz="2400" b="1">
                <a:solidFill>
                  <a:srgbClr val="1D9CE4"/>
                </a:solidFill>
              </a:rPr>
              <a:t> 	</a:t>
            </a:r>
            <a:r>
              <a:rPr lang="en-DE" sz="2400" b="1">
                <a:solidFill>
                  <a:schemeClr val="accent1"/>
                </a:solidFill>
              </a:rPr>
              <a:t>(M</a:t>
            </a:r>
            <a:r>
              <a:rPr lang="en-US" sz="2400" b="1" err="1">
                <a:solidFill>
                  <a:schemeClr val="accent1"/>
                </a:solidFill>
              </a:rPr>
              <a:t>anagement</a:t>
            </a:r>
            <a:r>
              <a:rPr lang="en-US" sz="2400" b="1">
                <a:solidFill>
                  <a:schemeClr val="accent1"/>
                </a:solidFill>
              </a:rPr>
              <a:t> Data Input/Output)</a:t>
            </a:r>
          </a:p>
          <a:p>
            <a:pPr>
              <a:lnSpc>
                <a:spcPct val="150000"/>
              </a:lnSpc>
            </a:pPr>
            <a:r>
              <a:rPr lang="en-US" sz="2400" b="1">
                <a:solidFill>
                  <a:srgbClr val="1D9CE4"/>
                </a:solidFill>
              </a:rPr>
              <a:t>SMI </a:t>
            </a:r>
            <a:r>
              <a:rPr lang="en-DE" sz="2400" b="1">
                <a:solidFill>
                  <a:srgbClr val="1D9CE4"/>
                </a:solidFill>
              </a:rPr>
              <a:t> 		</a:t>
            </a:r>
            <a:r>
              <a:rPr lang="en-DE" sz="2400" b="1">
                <a:solidFill>
                  <a:schemeClr val="accent1"/>
                </a:solidFill>
              </a:rPr>
              <a:t>(S</a:t>
            </a:r>
            <a:r>
              <a:rPr lang="en-US" sz="2400" b="1" err="1">
                <a:solidFill>
                  <a:schemeClr val="accent1"/>
                </a:solidFill>
              </a:rPr>
              <a:t>erial</a:t>
            </a:r>
            <a:r>
              <a:rPr lang="en-US" sz="2400" b="1">
                <a:solidFill>
                  <a:schemeClr val="accent1"/>
                </a:solidFill>
              </a:rPr>
              <a:t> Management Interface)</a:t>
            </a:r>
          </a:p>
          <a:p>
            <a:pPr>
              <a:lnSpc>
                <a:spcPct val="150000"/>
              </a:lnSpc>
            </a:pPr>
            <a:r>
              <a:rPr lang="en-US" sz="2400" b="1">
                <a:solidFill>
                  <a:srgbClr val="1D9CE4"/>
                </a:solidFill>
              </a:rPr>
              <a:t>MIIM </a:t>
            </a:r>
            <a:r>
              <a:rPr lang="en-DE" sz="2400" b="1">
                <a:solidFill>
                  <a:srgbClr val="1D9CE4"/>
                </a:solidFill>
              </a:rPr>
              <a:t> 		</a:t>
            </a:r>
            <a:r>
              <a:rPr lang="en-DE" sz="2400" b="1">
                <a:solidFill>
                  <a:schemeClr val="accent1"/>
                </a:solidFill>
              </a:rPr>
              <a:t>(M</a:t>
            </a:r>
            <a:r>
              <a:rPr lang="en-US" sz="2400" b="1" err="1">
                <a:solidFill>
                  <a:schemeClr val="accent1"/>
                </a:solidFill>
              </a:rPr>
              <a:t>edia</a:t>
            </a:r>
            <a:r>
              <a:rPr lang="en-US" sz="2400" b="1">
                <a:solidFill>
                  <a:schemeClr val="accent1"/>
                </a:solidFill>
              </a:rPr>
              <a:t> Independent Interface Management)</a:t>
            </a:r>
            <a:endParaRPr lang="en-DE" sz="2400" b="1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DE" sz="2400" b="1">
                <a:solidFill>
                  <a:schemeClr val="accent1"/>
                </a:solidFill>
                <a:sym typeface="Wingdings" panose="05000000000000000000" pitchFamily="2" charset="2"/>
              </a:rPr>
              <a:t>--&gt; </a:t>
            </a:r>
            <a:r>
              <a:rPr lang="en-US" sz="2400" b="1">
                <a:solidFill>
                  <a:schemeClr val="accent1"/>
                </a:solidFill>
                <a:sym typeface="Wingdings" panose="05000000000000000000" pitchFamily="2" charset="2"/>
              </a:rPr>
              <a:t>A</a:t>
            </a:r>
            <a:r>
              <a:rPr lang="en-DE" sz="2400" b="1" err="1">
                <a:solidFill>
                  <a:schemeClr val="accent1"/>
                </a:solidFill>
                <a:sym typeface="Wingdings" panose="05000000000000000000" pitchFamily="2" charset="2"/>
              </a:rPr>
              <a:t>ll</a:t>
            </a:r>
            <a:r>
              <a:rPr lang="en-DE" sz="2400" b="1">
                <a:solidFill>
                  <a:schemeClr val="accent1"/>
                </a:solidFill>
                <a:sym typeface="Wingdings" panose="05000000000000000000" pitchFamily="2" charset="2"/>
              </a:rPr>
              <a:t> the same…</a:t>
            </a:r>
            <a:endParaRPr lang="en-US" sz="240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sz="24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955C68-9FD7-475F-911F-271F38EA8EE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42" y="1826084"/>
            <a:ext cx="2817067" cy="3224887"/>
          </a:xfrm>
        </p:spPr>
        <p:txBody>
          <a:bodyPr vert="horz" wrap="square" lIns="121888" tIns="60944" rIns="121888" bIns="60944" rtlCol="0">
            <a:noAutofit/>
          </a:bodyPr>
          <a:lstStyle/>
          <a:p>
            <a:pPr marL="0" lvl="1" indent="0" algn="ctr">
              <a:buNone/>
            </a:pPr>
            <a:endParaRPr lang="en-DE" sz="3200" b="1">
              <a:solidFill>
                <a:schemeClr val="bg1"/>
              </a:solidFill>
            </a:endParaRPr>
          </a:p>
          <a:p>
            <a:pPr marL="0" lvl="1" indent="0" algn="ctr">
              <a:buNone/>
            </a:pPr>
            <a:r>
              <a:rPr lang="en-US" sz="3200" b="1">
                <a:solidFill>
                  <a:schemeClr val="bg1"/>
                </a:solidFill>
              </a:rPr>
              <a:t>Connect </a:t>
            </a:r>
            <a:endParaRPr lang="en-DE" sz="3200" b="1">
              <a:solidFill>
                <a:schemeClr val="bg1"/>
              </a:solidFill>
            </a:endParaRPr>
          </a:p>
          <a:p>
            <a:pPr marL="0" lvl="1" indent="0" algn="ctr">
              <a:buNone/>
            </a:pPr>
            <a:r>
              <a:rPr lang="en-US" sz="3200" b="1">
                <a:solidFill>
                  <a:schemeClr val="bg1"/>
                </a:solidFill>
              </a:rPr>
              <a:t>a PHY </a:t>
            </a:r>
            <a:endParaRPr lang="en-DE" sz="3200" b="1">
              <a:solidFill>
                <a:schemeClr val="bg1"/>
              </a:solidFill>
            </a:endParaRPr>
          </a:p>
          <a:p>
            <a:pPr marL="0" lvl="1" indent="0" algn="ctr">
              <a:buNone/>
            </a:pPr>
            <a:r>
              <a:rPr lang="en-US" sz="3200" b="1">
                <a:solidFill>
                  <a:schemeClr val="bg1"/>
                </a:solidFill>
              </a:rPr>
              <a:t>to an MCU</a:t>
            </a:r>
            <a:endParaRPr lang="en-US" sz="3200" b="1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334D72-6D9D-1CA8-67C6-88A341DF8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622" y="2871949"/>
            <a:ext cx="3908332" cy="3658421"/>
          </a:xfrm>
          <a:prstGeom prst="rect">
            <a:avLst/>
          </a:prstGeom>
        </p:spPr>
      </p:pic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D6E7B2C-EB1A-5C46-5E81-3B5578BC1418}"/>
              </a:ext>
            </a:extLst>
          </p:cNvPr>
          <p:cNvSpPr/>
          <p:nvPr/>
        </p:nvSpPr>
        <p:spPr bwMode="auto">
          <a:xfrm>
            <a:off x="5534918" y="5418294"/>
            <a:ext cx="427960" cy="657205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3EB69AD-F665-730A-724B-30B1CECDA1F2}"/>
              </a:ext>
            </a:extLst>
          </p:cNvPr>
          <p:cNvSpPr/>
          <p:nvPr/>
        </p:nvSpPr>
        <p:spPr>
          <a:xfrm>
            <a:off x="8802067" y="3376100"/>
            <a:ext cx="2160951" cy="958254"/>
          </a:xfrm>
          <a:prstGeom prst="wedgeRoundRectCallout">
            <a:avLst>
              <a:gd name="adj1" fmla="val -15250"/>
              <a:gd name="adj2" fmla="val -3730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R</a:t>
            </a:r>
            <a:r>
              <a:rPr lang="en-DE" sz="2000" b="1" err="1"/>
              <a:t>ead</a:t>
            </a:r>
            <a:r>
              <a:rPr lang="en-DE" sz="2000" b="1"/>
              <a:t> &amp; Write</a:t>
            </a:r>
          </a:p>
          <a:p>
            <a:pPr algn="ctr"/>
            <a:r>
              <a:rPr lang="en-US" sz="2000" b="1"/>
              <a:t>S</a:t>
            </a:r>
            <a:r>
              <a:rPr lang="en-DE" sz="2000" b="1"/>
              <a:t>tatus &amp; Control</a:t>
            </a:r>
            <a:endParaRPr lang="en-US" sz="2000" b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6A7602-2CD3-268A-5A0D-6A297C6A3057}"/>
              </a:ext>
            </a:extLst>
          </p:cNvPr>
          <p:cNvGrpSpPr/>
          <p:nvPr/>
        </p:nvGrpSpPr>
        <p:grpSpPr>
          <a:xfrm>
            <a:off x="8802067" y="5120162"/>
            <a:ext cx="2160950" cy="958254"/>
            <a:chOff x="4481014" y="2526265"/>
            <a:chExt cx="3728536" cy="1228447"/>
          </a:xfrm>
        </p:grpSpPr>
        <p:sp>
          <p:nvSpPr>
            <p:cNvPr id="4" name="Callout: Line with No Border 3">
              <a:extLst>
                <a:ext uri="{FF2B5EF4-FFF2-40B4-BE49-F238E27FC236}">
                  <a16:creationId xmlns:a16="http://schemas.microsoft.com/office/drawing/2014/main" id="{0AA83318-EDB3-9FB2-E447-7764569479A9}"/>
                </a:ext>
              </a:extLst>
            </p:cNvPr>
            <p:cNvSpPr/>
            <p:nvPr/>
          </p:nvSpPr>
          <p:spPr>
            <a:xfrm>
              <a:off x="6186324" y="2909373"/>
              <a:ext cx="892170" cy="573457"/>
            </a:xfrm>
            <a:prstGeom prst="callout1">
              <a:avLst>
                <a:gd name="adj1" fmla="val -15257"/>
                <a:gd name="adj2" fmla="val -181502"/>
                <a:gd name="adj3" fmla="val 84865"/>
                <a:gd name="adj4" fmla="val -736317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5EBF2CE-40D5-0373-7017-8DA140557A79}"/>
                </a:ext>
              </a:extLst>
            </p:cNvPr>
            <p:cNvGrpSpPr/>
            <p:nvPr/>
          </p:nvGrpSpPr>
          <p:grpSpPr>
            <a:xfrm>
              <a:off x="4481014" y="2526265"/>
              <a:ext cx="3728536" cy="1228447"/>
              <a:chOff x="1182324" y="1262290"/>
              <a:chExt cx="3728536" cy="1228447"/>
            </a:xfrm>
          </p:grpSpPr>
          <p:sp>
            <p:nvSpPr>
              <p:cNvPr id="11" name="Callout: Line with No Border 10">
                <a:extLst>
                  <a:ext uri="{FF2B5EF4-FFF2-40B4-BE49-F238E27FC236}">
                    <a16:creationId xmlns:a16="http://schemas.microsoft.com/office/drawing/2014/main" id="{202FA7B2-4B7D-AF7C-3F29-0C97AD09E092}"/>
                  </a:ext>
                </a:extLst>
              </p:cNvPr>
              <p:cNvSpPr/>
              <p:nvPr/>
            </p:nvSpPr>
            <p:spPr>
              <a:xfrm>
                <a:off x="2735234" y="1492998"/>
                <a:ext cx="892170" cy="573457"/>
              </a:xfrm>
              <a:prstGeom prst="callout1">
                <a:avLst>
                  <a:gd name="adj1" fmla="val 25047"/>
                  <a:gd name="adj2" fmla="val 90189"/>
                  <a:gd name="adj3" fmla="val 97608"/>
                  <a:gd name="adj4" fmla="val 140573"/>
                </a:avLst>
              </a:prstGeom>
              <a:no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7A2D679F-B392-26B2-1A0B-62AB9FC6DF9D}"/>
                  </a:ext>
                </a:extLst>
              </p:cNvPr>
              <p:cNvSpPr/>
              <p:nvPr/>
            </p:nvSpPr>
            <p:spPr>
              <a:xfrm>
                <a:off x="1182324" y="1262290"/>
                <a:ext cx="3728536" cy="1228447"/>
              </a:xfrm>
              <a:prstGeom prst="wedgeRoundRectCallout">
                <a:avLst>
                  <a:gd name="adj1" fmla="val 25261"/>
                  <a:gd name="adj2" fmla="val 23996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800" b="1"/>
                  <a:t>2-wire serial bus</a:t>
                </a:r>
              </a:p>
              <a:p>
                <a:pPr algn="ctr"/>
                <a:r>
                  <a:rPr lang="en-US" sz="1800" b="1"/>
                  <a:t>MDC (Clock)</a:t>
                </a:r>
              </a:p>
              <a:p>
                <a:pPr algn="ctr"/>
                <a:r>
                  <a:rPr lang="en-US" sz="1800" b="1"/>
                  <a:t>MDIO (Data</a:t>
                </a:r>
                <a:r>
                  <a:rPr lang="en-DE" sz="1800" b="1"/>
                  <a:t>)</a:t>
                </a:r>
                <a:endParaRPr lang="en-US" sz="1800" b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258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7C9B8D-1DCD-5941-3974-34B4863F1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430" y="565403"/>
            <a:ext cx="5511296" cy="3885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76224-4817-011E-9A90-15432EF983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42" y="1826084"/>
            <a:ext cx="2811872" cy="3224887"/>
          </a:xfrm>
        </p:spPr>
        <p:txBody>
          <a:bodyPr/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Initial Configuration </a:t>
            </a:r>
            <a:r>
              <a:rPr lang="en-DE" sz="3200" b="1">
                <a:solidFill>
                  <a:schemeClr val="bg1"/>
                </a:solidFill>
              </a:rPr>
              <a:t>of </a:t>
            </a:r>
            <a:r>
              <a:rPr lang="en-US" sz="3200" b="1"/>
              <a:t>LAN867</a:t>
            </a:r>
            <a:r>
              <a:rPr lang="en-DE" sz="3200" b="1"/>
              <a:t>0/1/2</a:t>
            </a:r>
            <a:r>
              <a:rPr lang="en-DE" sz="3200" b="1">
                <a:solidFill>
                  <a:schemeClr val="bg1"/>
                </a:solidFill>
              </a:rPr>
              <a:t> </a:t>
            </a:r>
            <a:r>
              <a:rPr lang="en-US" sz="3200" b="1">
                <a:solidFill>
                  <a:schemeClr val="bg1"/>
                </a:solidFill>
              </a:rPr>
              <a:t>(AN1699)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DAFE88D3-9F0E-407A-8688-3F32104538CD}"/>
              </a:ext>
            </a:extLst>
          </p:cNvPr>
          <p:cNvSpPr txBox="1">
            <a:spLocks/>
          </p:cNvSpPr>
          <p:nvPr/>
        </p:nvSpPr>
        <p:spPr>
          <a:xfrm>
            <a:off x="6694228" y="277021"/>
            <a:ext cx="5178498" cy="5385963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274201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1800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B73CB51C-E140-42A2-0AA4-EE9FB8EFCC46}"/>
              </a:ext>
            </a:extLst>
          </p:cNvPr>
          <p:cNvSpPr/>
          <p:nvPr/>
        </p:nvSpPr>
        <p:spPr>
          <a:xfrm>
            <a:off x="3281082" y="381000"/>
            <a:ext cx="3602318" cy="974292"/>
          </a:xfrm>
          <a:prstGeom prst="wedgeRoundRectCallout">
            <a:avLst>
              <a:gd name="adj1" fmla="val -49116"/>
              <a:gd name="adj2" fmla="val 18648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2000" b="1" err="1">
                <a:solidFill>
                  <a:srgbClr val="FFFFFF"/>
                </a:solidFill>
              </a:rPr>
              <a:t>AppNote</a:t>
            </a:r>
            <a:r>
              <a:rPr lang="en-DE" sz="2000" b="1">
                <a:solidFill>
                  <a:srgbClr val="FFFFFF"/>
                </a:solidFill>
              </a:rPr>
              <a:t> AN1699 describes how to configure LAN8670/1/2</a:t>
            </a:r>
            <a:endParaRPr lang="en-US" sz="2000" b="1">
              <a:solidFill>
                <a:srgbClr val="FFFFFF"/>
              </a:solidFill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234D2C05-AF4B-E035-D70B-5277239EAB8E}"/>
              </a:ext>
            </a:extLst>
          </p:cNvPr>
          <p:cNvSpPr/>
          <p:nvPr/>
        </p:nvSpPr>
        <p:spPr>
          <a:xfrm>
            <a:off x="3281082" y="5189297"/>
            <a:ext cx="3602318" cy="1316180"/>
          </a:xfrm>
          <a:prstGeom prst="wedgeRoundRectCallout">
            <a:avLst>
              <a:gd name="adj1" fmla="val -43579"/>
              <a:gd name="adj2" fmla="val -7498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2000" b="1">
                <a:solidFill>
                  <a:srgbClr val="FFFFFF"/>
                </a:solidFill>
              </a:rPr>
              <a:t>Customer needs to integrate </a:t>
            </a:r>
            <a:r>
              <a:rPr lang="en-US" sz="2000" b="1">
                <a:solidFill>
                  <a:srgbClr val="FFFFFF"/>
                </a:solidFill>
              </a:rPr>
              <a:t>this configuration sequence </a:t>
            </a:r>
            <a:endParaRPr lang="en-DE" sz="2000" b="1">
              <a:solidFill>
                <a:srgbClr val="FFFFFF"/>
              </a:solidFill>
            </a:endParaRPr>
          </a:p>
          <a:p>
            <a:pPr lvl="0">
              <a:defRPr/>
            </a:pPr>
            <a:r>
              <a:rPr lang="en-US" sz="2000" b="1">
                <a:solidFill>
                  <a:srgbClr val="FFFFFF"/>
                </a:solidFill>
              </a:rPr>
              <a:t>in </a:t>
            </a:r>
            <a:r>
              <a:rPr lang="en-DE" sz="2000" b="1">
                <a:solidFill>
                  <a:srgbClr val="FFFFFF"/>
                </a:solidFill>
              </a:rPr>
              <a:t>his </a:t>
            </a:r>
            <a:r>
              <a:rPr lang="en-US" sz="2000" b="1">
                <a:solidFill>
                  <a:srgbClr val="FFFFFF"/>
                </a:solidFill>
              </a:rPr>
              <a:t>own application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2326707-1D54-6DDA-5610-13D870FC720D}"/>
              </a:ext>
            </a:extLst>
          </p:cNvPr>
          <p:cNvSpPr/>
          <p:nvPr/>
        </p:nvSpPr>
        <p:spPr>
          <a:xfrm>
            <a:off x="3281081" y="2302136"/>
            <a:ext cx="3602319" cy="2148647"/>
          </a:xfrm>
          <a:prstGeom prst="wedgeRoundRectCallout">
            <a:avLst>
              <a:gd name="adj1" fmla="val -49116"/>
              <a:gd name="adj2" fmla="val 18648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US" sz="2000" b="1">
                <a:solidFill>
                  <a:srgbClr val="FFFFFF"/>
                </a:solidFill>
              </a:rPr>
              <a:t>Sequence </a:t>
            </a:r>
            <a:r>
              <a:rPr lang="en-DE" sz="2000" b="1">
                <a:solidFill>
                  <a:srgbClr val="FFFFFF"/>
                </a:solidFill>
              </a:rPr>
              <a:t>of register values </a:t>
            </a:r>
            <a:r>
              <a:rPr lang="en-US" sz="2000" b="1">
                <a:solidFill>
                  <a:srgbClr val="FFFFFF"/>
                </a:solidFill>
              </a:rPr>
              <a:t>written to </a:t>
            </a:r>
            <a:r>
              <a:rPr lang="en-DE" sz="2000" b="1">
                <a:solidFill>
                  <a:srgbClr val="FFFFFF"/>
                </a:solidFill>
              </a:rPr>
              <a:t>LAN8670/1/2</a:t>
            </a:r>
            <a:r>
              <a:rPr lang="en-US" sz="2000" b="1">
                <a:solidFill>
                  <a:srgbClr val="FFFFFF"/>
                </a:solidFill>
              </a:rPr>
              <a:t> </a:t>
            </a:r>
            <a:endParaRPr lang="en-DE" sz="2000" b="1">
              <a:solidFill>
                <a:srgbClr val="FFFFFF"/>
              </a:solidFill>
            </a:endParaRPr>
          </a:p>
          <a:p>
            <a:pPr lvl="0">
              <a:defRPr/>
            </a:pPr>
            <a:r>
              <a:rPr lang="en-US" sz="2000" b="1">
                <a:solidFill>
                  <a:srgbClr val="FFFFFF"/>
                </a:solidFill>
              </a:rPr>
              <a:t>after </a:t>
            </a:r>
            <a:r>
              <a:rPr lang="en-DE" sz="2000" b="1">
                <a:solidFill>
                  <a:srgbClr val="FFFFFF"/>
                </a:solidFill>
              </a:rPr>
              <a:t>r</a:t>
            </a:r>
            <a:r>
              <a:rPr lang="en-US" sz="2000" b="1" err="1">
                <a:solidFill>
                  <a:srgbClr val="FFFFFF"/>
                </a:solidFill>
              </a:rPr>
              <a:t>eset</a:t>
            </a:r>
            <a:r>
              <a:rPr lang="en-US" sz="2000" b="1">
                <a:solidFill>
                  <a:srgbClr val="FFFFFF"/>
                </a:solidFill>
              </a:rPr>
              <a:t> by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2000" b="1">
                <a:solidFill>
                  <a:srgbClr val="FFFFFF"/>
                </a:solidFill>
              </a:rPr>
              <a:t>Linux driver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2000" b="1">
                <a:solidFill>
                  <a:srgbClr val="FFFFFF"/>
                </a:solidFill>
              </a:rPr>
              <a:t>Windows driver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2000" b="1">
                <a:solidFill>
                  <a:srgbClr val="FFFFFF"/>
                </a:solidFill>
              </a:rPr>
              <a:t>Harmony Example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F4D968-ACDD-323B-E394-248C6B8D2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200" y="3211726"/>
            <a:ext cx="3722265" cy="24391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333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808D12-A8F2-D20C-276F-1C6B69AFC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681" y="16078"/>
            <a:ext cx="3985202" cy="3617392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118" y="697193"/>
            <a:ext cx="2734188" cy="3224887"/>
          </a:xfrm>
        </p:spPr>
        <p:txBody>
          <a:bodyPr/>
          <a:lstStyle/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Device Mode determines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MAC Interface</a:t>
            </a:r>
            <a:endParaRPr lang="en-DE" sz="3200" b="1">
              <a:solidFill>
                <a:srgbClr val="FFFFFF"/>
              </a:solidFill>
            </a:endParaRPr>
          </a:p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lvl="0"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LAN8670/1/2 Family</a:t>
            </a:r>
            <a:endParaRPr lang="en-US" sz="3200" b="1">
              <a:solidFill>
                <a:srgbClr val="FFFFFF"/>
              </a:solidFill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35772D9B-3134-E666-419F-474857998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02480"/>
              </p:ext>
            </p:extLst>
          </p:nvPr>
        </p:nvGraphicFramePr>
        <p:xfrm>
          <a:off x="3502346" y="3941681"/>
          <a:ext cx="7651075" cy="2387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0539">
                  <a:extLst>
                    <a:ext uri="{9D8B030D-6E8A-4147-A177-3AD203B41FA5}">
                      <a16:colId xmlns:a16="http://schemas.microsoft.com/office/drawing/2014/main" val="3479618308"/>
                    </a:ext>
                  </a:extLst>
                </a:gridCol>
                <a:gridCol w="3089799">
                  <a:extLst>
                    <a:ext uri="{9D8B030D-6E8A-4147-A177-3AD203B41FA5}">
                      <a16:colId xmlns:a16="http://schemas.microsoft.com/office/drawing/2014/main" val="396280835"/>
                    </a:ext>
                  </a:extLst>
                </a:gridCol>
                <a:gridCol w="1084139">
                  <a:extLst>
                    <a:ext uri="{9D8B030D-6E8A-4147-A177-3AD203B41FA5}">
                      <a16:colId xmlns:a16="http://schemas.microsoft.com/office/drawing/2014/main" val="1034313560"/>
                    </a:ext>
                  </a:extLst>
                </a:gridCol>
                <a:gridCol w="1073299">
                  <a:extLst>
                    <a:ext uri="{9D8B030D-6E8A-4147-A177-3AD203B41FA5}">
                      <a16:colId xmlns:a16="http://schemas.microsoft.com/office/drawing/2014/main" val="1351969697"/>
                    </a:ext>
                  </a:extLst>
                </a:gridCol>
                <a:gridCol w="1073299">
                  <a:extLst>
                    <a:ext uri="{9D8B030D-6E8A-4147-A177-3AD203B41FA5}">
                      <a16:colId xmlns:a16="http://schemas.microsoft.com/office/drawing/2014/main" val="3441268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DE" sz="1800"/>
                        <a:t>MODE[1:0]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/>
                        <a:t>Description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/>
                        <a:t>LAN8670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/>
                        <a:t>LAN8671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/>
                        <a:t>LAN8672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736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800"/>
                        <a:t>00b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Undefined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97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800"/>
                        <a:t>01b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MII</a:t>
                      </a:r>
                      <a:r>
                        <a:rPr lang="en-US" sz="18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25 MHz crystal</a:t>
                      </a:r>
                      <a:r>
                        <a:rPr lang="en-DE" sz="18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1"/>
                        <a:t>X</a:t>
                      </a:r>
                      <a:endParaRPr lang="en-US" sz="1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1"/>
                        <a:t>X</a:t>
                      </a:r>
                      <a:endParaRPr lang="en-US" sz="1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21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800"/>
                        <a:t>10b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4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RMII</a:t>
                      </a:r>
                      <a:r>
                        <a:rPr lang="en-US" sz="18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50 MHz REFCLKIN oscillator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1"/>
                        <a:t>X</a:t>
                      </a:r>
                      <a:endParaRPr lang="en-US" sz="1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1"/>
                        <a:t>X</a:t>
                      </a:r>
                      <a:endParaRPr lang="en-US" sz="1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744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sz="1800"/>
                        <a:t>11b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SC-MII</a:t>
                      </a:r>
                      <a:r>
                        <a:rPr lang="en-DE" sz="1800" b="1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(Single Clock MII) with 25 MHz crystal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1"/>
                        <a:t>X</a:t>
                      </a:r>
                      <a:endParaRPr lang="en-US" sz="1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20687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B824FF59-23E1-A9C5-0A69-8C892635C95F}"/>
              </a:ext>
            </a:extLst>
          </p:cNvPr>
          <p:cNvGrpSpPr/>
          <p:nvPr/>
        </p:nvGrpSpPr>
        <p:grpSpPr>
          <a:xfrm>
            <a:off x="6094411" y="347488"/>
            <a:ext cx="5727475" cy="2896456"/>
            <a:chOff x="6094411" y="347488"/>
            <a:chExt cx="5727475" cy="2896456"/>
          </a:xfrm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BBB8AFE0-1195-417D-FC1B-D313B694B368}"/>
                </a:ext>
              </a:extLst>
            </p:cNvPr>
            <p:cNvSpPr/>
            <p:nvPr/>
          </p:nvSpPr>
          <p:spPr>
            <a:xfrm>
              <a:off x="7258183" y="347488"/>
              <a:ext cx="4563703" cy="2896456"/>
            </a:xfrm>
            <a:prstGeom prst="wedgeRoundRectCallout">
              <a:avLst>
                <a:gd name="adj1" fmla="val -8664"/>
                <a:gd name="adj2" fmla="val 13589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</a:rPr>
                <a:t>Configuration Straps MODE[1:0] </a:t>
              </a:r>
            </a:p>
            <a:p>
              <a:pPr marL="342900" lvl="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1800">
                  <a:solidFill>
                    <a:srgbClr val="FFFFFF"/>
                  </a:solidFill>
                </a:rPr>
                <a:t>Are latched on Power-On Reset (POR) </a:t>
              </a:r>
              <a:r>
                <a:rPr lang="en-DE" sz="1800">
                  <a:solidFill>
                    <a:srgbClr val="FFFFFF"/>
                  </a:solidFill>
                </a:rPr>
                <a:t>or</a:t>
              </a:r>
              <a:r>
                <a:rPr lang="en-US" sz="1800">
                  <a:solidFill>
                    <a:srgbClr val="FFFFFF"/>
                  </a:solidFill>
                </a:rPr>
                <a:t> pin reset (RESET_N).</a:t>
              </a:r>
            </a:p>
            <a:p>
              <a:pPr marL="342900" lvl="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1800">
                  <a:solidFill>
                    <a:srgbClr val="FFFFFF"/>
                  </a:solidFill>
                </a:rPr>
                <a:t>Determine the interface to the MAC: </a:t>
              </a:r>
              <a:r>
                <a:rPr lang="en-DE" sz="1800">
                  <a:solidFill>
                    <a:srgbClr val="FFFFFF"/>
                  </a:solidFill>
                </a:rPr>
                <a:t> </a:t>
              </a:r>
              <a:r>
                <a:rPr lang="en-US" sz="1800" b="1">
                  <a:solidFill>
                    <a:srgbClr val="FFFFFF"/>
                  </a:solidFill>
                </a:rPr>
                <a:t>MII, RMII, or SC-MII</a:t>
              </a:r>
            </a:p>
            <a:p>
              <a:pPr marL="342900" lvl="0" indent="-3429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1800">
                  <a:solidFill>
                    <a:srgbClr val="FFFFFF"/>
                  </a:solidFill>
                </a:rPr>
                <a:t>Must use pull-up or pull-down resistors</a:t>
              </a:r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C96DC949-F0C7-ACBC-0FA5-7392BE9C5B32}"/>
                </a:ext>
              </a:extLst>
            </p:cNvPr>
            <p:cNvSpPr/>
            <p:nvPr/>
          </p:nvSpPr>
          <p:spPr bwMode="auto">
            <a:xfrm>
              <a:off x="6094411" y="889838"/>
              <a:ext cx="502331" cy="576106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4C4C040B-C75B-69DA-6760-6CF77FA1D645}"/>
                </a:ext>
              </a:extLst>
            </p:cNvPr>
            <p:cNvSpPr/>
            <p:nvPr/>
          </p:nvSpPr>
          <p:spPr>
            <a:xfrm>
              <a:off x="9341302" y="999274"/>
              <a:ext cx="892170" cy="357234"/>
            </a:xfrm>
            <a:prstGeom prst="callout1">
              <a:avLst>
                <a:gd name="adj1" fmla="val 54383"/>
                <a:gd name="adj2" fmla="val -229858"/>
                <a:gd name="adj3" fmla="val 55039"/>
                <a:gd name="adj4" fmla="val -305446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182397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118" y="697193"/>
            <a:ext cx="2734188" cy="3224887"/>
          </a:xfrm>
        </p:spPr>
        <p:txBody>
          <a:bodyPr/>
          <a:lstStyle/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Pin Configurations</a:t>
            </a:r>
          </a:p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lvl="0"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LAN8670/1/2 Family</a:t>
            </a:r>
            <a:endParaRPr lang="en-US" sz="3200" b="1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6BC47-DA50-292A-303B-8E5BD42A85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724"/>
          <a:stretch/>
        </p:blipFill>
        <p:spPr>
          <a:xfrm>
            <a:off x="3333734" y="4740444"/>
            <a:ext cx="2820653" cy="198760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DCD516C1-E339-4D15-21DA-C72845F266D4}"/>
              </a:ext>
            </a:extLst>
          </p:cNvPr>
          <p:cNvSpPr/>
          <p:nvPr/>
        </p:nvSpPr>
        <p:spPr bwMode="auto">
          <a:xfrm>
            <a:off x="5544153" y="4902096"/>
            <a:ext cx="594258" cy="1825951"/>
          </a:xfrm>
          <a:prstGeom prst="roundRect">
            <a:avLst/>
          </a:prstGeom>
          <a:solidFill>
            <a:schemeClr val="accent2">
              <a:alpha val="1176"/>
            </a:schemeClr>
          </a:solidFill>
          <a:ln w="28575" algn="ctr">
            <a:solidFill>
              <a:schemeClr val="accent2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377F88E6-3A02-D099-7B22-F2D62EAC5378}"/>
              </a:ext>
            </a:extLst>
          </p:cNvPr>
          <p:cNvSpPr/>
          <p:nvPr/>
        </p:nvSpPr>
        <p:spPr>
          <a:xfrm>
            <a:off x="3333735" y="540734"/>
            <a:ext cx="2038366" cy="988660"/>
          </a:xfrm>
          <a:prstGeom prst="wedgeRoundRectCallout">
            <a:avLst>
              <a:gd name="adj1" fmla="val 21227"/>
              <a:gd name="adj2" fmla="val 105196"/>
              <a:gd name="adj3" fmla="val 16667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1800" b="1">
                <a:solidFill>
                  <a:srgbClr val="FFFFFF"/>
                </a:solidFill>
              </a:rPr>
              <a:t>Device Mode </a:t>
            </a:r>
          </a:p>
          <a:p>
            <a:pPr lvl="0">
              <a:defRPr/>
            </a:pPr>
            <a:r>
              <a:rPr lang="en-DE" sz="1800">
                <a:solidFill>
                  <a:srgbClr val="FFFFFF"/>
                </a:solidFill>
              </a:rPr>
              <a:t>(Config Straps)</a:t>
            </a:r>
          </a:p>
          <a:p>
            <a:pPr lvl="0">
              <a:defRPr/>
            </a:pPr>
            <a:r>
              <a:rPr lang="en-DE" sz="1800">
                <a:solidFill>
                  <a:srgbClr val="FFFFFF"/>
                </a:solidFill>
              </a:rPr>
              <a:t>Determines...</a:t>
            </a: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4B35EB07-79DE-355A-F9E4-E2B4A1BD5B25}"/>
              </a:ext>
            </a:extLst>
          </p:cNvPr>
          <p:cNvSpPr/>
          <p:nvPr/>
        </p:nvSpPr>
        <p:spPr>
          <a:xfrm>
            <a:off x="3333735" y="2036413"/>
            <a:ext cx="2038366" cy="988660"/>
          </a:xfrm>
          <a:prstGeom prst="wedgeRoundRectCallout">
            <a:avLst>
              <a:gd name="adj1" fmla="val 21227"/>
              <a:gd name="adj2" fmla="val 107766"/>
              <a:gd name="adj3" fmla="val 16667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1800" b="1">
                <a:solidFill>
                  <a:srgbClr val="FFFFFF"/>
                </a:solidFill>
              </a:rPr>
              <a:t>MAC Interface</a:t>
            </a:r>
          </a:p>
          <a:p>
            <a:pPr lvl="0">
              <a:defRPr/>
            </a:pPr>
            <a:r>
              <a:rPr lang="en-DE" sz="1800">
                <a:solidFill>
                  <a:srgbClr val="FFFFFF"/>
                </a:solidFill>
              </a:rPr>
              <a:t>(MII, RMII, SC-MII)</a:t>
            </a:r>
          </a:p>
          <a:p>
            <a:pPr lvl="0">
              <a:defRPr/>
            </a:pPr>
            <a:r>
              <a:rPr lang="en-DE" sz="1800">
                <a:solidFill>
                  <a:srgbClr val="FFFFFF"/>
                </a:solidFill>
              </a:rPr>
              <a:t>Determines...</a:t>
            </a: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E3D60DE2-21B8-D44E-C4F2-94EDC6CEFDAB}"/>
              </a:ext>
            </a:extLst>
          </p:cNvPr>
          <p:cNvSpPr/>
          <p:nvPr/>
        </p:nvSpPr>
        <p:spPr>
          <a:xfrm>
            <a:off x="3333734" y="3571175"/>
            <a:ext cx="2038366" cy="988660"/>
          </a:xfrm>
          <a:prstGeom prst="wedgeRoundRectCallout">
            <a:avLst>
              <a:gd name="adj1" fmla="val 57216"/>
              <a:gd name="adj2" fmla="val 84434"/>
              <a:gd name="adj3" fmla="val 16667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1800" b="1">
                <a:solidFill>
                  <a:srgbClr val="FFFFFF"/>
                </a:solidFill>
              </a:rPr>
              <a:t>Pin Configuration</a:t>
            </a:r>
          </a:p>
          <a:p>
            <a:pPr lvl="0">
              <a:defRPr/>
            </a:pPr>
            <a:r>
              <a:rPr lang="en-DE" sz="1800">
                <a:solidFill>
                  <a:srgbClr val="FFFFFF"/>
                </a:solidFill>
              </a:rPr>
              <a:t>(ACMA, 1588, etc)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1879648-79A6-3B06-D4AD-1D3E28877FF7}"/>
              </a:ext>
            </a:extLst>
          </p:cNvPr>
          <p:cNvGrpSpPr/>
          <p:nvPr/>
        </p:nvGrpSpPr>
        <p:grpSpPr>
          <a:xfrm>
            <a:off x="7056998" y="-271177"/>
            <a:ext cx="4563703" cy="4144977"/>
            <a:chOff x="6737115" y="1352056"/>
            <a:chExt cx="3947017" cy="358273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301F4C7-E74D-8F2C-52D0-DDA5BE8EC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7115" y="1352056"/>
              <a:ext cx="3947017" cy="3582731"/>
            </a:xfrm>
            <a:prstGeom prst="rect">
              <a:avLst/>
            </a:prstGeom>
          </p:spPr>
        </p:pic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79685136-60D6-B11C-2A17-967659026301}"/>
                </a:ext>
              </a:extLst>
            </p:cNvPr>
            <p:cNvSpPr/>
            <p:nvPr/>
          </p:nvSpPr>
          <p:spPr bwMode="auto">
            <a:xfrm>
              <a:off x="7823935" y="4180630"/>
              <a:ext cx="210403" cy="33969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0" name="Rounded Rectangle 4">
              <a:extLst>
                <a:ext uri="{FF2B5EF4-FFF2-40B4-BE49-F238E27FC236}">
                  <a16:creationId xmlns:a16="http://schemas.microsoft.com/office/drawing/2014/main" id="{F4D00BC4-D92E-BE8B-A569-9C03A53613D6}"/>
                </a:ext>
              </a:extLst>
            </p:cNvPr>
            <p:cNvSpPr/>
            <p:nvPr/>
          </p:nvSpPr>
          <p:spPr bwMode="auto">
            <a:xfrm>
              <a:off x="8034338" y="4180630"/>
              <a:ext cx="210403" cy="33969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45E99EB4-08EA-8AA4-CE89-687777B9B78B}"/>
                </a:ext>
              </a:extLst>
            </p:cNvPr>
            <p:cNvSpPr/>
            <p:nvPr/>
          </p:nvSpPr>
          <p:spPr bwMode="auto">
            <a:xfrm>
              <a:off x="7427369" y="4180630"/>
              <a:ext cx="210403" cy="33969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C1385E01-9326-F3BD-DC38-6165220E876A}"/>
                </a:ext>
              </a:extLst>
            </p:cNvPr>
            <p:cNvSpPr/>
            <p:nvPr/>
          </p:nvSpPr>
          <p:spPr bwMode="auto">
            <a:xfrm rot="16200000">
              <a:off x="10258741" y="3547958"/>
              <a:ext cx="210403" cy="61764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8C218DA9-4D39-8BB1-37B3-C5BC5B674DE0}"/>
                </a:ext>
              </a:extLst>
            </p:cNvPr>
            <p:cNvSpPr/>
            <p:nvPr/>
          </p:nvSpPr>
          <p:spPr bwMode="auto">
            <a:xfrm rot="16200000">
              <a:off x="9689624" y="3058069"/>
              <a:ext cx="210403" cy="381105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24FF59-23E1-A9C5-0A69-8C892635C95F}"/>
              </a:ext>
            </a:extLst>
          </p:cNvPr>
          <p:cNvGrpSpPr/>
          <p:nvPr/>
        </p:nvGrpSpPr>
        <p:grpSpPr>
          <a:xfrm>
            <a:off x="6388566" y="4056607"/>
            <a:ext cx="1781044" cy="1037240"/>
            <a:chOff x="8430780" y="2609820"/>
            <a:chExt cx="3391106" cy="1403258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4C4C040B-C75B-69DA-6760-6CF77FA1D645}"/>
                </a:ext>
              </a:extLst>
            </p:cNvPr>
            <p:cNvSpPr/>
            <p:nvPr/>
          </p:nvSpPr>
          <p:spPr>
            <a:xfrm>
              <a:off x="10642347" y="2609820"/>
              <a:ext cx="892170" cy="357234"/>
            </a:xfrm>
            <a:prstGeom prst="callout1">
              <a:avLst>
                <a:gd name="adj1" fmla="val 79811"/>
                <a:gd name="adj2" fmla="val 92276"/>
                <a:gd name="adj3" fmla="val -245616"/>
                <a:gd name="adj4" fmla="val 92106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BBB8AFE0-1195-417D-FC1B-D313B694B368}"/>
                </a:ext>
              </a:extLst>
            </p:cNvPr>
            <p:cNvSpPr/>
            <p:nvPr/>
          </p:nvSpPr>
          <p:spPr>
            <a:xfrm>
              <a:off x="8430780" y="2740742"/>
              <a:ext cx="3391106" cy="1272336"/>
            </a:xfrm>
            <a:prstGeom prst="wedgeRoundRectCallout">
              <a:avLst>
                <a:gd name="adj1" fmla="val -8664"/>
                <a:gd name="adj2" fmla="val 13589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r>
                <a:rPr lang="en-US" sz="1800" b="1">
                  <a:solidFill>
                    <a:srgbClr val="FFFFFF"/>
                  </a:solidFill>
                </a:rPr>
                <a:t>G</a:t>
              </a:r>
              <a:r>
                <a:rPr lang="en-DE" sz="1800" b="1">
                  <a:solidFill>
                    <a:srgbClr val="FFFFFF"/>
                  </a:solidFill>
                </a:rPr>
                <a:t>PIO – </a:t>
              </a:r>
            </a:p>
            <a:p>
              <a:pPr lvl="0">
                <a:defRPr/>
              </a:pPr>
              <a:r>
                <a:rPr lang="en-DE" sz="1800">
                  <a:solidFill>
                    <a:srgbClr val="FFFFFF"/>
                  </a:solidFill>
                </a:rPr>
                <a:t>General Purpose</a:t>
              </a:r>
            </a:p>
            <a:p>
              <a:pPr lvl="0">
                <a:defRPr/>
              </a:pPr>
              <a:r>
                <a:rPr lang="en-DE" sz="1800">
                  <a:solidFill>
                    <a:srgbClr val="FFFFFF"/>
                  </a:solidFill>
                </a:rPr>
                <a:t>In Out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B3AFE9-246B-915D-96D6-DFB341E67758}"/>
              </a:ext>
            </a:extLst>
          </p:cNvPr>
          <p:cNvGrpSpPr/>
          <p:nvPr/>
        </p:nvGrpSpPr>
        <p:grpSpPr>
          <a:xfrm>
            <a:off x="8242218" y="5600126"/>
            <a:ext cx="3100980" cy="692319"/>
            <a:chOff x="7258183" y="2670691"/>
            <a:chExt cx="4563703" cy="936623"/>
          </a:xfrm>
        </p:grpSpPr>
        <p:sp>
          <p:nvSpPr>
            <p:cNvPr id="26" name="Callout: Line with No Border 25">
              <a:extLst>
                <a:ext uri="{FF2B5EF4-FFF2-40B4-BE49-F238E27FC236}">
                  <a16:creationId xmlns:a16="http://schemas.microsoft.com/office/drawing/2014/main" id="{2C1EBC74-0DBF-1968-BB03-6A2E7D427CBB}"/>
                </a:ext>
              </a:extLst>
            </p:cNvPr>
            <p:cNvSpPr/>
            <p:nvPr/>
          </p:nvSpPr>
          <p:spPr>
            <a:xfrm>
              <a:off x="9311176" y="2670691"/>
              <a:ext cx="892170" cy="357234"/>
            </a:xfrm>
            <a:prstGeom prst="callout1">
              <a:avLst>
                <a:gd name="adj1" fmla="val 36525"/>
                <a:gd name="adj2" fmla="val -201795"/>
                <a:gd name="adj3" fmla="val -848019"/>
                <a:gd name="adj4" fmla="val -203536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  <p:sp>
          <p:nvSpPr>
            <p:cNvPr id="27" name="Speech Bubble: Rectangle with Corners Rounded 26">
              <a:extLst>
                <a:ext uri="{FF2B5EF4-FFF2-40B4-BE49-F238E27FC236}">
                  <a16:creationId xmlns:a16="http://schemas.microsoft.com/office/drawing/2014/main" id="{06B8BC98-9247-7051-E079-BD447C1AC240}"/>
                </a:ext>
              </a:extLst>
            </p:cNvPr>
            <p:cNvSpPr/>
            <p:nvPr/>
          </p:nvSpPr>
          <p:spPr>
            <a:xfrm>
              <a:off x="7258183" y="2740742"/>
              <a:ext cx="4563703" cy="866572"/>
            </a:xfrm>
            <a:prstGeom prst="wedgeRoundRectCallout">
              <a:avLst>
                <a:gd name="adj1" fmla="val -8664"/>
                <a:gd name="adj2" fmla="val 13589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ACMA – </a:t>
              </a:r>
            </a:p>
            <a:p>
              <a:pPr lvl="0">
                <a:defRPr/>
              </a:pPr>
              <a:r>
                <a:rPr lang="en-DE" sz="1800" err="1">
                  <a:solidFill>
                    <a:srgbClr val="FFFFFF"/>
                  </a:solidFill>
                </a:rPr>
                <a:t>Appl</a:t>
              </a:r>
              <a:r>
                <a:rPr lang="en-DE" sz="1800">
                  <a:solidFill>
                    <a:srgbClr val="FFFFFF"/>
                  </a:solidFill>
                </a:rPr>
                <a:t> Controlled Media Access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526EEB-9C7F-5285-E21E-7DEA8B85B9FD}"/>
              </a:ext>
            </a:extLst>
          </p:cNvPr>
          <p:cNvGrpSpPr/>
          <p:nvPr/>
        </p:nvGrpSpPr>
        <p:grpSpPr>
          <a:xfrm>
            <a:off x="8621021" y="4056606"/>
            <a:ext cx="1593806" cy="1037241"/>
            <a:chOff x="7258183" y="2670691"/>
            <a:chExt cx="3800213" cy="976524"/>
          </a:xfrm>
        </p:grpSpPr>
        <p:sp>
          <p:nvSpPr>
            <p:cNvPr id="29" name="Callout: Line with No Border 28">
              <a:extLst>
                <a:ext uri="{FF2B5EF4-FFF2-40B4-BE49-F238E27FC236}">
                  <a16:creationId xmlns:a16="http://schemas.microsoft.com/office/drawing/2014/main" id="{FE5726B6-D521-BAFD-4D25-CF9EDFA2E5CB}"/>
                </a:ext>
              </a:extLst>
            </p:cNvPr>
            <p:cNvSpPr/>
            <p:nvPr/>
          </p:nvSpPr>
          <p:spPr>
            <a:xfrm>
              <a:off x="9311176" y="2670691"/>
              <a:ext cx="892170" cy="357234"/>
            </a:xfrm>
            <a:prstGeom prst="callout1">
              <a:avLst>
                <a:gd name="adj1" fmla="val 36525"/>
                <a:gd name="adj2" fmla="val -201795"/>
                <a:gd name="adj3" fmla="val -174118"/>
                <a:gd name="adj4" fmla="val -201965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  <p:sp>
          <p:nvSpPr>
            <p:cNvPr id="30" name="Speech Bubble: Rectangle with Corners Rounded 29">
              <a:extLst>
                <a:ext uri="{FF2B5EF4-FFF2-40B4-BE49-F238E27FC236}">
                  <a16:creationId xmlns:a16="http://schemas.microsoft.com/office/drawing/2014/main" id="{2994C5BE-001A-1CA4-6832-7D1A80DCD557}"/>
                </a:ext>
              </a:extLst>
            </p:cNvPr>
            <p:cNvSpPr/>
            <p:nvPr/>
          </p:nvSpPr>
          <p:spPr>
            <a:xfrm>
              <a:off x="7258183" y="2740742"/>
              <a:ext cx="3800213" cy="906473"/>
            </a:xfrm>
            <a:prstGeom prst="wedgeRoundRectCallout">
              <a:avLst>
                <a:gd name="adj1" fmla="val -8664"/>
                <a:gd name="adj2" fmla="val 13589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RXPI – </a:t>
              </a:r>
            </a:p>
            <a:p>
              <a:pPr lvl="0">
                <a:defRPr/>
              </a:pPr>
              <a:r>
                <a:rPr lang="en-DE" sz="1800">
                  <a:solidFill>
                    <a:srgbClr val="FFFFFF"/>
                  </a:solidFill>
                </a:rPr>
                <a:t>Receive Packet </a:t>
              </a:r>
            </a:p>
            <a:p>
              <a:pPr lvl="0">
                <a:defRPr/>
              </a:pPr>
              <a:r>
                <a:rPr lang="en-DE" sz="1800">
                  <a:solidFill>
                    <a:srgbClr val="FFFFFF"/>
                  </a:solidFill>
                </a:rPr>
                <a:t>Indication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93208A-18A0-F50B-37D2-15063AABB883}"/>
              </a:ext>
            </a:extLst>
          </p:cNvPr>
          <p:cNvGrpSpPr/>
          <p:nvPr/>
        </p:nvGrpSpPr>
        <p:grpSpPr>
          <a:xfrm>
            <a:off x="10416330" y="3963698"/>
            <a:ext cx="1431971" cy="1125471"/>
            <a:chOff x="7258183" y="2670691"/>
            <a:chExt cx="4563703" cy="483294"/>
          </a:xfrm>
        </p:grpSpPr>
        <p:sp>
          <p:nvSpPr>
            <p:cNvPr id="32" name="Callout: Line with No Border 31">
              <a:extLst>
                <a:ext uri="{FF2B5EF4-FFF2-40B4-BE49-F238E27FC236}">
                  <a16:creationId xmlns:a16="http://schemas.microsoft.com/office/drawing/2014/main" id="{4999FE68-C98E-A35A-F3CA-5A0638945392}"/>
                </a:ext>
              </a:extLst>
            </p:cNvPr>
            <p:cNvSpPr/>
            <p:nvPr/>
          </p:nvSpPr>
          <p:spPr>
            <a:xfrm>
              <a:off x="9554027" y="2670691"/>
              <a:ext cx="892171" cy="357234"/>
            </a:xfrm>
            <a:prstGeom prst="callout1">
              <a:avLst>
                <a:gd name="adj1" fmla="val 36525"/>
                <a:gd name="adj2" fmla="val -201795"/>
                <a:gd name="adj3" fmla="val -230482"/>
                <a:gd name="adj4" fmla="val -204233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  <p:sp>
          <p:nvSpPr>
            <p:cNvPr id="33" name="Speech Bubble: Rectangle with Corners Rounded 32">
              <a:extLst>
                <a:ext uri="{FF2B5EF4-FFF2-40B4-BE49-F238E27FC236}">
                  <a16:creationId xmlns:a16="http://schemas.microsoft.com/office/drawing/2014/main" id="{1F0733D6-F6B4-342F-765F-FEE8060B7475}"/>
                </a:ext>
              </a:extLst>
            </p:cNvPr>
            <p:cNvSpPr/>
            <p:nvPr/>
          </p:nvSpPr>
          <p:spPr>
            <a:xfrm>
              <a:off x="7258183" y="2740741"/>
              <a:ext cx="4563703" cy="413244"/>
            </a:xfrm>
            <a:prstGeom prst="wedgeRoundRectCallout">
              <a:avLst>
                <a:gd name="adj1" fmla="val -8664"/>
                <a:gd name="adj2" fmla="val 13589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36000" tIns="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CRSDV – </a:t>
              </a:r>
            </a:p>
            <a:p>
              <a:pPr lvl="0">
                <a:defRPr/>
              </a:pPr>
              <a:r>
                <a:rPr lang="en-DE" sz="1800">
                  <a:solidFill>
                    <a:srgbClr val="FFFFFF"/>
                  </a:solidFill>
                </a:rPr>
                <a:t>Carrier Sense</a:t>
              </a:r>
            </a:p>
            <a:p>
              <a:pPr lvl="0">
                <a:defRPr/>
              </a:pPr>
              <a:r>
                <a:rPr lang="en-DE" sz="1800">
                  <a:solidFill>
                    <a:srgbClr val="FFFFFF"/>
                  </a:solidFill>
                </a:rPr>
                <a:t>Data Valid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833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1879648-79A6-3B06-D4AD-1D3E28877FF7}"/>
              </a:ext>
            </a:extLst>
          </p:cNvPr>
          <p:cNvGrpSpPr/>
          <p:nvPr/>
        </p:nvGrpSpPr>
        <p:grpSpPr>
          <a:xfrm>
            <a:off x="9337140" y="385633"/>
            <a:ext cx="3990850" cy="3665477"/>
            <a:chOff x="6737115" y="1352056"/>
            <a:chExt cx="3947017" cy="358273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301F4C7-E74D-8F2C-52D0-DDA5BE8EC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7115" y="1352056"/>
              <a:ext cx="3947017" cy="3582731"/>
            </a:xfrm>
            <a:prstGeom prst="rect">
              <a:avLst/>
            </a:prstGeom>
          </p:spPr>
        </p:pic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79685136-60D6-B11C-2A17-967659026301}"/>
                </a:ext>
              </a:extLst>
            </p:cNvPr>
            <p:cNvSpPr/>
            <p:nvPr/>
          </p:nvSpPr>
          <p:spPr bwMode="auto">
            <a:xfrm>
              <a:off x="7823935" y="4180630"/>
              <a:ext cx="210403" cy="33969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0" name="Rounded Rectangle 4">
              <a:extLst>
                <a:ext uri="{FF2B5EF4-FFF2-40B4-BE49-F238E27FC236}">
                  <a16:creationId xmlns:a16="http://schemas.microsoft.com/office/drawing/2014/main" id="{F4D00BC4-D92E-BE8B-A569-9C03A53613D6}"/>
                </a:ext>
              </a:extLst>
            </p:cNvPr>
            <p:cNvSpPr/>
            <p:nvPr/>
          </p:nvSpPr>
          <p:spPr bwMode="auto">
            <a:xfrm>
              <a:off x="8034338" y="4180630"/>
              <a:ext cx="210403" cy="33969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45E99EB4-08EA-8AA4-CE89-687777B9B78B}"/>
                </a:ext>
              </a:extLst>
            </p:cNvPr>
            <p:cNvSpPr/>
            <p:nvPr/>
          </p:nvSpPr>
          <p:spPr bwMode="auto">
            <a:xfrm>
              <a:off x="7427369" y="4180630"/>
              <a:ext cx="210403" cy="339699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C1385E01-9326-F3BD-DC38-6165220E876A}"/>
                </a:ext>
              </a:extLst>
            </p:cNvPr>
            <p:cNvSpPr/>
            <p:nvPr/>
          </p:nvSpPr>
          <p:spPr bwMode="auto">
            <a:xfrm rot="16200000">
              <a:off x="10258741" y="3547958"/>
              <a:ext cx="210403" cy="61764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8C218DA9-4D39-8BB1-37B3-C5BC5B674DE0}"/>
                </a:ext>
              </a:extLst>
            </p:cNvPr>
            <p:cNvSpPr/>
            <p:nvPr/>
          </p:nvSpPr>
          <p:spPr bwMode="auto">
            <a:xfrm rot="16200000">
              <a:off x="9689624" y="3058069"/>
              <a:ext cx="210403" cy="381105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38EFA666-C0ED-1A71-1842-E6BAB42421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16498" y="385633"/>
            <a:ext cx="7422132" cy="2874948"/>
          </a:xfrm>
        </p:spPr>
        <p:txBody>
          <a:bodyPr/>
          <a:lstStyle/>
          <a:p>
            <a:r>
              <a:rPr lang="en-DE" sz="2400" b="1"/>
              <a:t>GPIO Pin – Multipurpose Pin</a:t>
            </a:r>
            <a:endParaRPr lang="en-US" sz="2400" b="1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163" y="686262"/>
            <a:ext cx="2692400" cy="3225800"/>
          </a:xfrm>
        </p:spPr>
        <p:txBody>
          <a:bodyPr/>
          <a:lstStyle/>
          <a:p>
            <a:pPr lvl="0" algn="ctr"/>
            <a:endParaRPr lang="en-DE" sz="3200"/>
          </a:p>
          <a:p>
            <a:pPr algn="ctr"/>
            <a:r>
              <a:rPr lang="en-DE" sz="3200"/>
              <a:t>GPIO Configuration</a:t>
            </a:r>
          </a:p>
          <a:p>
            <a:pPr lvl="0" algn="ctr"/>
            <a:endParaRPr lang="en-DE" sz="3200"/>
          </a:p>
          <a:p>
            <a:pPr lvl="0" algn="ctr"/>
            <a:endParaRPr lang="en-DE" sz="3200"/>
          </a:p>
          <a:p>
            <a:pPr lvl="0" algn="ctr"/>
            <a:r>
              <a:rPr lang="en-DE" sz="3200"/>
              <a:t>LAN8670/1/2 Family</a:t>
            </a:r>
            <a:endParaRPr lang="en-US" sz="32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68FA8E-BC6C-5DB8-FDD3-755A8D790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350" y="5352027"/>
            <a:ext cx="5151549" cy="1111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377F88E6-3A02-D099-7B22-F2D62EAC5378}"/>
              </a:ext>
            </a:extLst>
          </p:cNvPr>
          <p:cNvSpPr/>
          <p:nvPr/>
        </p:nvSpPr>
        <p:spPr>
          <a:xfrm>
            <a:off x="-3270266" y="747668"/>
            <a:ext cx="2820653" cy="988660"/>
          </a:xfrm>
          <a:prstGeom prst="wedgeRoundRectCallout">
            <a:avLst>
              <a:gd name="adj1" fmla="val -20517"/>
              <a:gd name="adj2" fmla="val 101985"/>
              <a:gd name="adj3" fmla="val 16667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2000" b="1">
                <a:solidFill>
                  <a:srgbClr val="FFFFFF"/>
                </a:solidFill>
              </a:rPr>
              <a:t>Device Mode </a:t>
            </a:r>
          </a:p>
          <a:p>
            <a:pPr lvl="0">
              <a:defRPr/>
            </a:pPr>
            <a:r>
              <a:rPr lang="en-DE" sz="2000">
                <a:solidFill>
                  <a:srgbClr val="FFFFFF"/>
                </a:solidFill>
              </a:rPr>
              <a:t>(Config Straps Mode0/1)</a:t>
            </a:r>
          </a:p>
          <a:p>
            <a:pPr lvl="0">
              <a:defRPr/>
            </a:pPr>
            <a:r>
              <a:rPr lang="en-DE" sz="2000">
                <a:solidFill>
                  <a:srgbClr val="FFFFFF"/>
                </a:solidFill>
              </a:rPr>
              <a:t>determines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4B35EB07-79DE-355A-F9E4-E2B4A1BD5B25}"/>
              </a:ext>
            </a:extLst>
          </p:cNvPr>
          <p:cNvSpPr/>
          <p:nvPr/>
        </p:nvSpPr>
        <p:spPr>
          <a:xfrm>
            <a:off x="-3270266" y="2243347"/>
            <a:ext cx="2820653" cy="988660"/>
          </a:xfrm>
          <a:prstGeom prst="wedgeRoundRectCallout">
            <a:avLst>
              <a:gd name="adj1" fmla="val -20517"/>
              <a:gd name="adj2" fmla="val 101985"/>
              <a:gd name="adj3" fmla="val 16667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2000" b="1">
                <a:solidFill>
                  <a:srgbClr val="FFFFFF"/>
                </a:solidFill>
              </a:rPr>
              <a:t>MAC Interface</a:t>
            </a:r>
          </a:p>
          <a:p>
            <a:pPr lvl="0">
              <a:defRPr/>
            </a:pPr>
            <a:r>
              <a:rPr lang="en-DE" sz="2000">
                <a:solidFill>
                  <a:srgbClr val="FFFFFF"/>
                </a:solidFill>
              </a:rPr>
              <a:t>(MII, RMII, SC-MII)</a:t>
            </a:r>
          </a:p>
          <a:p>
            <a:pPr lvl="0">
              <a:defRPr/>
            </a:pPr>
            <a:r>
              <a:rPr lang="en-DE" sz="2000">
                <a:solidFill>
                  <a:srgbClr val="FFFFFF"/>
                </a:solidFill>
              </a:rPr>
              <a:t>determines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E3D60DE2-21B8-D44E-C4F2-94EDC6CEFDAB}"/>
              </a:ext>
            </a:extLst>
          </p:cNvPr>
          <p:cNvSpPr/>
          <p:nvPr/>
        </p:nvSpPr>
        <p:spPr>
          <a:xfrm>
            <a:off x="-3270267" y="3778109"/>
            <a:ext cx="2820653" cy="988660"/>
          </a:xfrm>
          <a:prstGeom prst="wedgeRoundRectCallout">
            <a:avLst>
              <a:gd name="adj1" fmla="val 31983"/>
              <a:gd name="adj2" fmla="val 74157"/>
              <a:gd name="adj3" fmla="val 16667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2000" b="1">
                <a:solidFill>
                  <a:srgbClr val="FFFFFF"/>
                </a:solidFill>
              </a:rPr>
              <a:t>Pin Configuration</a:t>
            </a:r>
          </a:p>
          <a:p>
            <a:pPr lvl="0">
              <a:defRPr/>
            </a:pPr>
            <a:r>
              <a:rPr lang="en-DE" sz="2000">
                <a:solidFill>
                  <a:srgbClr val="FFFFFF"/>
                </a:solidFill>
              </a:rPr>
              <a:t>(ACMA, 1588)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4F585EB5-3C03-49C0-8830-15E3FC18D4AC}"/>
              </a:ext>
            </a:extLst>
          </p:cNvPr>
          <p:cNvSpPr/>
          <p:nvPr/>
        </p:nvSpPr>
        <p:spPr bwMode="auto">
          <a:xfrm>
            <a:off x="6031070" y="5510154"/>
            <a:ext cx="706454" cy="953263"/>
          </a:xfrm>
          <a:prstGeom prst="roundRect">
            <a:avLst/>
          </a:prstGeom>
          <a:solidFill>
            <a:schemeClr val="accent2">
              <a:alpha val="1176"/>
            </a:schemeClr>
          </a:solidFill>
          <a:ln w="28575" algn="ctr">
            <a:solidFill>
              <a:schemeClr val="accent2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FE23EC-BF43-8313-4B97-393EF0CB8001}"/>
              </a:ext>
            </a:extLst>
          </p:cNvPr>
          <p:cNvGrpSpPr/>
          <p:nvPr/>
        </p:nvGrpSpPr>
        <p:grpSpPr>
          <a:xfrm>
            <a:off x="3322413" y="1153231"/>
            <a:ext cx="3546584" cy="1584446"/>
            <a:chOff x="7258180" y="2670691"/>
            <a:chExt cx="9994715" cy="2059676"/>
          </a:xfrm>
        </p:grpSpPr>
        <p:sp>
          <p:nvSpPr>
            <p:cNvPr id="18" name="Callout: Line with No Border 17">
              <a:extLst>
                <a:ext uri="{FF2B5EF4-FFF2-40B4-BE49-F238E27FC236}">
                  <a16:creationId xmlns:a16="http://schemas.microsoft.com/office/drawing/2014/main" id="{5B401C0E-44D0-915A-430B-D5C3B97362DC}"/>
                </a:ext>
              </a:extLst>
            </p:cNvPr>
            <p:cNvSpPr/>
            <p:nvPr/>
          </p:nvSpPr>
          <p:spPr>
            <a:xfrm>
              <a:off x="9311176" y="2670691"/>
              <a:ext cx="892170" cy="357234"/>
            </a:xfrm>
            <a:prstGeom prst="callout1">
              <a:avLst>
                <a:gd name="adj1" fmla="val 560824"/>
                <a:gd name="adj2" fmla="val 256166"/>
                <a:gd name="adj3" fmla="val 1579454"/>
                <a:gd name="adj4" fmla="val 261520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  <p:sp>
          <p:nvSpPr>
            <p:cNvPr id="25" name="Speech Bubble: Rectangle with Corners Rounded 24">
              <a:extLst>
                <a:ext uri="{FF2B5EF4-FFF2-40B4-BE49-F238E27FC236}">
                  <a16:creationId xmlns:a16="http://schemas.microsoft.com/office/drawing/2014/main" id="{2B72B553-3C87-B9BF-830B-37BAD4109F1D}"/>
                </a:ext>
              </a:extLst>
            </p:cNvPr>
            <p:cNvSpPr/>
            <p:nvPr/>
          </p:nvSpPr>
          <p:spPr>
            <a:xfrm>
              <a:off x="7258180" y="2740740"/>
              <a:ext cx="9994715" cy="1989627"/>
            </a:xfrm>
            <a:prstGeom prst="wedgeRoundRectCallout">
              <a:avLst>
                <a:gd name="adj1" fmla="val -8664"/>
                <a:gd name="adj2" fmla="val 13589"/>
                <a:gd name="adj3" fmla="val 16667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LAN8670 in MII mode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  <a:defRPr/>
              </a:pPr>
              <a:r>
                <a:rPr lang="en-DE" sz="1800">
                  <a:solidFill>
                    <a:srgbClr val="FFFFFF"/>
                  </a:solidFill>
                </a:rPr>
                <a:t>Pin 9 = GPIO needs to be used for RXPI, TXPI, RXTXPI or RXTXPI, </a:t>
              </a:r>
            </a:p>
            <a:p>
              <a:pPr lvl="0">
                <a:defRPr/>
              </a:pPr>
              <a:r>
                <a:rPr lang="en-DE" sz="1800">
                  <a:solidFill>
                    <a:srgbClr val="FFFFFF"/>
                  </a:solidFill>
                </a:rPr>
                <a:t>In case the corresponding function </a:t>
              </a:r>
            </a:p>
            <a:p>
              <a:pPr lvl="0">
                <a:defRPr/>
              </a:pPr>
              <a:r>
                <a:rPr lang="en-DE" sz="1800">
                  <a:solidFill>
                    <a:srgbClr val="FFFFFF"/>
                  </a:solidFill>
                </a:rPr>
                <a:t>is enabled</a:t>
              </a:r>
            </a:p>
          </p:txBody>
        </p:sp>
      </p:grp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E18F0259-6269-E979-90D9-3D415CD2BA91}"/>
              </a:ext>
            </a:extLst>
          </p:cNvPr>
          <p:cNvSpPr/>
          <p:nvPr/>
        </p:nvSpPr>
        <p:spPr bwMode="auto">
          <a:xfrm>
            <a:off x="4580692" y="5510154"/>
            <a:ext cx="706454" cy="953263"/>
          </a:xfrm>
          <a:prstGeom prst="roundRect">
            <a:avLst/>
          </a:prstGeom>
          <a:solidFill>
            <a:schemeClr val="accent2">
              <a:alpha val="1176"/>
            </a:scheme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A9F957-42FD-DC01-2BCC-5012C2BE551C}"/>
              </a:ext>
            </a:extLst>
          </p:cNvPr>
          <p:cNvGrpSpPr/>
          <p:nvPr/>
        </p:nvGrpSpPr>
        <p:grpSpPr>
          <a:xfrm>
            <a:off x="5646124" y="2851982"/>
            <a:ext cx="3442666" cy="2197156"/>
            <a:chOff x="5646124" y="2851982"/>
            <a:chExt cx="3442666" cy="2197156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43DE8E6-4E4D-A30F-D12D-9CAE6DC1DB51}"/>
                </a:ext>
              </a:extLst>
            </p:cNvPr>
            <p:cNvGrpSpPr/>
            <p:nvPr/>
          </p:nvGrpSpPr>
          <p:grpSpPr>
            <a:xfrm>
              <a:off x="5646124" y="2851982"/>
              <a:ext cx="3442666" cy="2197156"/>
              <a:chOff x="7258183" y="2670691"/>
              <a:chExt cx="9120911" cy="2068541"/>
            </a:xfrm>
          </p:grpSpPr>
          <p:sp>
            <p:nvSpPr>
              <p:cNvPr id="30" name="Callout: Line with No Border 29">
                <a:extLst>
                  <a:ext uri="{FF2B5EF4-FFF2-40B4-BE49-F238E27FC236}">
                    <a16:creationId xmlns:a16="http://schemas.microsoft.com/office/drawing/2014/main" id="{9F6A7125-A34A-0012-7F2A-DE7348653835}"/>
                  </a:ext>
                </a:extLst>
              </p:cNvPr>
              <p:cNvSpPr/>
              <p:nvPr/>
            </p:nvSpPr>
            <p:spPr>
              <a:xfrm>
                <a:off x="9311176" y="2670691"/>
                <a:ext cx="892170" cy="357234"/>
              </a:xfrm>
              <a:prstGeom prst="callout1">
                <a:avLst>
                  <a:gd name="adj1" fmla="val 577780"/>
                  <a:gd name="adj2" fmla="val -7839"/>
                  <a:gd name="adj3" fmla="val 692272"/>
                  <a:gd name="adj4" fmla="val -8008"/>
                </a:avLst>
              </a:prstGeom>
              <a:noFill/>
              <a:ln w="28575" cap="rnd">
                <a:solidFill>
                  <a:schemeClr val="accent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800" b="1"/>
              </a:p>
            </p:txBody>
          </p:sp>
          <p:sp>
            <p:nvSpPr>
              <p:cNvPr id="31" name="Speech Bubble: Rectangle with Corners Rounded 30">
                <a:extLst>
                  <a:ext uri="{FF2B5EF4-FFF2-40B4-BE49-F238E27FC236}">
                    <a16:creationId xmlns:a16="http://schemas.microsoft.com/office/drawing/2014/main" id="{09BF6811-BCEF-BB6F-8E5C-05237CAC68DF}"/>
                  </a:ext>
                </a:extLst>
              </p:cNvPr>
              <p:cNvSpPr/>
              <p:nvPr/>
            </p:nvSpPr>
            <p:spPr>
              <a:xfrm>
                <a:off x="7258183" y="2740741"/>
                <a:ext cx="9120911" cy="1998491"/>
              </a:xfrm>
              <a:prstGeom prst="wedgeRoundRectCallout">
                <a:avLst>
                  <a:gd name="adj1" fmla="val -8664"/>
                  <a:gd name="adj2" fmla="val 13589"/>
                  <a:gd name="adj3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36000" tIns="0" rIns="36000" bIns="3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defRPr/>
                </a:pPr>
                <a:r>
                  <a:rPr lang="en-DE" sz="1800" b="1">
                    <a:solidFill>
                      <a:srgbClr val="FFFFFF"/>
                    </a:solidFill>
                  </a:rPr>
                  <a:t>LAN8670 in RMII mode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en-DE" sz="1800">
                    <a:solidFill>
                      <a:srgbClr val="FFFFFF"/>
                    </a:solidFill>
                  </a:rPr>
                  <a:t>Pin 11 </a:t>
                </a:r>
                <a:r>
                  <a:rPr lang="en-DE" sz="1800" u="sng">
                    <a:solidFill>
                      <a:srgbClr val="FFFFFF"/>
                    </a:solidFill>
                  </a:rPr>
                  <a:t>must</a:t>
                </a:r>
                <a:r>
                  <a:rPr lang="en-DE" sz="1800">
                    <a:solidFill>
                      <a:srgbClr val="FFFFFF"/>
                    </a:solidFill>
                  </a:rPr>
                  <a:t> be used for ACMA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en-DE" sz="1800">
                    <a:solidFill>
                      <a:srgbClr val="FFFFFF"/>
                    </a:solidFill>
                  </a:rPr>
                  <a:t>Pin 12 </a:t>
                </a:r>
                <a:r>
                  <a:rPr lang="en-DE" sz="1800" u="sng">
                    <a:solidFill>
                      <a:srgbClr val="FFFFFF"/>
                    </a:solidFill>
                  </a:rPr>
                  <a:t>must</a:t>
                </a:r>
                <a:r>
                  <a:rPr lang="en-DE" sz="1800">
                    <a:solidFill>
                      <a:srgbClr val="FFFFFF"/>
                    </a:solidFill>
                  </a:rPr>
                  <a:t> be used for RXPI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en-DE" sz="1800">
                    <a:solidFill>
                      <a:srgbClr val="FFFFFF"/>
                    </a:solidFill>
                  </a:rPr>
                  <a:t>Pin 9 = GPIO can be used for </a:t>
                </a:r>
                <a:br>
                  <a:rPr lang="en-DE" sz="1800">
                    <a:solidFill>
                      <a:srgbClr val="FFFFFF"/>
                    </a:solidFill>
                  </a:rPr>
                </a:br>
                <a:r>
                  <a:rPr lang="en-DE" sz="1800">
                    <a:solidFill>
                      <a:srgbClr val="FFFFFF"/>
                    </a:solidFill>
                  </a:rPr>
                  <a:t>TXPI or RXTXPI</a:t>
                </a:r>
              </a:p>
              <a:p>
                <a:pPr lvl="0">
                  <a:defRPr/>
                </a:pPr>
                <a:r>
                  <a:rPr lang="en-DE" sz="1800">
                    <a:solidFill>
                      <a:srgbClr val="FFFFFF"/>
                    </a:solidFill>
                  </a:rPr>
                  <a:t>In case the corresponding function </a:t>
                </a:r>
              </a:p>
              <a:p>
                <a:pPr lvl="0">
                  <a:defRPr/>
                </a:pPr>
                <a:r>
                  <a:rPr lang="en-DE" sz="1800">
                    <a:solidFill>
                      <a:srgbClr val="FFFFFF"/>
                    </a:solidFill>
                  </a:rPr>
                  <a:t>is enabled</a:t>
                </a:r>
              </a:p>
            </p:txBody>
          </p:sp>
        </p:grpSp>
        <p:sp>
          <p:nvSpPr>
            <p:cNvPr id="33" name="Callout: Line with No Border 32">
              <a:extLst>
                <a:ext uri="{FF2B5EF4-FFF2-40B4-BE49-F238E27FC236}">
                  <a16:creationId xmlns:a16="http://schemas.microsoft.com/office/drawing/2014/main" id="{7CFEF4B0-B558-9164-B8E7-E6D14898CBC4}"/>
                </a:ext>
              </a:extLst>
            </p:cNvPr>
            <p:cNvSpPr/>
            <p:nvPr/>
          </p:nvSpPr>
          <p:spPr>
            <a:xfrm>
              <a:off x="8574831" y="3775413"/>
              <a:ext cx="336747" cy="379446"/>
            </a:xfrm>
            <a:prstGeom prst="callout1">
              <a:avLst>
                <a:gd name="adj1" fmla="val -78229"/>
                <a:gd name="adj2" fmla="val 153791"/>
                <a:gd name="adj3" fmla="val -80404"/>
                <a:gd name="adj4" fmla="val 416541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243985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4C266-8F6C-A56A-79C5-8F3AA4B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Agenda  LAN8670/1/2  PHY</a:t>
            </a:r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9473ED-F49C-7675-7925-7B86099754E6}"/>
              </a:ext>
            </a:extLst>
          </p:cNvPr>
          <p:cNvSpPr/>
          <p:nvPr/>
        </p:nvSpPr>
        <p:spPr bwMode="auto">
          <a:xfrm rot="5400000">
            <a:off x="2577712" y="660468"/>
            <a:ext cx="633619" cy="4396355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98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lnSpc>
                <a:spcPts val="2400"/>
              </a:lnSpc>
            </a:pPr>
            <a:r>
              <a:rPr lang="en-DE" sz="1600" b="1">
                <a:solidFill>
                  <a:schemeClr val="accent1"/>
                </a:solidFill>
              </a:rPr>
              <a:t>Sleep mode</a:t>
            </a:r>
          </a:p>
          <a:p>
            <a:pPr marL="587621" lvl="1" indent="-285750">
              <a:lnSpc>
                <a:spcPts val="2400"/>
              </a:lnSpc>
            </a:pPr>
            <a:r>
              <a:rPr lang="en-DE" sz="1600">
                <a:solidFill>
                  <a:schemeClr val="accent1"/>
                </a:solidFill>
              </a:rPr>
              <a:t>Ultra low power consumption (&lt;= </a:t>
            </a:r>
            <a:r>
              <a:rPr lang="el-GR" sz="1600">
                <a:solidFill>
                  <a:schemeClr val="accent1"/>
                </a:solidFill>
              </a:rPr>
              <a:t>140 μ</a:t>
            </a:r>
            <a:r>
              <a:rPr lang="en-DE" sz="1600">
                <a:solidFill>
                  <a:schemeClr val="accent1"/>
                </a:solidFill>
              </a:rPr>
              <a:t>W)</a:t>
            </a:r>
          </a:p>
          <a:p>
            <a:pPr marL="587621" lvl="1" indent="-285750">
              <a:lnSpc>
                <a:spcPts val="2400"/>
              </a:lnSpc>
            </a:pPr>
            <a:r>
              <a:rPr lang="en-DE" sz="1600">
                <a:solidFill>
                  <a:schemeClr val="accent1"/>
                </a:solidFill>
              </a:rPr>
              <a:t>Just constant 3.3V</a:t>
            </a:r>
            <a:r>
              <a:rPr lang="en-US" sz="1600">
                <a:solidFill>
                  <a:schemeClr val="accent1"/>
                </a:solidFill>
              </a:rPr>
              <a:t> </a:t>
            </a:r>
            <a:r>
              <a:rPr lang="en-DE" sz="1600">
                <a:solidFill>
                  <a:schemeClr val="accent1"/>
                </a:solidFill>
              </a:rPr>
              <a:t>power </a:t>
            </a:r>
            <a:r>
              <a:rPr lang="en-US" sz="1600">
                <a:solidFill>
                  <a:schemeClr val="accent1"/>
                </a:solidFill>
              </a:rPr>
              <a:t>supply </a:t>
            </a:r>
            <a:r>
              <a:rPr lang="en-DE" sz="1600">
                <a:solidFill>
                  <a:schemeClr val="accent1"/>
                </a:solidFill>
              </a:rPr>
              <a:t> during sleep, but no switched power</a:t>
            </a:r>
          </a:p>
          <a:p>
            <a:pPr marL="587621" lvl="1" indent="-285750">
              <a:lnSpc>
                <a:spcPts val="2400"/>
              </a:lnSpc>
            </a:pPr>
            <a:r>
              <a:rPr lang="en-DE" sz="1600">
                <a:solidFill>
                  <a:schemeClr val="accent1"/>
                </a:solidFill>
              </a:rPr>
              <a:t>Go to sleep via </a:t>
            </a:r>
            <a:r>
              <a:rPr lang="en-DE" sz="1600" b="1">
                <a:solidFill>
                  <a:schemeClr val="accent1"/>
                </a:solidFill>
              </a:rPr>
              <a:t>command</a:t>
            </a:r>
            <a:r>
              <a:rPr lang="en-DE" sz="1600">
                <a:solidFill>
                  <a:schemeClr val="accent1"/>
                </a:solidFill>
              </a:rPr>
              <a:t> from host, or via internal </a:t>
            </a:r>
            <a:r>
              <a:rPr lang="en-DE" sz="1600" b="1">
                <a:solidFill>
                  <a:schemeClr val="accent1"/>
                </a:solidFill>
              </a:rPr>
              <a:t>watchdog timeout</a:t>
            </a:r>
          </a:p>
          <a:p>
            <a:pPr marL="587621" lvl="1" indent="-285750">
              <a:lnSpc>
                <a:spcPts val="2400"/>
              </a:lnSpc>
            </a:pPr>
            <a:endParaRPr lang="en-DE" sz="1600">
              <a:solidFill>
                <a:schemeClr val="accent1"/>
              </a:solidFill>
            </a:endParaRPr>
          </a:p>
          <a:p>
            <a:pPr marL="285750" indent="-285750">
              <a:lnSpc>
                <a:spcPts val="2400"/>
              </a:lnSpc>
            </a:pPr>
            <a:r>
              <a:rPr lang="en-DE" sz="1600" b="1">
                <a:solidFill>
                  <a:schemeClr val="accent1"/>
                </a:solidFill>
              </a:rPr>
              <a:t>Wake from...</a:t>
            </a:r>
          </a:p>
          <a:p>
            <a:pPr marL="587621" lvl="1" indent="-285750">
              <a:lnSpc>
                <a:spcPts val="2400"/>
              </a:lnSpc>
            </a:pPr>
            <a:r>
              <a:rPr lang="en-DE" sz="1600">
                <a:solidFill>
                  <a:schemeClr val="accent1"/>
                </a:solidFill>
              </a:rPr>
              <a:t>Remote network activity (</a:t>
            </a:r>
            <a:r>
              <a:rPr lang="en-DE" sz="1600" b="1">
                <a:solidFill>
                  <a:schemeClr val="accent1"/>
                </a:solidFill>
              </a:rPr>
              <a:t>MDI</a:t>
            </a:r>
            <a:r>
              <a:rPr lang="en-DE" sz="1600">
                <a:solidFill>
                  <a:schemeClr val="accent1"/>
                </a:solidFill>
              </a:rPr>
              <a:t>)</a:t>
            </a:r>
          </a:p>
          <a:p>
            <a:pPr marL="587621" lvl="1" indent="-285750">
              <a:lnSpc>
                <a:spcPts val="2400"/>
              </a:lnSpc>
            </a:pPr>
            <a:r>
              <a:rPr lang="en-DE" sz="1600">
                <a:solidFill>
                  <a:schemeClr val="accent1"/>
                </a:solidFill>
              </a:rPr>
              <a:t>Local event (</a:t>
            </a:r>
            <a:r>
              <a:rPr lang="en-DE" sz="1600" b="1">
                <a:solidFill>
                  <a:schemeClr val="accent1"/>
                </a:solidFill>
              </a:rPr>
              <a:t>WAKE_IN</a:t>
            </a:r>
            <a:r>
              <a:rPr lang="en-DE" sz="1600">
                <a:solidFill>
                  <a:schemeClr val="accent1"/>
                </a:solidFill>
              </a:rPr>
              <a:t>), e.g. user input</a:t>
            </a:r>
          </a:p>
          <a:p>
            <a:pPr marL="587621" lvl="1" indent="-285750">
              <a:lnSpc>
                <a:spcPts val="2400"/>
              </a:lnSpc>
            </a:pPr>
            <a:endParaRPr lang="en-DE" sz="1600">
              <a:solidFill>
                <a:schemeClr val="accent1"/>
              </a:solidFill>
            </a:endParaRPr>
          </a:p>
          <a:p>
            <a:pPr marL="285750" indent="-285750">
              <a:lnSpc>
                <a:spcPts val="2400"/>
              </a:lnSpc>
            </a:pPr>
            <a:r>
              <a:rPr lang="en-DE" sz="1600" b="1">
                <a:solidFill>
                  <a:schemeClr val="accent1"/>
                </a:solidFill>
              </a:rPr>
              <a:t>Activate switched power </a:t>
            </a:r>
          </a:p>
          <a:p>
            <a:pPr marL="587621" lvl="1" indent="-285750">
              <a:lnSpc>
                <a:spcPts val="2400"/>
              </a:lnSpc>
            </a:pPr>
            <a:r>
              <a:rPr lang="en-US" sz="1600" b="1">
                <a:solidFill>
                  <a:schemeClr val="accent1"/>
                </a:solidFill>
              </a:rPr>
              <a:t>INH</a:t>
            </a:r>
            <a:r>
              <a:rPr lang="en-US" sz="1600">
                <a:solidFill>
                  <a:schemeClr val="accent1"/>
                </a:solidFill>
              </a:rPr>
              <a:t> </a:t>
            </a:r>
            <a:r>
              <a:rPr lang="en-DE" sz="1600">
                <a:solidFill>
                  <a:schemeClr val="accent1"/>
                </a:solidFill>
              </a:rPr>
              <a:t>pin </a:t>
            </a:r>
            <a:r>
              <a:rPr lang="en-US" sz="1600">
                <a:solidFill>
                  <a:schemeClr val="accent1"/>
                </a:solidFill>
              </a:rPr>
              <a:t>output </a:t>
            </a:r>
            <a:r>
              <a:rPr lang="en-DE" sz="1600">
                <a:solidFill>
                  <a:schemeClr val="accent1"/>
                </a:solidFill>
              </a:rPr>
              <a:t>to</a:t>
            </a:r>
            <a:r>
              <a:rPr lang="en-US" sz="1600">
                <a:solidFill>
                  <a:schemeClr val="accent1"/>
                </a:solidFill>
              </a:rPr>
              <a:t> enable/disable </a:t>
            </a:r>
            <a:r>
              <a:rPr lang="en-DE" sz="1600">
                <a:solidFill>
                  <a:schemeClr val="accent1"/>
                </a:solidFill>
              </a:rPr>
              <a:t>power</a:t>
            </a:r>
            <a:r>
              <a:rPr lang="en-US" sz="1600">
                <a:solidFill>
                  <a:schemeClr val="accent1"/>
                </a:solidFill>
              </a:rPr>
              <a:t> supply</a:t>
            </a:r>
            <a:endParaRPr lang="en-DE" sz="1600">
              <a:solidFill>
                <a:schemeClr val="accent1"/>
              </a:solidFill>
            </a:endParaRPr>
          </a:p>
          <a:p>
            <a:pPr marL="587621" lvl="1" indent="-285750">
              <a:lnSpc>
                <a:spcPts val="2400"/>
              </a:lnSpc>
            </a:pPr>
            <a:endParaRPr lang="en-DE" sz="1600" b="1">
              <a:solidFill>
                <a:schemeClr val="accent1"/>
              </a:solidFill>
            </a:endParaRPr>
          </a:p>
          <a:p>
            <a:pPr marL="285750" indent="-285750">
              <a:lnSpc>
                <a:spcPts val="2400"/>
              </a:lnSpc>
            </a:pPr>
            <a:r>
              <a:rPr lang="en-DE" sz="1600" b="1">
                <a:solidFill>
                  <a:schemeClr val="accent1"/>
                </a:solidFill>
              </a:rPr>
              <a:t>Forward wake signal </a:t>
            </a:r>
          </a:p>
          <a:p>
            <a:pPr marL="587621" lvl="1" indent="-285750">
              <a:lnSpc>
                <a:spcPts val="2400"/>
              </a:lnSpc>
            </a:pPr>
            <a:r>
              <a:rPr lang="en-DE" sz="1600">
                <a:solidFill>
                  <a:schemeClr val="accent1"/>
                </a:solidFill>
              </a:rPr>
              <a:t>Via </a:t>
            </a:r>
            <a:r>
              <a:rPr lang="en-DE" sz="1600" b="1">
                <a:solidFill>
                  <a:schemeClr val="accent1"/>
                </a:solidFill>
              </a:rPr>
              <a:t>MDI</a:t>
            </a:r>
            <a:r>
              <a:rPr lang="en-DE" sz="1600">
                <a:solidFill>
                  <a:schemeClr val="accent1"/>
                </a:solidFill>
              </a:rPr>
              <a:t> (network) to wake remote nodes</a:t>
            </a:r>
          </a:p>
          <a:p>
            <a:pPr marL="587621" lvl="1" indent="-285750">
              <a:lnSpc>
                <a:spcPts val="2400"/>
              </a:lnSpc>
            </a:pPr>
            <a:r>
              <a:rPr lang="en-DE" sz="1600">
                <a:solidFill>
                  <a:schemeClr val="accent1"/>
                </a:solidFill>
              </a:rPr>
              <a:t>Via </a:t>
            </a:r>
            <a:r>
              <a:rPr lang="en-DE" sz="1600" b="1">
                <a:solidFill>
                  <a:schemeClr val="accent1"/>
                </a:solidFill>
              </a:rPr>
              <a:t>WAKE_OUT </a:t>
            </a:r>
            <a:r>
              <a:rPr lang="en-DE" sz="1600">
                <a:solidFill>
                  <a:schemeClr val="accent1"/>
                </a:solidFill>
              </a:rPr>
              <a:t>to wake other local devices</a:t>
            </a:r>
          </a:p>
          <a:p>
            <a:pPr marL="587621" lvl="1" indent="-285750">
              <a:lnSpc>
                <a:spcPts val="2400"/>
              </a:lnSpc>
            </a:pPr>
            <a:r>
              <a:rPr lang="en-US" sz="1600">
                <a:solidFill>
                  <a:schemeClr val="accent1"/>
                </a:solidFill>
              </a:rPr>
              <a:t>Via </a:t>
            </a:r>
            <a:r>
              <a:rPr lang="en-US" sz="1600" b="1">
                <a:solidFill>
                  <a:schemeClr val="accent1"/>
                </a:solidFill>
              </a:rPr>
              <a:t>WAKE_OUT </a:t>
            </a:r>
            <a:r>
              <a:rPr lang="en-US" sz="1600">
                <a:solidFill>
                  <a:schemeClr val="accent1"/>
                </a:solidFill>
              </a:rPr>
              <a:t>to inform MCU that network re-assumed operation</a:t>
            </a:r>
            <a:endParaRPr lang="en-DE" b="1">
              <a:solidFill>
                <a:schemeClr val="accent1"/>
              </a:solidFill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A96B4EC1-FC0D-206A-8B38-C5208BD6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sz="3200" b="1">
                <a:solidFill>
                  <a:schemeClr val="accent1"/>
                </a:solidFill>
              </a:rPr>
              <a:t>Wake / Sleep</a:t>
            </a:r>
            <a:br>
              <a:rPr lang="en-DE" sz="1200" b="1">
                <a:solidFill>
                  <a:schemeClr val="accent1"/>
                </a:solidFill>
              </a:rPr>
            </a:br>
            <a:endParaRPr lang="en-US"/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004B7170-E750-7426-3301-DC35E8500065}"/>
              </a:ext>
            </a:extLst>
          </p:cNvPr>
          <p:cNvSpPr/>
          <p:nvPr/>
        </p:nvSpPr>
        <p:spPr>
          <a:xfrm>
            <a:off x="8739545" y="322517"/>
            <a:ext cx="3152922" cy="1218359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DE" sz="1800" b="1">
                <a:solidFill>
                  <a:srgbClr val="FFFFFF"/>
                </a:solidFill>
              </a:rPr>
              <a:t>Enables </a:t>
            </a:r>
            <a:r>
              <a:rPr lang="en-US" sz="1800" b="1">
                <a:solidFill>
                  <a:srgbClr val="FFFFFF"/>
                </a:solidFill>
              </a:rPr>
              <a:t>Wake/Sleep on small MCUs without external components according to </a:t>
            </a:r>
            <a:r>
              <a:rPr lang="en-DE" sz="1800" b="1">
                <a:solidFill>
                  <a:srgbClr val="FFFFFF"/>
                </a:solidFill>
              </a:rPr>
              <a:t>OPEN Alliance </a:t>
            </a:r>
            <a:r>
              <a:rPr lang="en-US" sz="1800" b="1">
                <a:solidFill>
                  <a:srgbClr val="FFFFFF"/>
                </a:solidFill>
              </a:rPr>
              <a:t>TC10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B88B0D-4637-A16A-F4A0-5CE34A14DE43}"/>
              </a:ext>
            </a:extLst>
          </p:cNvPr>
          <p:cNvSpPr txBox="1"/>
          <p:nvPr/>
        </p:nvSpPr>
        <p:spPr>
          <a:xfrm>
            <a:off x="8257309" y="5879329"/>
            <a:ext cx="3306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DE" sz="1200" b="0" i="0" u="none" strike="noStrike" baseline="0">
                <a:latin typeface="OpenSans"/>
              </a:rPr>
              <a:t>Note: </a:t>
            </a:r>
            <a:r>
              <a:rPr lang="en-US" sz="1200" b="0" i="0" u="none" strike="noStrike" baseline="0">
                <a:latin typeface="OpenSans"/>
              </a:rPr>
              <a:t>MDI </a:t>
            </a:r>
            <a:r>
              <a:rPr lang="en-US" sz="1200" b="0" i="0" u="sng" strike="noStrike" baseline="0">
                <a:latin typeface="OpenSans"/>
              </a:rPr>
              <a:t>wake detection </a:t>
            </a:r>
            <a:r>
              <a:rPr lang="en-DE" sz="1200" b="0" i="0" u="none" strike="noStrike" baseline="0">
                <a:latin typeface="OpenSans"/>
              </a:rPr>
              <a:t>does not </a:t>
            </a:r>
            <a:r>
              <a:rPr lang="en-US" sz="1200" b="0" i="0" u="none" strike="noStrike" baseline="0">
                <a:latin typeface="OpenSans"/>
              </a:rPr>
              <a:t>meet the OPEN Alliance</a:t>
            </a:r>
            <a:r>
              <a:rPr lang="en-DE" sz="1200" b="0" i="0" u="none" strike="noStrike" baseline="0">
                <a:latin typeface="OpenSans"/>
              </a:rPr>
              <a:t> </a:t>
            </a:r>
            <a:r>
              <a:rPr lang="en-US" sz="1200" b="0" i="0" u="none" strike="noStrike" baseline="0">
                <a:latin typeface="OpenSans"/>
              </a:rPr>
              <a:t>10BASE-T1S Sleep/Wake-up Specification, version 1.0.</a:t>
            </a:r>
            <a:endParaRPr lang="en-US" sz="120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7625C5A-62E1-4C6E-BDF2-B2BD3DC65980}"/>
              </a:ext>
            </a:extLst>
          </p:cNvPr>
          <p:cNvCxnSpPr>
            <a:cxnSpLocks/>
          </p:cNvCxnSpPr>
          <p:nvPr/>
        </p:nvCxnSpPr>
        <p:spPr>
          <a:xfrm rot="10800000">
            <a:off x="8937631" y="2957346"/>
            <a:ext cx="1231568" cy="466214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76F62518-1BDF-4A07-B76E-68E85FC5619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937631" y="3423559"/>
            <a:ext cx="1231568" cy="441567"/>
          </a:xfrm>
          <a:prstGeom prst="bentConnector2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3">
            <a:extLst>
              <a:ext uri="{FF2B5EF4-FFF2-40B4-BE49-F238E27FC236}">
                <a16:creationId xmlns:a16="http://schemas.microsoft.com/office/drawing/2014/main" id="{4A7CC467-C908-46DD-B498-124A5C1904CB}"/>
              </a:ext>
            </a:extLst>
          </p:cNvPr>
          <p:cNvSpPr/>
          <p:nvPr/>
        </p:nvSpPr>
        <p:spPr>
          <a:xfrm>
            <a:off x="8189117" y="2369456"/>
            <a:ext cx="1221940" cy="5878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メイリオ"/>
              </a:rPr>
              <a:t>MCU</a:t>
            </a:r>
          </a:p>
        </p:txBody>
      </p:sp>
      <p:sp>
        <p:nvSpPr>
          <p:cNvPr id="6" name="Rechteck 4">
            <a:extLst>
              <a:ext uri="{FF2B5EF4-FFF2-40B4-BE49-F238E27FC236}">
                <a16:creationId xmlns:a16="http://schemas.microsoft.com/office/drawing/2014/main" id="{9467AFDF-3F96-4C5F-947A-BECCC03BEF56}"/>
              </a:ext>
            </a:extLst>
          </p:cNvPr>
          <p:cNvSpPr/>
          <p:nvPr/>
        </p:nvSpPr>
        <p:spPr>
          <a:xfrm>
            <a:off x="8189117" y="3865126"/>
            <a:ext cx="1221940" cy="587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メイリオ"/>
              </a:rPr>
              <a:t>PHY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04A63AB-25A3-481E-929B-712FEF290CEB}"/>
              </a:ext>
            </a:extLst>
          </p:cNvPr>
          <p:cNvSpPr txBox="1"/>
          <p:nvPr/>
        </p:nvSpPr>
        <p:spPr>
          <a:xfrm>
            <a:off x="10957009" y="2295275"/>
            <a:ext cx="625370" cy="41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err="1">
                <a:solidFill>
                  <a:srgbClr val="000000"/>
                </a:solidFill>
                <a:latin typeface="Arial" charset="0"/>
                <a:ea typeface="メイリオ"/>
              </a:rPr>
              <a:t>V</a:t>
            </a:r>
            <a:r>
              <a:rPr lang="en-US" sz="1400" baseline="-25000" err="1">
                <a:solidFill>
                  <a:srgbClr val="000000"/>
                </a:solidFill>
                <a:latin typeface="Arial" charset="0"/>
                <a:ea typeface="メイリオ"/>
              </a:rPr>
              <a:t>Batt</a:t>
            </a:r>
            <a:endParaRPr lang="en-US" sz="1400" baseline="-25000">
              <a:solidFill>
                <a:srgbClr val="000000"/>
              </a:solidFill>
              <a:latin typeface="Arial" charset="0"/>
              <a:ea typeface="メイリオ"/>
            </a:endParaRPr>
          </a:p>
        </p:txBody>
      </p:sp>
      <p:sp>
        <p:nvSpPr>
          <p:cNvPr id="8" name="Rechteck 3">
            <a:extLst>
              <a:ext uri="{FF2B5EF4-FFF2-40B4-BE49-F238E27FC236}">
                <a16:creationId xmlns:a16="http://schemas.microsoft.com/office/drawing/2014/main" id="{D7E84935-6782-4C36-A05B-8199098534AF}"/>
              </a:ext>
            </a:extLst>
          </p:cNvPr>
          <p:cNvSpPr/>
          <p:nvPr/>
        </p:nvSpPr>
        <p:spPr>
          <a:xfrm>
            <a:off x="9644833" y="3129615"/>
            <a:ext cx="1157578" cy="5878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000000"/>
                </a:solidFill>
                <a:latin typeface="Calibri"/>
                <a:ea typeface="メイリオ"/>
              </a:rPr>
              <a:t>Switch</a:t>
            </a:r>
            <a:r>
              <a:rPr lang="en-DE" sz="1400">
                <a:solidFill>
                  <a:srgbClr val="000000"/>
                </a:solidFill>
                <a:latin typeface="Calibri"/>
                <a:ea typeface="メイリオ"/>
              </a:rPr>
              <a:t>ed</a:t>
            </a:r>
            <a:r>
              <a:rPr lang="en-US" sz="1400">
                <a:solidFill>
                  <a:srgbClr val="000000"/>
                </a:solidFill>
                <a:latin typeface="Calibri"/>
                <a:ea typeface="メイリオ"/>
              </a:rPr>
              <a:t> </a:t>
            </a:r>
            <a:r>
              <a:rPr lang="en-DE" sz="1400">
                <a:solidFill>
                  <a:srgbClr val="000000"/>
                </a:solidFill>
                <a:latin typeface="Calibri"/>
                <a:ea typeface="メイリオ"/>
              </a:rPr>
              <a:t>power</a:t>
            </a:r>
            <a:endParaRPr lang="en-US" sz="1400">
              <a:solidFill>
                <a:srgbClr val="000000"/>
              </a:solidFill>
              <a:latin typeface="Calibri"/>
              <a:ea typeface="メイリオ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539301F-AD62-4D43-BA33-818B7DA8F2AD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9411057" y="3717504"/>
            <a:ext cx="812565" cy="363756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3F6299E-DCA8-4AC1-8968-26014D6F1E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788833" y="3423559"/>
            <a:ext cx="51528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7D50883-6CE5-4077-84E9-58BF5606BC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11059" y="2663403"/>
            <a:ext cx="1893057" cy="1717723"/>
          </a:xfrm>
          <a:prstGeom prst="bentConnector3">
            <a:avLst>
              <a:gd name="adj1" fmla="val 418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4D03F7-435D-4AA4-9A30-4FBB0532DBCF}"/>
              </a:ext>
            </a:extLst>
          </p:cNvPr>
          <p:cNvCxnSpPr>
            <a:cxnSpLocks/>
          </p:cNvCxnSpPr>
          <p:nvPr/>
        </p:nvCxnSpPr>
        <p:spPr>
          <a:xfrm>
            <a:off x="8651083" y="2957345"/>
            <a:ext cx="0" cy="90778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430266-27D6-43DB-8F0B-8291855D6493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8800084" y="4453015"/>
            <a:ext cx="4" cy="7592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094098F-279A-4090-A2EC-819BFB072159}"/>
              </a:ext>
            </a:extLst>
          </p:cNvPr>
          <p:cNvCxnSpPr>
            <a:cxnSpLocks/>
          </p:cNvCxnSpPr>
          <p:nvPr/>
        </p:nvCxnSpPr>
        <p:spPr>
          <a:xfrm flipV="1">
            <a:off x="7600742" y="5219953"/>
            <a:ext cx="2904175" cy="71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72">
            <a:extLst>
              <a:ext uri="{FF2B5EF4-FFF2-40B4-BE49-F238E27FC236}">
                <a16:creationId xmlns:a16="http://schemas.microsoft.com/office/drawing/2014/main" id="{5CE631EB-F4D6-40E5-88EF-52BC3F141D5E}"/>
              </a:ext>
            </a:extLst>
          </p:cNvPr>
          <p:cNvSpPr txBox="1"/>
          <p:nvPr/>
        </p:nvSpPr>
        <p:spPr>
          <a:xfrm>
            <a:off x="8166307" y="5267126"/>
            <a:ext cx="1267560" cy="41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10BASE-T1S</a:t>
            </a:r>
          </a:p>
        </p:txBody>
      </p:sp>
      <p:sp>
        <p:nvSpPr>
          <p:cNvPr id="16" name="TextBox 75">
            <a:extLst>
              <a:ext uri="{FF2B5EF4-FFF2-40B4-BE49-F238E27FC236}">
                <a16:creationId xmlns:a16="http://schemas.microsoft.com/office/drawing/2014/main" id="{28013F10-672A-4C72-8A37-AF6B1EAA4B5F}"/>
              </a:ext>
            </a:extLst>
          </p:cNvPr>
          <p:cNvSpPr txBox="1"/>
          <p:nvPr/>
        </p:nvSpPr>
        <p:spPr>
          <a:xfrm>
            <a:off x="9524569" y="3791687"/>
            <a:ext cx="550140" cy="41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INH</a:t>
            </a:r>
          </a:p>
        </p:txBody>
      </p:sp>
      <p:sp>
        <p:nvSpPr>
          <p:cNvPr id="17" name="TextBox 77">
            <a:extLst>
              <a:ext uri="{FF2B5EF4-FFF2-40B4-BE49-F238E27FC236}">
                <a16:creationId xmlns:a16="http://schemas.microsoft.com/office/drawing/2014/main" id="{692AE43C-916C-47A7-9CE6-6EC39FD6B8E5}"/>
              </a:ext>
            </a:extLst>
          </p:cNvPr>
          <p:cNvSpPr txBox="1"/>
          <p:nvPr/>
        </p:nvSpPr>
        <p:spPr>
          <a:xfrm>
            <a:off x="8804885" y="4903459"/>
            <a:ext cx="2377255" cy="41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1400"/>
              <a:t>Remote n</a:t>
            </a:r>
            <a:r>
              <a:rPr lang="en-US" sz="1400" err="1"/>
              <a:t>etwork</a:t>
            </a:r>
            <a:r>
              <a:rPr lang="en-US" sz="1400"/>
              <a:t> </a:t>
            </a:r>
            <a:r>
              <a:rPr lang="en-DE" sz="1400"/>
              <a:t>activity</a:t>
            </a:r>
            <a:endParaRPr lang="en-US" sz="1400"/>
          </a:p>
        </p:txBody>
      </p:sp>
      <p:sp>
        <p:nvSpPr>
          <p:cNvPr id="18" name="TextBox 79">
            <a:extLst>
              <a:ext uri="{FF2B5EF4-FFF2-40B4-BE49-F238E27FC236}">
                <a16:creationId xmlns:a16="http://schemas.microsoft.com/office/drawing/2014/main" id="{4B51B13E-3B95-40D7-B2E7-8E65CDAF696C}"/>
              </a:ext>
            </a:extLst>
          </p:cNvPr>
          <p:cNvSpPr txBox="1"/>
          <p:nvPr/>
        </p:nvSpPr>
        <p:spPr>
          <a:xfrm>
            <a:off x="7797779" y="3201714"/>
            <a:ext cx="1049588" cy="41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1400"/>
              <a:t>WAKE_IN</a:t>
            </a:r>
            <a:endParaRPr lang="en-US" sz="140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8BA87F9-772E-426C-9772-5A1955F34BFD}"/>
              </a:ext>
            </a:extLst>
          </p:cNvPr>
          <p:cNvCxnSpPr>
            <a:stCxn id="6" idx="1"/>
            <a:endCxn id="5" idx="1"/>
          </p:cNvCxnSpPr>
          <p:nvPr/>
        </p:nvCxnSpPr>
        <p:spPr>
          <a:xfrm rot="10800000">
            <a:off x="8189117" y="2663402"/>
            <a:ext cx="15282" cy="1495670"/>
          </a:xfrm>
          <a:prstGeom prst="bentConnector3">
            <a:avLst>
              <a:gd name="adj1" fmla="val 4176701"/>
            </a:avLst>
          </a:prstGeom>
          <a:ln w="571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84">
            <a:extLst>
              <a:ext uri="{FF2B5EF4-FFF2-40B4-BE49-F238E27FC236}">
                <a16:creationId xmlns:a16="http://schemas.microsoft.com/office/drawing/2014/main" id="{D6B730BE-B08D-427D-9ECC-081DD2731760}"/>
              </a:ext>
            </a:extLst>
          </p:cNvPr>
          <p:cNvSpPr txBox="1"/>
          <p:nvPr/>
        </p:nvSpPr>
        <p:spPr>
          <a:xfrm>
            <a:off x="7144875" y="4149200"/>
            <a:ext cx="1244413" cy="419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1400"/>
              <a:t>WAKE_OUT</a:t>
            </a:r>
            <a:endParaRPr lang="en-US" sz="140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76A7C5-D724-A8B1-58C6-47CDC93A3432}"/>
              </a:ext>
            </a:extLst>
          </p:cNvPr>
          <p:cNvCxnSpPr>
            <a:cxnSpLocks/>
          </p:cNvCxnSpPr>
          <p:nvPr/>
        </p:nvCxnSpPr>
        <p:spPr>
          <a:xfrm>
            <a:off x="8572034" y="4467916"/>
            <a:ext cx="4421" cy="76152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84">
            <a:extLst>
              <a:ext uri="{FF2B5EF4-FFF2-40B4-BE49-F238E27FC236}">
                <a16:creationId xmlns:a16="http://schemas.microsoft.com/office/drawing/2014/main" id="{5C952A93-B5F7-1979-0D97-A976CCDFC4E9}"/>
              </a:ext>
            </a:extLst>
          </p:cNvPr>
          <p:cNvSpPr txBox="1"/>
          <p:nvPr/>
        </p:nvSpPr>
        <p:spPr>
          <a:xfrm>
            <a:off x="8061875" y="4610407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1400"/>
              <a:t>MDI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9601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/>
      <p:bldP spid="15" grpId="0"/>
      <p:bldP spid="16" grpId="0"/>
      <p:bldP spid="17" grpId="0"/>
      <p:bldP spid="18" grpId="0"/>
      <p:bldP spid="20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1D3663DC-D035-3193-A986-AE6F4FF1CC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011" y="1009308"/>
            <a:ext cx="6489924" cy="5102691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15145E-F296-6605-45F2-138E607207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51525" y="259036"/>
            <a:ext cx="4269882" cy="1583140"/>
          </a:xfrm>
        </p:spPr>
        <p:txBody>
          <a:bodyPr/>
          <a:lstStyle/>
          <a:p>
            <a:pPr marL="0" indent="0">
              <a:buNone/>
            </a:pPr>
            <a:endParaRPr lang="en-DE" sz="1200"/>
          </a:p>
          <a:p>
            <a:pPr marL="360000" indent="-180000"/>
            <a:r>
              <a:rPr lang="en-DE" sz="1200"/>
              <a:t>VDDA = power </a:t>
            </a:r>
            <a:r>
              <a:rPr lang="en-US" sz="1200" b="0" i="0">
                <a:solidFill>
                  <a:srgbClr val="232629"/>
                </a:solidFill>
                <a:effectLst/>
                <a:latin typeface="-apple-system"/>
              </a:rPr>
              <a:t>supply </a:t>
            </a:r>
            <a:r>
              <a:rPr lang="en-DE" sz="1200" b="0" i="0">
                <a:solidFill>
                  <a:srgbClr val="232629"/>
                </a:solidFill>
                <a:effectLst/>
                <a:latin typeface="-apple-system"/>
              </a:rPr>
              <a:t>voltage for </a:t>
            </a:r>
            <a:r>
              <a:rPr lang="en-DE" sz="1200" b="0" i="0" err="1">
                <a:solidFill>
                  <a:srgbClr val="232629"/>
                </a:solidFill>
                <a:effectLst/>
                <a:latin typeface="-apple-system"/>
              </a:rPr>
              <a:t>analog</a:t>
            </a:r>
            <a:r>
              <a:rPr lang="en-DE" sz="1200" b="0" i="0">
                <a:solidFill>
                  <a:srgbClr val="232629"/>
                </a:solidFill>
                <a:effectLst/>
                <a:latin typeface="-apple-system"/>
              </a:rPr>
              <a:t> parts of the chip</a:t>
            </a:r>
          </a:p>
          <a:p>
            <a:pPr indent="-180000"/>
            <a:r>
              <a:rPr lang="en-DE" sz="1200"/>
              <a:t>VDDP = power </a:t>
            </a:r>
            <a:r>
              <a:rPr lang="en-US" sz="1200" b="0" i="0">
                <a:solidFill>
                  <a:srgbClr val="232629"/>
                </a:solidFill>
                <a:effectLst/>
                <a:latin typeface="-apple-system"/>
              </a:rPr>
              <a:t>supply </a:t>
            </a:r>
            <a:r>
              <a:rPr lang="en-DE" sz="1200" b="0" i="0">
                <a:solidFill>
                  <a:srgbClr val="232629"/>
                </a:solidFill>
                <a:effectLst/>
                <a:latin typeface="-apple-system"/>
              </a:rPr>
              <a:t>voltage for digital parts of the chip</a:t>
            </a:r>
          </a:p>
          <a:p>
            <a:pPr marL="360000" indent="-180000"/>
            <a:r>
              <a:rPr lang="en-DE" sz="1200"/>
              <a:t>VDDAU = uninterruptible </a:t>
            </a:r>
            <a:r>
              <a:rPr lang="en-DE" sz="1200" err="1"/>
              <a:t>analog</a:t>
            </a:r>
            <a:r>
              <a:rPr lang="en-DE" sz="1200"/>
              <a:t> supply voltage </a:t>
            </a:r>
          </a:p>
          <a:p>
            <a:pPr marL="360000" indent="-180000"/>
            <a:r>
              <a:rPr lang="en-DE" sz="1200"/>
              <a:t>VSS = common ground </a:t>
            </a:r>
            <a:r>
              <a:rPr lang="en-US" sz="1200"/>
              <a:t>exposed pad must be connected to the ground plane</a:t>
            </a:r>
            <a:r>
              <a:rPr lang="en-DE" sz="1200"/>
              <a:t> </a:t>
            </a:r>
            <a:r>
              <a:rPr lang="en-US" sz="1200"/>
              <a:t>with a via array.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0C7DB-BC8F-F150-6A4A-614C9134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Simple System without Sleep Mode</a:t>
            </a:r>
            <a:endParaRPr lang="en-US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C6C38FE1-5370-2C0F-BEE5-C689CA67BDDA}"/>
              </a:ext>
            </a:extLst>
          </p:cNvPr>
          <p:cNvSpPr/>
          <p:nvPr/>
        </p:nvSpPr>
        <p:spPr bwMode="auto">
          <a:xfrm rot="5400000">
            <a:off x="3073027" y="2111739"/>
            <a:ext cx="2037516" cy="73332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6075FAA-ACC1-1EA3-6AF0-E5100D83BEDA}"/>
              </a:ext>
            </a:extLst>
          </p:cNvPr>
          <p:cNvSpPr/>
          <p:nvPr/>
        </p:nvSpPr>
        <p:spPr bwMode="auto">
          <a:xfrm rot="16200000">
            <a:off x="4253666" y="2735071"/>
            <a:ext cx="1097338" cy="42683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55842515-659F-0D16-B6BC-251C770B25B3}"/>
              </a:ext>
            </a:extLst>
          </p:cNvPr>
          <p:cNvSpPr/>
          <p:nvPr/>
        </p:nvSpPr>
        <p:spPr bwMode="auto">
          <a:xfrm>
            <a:off x="2695433" y="4967812"/>
            <a:ext cx="1763013" cy="1265109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BBFE9B-58F7-123C-916D-6020E740EEF3}"/>
              </a:ext>
            </a:extLst>
          </p:cNvPr>
          <p:cNvGrpSpPr/>
          <p:nvPr/>
        </p:nvGrpSpPr>
        <p:grpSpPr>
          <a:xfrm>
            <a:off x="8556751" y="3335243"/>
            <a:ext cx="3199420" cy="738759"/>
            <a:chOff x="9509541" y="656684"/>
            <a:chExt cx="2595986" cy="366962"/>
          </a:xfrm>
        </p:grpSpPr>
        <p:sp>
          <p:nvSpPr>
            <p:cNvPr id="16" name="Callout: Line with No Border 15">
              <a:extLst>
                <a:ext uri="{FF2B5EF4-FFF2-40B4-BE49-F238E27FC236}">
                  <a16:creationId xmlns:a16="http://schemas.microsoft.com/office/drawing/2014/main" id="{EB7891C7-021C-5F48-90C5-564AD2655C5C}"/>
                </a:ext>
              </a:extLst>
            </p:cNvPr>
            <p:cNvSpPr/>
            <p:nvPr/>
          </p:nvSpPr>
          <p:spPr>
            <a:xfrm>
              <a:off x="10380113" y="768652"/>
              <a:ext cx="723900" cy="177448"/>
            </a:xfrm>
            <a:prstGeom prst="callout1">
              <a:avLst>
                <a:gd name="adj1" fmla="val 48289"/>
                <a:gd name="adj2" fmla="val -87508"/>
                <a:gd name="adj3" fmla="val -69390"/>
                <a:gd name="adj4" fmla="val -455658"/>
              </a:avLst>
            </a:prstGeom>
            <a:noFill/>
            <a:ln w="28575" cap="rnd"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  <p:sp>
          <p:nvSpPr>
            <p:cNvPr id="17" name="Speech Bubble: Rectangle with Corners Rounded 16">
              <a:extLst>
                <a:ext uri="{FF2B5EF4-FFF2-40B4-BE49-F238E27FC236}">
                  <a16:creationId xmlns:a16="http://schemas.microsoft.com/office/drawing/2014/main" id="{3B8C0592-E0DC-27AA-6434-E15BC150E4A1}"/>
                </a:ext>
              </a:extLst>
            </p:cNvPr>
            <p:cNvSpPr/>
            <p:nvPr/>
          </p:nvSpPr>
          <p:spPr>
            <a:xfrm>
              <a:off x="9509541" y="656684"/>
              <a:ext cx="2595986" cy="366962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DE" sz="1800"/>
                <a:t>VDDAU only needed for wake detection in sleep mode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2A7903-F857-189D-80B6-0A4935A14E1B}"/>
              </a:ext>
            </a:extLst>
          </p:cNvPr>
          <p:cNvGrpSpPr/>
          <p:nvPr/>
        </p:nvGrpSpPr>
        <p:grpSpPr>
          <a:xfrm>
            <a:off x="8556750" y="2052368"/>
            <a:ext cx="3199420" cy="1059252"/>
            <a:chOff x="8556750" y="1925712"/>
            <a:chExt cx="3199420" cy="1185908"/>
          </a:xfrm>
        </p:grpSpPr>
        <p:sp>
          <p:nvSpPr>
            <p:cNvPr id="13" name="Callout: Line with No Border 12">
              <a:extLst>
                <a:ext uri="{FF2B5EF4-FFF2-40B4-BE49-F238E27FC236}">
                  <a16:creationId xmlns:a16="http://schemas.microsoft.com/office/drawing/2014/main" id="{B52E81B9-E53A-E086-20DD-841B79031DBD}"/>
                </a:ext>
              </a:extLst>
            </p:cNvPr>
            <p:cNvSpPr/>
            <p:nvPr/>
          </p:nvSpPr>
          <p:spPr>
            <a:xfrm>
              <a:off x="9629685" y="2287558"/>
              <a:ext cx="892170" cy="573457"/>
            </a:xfrm>
            <a:prstGeom prst="callout1">
              <a:avLst>
                <a:gd name="adj1" fmla="val -5655"/>
                <a:gd name="adj2" fmla="val -108924"/>
                <a:gd name="adj3" fmla="val -28443"/>
                <a:gd name="adj4" fmla="val -580892"/>
              </a:avLst>
            </a:prstGeom>
            <a:noFill/>
            <a:ln w="28575" cap="rnd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4" name="Speech Bubble: Rectangle with Corners Rounded 13">
              <a:extLst>
                <a:ext uri="{FF2B5EF4-FFF2-40B4-BE49-F238E27FC236}">
                  <a16:creationId xmlns:a16="http://schemas.microsoft.com/office/drawing/2014/main" id="{5F25749B-6169-A0FC-3158-BC00291D0322}"/>
                </a:ext>
              </a:extLst>
            </p:cNvPr>
            <p:cNvSpPr/>
            <p:nvPr/>
          </p:nvSpPr>
          <p:spPr>
            <a:xfrm>
              <a:off x="8556750" y="1925712"/>
              <a:ext cx="3199420" cy="1185908"/>
            </a:xfrm>
            <a:prstGeom prst="wedgeRoundRectCallout">
              <a:avLst>
                <a:gd name="adj1" fmla="val -13906"/>
                <a:gd name="adj2" fmla="val 4162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0000" indent="-360000"/>
              <a:r>
                <a:rPr lang="en-US" sz="1800"/>
                <a:t>VDDA</a:t>
              </a:r>
              <a:r>
                <a:rPr lang="en-DE" sz="1800"/>
                <a:t>, VDDP,</a:t>
              </a:r>
              <a:r>
                <a:rPr lang="en-US" sz="1800"/>
                <a:t> VDD</a:t>
              </a:r>
              <a:r>
                <a:rPr lang="en-DE" sz="1800"/>
                <a:t>AU </a:t>
              </a:r>
            </a:p>
            <a:p>
              <a:pPr marL="360000" indent="-360000"/>
              <a:r>
                <a:rPr lang="en-DE" sz="1800"/>
                <a:t>all connected to same </a:t>
              </a:r>
            </a:p>
            <a:p>
              <a:pPr marL="360000" indent="-360000"/>
              <a:r>
                <a:rPr lang="en-DE" sz="1800"/>
                <a:t>3.3V power supply</a:t>
              </a:r>
            </a:p>
          </p:txBody>
        </p:sp>
      </p:grp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B3B6DF48-DD0C-902D-06B6-775AA950FDA6}"/>
              </a:ext>
            </a:extLst>
          </p:cNvPr>
          <p:cNvSpPr/>
          <p:nvPr/>
        </p:nvSpPr>
        <p:spPr bwMode="auto">
          <a:xfrm>
            <a:off x="4529107" y="4967812"/>
            <a:ext cx="1286000" cy="39852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E6C2A0-AEAB-79BE-4A46-3EC30F3A1EFA}"/>
              </a:ext>
            </a:extLst>
          </p:cNvPr>
          <p:cNvGrpSpPr/>
          <p:nvPr/>
        </p:nvGrpSpPr>
        <p:grpSpPr>
          <a:xfrm>
            <a:off x="8556752" y="4342423"/>
            <a:ext cx="3199419" cy="738759"/>
            <a:chOff x="8556750" y="4368833"/>
            <a:chExt cx="3199419" cy="827093"/>
          </a:xfrm>
        </p:grpSpPr>
        <p:sp>
          <p:nvSpPr>
            <p:cNvPr id="6" name="Callout: Line with No Border 5">
              <a:extLst>
                <a:ext uri="{FF2B5EF4-FFF2-40B4-BE49-F238E27FC236}">
                  <a16:creationId xmlns:a16="http://schemas.microsoft.com/office/drawing/2014/main" id="{93F3601A-BA21-ECBE-4668-E8FD1165878F}"/>
                </a:ext>
              </a:extLst>
            </p:cNvPr>
            <p:cNvSpPr/>
            <p:nvPr/>
          </p:nvSpPr>
          <p:spPr>
            <a:xfrm>
              <a:off x="9782085" y="4596990"/>
              <a:ext cx="892170" cy="399949"/>
            </a:xfrm>
            <a:prstGeom prst="callout1">
              <a:avLst>
                <a:gd name="adj1" fmla="val 48289"/>
                <a:gd name="adj2" fmla="val -87508"/>
                <a:gd name="adj3" fmla="val 183022"/>
                <a:gd name="adj4" fmla="val -446169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6A4C0B3A-532F-743A-0C08-8BE2B60AF474}"/>
                </a:ext>
              </a:extLst>
            </p:cNvPr>
            <p:cNvSpPr/>
            <p:nvPr/>
          </p:nvSpPr>
          <p:spPr>
            <a:xfrm>
              <a:off x="8556750" y="4368833"/>
              <a:ext cx="3199419" cy="827093"/>
            </a:xfrm>
            <a:prstGeom prst="wedgeRoundRectCallout">
              <a:avLst>
                <a:gd name="adj1" fmla="val -21878"/>
                <a:gd name="adj2" fmla="val 37132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60000" indent="-360000"/>
              <a:r>
                <a:rPr lang="en-DE" sz="1800"/>
                <a:t>If Wake-forwarding </a:t>
              </a:r>
              <a:r>
                <a:rPr lang="en-US" sz="1800" u="sng"/>
                <a:t>not</a:t>
              </a:r>
              <a:r>
                <a:rPr lang="en-US" sz="1800"/>
                <a:t> used</a:t>
              </a:r>
              <a:r>
                <a:rPr lang="en-DE" sz="1800"/>
                <a:t>:</a:t>
              </a:r>
            </a:p>
            <a:p>
              <a:pPr marL="360000" indent="-360000">
                <a:buFont typeface="Arial" panose="020B0604020202020204" pitchFamily="34" charset="0"/>
                <a:buChar char="•"/>
              </a:pPr>
              <a:r>
                <a:rPr lang="en-DE" sz="1800" b="1"/>
                <a:t>WAKE_OUT</a:t>
              </a:r>
              <a:r>
                <a:rPr lang="en-DE" sz="1800"/>
                <a:t>: no connect</a:t>
              </a: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714F61-8FF5-144A-3282-CD581262104E}"/>
              </a:ext>
            </a:extLst>
          </p:cNvPr>
          <p:cNvSpPr/>
          <p:nvPr/>
        </p:nvSpPr>
        <p:spPr bwMode="auto">
          <a:xfrm rot="5400000">
            <a:off x="4797322" y="2735070"/>
            <a:ext cx="1097337" cy="426833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B05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E544E-9342-C2C7-51F9-575CFD837AEE}"/>
              </a:ext>
            </a:extLst>
          </p:cNvPr>
          <p:cNvGrpSpPr/>
          <p:nvPr/>
        </p:nvGrpSpPr>
        <p:grpSpPr>
          <a:xfrm>
            <a:off x="8556752" y="5349604"/>
            <a:ext cx="3199419" cy="1059253"/>
            <a:chOff x="8556751" y="4283808"/>
            <a:chExt cx="3199419" cy="1059253"/>
          </a:xfrm>
        </p:grpSpPr>
        <p:sp>
          <p:nvSpPr>
            <p:cNvPr id="20" name="Callout: Line with No Border 19">
              <a:extLst>
                <a:ext uri="{FF2B5EF4-FFF2-40B4-BE49-F238E27FC236}">
                  <a16:creationId xmlns:a16="http://schemas.microsoft.com/office/drawing/2014/main" id="{4E9C27CB-2D23-5AF3-2AAD-82025773AD07}"/>
                </a:ext>
              </a:extLst>
            </p:cNvPr>
            <p:cNvSpPr/>
            <p:nvPr/>
          </p:nvSpPr>
          <p:spPr>
            <a:xfrm>
              <a:off x="9488401" y="4558071"/>
              <a:ext cx="892170" cy="357234"/>
            </a:xfrm>
            <a:prstGeom prst="callout1">
              <a:avLst>
                <a:gd name="adj1" fmla="val 145709"/>
                <a:gd name="adj2" fmla="val -102040"/>
                <a:gd name="adj3" fmla="val 101980"/>
                <a:gd name="adj4" fmla="val -560655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 b="1"/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893CFA23-51CA-6DF5-E661-C444A5FE7ED0}"/>
                </a:ext>
              </a:extLst>
            </p:cNvPr>
            <p:cNvSpPr/>
            <p:nvPr/>
          </p:nvSpPr>
          <p:spPr>
            <a:xfrm>
              <a:off x="8556751" y="4283808"/>
              <a:ext cx="3199419" cy="1059253"/>
            </a:xfrm>
            <a:prstGeom prst="wedgeRoundRectCallout">
              <a:avLst>
                <a:gd name="adj1" fmla="val 37817"/>
                <a:gd name="adj2" fmla="val -4642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60000" indent="-360000"/>
              <a:r>
                <a:rPr lang="en-DE" sz="1800"/>
                <a:t>If </a:t>
              </a:r>
              <a:r>
                <a:rPr lang="en-US" sz="1800"/>
                <a:t>Sleep mode </a:t>
              </a:r>
              <a:r>
                <a:rPr lang="en-US" sz="1800" u="sng"/>
                <a:t>not</a:t>
              </a:r>
              <a:r>
                <a:rPr lang="en-US" sz="1800"/>
                <a:t> used</a:t>
              </a:r>
              <a:r>
                <a:rPr lang="en-DE" sz="1800"/>
                <a:t>:</a:t>
              </a:r>
            </a:p>
            <a:p>
              <a:pPr marL="360000" indent="-360000">
                <a:buFont typeface="Arial" panose="020B0604020202020204" pitchFamily="34" charset="0"/>
                <a:buChar char="•"/>
              </a:pPr>
              <a:r>
                <a:rPr lang="en-DE" sz="1800" b="1"/>
                <a:t>INH</a:t>
              </a:r>
              <a:r>
                <a:rPr lang="en-DE" sz="1800"/>
                <a:t>: no connect</a:t>
              </a:r>
            </a:p>
            <a:p>
              <a:pPr marL="360000" indent="-360000">
                <a:buFont typeface="Arial" panose="020B0604020202020204" pitchFamily="34" charset="0"/>
                <a:buChar char="•"/>
              </a:pPr>
              <a:r>
                <a:rPr lang="en-DE" sz="1800" b="1"/>
                <a:t>WAKE_IN</a:t>
              </a:r>
              <a:r>
                <a:rPr lang="en-DE" sz="1800"/>
                <a:t>: connect to VSS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867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93D0BD4C-975F-5E8F-E6FD-D65F8EEEA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440" y="1775753"/>
            <a:ext cx="6276975" cy="4610100"/>
          </a:xfrm>
          <a:prstGeom prst="rect">
            <a:avLst/>
          </a:prstGeom>
        </p:spPr>
      </p:pic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C4D2F59D-A9EE-D356-B2C4-EF107841AC8A}"/>
              </a:ext>
            </a:extLst>
          </p:cNvPr>
          <p:cNvSpPr/>
          <p:nvPr/>
        </p:nvSpPr>
        <p:spPr bwMode="auto">
          <a:xfrm rot="5400000">
            <a:off x="3073604" y="3068182"/>
            <a:ext cx="1602377" cy="762635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EE9A9211-8D5D-D889-714F-54765BB019DF}"/>
              </a:ext>
            </a:extLst>
          </p:cNvPr>
          <p:cNvSpPr/>
          <p:nvPr/>
        </p:nvSpPr>
        <p:spPr bwMode="auto">
          <a:xfrm rot="5400000">
            <a:off x="4234233" y="3275185"/>
            <a:ext cx="1602374" cy="348631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FDEDC7E7-B055-84CA-243E-997641D94012}"/>
              </a:ext>
            </a:extLst>
          </p:cNvPr>
          <p:cNvSpPr/>
          <p:nvPr/>
        </p:nvSpPr>
        <p:spPr bwMode="auto">
          <a:xfrm rot="5400000">
            <a:off x="3763565" y="3302638"/>
            <a:ext cx="1598959" cy="290313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53572B31-E36A-AC31-1F04-0EE43F2127E2}"/>
              </a:ext>
            </a:extLst>
          </p:cNvPr>
          <p:cNvSpPr/>
          <p:nvPr/>
        </p:nvSpPr>
        <p:spPr bwMode="auto">
          <a:xfrm>
            <a:off x="4464779" y="4476002"/>
            <a:ext cx="2535416" cy="1319887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F4132F04-6F79-E490-4AD6-BA47C65AFA43}"/>
              </a:ext>
            </a:extLst>
          </p:cNvPr>
          <p:cNvSpPr/>
          <p:nvPr/>
        </p:nvSpPr>
        <p:spPr bwMode="auto">
          <a:xfrm>
            <a:off x="4332145" y="4877032"/>
            <a:ext cx="2537641" cy="1319888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B05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0C7DB-BC8F-F150-6A4A-614C9134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with Sleep Mode and Advanced Features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929FC54-5A29-3324-3205-562AE211A823}"/>
              </a:ext>
            </a:extLst>
          </p:cNvPr>
          <p:cNvSpPr/>
          <p:nvPr/>
        </p:nvSpPr>
        <p:spPr>
          <a:xfrm>
            <a:off x="8070801" y="4978315"/>
            <a:ext cx="3463095" cy="1036374"/>
          </a:xfrm>
          <a:prstGeom prst="wedgeRoundRectCallout">
            <a:avLst>
              <a:gd name="adj1" fmla="val -45212"/>
              <a:gd name="adj2" fmla="val 1560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2400"/>
              </a:spcBef>
            </a:pPr>
            <a:r>
              <a:rPr lang="en-DE" sz="1800"/>
              <a:t>Wake-up might be forwarded</a:t>
            </a:r>
            <a:br>
              <a:rPr lang="en-DE" sz="1800"/>
            </a:br>
            <a:r>
              <a:rPr lang="en-DE" sz="1800"/>
              <a:t>via WAKE_OUT to local devices</a:t>
            </a:r>
            <a:br>
              <a:rPr lang="en-DE" sz="1800"/>
            </a:br>
            <a:r>
              <a:rPr lang="en-DE" sz="1800"/>
              <a:t>via MDI to wake remote nodes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F3810A-1AFC-2113-214A-C682FA4B5D50}"/>
              </a:ext>
            </a:extLst>
          </p:cNvPr>
          <p:cNvGrpSpPr/>
          <p:nvPr/>
        </p:nvGrpSpPr>
        <p:grpSpPr>
          <a:xfrm>
            <a:off x="8061346" y="946200"/>
            <a:ext cx="3572979" cy="961686"/>
            <a:chOff x="1982323" y="816962"/>
            <a:chExt cx="3659485" cy="961686"/>
          </a:xfrm>
        </p:grpSpPr>
        <p:sp>
          <p:nvSpPr>
            <p:cNvPr id="2" name="Callout: Line with No Border 1">
              <a:extLst>
                <a:ext uri="{FF2B5EF4-FFF2-40B4-BE49-F238E27FC236}">
                  <a16:creationId xmlns:a16="http://schemas.microsoft.com/office/drawing/2014/main" id="{13B29ECA-F4BA-F42E-DB72-65FCC8F74666}"/>
                </a:ext>
              </a:extLst>
            </p:cNvPr>
            <p:cNvSpPr/>
            <p:nvPr/>
          </p:nvSpPr>
          <p:spPr>
            <a:xfrm>
              <a:off x="3641642" y="1205191"/>
              <a:ext cx="892170" cy="573457"/>
            </a:xfrm>
            <a:prstGeom prst="callout1">
              <a:avLst>
                <a:gd name="adj1" fmla="val 61017"/>
                <a:gd name="adj2" fmla="val -105289"/>
                <a:gd name="adj3" fmla="val 241838"/>
                <a:gd name="adj4" fmla="val -513046"/>
              </a:avLst>
            </a:prstGeom>
            <a:noFill/>
            <a:ln w="28575" cap="rnd"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" name="Speech Bubble: Rectangle with Corners Rounded 3">
              <a:extLst>
                <a:ext uri="{FF2B5EF4-FFF2-40B4-BE49-F238E27FC236}">
                  <a16:creationId xmlns:a16="http://schemas.microsoft.com/office/drawing/2014/main" id="{DCF69B60-C0F4-6787-290B-E5E777C5F004}"/>
                </a:ext>
              </a:extLst>
            </p:cNvPr>
            <p:cNvSpPr/>
            <p:nvPr/>
          </p:nvSpPr>
          <p:spPr>
            <a:xfrm>
              <a:off x="1982323" y="816962"/>
              <a:ext cx="3659485" cy="767369"/>
            </a:xfrm>
            <a:prstGeom prst="wedgeRoundRectCallout">
              <a:avLst>
                <a:gd name="adj1" fmla="val 21507"/>
                <a:gd name="adj2" fmla="val 4817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2400"/>
                </a:spcBef>
              </a:pPr>
              <a:r>
                <a:rPr lang="en-DE" sz="1800"/>
                <a:t>VDDA, VDDP disabled in sleep mode VDDAU for wake-up detection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743D96E-AC07-24DA-D24F-2CBE251EBF69}"/>
              </a:ext>
            </a:extLst>
          </p:cNvPr>
          <p:cNvGrpSpPr/>
          <p:nvPr/>
        </p:nvGrpSpPr>
        <p:grpSpPr>
          <a:xfrm>
            <a:off x="8070802" y="4978315"/>
            <a:ext cx="3563525" cy="1036374"/>
            <a:chOff x="8202099" y="4654760"/>
            <a:chExt cx="3563525" cy="1036374"/>
          </a:xfrm>
        </p:grpSpPr>
        <p:sp>
          <p:nvSpPr>
            <p:cNvPr id="19" name="Callout: Line with No Border 18">
              <a:extLst>
                <a:ext uri="{FF2B5EF4-FFF2-40B4-BE49-F238E27FC236}">
                  <a16:creationId xmlns:a16="http://schemas.microsoft.com/office/drawing/2014/main" id="{4D38BD99-75C6-A54F-E2BE-F45DFE3FC495}"/>
                </a:ext>
              </a:extLst>
            </p:cNvPr>
            <p:cNvSpPr/>
            <p:nvPr/>
          </p:nvSpPr>
          <p:spPr>
            <a:xfrm>
              <a:off x="9533049" y="4844549"/>
              <a:ext cx="892170" cy="573457"/>
            </a:xfrm>
            <a:prstGeom prst="callout1">
              <a:avLst>
                <a:gd name="adj1" fmla="val 95486"/>
                <a:gd name="adj2" fmla="val -142665"/>
                <a:gd name="adj3" fmla="val 146400"/>
                <a:gd name="adj4" fmla="val -282473"/>
              </a:avLst>
            </a:prstGeom>
            <a:noFill/>
            <a:ln w="28575" cap="rnd"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0" name="Speech Bubble: Rectangle with Corners Rounded 19">
              <a:extLst>
                <a:ext uri="{FF2B5EF4-FFF2-40B4-BE49-F238E27FC236}">
                  <a16:creationId xmlns:a16="http://schemas.microsoft.com/office/drawing/2014/main" id="{E532C1B1-1B40-7553-E042-5FEC7DE33F40}"/>
                </a:ext>
              </a:extLst>
            </p:cNvPr>
            <p:cNvSpPr/>
            <p:nvPr/>
          </p:nvSpPr>
          <p:spPr>
            <a:xfrm>
              <a:off x="8202099" y="4654760"/>
              <a:ext cx="3563525" cy="1036374"/>
            </a:xfrm>
            <a:prstGeom prst="wedgeRoundRectCallout">
              <a:avLst>
                <a:gd name="adj1" fmla="val -41529"/>
                <a:gd name="adj2" fmla="val 147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DE" sz="1800"/>
                <a:t>Wake-up can be </a:t>
              </a:r>
              <a:r>
                <a:rPr lang="en-DE" sz="1800" b="1"/>
                <a:t>forwarded </a:t>
              </a:r>
              <a:r>
                <a:rPr lang="en-DE" sz="1800"/>
                <a:t>via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DE" sz="1800" b="1"/>
                <a:t>WAKE_OUT </a:t>
              </a:r>
              <a:r>
                <a:rPr lang="en-DE" sz="1800"/>
                <a:t>to local devices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DE" sz="1800" b="1"/>
                <a:t>MDI</a:t>
              </a:r>
              <a:r>
                <a:rPr lang="en-DE" sz="1800"/>
                <a:t> to wake remote nodes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5E7E98-1DD8-A3AB-A091-5523D287E12A}"/>
              </a:ext>
            </a:extLst>
          </p:cNvPr>
          <p:cNvGrpSpPr/>
          <p:nvPr/>
        </p:nvGrpSpPr>
        <p:grpSpPr>
          <a:xfrm>
            <a:off x="8061348" y="3613543"/>
            <a:ext cx="3563525" cy="1091644"/>
            <a:chOff x="8192645" y="3289988"/>
            <a:chExt cx="3563525" cy="1091644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4279961B-1313-CEB6-7999-4409280CFEF8}"/>
                </a:ext>
              </a:extLst>
            </p:cNvPr>
            <p:cNvSpPr/>
            <p:nvPr/>
          </p:nvSpPr>
          <p:spPr>
            <a:xfrm>
              <a:off x="9400680" y="3808175"/>
              <a:ext cx="892170" cy="573457"/>
            </a:xfrm>
            <a:prstGeom prst="callout1">
              <a:avLst>
                <a:gd name="adj1" fmla="val 11931"/>
                <a:gd name="adj2" fmla="val -119702"/>
                <a:gd name="adj3" fmla="val 6189"/>
                <a:gd name="adj4" fmla="val -8959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5" name="Callout: Line with No Border 14">
              <a:extLst>
                <a:ext uri="{FF2B5EF4-FFF2-40B4-BE49-F238E27FC236}">
                  <a16:creationId xmlns:a16="http://schemas.microsoft.com/office/drawing/2014/main" id="{8CA43F4D-D541-F93F-3C11-2250895CC04F}"/>
                </a:ext>
              </a:extLst>
            </p:cNvPr>
            <p:cNvSpPr/>
            <p:nvPr/>
          </p:nvSpPr>
          <p:spPr>
            <a:xfrm>
              <a:off x="9553080" y="3429000"/>
              <a:ext cx="892170" cy="573457"/>
            </a:xfrm>
            <a:prstGeom prst="callout1">
              <a:avLst>
                <a:gd name="adj1" fmla="val 119744"/>
                <a:gd name="adj2" fmla="val -139501"/>
                <a:gd name="adj3" fmla="val 172635"/>
                <a:gd name="adj4" fmla="val -270267"/>
              </a:avLst>
            </a:prstGeom>
            <a:noFill/>
            <a:ln w="28575" cap="rnd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1" name="Speech Bubble: Rectangle with Corners Rounded 20">
              <a:extLst>
                <a:ext uri="{FF2B5EF4-FFF2-40B4-BE49-F238E27FC236}">
                  <a16:creationId xmlns:a16="http://schemas.microsoft.com/office/drawing/2014/main" id="{C54C9CE5-633A-4FA5-6239-9268FCDD51A3}"/>
                </a:ext>
              </a:extLst>
            </p:cNvPr>
            <p:cNvSpPr/>
            <p:nvPr/>
          </p:nvSpPr>
          <p:spPr>
            <a:xfrm>
              <a:off x="8192645" y="3289988"/>
              <a:ext cx="3563525" cy="1036374"/>
            </a:xfrm>
            <a:prstGeom prst="wedgeRoundRectCallout">
              <a:avLst>
                <a:gd name="adj1" fmla="val -29802"/>
                <a:gd name="adj2" fmla="val -145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DE" sz="1800"/>
                <a:t>Wake-up is </a:t>
              </a:r>
              <a:r>
                <a:rPr lang="en-DE" sz="1800" b="1"/>
                <a:t>initiated </a:t>
              </a:r>
              <a:r>
                <a:rPr lang="en-DE" sz="1800"/>
                <a:t>by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DE" sz="1800"/>
                <a:t>the host via </a:t>
              </a:r>
              <a:r>
                <a:rPr lang="en-DE" sz="1800" b="1"/>
                <a:t>WAKE_IN</a:t>
              </a:r>
              <a:r>
                <a:rPr lang="en-DE" sz="1800"/>
                <a:t>,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DE" sz="1800"/>
                <a:t>network activity via </a:t>
              </a:r>
              <a:r>
                <a:rPr lang="en-DE" sz="1800" b="1"/>
                <a:t>MDI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F7D76E-5EBE-A675-4E5D-5036554ABC99}"/>
              </a:ext>
            </a:extLst>
          </p:cNvPr>
          <p:cNvGrpSpPr/>
          <p:nvPr/>
        </p:nvGrpSpPr>
        <p:grpSpPr>
          <a:xfrm>
            <a:off x="8061348" y="2053915"/>
            <a:ext cx="3554071" cy="1219281"/>
            <a:chOff x="8202099" y="1807688"/>
            <a:chExt cx="3554071" cy="1219281"/>
          </a:xfrm>
        </p:grpSpPr>
        <p:sp>
          <p:nvSpPr>
            <p:cNvPr id="17" name="Callout: Line with No Border 16">
              <a:extLst>
                <a:ext uri="{FF2B5EF4-FFF2-40B4-BE49-F238E27FC236}">
                  <a16:creationId xmlns:a16="http://schemas.microsoft.com/office/drawing/2014/main" id="{501B3ABC-19DB-3C8C-BC49-955BE8256B0E}"/>
                </a:ext>
              </a:extLst>
            </p:cNvPr>
            <p:cNvSpPr/>
            <p:nvPr/>
          </p:nvSpPr>
          <p:spPr>
            <a:xfrm>
              <a:off x="9316810" y="2095345"/>
              <a:ext cx="892170" cy="573457"/>
            </a:xfrm>
            <a:prstGeom prst="callout1">
              <a:avLst>
                <a:gd name="adj1" fmla="val 66290"/>
                <a:gd name="adj2" fmla="val -96408"/>
                <a:gd name="adj3" fmla="val 228828"/>
                <a:gd name="adj4" fmla="val -496739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4C53A084-4CC9-AEAD-940E-0CCFB25AED05}"/>
                </a:ext>
              </a:extLst>
            </p:cNvPr>
            <p:cNvSpPr/>
            <p:nvPr/>
          </p:nvSpPr>
          <p:spPr>
            <a:xfrm>
              <a:off x="8202099" y="1807688"/>
              <a:ext cx="3554071" cy="1219281"/>
            </a:xfrm>
            <a:prstGeom prst="wedgeRoundRectCallout">
              <a:avLst>
                <a:gd name="adj1" fmla="val -31700"/>
                <a:gd name="adj2" fmla="val -1016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2400"/>
                </a:spcBef>
              </a:pPr>
              <a:r>
                <a:rPr lang="en-US" sz="1800"/>
                <a:t>After sleep mode starts, </a:t>
              </a:r>
              <a:br>
                <a:rPr lang="en-DE" sz="1800"/>
              </a:br>
              <a:r>
                <a:rPr lang="en-US" sz="1800" b="1"/>
                <a:t>INH</a:t>
              </a:r>
              <a:r>
                <a:rPr lang="en-US" sz="1800"/>
                <a:t> will be </a:t>
              </a:r>
              <a:r>
                <a:rPr lang="en-US" sz="1800" err="1"/>
                <a:t>deasserted</a:t>
              </a:r>
              <a:r>
                <a:rPr lang="en-US" sz="1800"/>
                <a:t>, </a:t>
              </a:r>
              <a:br>
                <a:rPr lang="en-DE" sz="1800"/>
              </a:br>
              <a:r>
                <a:rPr lang="en-US" sz="1800"/>
                <a:t>which disables the voltage regulator for VDD</a:t>
              </a:r>
              <a:r>
                <a:rPr lang="en-DE" sz="1800"/>
                <a:t>A</a:t>
              </a:r>
              <a:r>
                <a:rPr lang="en-US" sz="1800"/>
                <a:t>/VDD</a:t>
              </a:r>
              <a:r>
                <a:rPr lang="en-DE" sz="1800"/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244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8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ACEB9A3-C004-7315-C0E7-4222196CF528}"/>
              </a:ext>
            </a:extLst>
          </p:cNvPr>
          <p:cNvGrpSpPr/>
          <p:nvPr/>
        </p:nvGrpSpPr>
        <p:grpSpPr>
          <a:xfrm>
            <a:off x="405556" y="5501190"/>
            <a:ext cx="6692977" cy="779619"/>
            <a:chOff x="4160661" y="2889853"/>
            <a:chExt cx="7736445" cy="77961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787C61-10E5-E9C5-909A-48D9A9CEBE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28"/>
            <a:stretch/>
          </p:blipFill>
          <p:spPr>
            <a:xfrm>
              <a:off x="4160661" y="2928579"/>
              <a:ext cx="7736445" cy="70485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54EC9C7E-D455-396C-6EE3-ACF0E3E21EB5}"/>
                </a:ext>
              </a:extLst>
            </p:cNvPr>
            <p:cNvSpPr/>
            <p:nvPr/>
          </p:nvSpPr>
          <p:spPr bwMode="auto">
            <a:xfrm>
              <a:off x="8127567" y="2889853"/>
              <a:ext cx="1507930" cy="267488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554EBC94-CD37-1A24-0060-A93FD5DD15B6}"/>
                </a:ext>
              </a:extLst>
            </p:cNvPr>
            <p:cNvSpPr/>
            <p:nvPr/>
          </p:nvSpPr>
          <p:spPr bwMode="auto">
            <a:xfrm>
              <a:off x="6532105" y="2892541"/>
              <a:ext cx="1552713" cy="262111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6" name="Rounded Rectangle 4">
              <a:extLst>
                <a:ext uri="{FF2B5EF4-FFF2-40B4-BE49-F238E27FC236}">
                  <a16:creationId xmlns:a16="http://schemas.microsoft.com/office/drawing/2014/main" id="{D9BD099B-3F86-93B3-A5DF-7FAAB2549070}"/>
                </a:ext>
              </a:extLst>
            </p:cNvPr>
            <p:cNvSpPr/>
            <p:nvPr/>
          </p:nvSpPr>
          <p:spPr bwMode="auto">
            <a:xfrm>
              <a:off x="10373338" y="3415190"/>
              <a:ext cx="1510921" cy="25428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B05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9FAE642C-431D-440B-1AED-EA4D111B27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62" y="1332113"/>
            <a:ext cx="5048250" cy="3438525"/>
          </a:xfrm>
          <a:prstGeom prst="rect">
            <a:avLst/>
          </a:prstGeom>
        </p:spPr>
      </p:pic>
      <p:sp>
        <p:nvSpPr>
          <p:cNvPr id="24" name="Rounded Rectangle 4">
            <a:extLst>
              <a:ext uri="{FF2B5EF4-FFF2-40B4-BE49-F238E27FC236}">
                <a16:creationId xmlns:a16="http://schemas.microsoft.com/office/drawing/2014/main" id="{40000301-9FD3-A21F-D7E1-A8EB781E4349}"/>
              </a:ext>
            </a:extLst>
          </p:cNvPr>
          <p:cNvSpPr/>
          <p:nvPr/>
        </p:nvSpPr>
        <p:spPr bwMode="auto">
          <a:xfrm rot="5400000">
            <a:off x="3010915" y="1762948"/>
            <a:ext cx="1245653" cy="383983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25" name="Rounded Rectangle 4">
            <a:extLst>
              <a:ext uri="{FF2B5EF4-FFF2-40B4-BE49-F238E27FC236}">
                <a16:creationId xmlns:a16="http://schemas.microsoft.com/office/drawing/2014/main" id="{09B88616-44DA-F36E-7E15-A87F90124CA8}"/>
              </a:ext>
            </a:extLst>
          </p:cNvPr>
          <p:cNvSpPr/>
          <p:nvPr/>
        </p:nvSpPr>
        <p:spPr bwMode="auto">
          <a:xfrm>
            <a:off x="3546708" y="2860992"/>
            <a:ext cx="2444883" cy="129704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27" name="Rounded Rectangle 4">
            <a:extLst>
              <a:ext uri="{FF2B5EF4-FFF2-40B4-BE49-F238E27FC236}">
                <a16:creationId xmlns:a16="http://schemas.microsoft.com/office/drawing/2014/main" id="{3022F445-B318-E106-CEA9-CCF9B02861DF}"/>
              </a:ext>
            </a:extLst>
          </p:cNvPr>
          <p:cNvSpPr/>
          <p:nvPr/>
        </p:nvSpPr>
        <p:spPr bwMode="auto">
          <a:xfrm>
            <a:off x="3441752" y="3283952"/>
            <a:ext cx="2444884" cy="1305387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B05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A9E0FD-0016-7797-9777-2E653878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/>
              <a:t>Host Configures Each Time </a:t>
            </a:r>
            <a:r>
              <a:rPr lang="en-DE" u="sng"/>
              <a:t>before</a:t>
            </a:r>
            <a:r>
              <a:rPr lang="en-DE"/>
              <a:t> Going to SLEEP...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DBFF1CA-0254-2E43-92C7-7D66C52196A4}"/>
              </a:ext>
            </a:extLst>
          </p:cNvPr>
          <p:cNvGrpSpPr/>
          <p:nvPr/>
        </p:nvGrpSpPr>
        <p:grpSpPr>
          <a:xfrm>
            <a:off x="7642340" y="4029218"/>
            <a:ext cx="3814562" cy="2215553"/>
            <a:chOff x="7706758" y="4094499"/>
            <a:chExt cx="3814562" cy="2215553"/>
          </a:xfrm>
        </p:grpSpPr>
        <p:sp>
          <p:nvSpPr>
            <p:cNvPr id="31" name="Callout: Line with No Border 30">
              <a:extLst>
                <a:ext uri="{FF2B5EF4-FFF2-40B4-BE49-F238E27FC236}">
                  <a16:creationId xmlns:a16="http://schemas.microsoft.com/office/drawing/2014/main" id="{0FBA0F36-358A-F75E-7E0B-1385D270BAE8}"/>
                </a:ext>
              </a:extLst>
            </p:cNvPr>
            <p:cNvSpPr/>
            <p:nvPr/>
          </p:nvSpPr>
          <p:spPr>
            <a:xfrm>
              <a:off x="9278207" y="5067948"/>
              <a:ext cx="892170" cy="573457"/>
            </a:xfrm>
            <a:prstGeom prst="callout1">
              <a:avLst>
                <a:gd name="adj1" fmla="val -111572"/>
                <a:gd name="adj2" fmla="val -171207"/>
                <a:gd name="adj3" fmla="val -110910"/>
                <a:gd name="adj4" fmla="val -368882"/>
              </a:avLst>
            </a:prstGeom>
            <a:noFill/>
            <a:ln w="28575" cap="rnd"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4B331CB-0C81-B151-10C6-CA3ACAC7D0E4}"/>
                </a:ext>
              </a:extLst>
            </p:cNvPr>
            <p:cNvGrpSpPr/>
            <p:nvPr/>
          </p:nvGrpSpPr>
          <p:grpSpPr>
            <a:xfrm>
              <a:off x="7706758" y="4094499"/>
              <a:ext cx="3814562" cy="2215553"/>
              <a:chOff x="7223604" y="3955370"/>
              <a:chExt cx="3814562" cy="2215553"/>
            </a:xfrm>
          </p:grpSpPr>
          <p:sp>
            <p:nvSpPr>
              <p:cNvPr id="9" name="Callout: Line with No Border 8">
                <a:extLst>
                  <a:ext uri="{FF2B5EF4-FFF2-40B4-BE49-F238E27FC236}">
                    <a16:creationId xmlns:a16="http://schemas.microsoft.com/office/drawing/2014/main" id="{CEA11EC0-DE82-95A6-783D-E071EDCBD392}"/>
                  </a:ext>
                </a:extLst>
              </p:cNvPr>
              <p:cNvSpPr/>
              <p:nvPr/>
            </p:nvSpPr>
            <p:spPr>
              <a:xfrm>
                <a:off x="8642653" y="4776419"/>
                <a:ext cx="892170" cy="573457"/>
              </a:xfrm>
              <a:prstGeom prst="callout1">
                <a:avLst>
                  <a:gd name="adj1" fmla="val -117252"/>
                  <a:gd name="adj2" fmla="val 54168"/>
                  <a:gd name="adj3" fmla="val 108876"/>
                  <a:gd name="adj4" fmla="val 150429"/>
                </a:avLst>
              </a:prstGeom>
              <a:noFill/>
              <a:ln w="38100" cap="rnd">
                <a:solidFill>
                  <a:srgbClr val="00B05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20" name="Speech Bubble: Rectangle with Corners Rounded 19">
                <a:extLst>
                  <a:ext uri="{FF2B5EF4-FFF2-40B4-BE49-F238E27FC236}">
                    <a16:creationId xmlns:a16="http://schemas.microsoft.com/office/drawing/2014/main" id="{50AC4933-A3F0-3FA2-15BD-5C4CA221A77C}"/>
                  </a:ext>
                </a:extLst>
              </p:cNvPr>
              <p:cNvSpPr/>
              <p:nvPr/>
            </p:nvSpPr>
            <p:spPr>
              <a:xfrm>
                <a:off x="7223604" y="3955370"/>
                <a:ext cx="3814562" cy="2215553"/>
              </a:xfrm>
              <a:prstGeom prst="wedgeRoundRectCallout">
                <a:avLst>
                  <a:gd name="adj1" fmla="val -39423"/>
                  <a:gd name="adj2" fmla="val 26220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1800"/>
                  <a:t>S</a:t>
                </a:r>
                <a:r>
                  <a:rPr lang="en-DE" sz="1800" err="1"/>
                  <a:t>hould</a:t>
                </a:r>
                <a:r>
                  <a:rPr lang="en-DE" sz="1800"/>
                  <a:t> other network nodes / local devices also be woken up by...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DE" sz="1800" b="1"/>
                  <a:t>MDIFWDEN</a:t>
                </a:r>
                <a:r>
                  <a:rPr lang="en-DE" sz="1800"/>
                  <a:t>  </a:t>
                </a:r>
                <a:br>
                  <a:rPr lang="en-DE" sz="1800"/>
                </a:br>
                <a:r>
                  <a:rPr lang="en-DE" sz="1800"/>
                  <a:t>(MDI Forward Enable)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DE" sz="1800" b="1"/>
                  <a:t>WKOFWDEN</a:t>
                </a:r>
                <a:r>
                  <a:rPr lang="en-DE" sz="1800"/>
                  <a:t>  </a:t>
                </a:r>
                <a:br>
                  <a:rPr lang="en-DE" sz="1800"/>
                </a:br>
                <a:r>
                  <a:rPr lang="en-DE" sz="1800"/>
                  <a:t>(WAKE_OUT Forward Enable)</a:t>
                </a: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2B575B-0F5D-AC54-2743-2F9A2B71C82A}"/>
              </a:ext>
            </a:extLst>
          </p:cNvPr>
          <p:cNvGrpSpPr/>
          <p:nvPr/>
        </p:nvGrpSpPr>
        <p:grpSpPr>
          <a:xfrm>
            <a:off x="7642340" y="1040160"/>
            <a:ext cx="3814562" cy="1228447"/>
            <a:chOff x="4481014" y="2526265"/>
            <a:chExt cx="3728536" cy="1228447"/>
          </a:xfrm>
        </p:grpSpPr>
        <p:sp>
          <p:nvSpPr>
            <p:cNvPr id="30" name="Callout: Line with No Border 29">
              <a:extLst>
                <a:ext uri="{FF2B5EF4-FFF2-40B4-BE49-F238E27FC236}">
                  <a16:creationId xmlns:a16="http://schemas.microsoft.com/office/drawing/2014/main" id="{1ECA1164-862D-CC2D-A20D-E40D6EAE5BC6}"/>
                </a:ext>
              </a:extLst>
            </p:cNvPr>
            <p:cNvSpPr/>
            <p:nvPr/>
          </p:nvSpPr>
          <p:spPr>
            <a:xfrm>
              <a:off x="6186324" y="2909373"/>
              <a:ext cx="892170" cy="573457"/>
            </a:xfrm>
            <a:prstGeom prst="callout1">
              <a:avLst>
                <a:gd name="adj1" fmla="val 33906"/>
                <a:gd name="adj2" fmla="val -172548"/>
                <a:gd name="adj3" fmla="val 36518"/>
                <a:gd name="adj4" fmla="val -606734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2F701F-7F58-8D06-95ED-B0E609BA4580}"/>
                </a:ext>
              </a:extLst>
            </p:cNvPr>
            <p:cNvGrpSpPr/>
            <p:nvPr/>
          </p:nvGrpSpPr>
          <p:grpSpPr>
            <a:xfrm>
              <a:off x="4481014" y="2526265"/>
              <a:ext cx="3728536" cy="1228447"/>
              <a:chOff x="1182324" y="1262290"/>
              <a:chExt cx="3728536" cy="1228447"/>
            </a:xfrm>
          </p:grpSpPr>
          <p:sp>
            <p:nvSpPr>
              <p:cNvPr id="4" name="Callout: Line with No Border 3">
                <a:extLst>
                  <a:ext uri="{FF2B5EF4-FFF2-40B4-BE49-F238E27FC236}">
                    <a16:creationId xmlns:a16="http://schemas.microsoft.com/office/drawing/2014/main" id="{9B4E62E9-6440-6CCF-6A3B-80C2B1E5DC3B}"/>
                  </a:ext>
                </a:extLst>
              </p:cNvPr>
              <p:cNvSpPr/>
              <p:nvPr/>
            </p:nvSpPr>
            <p:spPr>
              <a:xfrm>
                <a:off x="2735234" y="1492998"/>
                <a:ext cx="892170" cy="573457"/>
              </a:xfrm>
              <a:prstGeom prst="callout1">
                <a:avLst>
                  <a:gd name="adj1" fmla="val 25047"/>
                  <a:gd name="adj2" fmla="val 90189"/>
                  <a:gd name="adj3" fmla="val 97608"/>
                  <a:gd name="adj4" fmla="val 140573"/>
                </a:avLst>
              </a:prstGeom>
              <a:no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B8897131-BDC2-FCCB-D1C2-0D83E3CE9F1A}"/>
                  </a:ext>
                </a:extLst>
              </p:cNvPr>
              <p:cNvSpPr/>
              <p:nvPr/>
            </p:nvSpPr>
            <p:spPr>
              <a:xfrm>
                <a:off x="1182324" y="1262290"/>
                <a:ext cx="3728536" cy="1228447"/>
              </a:xfrm>
              <a:prstGeom prst="wedgeRoundRectCallout">
                <a:avLst>
                  <a:gd name="adj1" fmla="val 25261"/>
                  <a:gd name="adj2" fmla="val 23996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1800"/>
                  <a:t>T</a:t>
                </a:r>
                <a:r>
                  <a:rPr lang="en-DE" sz="1800" err="1"/>
                  <a:t>ime</a:t>
                </a:r>
                <a:r>
                  <a:rPr lang="en-DE" sz="1800"/>
                  <a:t> from </a:t>
                </a:r>
                <a:r>
                  <a:rPr lang="en-DE" sz="1800" err="1"/>
                  <a:t>init</a:t>
                </a:r>
                <a:r>
                  <a:rPr lang="en-DE" sz="1800"/>
                  <a:t> </a:t>
                </a:r>
                <a:r>
                  <a:rPr lang="en-DE" sz="1800" b="1"/>
                  <a:t>SLEEP</a:t>
                </a:r>
                <a:r>
                  <a:rPr lang="en-DE" sz="1800"/>
                  <a:t> to </a:t>
                </a:r>
                <a:r>
                  <a:rPr lang="en-DE" sz="1800" b="1"/>
                  <a:t>INH release </a:t>
                </a:r>
                <a:r>
                  <a:rPr lang="en-DE" sz="1800"/>
                  <a:t>(leading to power off):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DE" sz="1800" b="1"/>
                  <a:t>SLPINHDLY  </a:t>
                </a:r>
                <a:r>
                  <a:rPr lang="en-DE" sz="1800"/>
                  <a:t>(Sleep Inhibit Delay)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BAEE7F-48C7-8A9D-9A5E-73ECEABAC9D3}"/>
              </a:ext>
            </a:extLst>
          </p:cNvPr>
          <p:cNvGrpSpPr/>
          <p:nvPr/>
        </p:nvGrpSpPr>
        <p:grpSpPr>
          <a:xfrm>
            <a:off x="7642340" y="2475370"/>
            <a:ext cx="3814255" cy="1353738"/>
            <a:chOff x="309106" y="1013139"/>
            <a:chExt cx="3814255" cy="1353738"/>
          </a:xfrm>
        </p:grpSpPr>
        <p:sp>
          <p:nvSpPr>
            <p:cNvPr id="29" name="Callout: Line with No Border 28">
              <a:extLst>
                <a:ext uri="{FF2B5EF4-FFF2-40B4-BE49-F238E27FC236}">
                  <a16:creationId xmlns:a16="http://schemas.microsoft.com/office/drawing/2014/main" id="{1DAD6BE7-7A2C-CA45-150D-661778A3D361}"/>
                </a:ext>
              </a:extLst>
            </p:cNvPr>
            <p:cNvSpPr/>
            <p:nvPr/>
          </p:nvSpPr>
          <p:spPr>
            <a:xfrm>
              <a:off x="2520093" y="1351884"/>
              <a:ext cx="892170" cy="573457"/>
            </a:xfrm>
            <a:prstGeom prst="callout1">
              <a:avLst>
                <a:gd name="adj1" fmla="val -6908"/>
                <a:gd name="adj2" fmla="val 172219"/>
                <a:gd name="adj3" fmla="val 86322"/>
                <a:gd name="adj4" fmla="val 84312"/>
              </a:avLst>
            </a:prstGeom>
            <a:noFill/>
            <a:ln w="38100" cap="rnd">
              <a:solidFill>
                <a:srgbClr val="ED1B2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C430B2C-69C0-F97C-12AC-54189070E820}"/>
                </a:ext>
              </a:extLst>
            </p:cNvPr>
            <p:cNvGrpSpPr/>
            <p:nvPr/>
          </p:nvGrpSpPr>
          <p:grpSpPr>
            <a:xfrm>
              <a:off x="309106" y="1013139"/>
              <a:ext cx="3814255" cy="1353738"/>
              <a:chOff x="7223911" y="2353328"/>
              <a:chExt cx="3814255" cy="1353738"/>
            </a:xfrm>
          </p:grpSpPr>
          <p:sp>
            <p:nvSpPr>
              <p:cNvPr id="8" name="Callout: Line with No Border 7">
                <a:extLst>
                  <a:ext uri="{FF2B5EF4-FFF2-40B4-BE49-F238E27FC236}">
                    <a16:creationId xmlns:a16="http://schemas.microsoft.com/office/drawing/2014/main" id="{F5050E48-3459-3476-C3EF-2EC08C6D6E40}"/>
                  </a:ext>
                </a:extLst>
              </p:cNvPr>
              <p:cNvSpPr/>
              <p:nvPr/>
            </p:nvSpPr>
            <p:spPr>
              <a:xfrm>
                <a:off x="8386344" y="2796762"/>
                <a:ext cx="892170" cy="573457"/>
              </a:xfrm>
              <a:prstGeom prst="callout1">
                <a:avLst>
                  <a:gd name="adj1" fmla="val 59046"/>
                  <a:gd name="adj2" fmla="val -128256"/>
                  <a:gd name="adj3" fmla="val 59897"/>
                  <a:gd name="adj4" fmla="val -314136"/>
                </a:avLst>
              </a:prstGeom>
              <a:noFill/>
              <a:ln w="28575" cap="rnd">
                <a:solidFill>
                  <a:srgbClr val="ED1B2E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9849E4F2-0B69-8567-78E5-B326FEAA42D8}"/>
                  </a:ext>
                </a:extLst>
              </p:cNvPr>
              <p:cNvSpPr/>
              <p:nvPr/>
            </p:nvSpPr>
            <p:spPr>
              <a:xfrm>
                <a:off x="7223911" y="2353328"/>
                <a:ext cx="3814255" cy="1353738"/>
              </a:xfrm>
              <a:prstGeom prst="wedgeRoundRectCallout">
                <a:avLst>
                  <a:gd name="adj1" fmla="val -31667"/>
                  <a:gd name="adj2" fmla="val -10368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4400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DE" sz="1800"/>
                  <a:t>Select wake-modes for next wake-up: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DE" sz="1800" b="1"/>
                  <a:t>MDIWKEN  </a:t>
                </a:r>
                <a:r>
                  <a:rPr lang="en-DE" sz="1800"/>
                  <a:t>(MDI Wakeup Enable)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DE" sz="1800" b="1"/>
                  <a:t>WKINEN  </a:t>
                </a:r>
                <a:r>
                  <a:rPr lang="en-DE" sz="1800"/>
                  <a:t>(WAKE_IN Enable)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454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A27A2D-CE90-67F7-9E36-BDC317C5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Going to SLEEP – Two Ways</a:t>
            </a:r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44D7FCC-5E44-B6D8-0063-3CC6A8DB34B9}"/>
              </a:ext>
            </a:extLst>
          </p:cNvPr>
          <p:cNvSpPr/>
          <p:nvPr/>
        </p:nvSpPr>
        <p:spPr>
          <a:xfrm>
            <a:off x="398675" y="1113732"/>
            <a:ext cx="2766556" cy="942683"/>
          </a:xfrm>
          <a:prstGeom prst="wedgeRoundRectCallout">
            <a:avLst>
              <a:gd name="adj1" fmla="val -8528"/>
              <a:gd name="adj2" fmla="val 4287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/>
              <a:t>Host actively sets </a:t>
            </a:r>
          </a:p>
          <a:p>
            <a:pPr algn="ctr"/>
            <a:r>
              <a:rPr lang="en-DE" sz="1800" b="1"/>
              <a:t>SLPEN</a:t>
            </a:r>
            <a:r>
              <a:rPr lang="en-DE" sz="1800"/>
              <a:t>  (Sleep Enable) = 1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1168A5A-C400-F1D8-7C26-F1B2E8CC2D5B}"/>
              </a:ext>
            </a:extLst>
          </p:cNvPr>
          <p:cNvSpPr/>
          <p:nvPr/>
        </p:nvSpPr>
        <p:spPr>
          <a:xfrm>
            <a:off x="398675" y="2306070"/>
            <a:ext cx="2766556" cy="942683"/>
          </a:xfrm>
          <a:prstGeom prst="wedgeRoundRectCallout">
            <a:avLst>
              <a:gd name="adj1" fmla="val -5891"/>
              <a:gd name="adj2" fmla="val 1145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/>
              <a:t>LAN865x or LAN867x waits for </a:t>
            </a:r>
            <a:r>
              <a:rPr lang="en-DE" sz="1800" b="1"/>
              <a:t>SLPINHDLY</a:t>
            </a:r>
            <a:r>
              <a:rPr lang="en-DE" sz="1800"/>
              <a:t>  </a:t>
            </a:r>
          </a:p>
          <a:p>
            <a:pPr algn="ctr"/>
            <a:r>
              <a:rPr lang="en-DE" sz="1800"/>
              <a:t>(Sleep Inhibit Delay)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0D426FA-AB40-4CF2-4670-6034DAC3B119}"/>
              </a:ext>
            </a:extLst>
          </p:cNvPr>
          <p:cNvSpPr/>
          <p:nvPr/>
        </p:nvSpPr>
        <p:spPr>
          <a:xfrm>
            <a:off x="7230982" y="291871"/>
            <a:ext cx="4641458" cy="536289"/>
          </a:xfrm>
          <a:prstGeom prst="wedgeRoundRectCallout">
            <a:avLst>
              <a:gd name="adj1" fmla="val -29238"/>
              <a:gd name="adj2" fmla="val 4681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600"/>
              <a:t>LAN865x or LAN867x </a:t>
            </a:r>
            <a:r>
              <a:rPr lang="en-DE" sz="1600" b="1"/>
              <a:t>automatically goes to SLEEP </a:t>
            </a:r>
          </a:p>
          <a:p>
            <a:pPr algn="ctr"/>
            <a:r>
              <a:rPr lang="en-DE" sz="1600"/>
              <a:t>when </a:t>
            </a:r>
            <a:r>
              <a:rPr lang="en-DE" sz="1600" b="1"/>
              <a:t>Watchdog timeout </a:t>
            </a:r>
            <a:r>
              <a:rPr lang="en-DE" sz="1600"/>
              <a:t>occurs</a:t>
            </a:r>
            <a:endParaRPr lang="en-US" sz="160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8B9621A-33D4-0CCA-5AC8-8B53F7A251F6}"/>
              </a:ext>
            </a:extLst>
          </p:cNvPr>
          <p:cNvSpPr/>
          <p:nvPr/>
        </p:nvSpPr>
        <p:spPr>
          <a:xfrm>
            <a:off x="7235794" y="900437"/>
            <a:ext cx="4641458" cy="2505906"/>
          </a:xfrm>
          <a:prstGeom prst="wedgeRoundRectCallout">
            <a:avLst>
              <a:gd name="adj1" fmla="val -45459"/>
              <a:gd name="adj2" fmla="val -21077"/>
              <a:gd name="adj3" fmla="val 16667"/>
            </a:avLst>
          </a:prstGeom>
          <a:solidFill>
            <a:srgbClr val="FD7F2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800"/>
              </a:spcAft>
            </a:pPr>
            <a:r>
              <a:rPr lang="en-DE" sz="1600"/>
              <a:t>Host must configure 1...3 </a:t>
            </a:r>
            <a:r>
              <a:rPr lang="en-DE" sz="1600" b="1"/>
              <a:t>inactivity WD sources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DE" sz="1600"/>
              <a:t>No RX from n</a:t>
            </a:r>
            <a:r>
              <a:rPr lang="en-US" sz="1600" err="1"/>
              <a:t>etwork</a:t>
            </a:r>
            <a:r>
              <a:rPr lang="en-DE" sz="1600"/>
              <a:t>: 	</a:t>
            </a:r>
            <a:r>
              <a:rPr lang="en-US" sz="1600" b="1"/>
              <a:t>MIRXWDEN</a:t>
            </a:r>
            <a:br>
              <a:rPr lang="en-DE" sz="1600"/>
            </a:br>
            <a:r>
              <a:rPr lang="en-DE" sz="1600"/>
              <a:t>(M</a:t>
            </a:r>
            <a:r>
              <a:rPr lang="en-US" sz="1600" err="1"/>
              <a:t>edia</a:t>
            </a:r>
            <a:r>
              <a:rPr lang="en-US" sz="1600"/>
              <a:t> Interface Receive Watchdog Enable</a:t>
            </a:r>
            <a:r>
              <a:rPr lang="en-DE" sz="1600"/>
              <a:t>)</a:t>
            </a:r>
            <a:r>
              <a:rPr lang="en-US" sz="1600"/>
              <a:t>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DE" sz="1600"/>
              <a:t>No TX to network:		</a:t>
            </a:r>
            <a:r>
              <a:rPr lang="en-US" sz="1600" b="1"/>
              <a:t>MITXWDEN</a:t>
            </a:r>
            <a:br>
              <a:rPr lang="en-DE" sz="1600"/>
            </a:br>
            <a:r>
              <a:rPr lang="en-US" sz="1600"/>
              <a:t>(Media Interface Transmit Watchdog Enable)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DE" sz="1600"/>
              <a:t>No </a:t>
            </a:r>
            <a:r>
              <a:rPr lang="en-US" sz="1600"/>
              <a:t>SMI access</a:t>
            </a:r>
            <a:r>
              <a:rPr lang="en-DE" sz="1600"/>
              <a:t>:	</a:t>
            </a:r>
            <a:r>
              <a:rPr lang="en-US" sz="1600" b="1"/>
              <a:t> </a:t>
            </a:r>
            <a:r>
              <a:rPr lang="en-DE" sz="1600" b="1"/>
              <a:t>	</a:t>
            </a:r>
            <a:r>
              <a:rPr lang="en-US" sz="1600" b="1"/>
              <a:t>PRIWDEN</a:t>
            </a:r>
            <a:br>
              <a:rPr lang="en-DE" sz="1600"/>
            </a:br>
            <a:r>
              <a:rPr lang="en-US" sz="1600"/>
              <a:t>(PHY Register Inactivity Watchdog Enable )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8DE43BFE-EC57-85B4-8007-E0720FF01FF7}"/>
              </a:ext>
            </a:extLst>
          </p:cNvPr>
          <p:cNvSpPr/>
          <p:nvPr/>
        </p:nvSpPr>
        <p:spPr>
          <a:xfrm>
            <a:off x="7240299" y="3510519"/>
            <a:ext cx="4641458" cy="942683"/>
          </a:xfrm>
          <a:prstGeom prst="wedgeRoundRectCallout">
            <a:avLst>
              <a:gd name="adj1" fmla="val -43751"/>
              <a:gd name="adj2" fmla="val -21077"/>
              <a:gd name="adj3" fmla="val 16667"/>
            </a:avLst>
          </a:prstGeom>
          <a:solidFill>
            <a:srgbClr val="FD7F2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DE" sz="1600"/>
              <a:t>configure </a:t>
            </a:r>
            <a:r>
              <a:rPr lang="en-DE" sz="1600" b="1"/>
              <a:t>IWDTOH</a:t>
            </a:r>
            <a:r>
              <a:rPr lang="en-DE" sz="1600"/>
              <a:t> / </a:t>
            </a:r>
            <a:r>
              <a:rPr lang="en-DE" sz="1600" b="1"/>
              <a:t>IWDTOL</a:t>
            </a:r>
            <a:r>
              <a:rPr lang="en-DE" sz="1600"/>
              <a:t>  (</a:t>
            </a:r>
            <a:r>
              <a:rPr lang="en-DE" sz="1600" err="1"/>
              <a:t>Inact</a:t>
            </a:r>
            <a:r>
              <a:rPr lang="en-DE" sz="1600"/>
              <a:t>. WD Timeout)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1600"/>
              <a:t>unmask IRQ_N:  </a:t>
            </a:r>
            <a:r>
              <a:rPr lang="en-DE" sz="1600" b="1"/>
              <a:t>IWDTOM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1600"/>
              <a:t>set </a:t>
            </a:r>
            <a:r>
              <a:rPr lang="en-DE" sz="1600" b="1"/>
              <a:t>IWDE = 1 </a:t>
            </a:r>
            <a:r>
              <a:rPr lang="en-DE" sz="1600"/>
              <a:t>(Inactivity WD Enable)</a:t>
            </a:r>
            <a:endParaRPr lang="en-US" sz="1600" b="1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3F4C1628-DCC9-B6AC-6F6E-C6B851AAA474}"/>
              </a:ext>
            </a:extLst>
          </p:cNvPr>
          <p:cNvSpPr/>
          <p:nvPr/>
        </p:nvSpPr>
        <p:spPr>
          <a:xfrm>
            <a:off x="7230982" y="4538978"/>
            <a:ext cx="4641458" cy="917066"/>
          </a:xfrm>
          <a:prstGeom prst="wedgeRoundRectCallout">
            <a:avLst>
              <a:gd name="adj1" fmla="val -35092"/>
              <a:gd name="adj2" fmla="val 1506"/>
              <a:gd name="adj3" fmla="val 16667"/>
            </a:avLst>
          </a:prstGeom>
          <a:solidFill>
            <a:srgbClr val="FD7F2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DE" sz="1600"/>
              <a:t>In case of any timeout LAN865x or LAN867x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1600"/>
              <a:t>sets  </a:t>
            </a:r>
            <a:r>
              <a:rPr lang="en-DE" sz="1600" b="1"/>
              <a:t>IWDTO = 1 </a:t>
            </a:r>
            <a:r>
              <a:rPr lang="en-DE" sz="1600"/>
              <a:t>(Inactivity WD Timeout Status)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/>
              <a:t>waits for  </a:t>
            </a:r>
            <a:r>
              <a:rPr lang="en-US" sz="1600" b="1"/>
              <a:t>SLPINHDLY</a:t>
            </a:r>
            <a:r>
              <a:rPr lang="en-DE" sz="1600" b="1"/>
              <a:t>, </a:t>
            </a:r>
            <a:r>
              <a:rPr lang="en-DE" sz="1600"/>
              <a:t>and</a:t>
            </a:r>
            <a:r>
              <a:rPr lang="en-DE" sz="1600" b="1"/>
              <a:t> </a:t>
            </a:r>
            <a:r>
              <a:rPr lang="en-US" sz="1600"/>
              <a:t>releases  </a:t>
            </a:r>
            <a:r>
              <a:rPr lang="en-US" sz="1600" b="1"/>
              <a:t>INH</a:t>
            </a:r>
            <a:r>
              <a:rPr lang="en-US" sz="1600"/>
              <a:t> </a:t>
            </a:r>
            <a:r>
              <a:rPr lang="en-US" sz="1600" b="1"/>
              <a:t>pin</a:t>
            </a:r>
            <a:endParaRPr lang="en-DE" sz="1600" b="1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6CFBFDA-7F13-3462-DA58-59EA73AF5AFC}"/>
              </a:ext>
            </a:extLst>
          </p:cNvPr>
          <p:cNvSpPr/>
          <p:nvPr/>
        </p:nvSpPr>
        <p:spPr>
          <a:xfrm>
            <a:off x="398675" y="3498408"/>
            <a:ext cx="2766556" cy="942683"/>
          </a:xfrm>
          <a:prstGeom prst="wedgeRoundRectCallout">
            <a:avLst>
              <a:gd name="adj1" fmla="val -5891"/>
              <a:gd name="adj2" fmla="val 1145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/>
              <a:t>LAN865x or LAN867x releases  </a:t>
            </a:r>
            <a:r>
              <a:rPr lang="en-DE" sz="1800" b="1"/>
              <a:t>INH</a:t>
            </a:r>
            <a:r>
              <a:rPr lang="en-DE" sz="1800"/>
              <a:t> pin</a:t>
            </a:r>
            <a:endParaRPr lang="en-US" sz="180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3C5E842-828A-2446-99F4-AFB2EB6BDBA1}"/>
              </a:ext>
            </a:extLst>
          </p:cNvPr>
          <p:cNvSpPr/>
          <p:nvPr/>
        </p:nvSpPr>
        <p:spPr>
          <a:xfrm>
            <a:off x="5088619" y="1873660"/>
            <a:ext cx="238291" cy="1712699"/>
          </a:xfrm>
          <a:prstGeom prst="downArrow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8DA37A-DAC8-667F-C37F-16C5DF434C68}"/>
              </a:ext>
            </a:extLst>
          </p:cNvPr>
          <p:cNvSpPr/>
          <p:nvPr/>
        </p:nvSpPr>
        <p:spPr>
          <a:xfrm>
            <a:off x="4550950" y="1207153"/>
            <a:ext cx="1309123" cy="482147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/>
              <a:t>ACTIVE</a:t>
            </a:r>
            <a:endParaRPr lang="en-US" sz="20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DD8067-58E3-508B-9C0A-9A65396E8033}"/>
              </a:ext>
            </a:extLst>
          </p:cNvPr>
          <p:cNvSpPr/>
          <p:nvPr/>
        </p:nvSpPr>
        <p:spPr>
          <a:xfrm>
            <a:off x="4536447" y="3813047"/>
            <a:ext cx="1309123" cy="482147"/>
          </a:xfrm>
          <a:prstGeom prst="ellipse">
            <a:avLst/>
          </a:prstGeom>
          <a:solidFill>
            <a:srgbClr val="ED1B2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/>
              <a:t>SLEEP</a:t>
            </a:r>
            <a:endParaRPr lang="en-US" sz="20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998A62-7795-2D43-866A-C350BF04869F}"/>
              </a:ext>
            </a:extLst>
          </p:cNvPr>
          <p:cNvGrpSpPr/>
          <p:nvPr/>
        </p:nvGrpSpPr>
        <p:grpSpPr>
          <a:xfrm>
            <a:off x="246491" y="5305039"/>
            <a:ext cx="6781127" cy="989561"/>
            <a:chOff x="2686430" y="1423872"/>
            <a:chExt cx="7734357" cy="10608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70E5628-A8BB-C94F-A0A9-2E36EF1AD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6430" y="1436994"/>
              <a:ext cx="7734357" cy="1047758"/>
            </a:xfrm>
            <a:prstGeom prst="rect">
              <a:avLst/>
            </a:prstGeom>
          </p:spPr>
        </p:pic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FE3C554B-90CB-E9B3-B826-6D4A5570F72D}"/>
                </a:ext>
              </a:extLst>
            </p:cNvPr>
            <p:cNvSpPr/>
            <p:nvPr/>
          </p:nvSpPr>
          <p:spPr bwMode="auto">
            <a:xfrm flipV="1">
              <a:off x="5848596" y="1423872"/>
              <a:ext cx="2320332" cy="227204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4" name="Rounded Rectangle 4">
              <a:extLst>
                <a:ext uri="{FF2B5EF4-FFF2-40B4-BE49-F238E27FC236}">
                  <a16:creationId xmlns:a16="http://schemas.microsoft.com/office/drawing/2014/main" id="{4A2BD7DE-49BC-BB5B-5DDE-096938C4B253}"/>
                </a:ext>
              </a:extLst>
            </p:cNvPr>
            <p:cNvSpPr/>
            <p:nvPr/>
          </p:nvSpPr>
          <p:spPr bwMode="auto">
            <a:xfrm flipV="1">
              <a:off x="5848596" y="1737955"/>
              <a:ext cx="2320332" cy="732560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548683-8A5C-C0EA-9BC4-3A3DA02C006F}"/>
              </a:ext>
            </a:extLst>
          </p:cNvPr>
          <p:cNvGrpSpPr/>
          <p:nvPr/>
        </p:nvGrpSpPr>
        <p:grpSpPr>
          <a:xfrm>
            <a:off x="5344878" y="5720981"/>
            <a:ext cx="6780642" cy="976986"/>
            <a:chOff x="2530207" y="4940342"/>
            <a:chExt cx="7733804" cy="10473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3C02600-AB58-14A9-6E2B-CE3B7ED765B8}"/>
                </a:ext>
              </a:extLst>
            </p:cNvPr>
            <p:cNvGrpSpPr/>
            <p:nvPr/>
          </p:nvGrpSpPr>
          <p:grpSpPr>
            <a:xfrm>
              <a:off x="2530207" y="4940342"/>
              <a:ext cx="7733804" cy="1035800"/>
              <a:chOff x="2530207" y="4940342"/>
              <a:chExt cx="7733804" cy="10358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FE7DEEF-1451-FE6B-E0FD-0E0D08625E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260" b="77077"/>
              <a:stretch/>
            </p:blipFill>
            <p:spPr>
              <a:xfrm>
                <a:off x="2530207" y="4940342"/>
                <a:ext cx="7733804" cy="352621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3146AA77-B166-9EC4-AD8E-17B2F28402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260" t="55424"/>
              <a:stretch/>
            </p:blipFill>
            <p:spPr>
              <a:xfrm>
                <a:off x="2530207" y="5290423"/>
                <a:ext cx="7733804" cy="685719"/>
              </a:xfrm>
              <a:prstGeom prst="rect">
                <a:avLst/>
              </a:prstGeom>
            </p:spPr>
          </p:pic>
        </p:grpSp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F4810DC2-C0D6-46AF-3EE4-ED1FFD345D09}"/>
                </a:ext>
              </a:extLst>
            </p:cNvPr>
            <p:cNvSpPr/>
            <p:nvPr/>
          </p:nvSpPr>
          <p:spPr bwMode="auto">
            <a:xfrm flipV="1">
              <a:off x="7169638" y="5078881"/>
              <a:ext cx="851947" cy="227204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15195305-F301-3359-2D91-FD09B788FEEB}"/>
                </a:ext>
              </a:extLst>
            </p:cNvPr>
            <p:cNvSpPr/>
            <p:nvPr/>
          </p:nvSpPr>
          <p:spPr bwMode="auto">
            <a:xfrm flipV="1">
              <a:off x="5658388" y="5760537"/>
              <a:ext cx="851947" cy="227204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540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0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104F08D-C5FC-A9FF-8023-B6F79680B565}"/>
              </a:ext>
            </a:extLst>
          </p:cNvPr>
          <p:cNvGrpSpPr/>
          <p:nvPr/>
        </p:nvGrpSpPr>
        <p:grpSpPr>
          <a:xfrm>
            <a:off x="4671001" y="6122225"/>
            <a:ext cx="6681863" cy="704855"/>
            <a:chOff x="5260471" y="6153145"/>
            <a:chExt cx="6681863" cy="70485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271CC61-F3DB-51E1-B3EB-F578F679F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0471" y="6153145"/>
              <a:ext cx="6681863" cy="704855"/>
            </a:xfrm>
            <a:prstGeom prst="rect">
              <a:avLst/>
            </a:prstGeom>
          </p:spPr>
        </p:pic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5231DF88-705F-E809-D6D7-E4B5B5BC8988}"/>
                </a:ext>
              </a:extLst>
            </p:cNvPr>
            <p:cNvSpPr/>
            <p:nvPr/>
          </p:nvSpPr>
          <p:spPr bwMode="auto">
            <a:xfrm>
              <a:off x="9965863" y="6462783"/>
              <a:ext cx="1343288" cy="262111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2A9E0FD-0016-7797-9777-2E653878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sz="3600"/>
              <a:t>Wake – Sleep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D6250B-B6B0-7FCF-DC6E-96AD89AE761E}"/>
              </a:ext>
            </a:extLst>
          </p:cNvPr>
          <p:cNvGrpSpPr/>
          <p:nvPr/>
        </p:nvGrpSpPr>
        <p:grpSpPr>
          <a:xfrm rot="5400000">
            <a:off x="3681455" y="2358621"/>
            <a:ext cx="4925098" cy="1368262"/>
            <a:chOff x="3474567" y="2528454"/>
            <a:chExt cx="5508875" cy="136826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C7992ED-3B67-FB4F-C368-68832B9DD0CE}"/>
                </a:ext>
              </a:extLst>
            </p:cNvPr>
            <p:cNvSpPr/>
            <p:nvPr/>
          </p:nvSpPr>
          <p:spPr>
            <a:xfrm rot="16200000">
              <a:off x="3744046" y="2870015"/>
              <a:ext cx="1309123" cy="74427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2000"/>
                <a:t>ACTIVE</a:t>
              </a:r>
              <a:endParaRPr lang="en-US" sz="200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38FFBFF-6704-4757-36CC-A1CB3984230A}"/>
                </a:ext>
              </a:extLst>
            </p:cNvPr>
            <p:cNvSpPr/>
            <p:nvPr/>
          </p:nvSpPr>
          <p:spPr>
            <a:xfrm rot="16200000">
              <a:off x="7372964" y="2810876"/>
              <a:ext cx="1309123" cy="744279"/>
            </a:xfrm>
            <a:prstGeom prst="ellipse">
              <a:avLst/>
            </a:prstGeom>
            <a:solidFill>
              <a:srgbClr val="ED1B2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2000"/>
                <a:t>SLEEP</a:t>
              </a:r>
              <a:endParaRPr lang="en-US" sz="200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A4E59E2-BDAD-3694-09D8-FEB5E7D553E9}"/>
                </a:ext>
              </a:extLst>
            </p:cNvPr>
            <p:cNvCxnSpPr>
              <a:cxnSpLocks/>
            </p:cNvCxnSpPr>
            <p:nvPr/>
          </p:nvCxnSpPr>
          <p:spPr>
            <a:xfrm>
              <a:off x="5098083" y="3625939"/>
              <a:ext cx="2397611" cy="0"/>
            </a:xfrm>
            <a:prstGeom prst="straightConnector1">
              <a:avLst/>
            </a:prstGeom>
            <a:ln w="57150">
              <a:solidFill>
                <a:srgbClr val="1879C5"/>
              </a:solidFill>
              <a:headEnd w="med" len="lg"/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D267FA7-CA88-C26A-C474-BE724D8712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7156" y="2824810"/>
              <a:ext cx="2397610" cy="12532"/>
            </a:xfrm>
            <a:prstGeom prst="straightConnector1">
              <a:avLst/>
            </a:prstGeom>
            <a:ln w="57150">
              <a:solidFill>
                <a:srgbClr val="1879C5"/>
              </a:solidFill>
              <a:headEnd type="triangle" w="lg" len="lg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row: Curved Left 9">
              <a:extLst>
                <a:ext uri="{FF2B5EF4-FFF2-40B4-BE49-F238E27FC236}">
                  <a16:creationId xmlns:a16="http://schemas.microsoft.com/office/drawing/2014/main" id="{6725051D-C1E1-C5B8-E260-30EBC4BC2770}"/>
                </a:ext>
              </a:extLst>
            </p:cNvPr>
            <p:cNvSpPr/>
            <p:nvPr/>
          </p:nvSpPr>
          <p:spPr>
            <a:xfrm rot="10800000" flipH="1">
              <a:off x="8636111" y="2779001"/>
              <a:ext cx="347331" cy="808026"/>
            </a:xfrm>
            <a:prstGeom prst="curvedLeftArrow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Arrow: Curved Left 10">
              <a:extLst>
                <a:ext uri="{FF2B5EF4-FFF2-40B4-BE49-F238E27FC236}">
                  <a16:creationId xmlns:a16="http://schemas.microsoft.com/office/drawing/2014/main" id="{C2CFD12A-97F2-2023-83E1-B3967EFF9EAD}"/>
                </a:ext>
              </a:extLst>
            </p:cNvPr>
            <p:cNvSpPr/>
            <p:nvPr/>
          </p:nvSpPr>
          <p:spPr>
            <a:xfrm flipH="1">
              <a:off x="3474567" y="2824811"/>
              <a:ext cx="347331" cy="773590"/>
            </a:xfrm>
            <a:prstGeom prst="curvedLeftArrow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E6880FA-8C89-9BF6-6F7A-4BC8B2C64034}"/>
              </a:ext>
            </a:extLst>
          </p:cNvPr>
          <p:cNvGrpSpPr/>
          <p:nvPr/>
        </p:nvGrpSpPr>
        <p:grpSpPr>
          <a:xfrm>
            <a:off x="246491" y="5750486"/>
            <a:ext cx="6692977" cy="769278"/>
            <a:chOff x="4160661" y="2889853"/>
            <a:chExt cx="7736445" cy="76927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962FB39-5D40-7913-CD6A-1927CEE873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28"/>
            <a:stretch/>
          </p:blipFill>
          <p:spPr>
            <a:xfrm>
              <a:off x="4160661" y="2928579"/>
              <a:ext cx="7736445" cy="70485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31EDFD3C-5833-FADC-06E0-2FF69E7D7C40}"/>
                </a:ext>
              </a:extLst>
            </p:cNvPr>
            <p:cNvSpPr/>
            <p:nvPr/>
          </p:nvSpPr>
          <p:spPr bwMode="auto">
            <a:xfrm>
              <a:off x="8127567" y="2889853"/>
              <a:ext cx="1507930" cy="267488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1879C5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4055DC56-FDC2-DEF3-4374-67977FC6C4F7}"/>
                </a:ext>
              </a:extLst>
            </p:cNvPr>
            <p:cNvSpPr/>
            <p:nvPr/>
          </p:nvSpPr>
          <p:spPr bwMode="auto">
            <a:xfrm>
              <a:off x="5849792" y="2895443"/>
              <a:ext cx="768692" cy="262111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1879C5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8" name="Rounded Rectangle 4">
              <a:extLst>
                <a:ext uri="{FF2B5EF4-FFF2-40B4-BE49-F238E27FC236}">
                  <a16:creationId xmlns:a16="http://schemas.microsoft.com/office/drawing/2014/main" id="{07CECF67-FB16-B0A8-B08A-8BCB9B567DB9}"/>
                </a:ext>
              </a:extLst>
            </p:cNvPr>
            <p:cNvSpPr/>
            <p:nvPr/>
          </p:nvSpPr>
          <p:spPr bwMode="auto">
            <a:xfrm>
              <a:off x="8115421" y="3404849"/>
              <a:ext cx="1510921" cy="25428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8C886F-1FEA-B611-4E34-71D695942441}"/>
              </a:ext>
            </a:extLst>
          </p:cNvPr>
          <p:cNvGrpSpPr/>
          <p:nvPr/>
        </p:nvGrpSpPr>
        <p:grpSpPr>
          <a:xfrm>
            <a:off x="2813265" y="1100094"/>
            <a:ext cx="1926922" cy="631454"/>
            <a:chOff x="4481014" y="2526265"/>
            <a:chExt cx="3728536" cy="1228447"/>
          </a:xfrm>
        </p:grpSpPr>
        <p:sp>
          <p:nvSpPr>
            <p:cNvPr id="21" name="Callout: Line with No Border 20">
              <a:extLst>
                <a:ext uri="{FF2B5EF4-FFF2-40B4-BE49-F238E27FC236}">
                  <a16:creationId xmlns:a16="http://schemas.microsoft.com/office/drawing/2014/main" id="{6C0E5CDE-9596-4E86-B495-F80DF73A5417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6672"/>
                <a:gd name="adj2" fmla="val 204257"/>
                <a:gd name="adj3" fmla="val 56464"/>
                <a:gd name="adj4" fmla="val 31177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3FD7DB-0AAF-ECDB-07C4-7FBC5691CF77}"/>
                </a:ext>
              </a:extLst>
            </p:cNvPr>
            <p:cNvGrpSpPr/>
            <p:nvPr/>
          </p:nvGrpSpPr>
          <p:grpSpPr>
            <a:xfrm>
              <a:off x="4481014" y="2526265"/>
              <a:ext cx="3728536" cy="1228447"/>
              <a:chOff x="1182324" y="1262290"/>
              <a:chExt cx="3728536" cy="1228447"/>
            </a:xfrm>
          </p:grpSpPr>
          <p:sp>
            <p:nvSpPr>
              <p:cNvPr id="23" name="Callout: Line with No Border 22">
                <a:extLst>
                  <a:ext uri="{FF2B5EF4-FFF2-40B4-BE49-F238E27FC236}">
                    <a16:creationId xmlns:a16="http://schemas.microsoft.com/office/drawing/2014/main" id="{C0CB7FFF-68E0-63C6-A6F3-4DB1E0AABD34}"/>
                  </a:ext>
                </a:extLst>
              </p:cNvPr>
              <p:cNvSpPr/>
              <p:nvPr/>
            </p:nvSpPr>
            <p:spPr>
              <a:xfrm>
                <a:off x="2735234" y="1492998"/>
                <a:ext cx="892170" cy="573457"/>
              </a:xfrm>
              <a:prstGeom prst="callout1">
                <a:avLst>
                  <a:gd name="adj1" fmla="val 25047"/>
                  <a:gd name="adj2" fmla="val 90189"/>
                  <a:gd name="adj3" fmla="val 97608"/>
                  <a:gd name="adj4" fmla="val 140573"/>
                </a:avLst>
              </a:prstGeom>
              <a:no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24" name="Speech Bubble: Rectangle with Corners Rounded 23">
                <a:extLst>
                  <a:ext uri="{FF2B5EF4-FFF2-40B4-BE49-F238E27FC236}">
                    <a16:creationId xmlns:a16="http://schemas.microsoft.com/office/drawing/2014/main" id="{A6A9246E-8E1D-893A-1A73-4036D99EF8BE}"/>
                  </a:ext>
                </a:extLst>
              </p:cNvPr>
              <p:cNvSpPr/>
              <p:nvPr/>
            </p:nvSpPr>
            <p:spPr>
              <a:xfrm>
                <a:off x="1182324" y="1262290"/>
                <a:ext cx="3728536" cy="1228447"/>
              </a:xfrm>
              <a:prstGeom prst="wedgeRoundRectCallout">
                <a:avLst>
                  <a:gd name="adj1" fmla="val 25261"/>
                  <a:gd name="adj2" fmla="val 23996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800" b="1"/>
                  <a:t>V</a:t>
                </a:r>
                <a:r>
                  <a:rPr lang="en-DE" sz="1800" b="1"/>
                  <a:t>DDA/P/U = ON,</a:t>
                </a:r>
              </a:p>
              <a:p>
                <a:pPr algn="ctr"/>
                <a:r>
                  <a:rPr lang="en-DE" sz="1800" b="1"/>
                  <a:t>INH = 1</a:t>
                </a:r>
                <a:endParaRPr lang="en-US" sz="1800" b="1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AB0EB5-1DD3-EC07-DB7B-B8CA832A942B}"/>
              </a:ext>
            </a:extLst>
          </p:cNvPr>
          <p:cNvGrpSpPr/>
          <p:nvPr/>
        </p:nvGrpSpPr>
        <p:grpSpPr>
          <a:xfrm>
            <a:off x="485484" y="2263029"/>
            <a:ext cx="4314813" cy="1406909"/>
            <a:chOff x="4481014" y="2526265"/>
            <a:chExt cx="3728536" cy="1228447"/>
          </a:xfrm>
        </p:grpSpPr>
        <p:sp>
          <p:nvSpPr>
            <p:cNvPr id="27" name="Callout: Line with No Border 26">
              <a:extLst>
                <a:ext uri="{FF2B5EF4-FFF2-40B4-BE49-F238E27FC236}">
                  <a16:creationId xmlns:a16="http://schemas.microsoft.com/office/drawing/2014/main" id="{9F0AA74A-5040-2BC2-ECD9-932246F65A7A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1143"/>
                <a:gd name="adj2" fmla="val 205025"/>
                <a:gd name="adj3" fmla="val 32471"/>
                <a:gd name="adj4" fmla="val 25608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9524399-4520-8871-53F5-28EB8B0D4BBB}"/>
                </a:ext>
              </a:extLst>
            </p:cNvPr>
            <p:cNvGrpSpPr/>
            <p:nvPr/>
          </p:nvGrpSpPr>
          <p:grpSpPr>
            <a:xfrm>
              <a:off x="4481014" y="2526265"/>
              <a:ext cx="3728536" cy="1228447"/>
              <a:chOff x="1182324" y="1262290"/>
              <a:chExt cx="3728536" cy="1228447"/>
            </a:xfrm>
          </p:grpSpPr>
          <p:sp>
            <p:nvSpPr>
              <p:cNvPr id="29" name="Callout: Line with No Border 28">
                <a:extLst>
                  <a:ext uri="{FF2B5EF4-FFF2-40B4-BE49-F238E27FC236}">
                    <a16:creationId xmlns:a16="http://schemas.microsoft.com/office/drawing/2014/main" id="{D979BFBD-BC7B-9856-A258-7D81A3F4631B}"/>
                  </a:ext>
                </a:extLst>
              </p:cNvPr>
              <p:cNvSpPr/>
              <p:nvPr/>
            </p:nvSpPr>
            <p:spPr>
              <a:xfrm>
                <a:off x="2735234" y="1492998"/>
                <a:ext cx="892170" cy="573457"/>
              </a:xfrm>
              <a:prstGeom prst="callout1">
                <a:avLst>
                  <a:gd name="adj1" fmla="val 25047"/>
                  <a:gd name="adj2" fmla="val 90189"/>
                  <a:gd name="adj3" fmla="val 97608"/>
                  <a:gd name="adj4" fmla="val 140573"/>
                </a:avLst>
              </a:prstGeom>
              <a:no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30" name="Speech Bubble: Rectangle with Corners Rounded 29">
                <a:extLst>
                  <a:ext uri="{FF2B5EF4-FFF2-40B4-BE49-F238E27FC236}">
                    <a16:creationId xmlns:a16="http://schemas.microsoft.com/office/drawing/2014/main" id="{F909F21E-A861-3961-2B88-4459E857C9AB}"/>
                  </a:ext>
                </a:extLst>
              </p:cNvPr>
              <p:cNvSpPr/>
              <p:nvPr/>
            </p:nvSpPr>
            <p:spPr>
              <a:xfrm>
                <a:off x="1182324" y="1262290"/>
                <a:ext cx="3728536" cy="1228447"/>
              </a:xfrm>
              <a:prstGeom prst="wedgeRoundRectCallout">
                <a:avLst>
                  <a:gd name="adj1" fmla="val 25261"/>
                  <a:gd name="adj2" fmla="val 23996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DE" sz="1800"/>
                  <a:t>Inactivity watchdog timeout </a:t>
                </a:r>
                <a:r>
                  <a:rPr lang="en-DE" sz="1800" u="sng"/>
                  <a:t>or</a:t>
                </a:r>
              </a:p>
              <a:p>
                <a:pPr algn="ctr"/>
                <a:r>
                  <a:rPr lang="en-DE" sz="1800"/>
                  <a:t>app sets  </a:t>
                </a:r>
                <a:r>
                  <a:rPr lang="en-DE" sz="1800" b="1"/>
                  <a:t>SLPEN</a:t>
                </a:r>
                <a:r>
                  <a:rPr lang="en-DE" sz="1800"/>
                  <a:t> (Sleep Enable) = 1</a:t>
                </a:r>
              </a:p>
              <a:p>
                <a:pPr algn="ctr"/>
                <a:endParaRPr lang="en-DE" sz="1800"/>
              </a:p>
              <a:p>
                <a:pPr algn="ctr"/>
                <a:r>
                  <a:rPr lang="en-US" sz="1800"/>
                  <a:t>W</a:t>
                </a:r>
                <a:r>
                  <a:rPr lang="en-DE" sz="1800"/>
                  <a:t>ait for  </a:t>
                </a:r>
                <a:r>
                  <a:rPr lang="en-DE" sz="1800" b="1"/>
                  <a:t>SLPINHDLY</a:t>
                </a:r>
                <a:r>
                  <a:rPr lang="en-DE" sz="1800"/>
                  <a:t> (Sleep Inhibit Delay)</a:t>
                </a:r>
              </a:p>
              <a:p>
                <a:pPr algn="ctr"/>
                <a:r>
                  <a:rPr lang="en-DE" sz="1800"/>
                  <a:t>Then release  </a:t>
                </a:r>
                <a:r>
                  <a:rPr lang="en-DE" sz="1800" b="1"/>
                  <a:t>INH</a:t>
                </a:r>
                <a:r>
                  <a:rPr lang="en-DE" sz="1800"/>
                  <a:t> pin</a:t>
                </a:r>
                <a:endParaRPr lang="en-US" sz="180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7FECD12-3213-D8CD-585C-8DE5B6C1A48B}"/>
              </a:ext>
            </a:extLst>
          </p:cNvPr>
          <p:cNvGrpSpPr/>
          <p:nvPr/>
        </p:nvGrpSpPr>
        <p:grpSpPr>
          <a:xfrm>
            <a:off x="2813265" y="4209010"/>
            <a:ext cx="1987033" cy="974975"/>
            <a:chOff x="3642315" y="2487152"/>
            <a:chExt cx="4567235" cy="1267561"/>
          </a:xfrm>
        </p:grpSpPr>
        <p:sp>
          <p:nvSpPr>
            <p:cNvPr id="32" name="Callout: Line with No Border 31">
              <a:extLst>
                <a:ext uri="{FF2B5EF4-FFF2-40B4-BE49-F238E27FC236}">
                  <a16:creationId xmlns:a16="http://schemas.microsoft.com/office/drawing/2014/main" id="{2AFA3444-0D3F-D86A-164B-5DFBBABEDD7E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-2511"/>
                <a:gd name="adj2" fmla="val 188268"/>
                <a:gd name="adj3" fmla="val 34404"/>
                <a:gd name="adj4" fmla="val 343438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2C8A7E2-4D78-D07E-9ECD-0A749D025A67}"/>
                </a:ext>
              </a:extLst>
            </p:cNvPr>
            <p:cNvGrpSpPr/>
            <p:nvPr/>
          </p:nvGrpSpPr>
          <p:grpSpPr>
            <a:xfrm>
              <a:off x="3642315" y="2487152"/>
              <a:ext cx="4567235" cy="1267561"/>
              <a:chOff x="343625" y="1223177"/>
              <a:chExt cx="4567235" cy="1267561"/>
            </a:xfrm>
          </p:grpSpPr>
          <p:sp>
            <p:nvSpPr>
              <p:cNvPr id="34" name="Callout: Line with No Border 33">
                <a:extLst>
                  <a:ext uri="{FF2B5EF4-FFF2-40B4-BE49-F238E27FC236}">
                    <a16:creationId xmlns:a16="http://schemas.microsoft.com/office/drawing/2014/main" id="{F2EE195E-23AF-1D05-3823-CE9A088CA403}"/>
                  </a:ext>
                </a:extLst>
              </p:cNvPr>
              <p:cNvSpPr/>
              <p:nvPr/>
            </p:nvSpPr>
            <p:spPr>
              <a:xfrm>
                <a:off x="2735234" y="1492998"/>
                <a:ext cx="892170" cy="573457"/>
              </a:xfrm>
              <a:prstGeom prst="callout1">
                <a:avLst>
                  <a:gd name="adj1" fmla="val 25047"/>
                  <a:gd name="adj2" fmla="val 90189"/>
                  <a:gd name="adj3" fmla="val 97608"/>
                  <a:gd name="adj4" fmla="val 140573"/>
                </a:avLst>
              </a:prstGeom>
              <a:no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35" name="Speech Bubble: Rectangle with Corners Rounded 34">
                <a:extLst>
                  <a:ext uri="{FF2B5EF4-FFF2-40B4-BE49-F238E27FC236}">
                    <a16:creationId xmlns:a16="http://schemas.microsoft.com/office/drawing/2014/main" id="{BCD3E071-1ED5-D39C-F53E-E31B337176ED}"/>
                  </a:ext>
                </a:extLst>
              </p:cNvPr>
              <p:cNvSpPr/>
              <p:nvPr/>
            </p:nvSpPr>
            <p:spPr>
              <a:xfrm>
                <a:off x="343625" y="1223177"/>
                <a:ext cx="4567235" cy="1267561"/>
              </a:xfrm>
              <a:prstGeom prst="wedgeRoundRectCallout">
                <a:avLst>
                  <a:gd name="adj1" fmla="val 25261"/>
                  <a:gd name="adj2" fmla="val 23996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DE" sz="1800"/>
                  <a:t>Device in SLEEP</a:t>
                </a:r>
              </a:p>
              <a:p>
                <a:pPr algn="ctr"/>
                <a:r>
                  <a:rPr lang="en-US" sz="1800" b="1"/>
                  <a:t>V</a:t>
                </a:r>
                <a:r>
                  <a:rPr lang="en-DE" sz="1800" b="1"/>
                  <a:t>DDAU = ON,</a:t>
                </a:r>
              </a:p>
              <a:p>
                <a:pPr algn="ctr"/>
                <a:r>
                  <a:rPr lang="en-DE" sz="1800" b="1"/>
                  <a:t>INH = 0</a:t>
                </a:r>
                <a:endParaRPr lang="en-US" sz="1800" b="1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23981B1-FD5D-A83D-1331-16C0DB1208F9}"/>
              </a:ext>
            </a:extLst>
          </p:cNvPr>
          <p:cNvGrpSpPr/>
          <p:nvPr/>
        </p:nvGrpSpPr>
        <p:grpSpPr>
          <a:xfrm>
            <a:off x="7458202" y="4456441"/>
            <a:ext cx="2697475" cy="974975"/>
            <a:chOff x="4481014" y="2660900"/>
            <a:chExt cx="3728536" cy="1093811"/>
          </a:xfrm>
          <a:solidFill>
            <a:schemeClr val="accent2"/>
          </a:solidFill>
        </p:grpSpPr>
        <p:sp>
          <p:nvSpPr>
            <p:cNvPr id="37" name="Callout: Line with No Border 36">
              <a:extLst>
                <a:ext uri="{FF2B5EF4-FFF2-40B4-BE49-F238E27FC236}">
                  <a16:creationId xmlns:a16="http://schemas.microsoft.com/office/drawing/2014/main" id="{5B6B82FE-5D6B-8EFB-4677-97442F031D00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04407"/>
                <a:gd name="adj2" fmla="val -177954"/>
                <a:gd name="adj3" fmla="val 64393"/>
                <a:gd name="adj4" fmla="val -278332"/>
              </a:avLst>
            </a:prstGeom>
            <a:grpFill/>
            <a:ln w="38100" cap="rnd">
              <a:solidFill>
                <a:srgbClr val="FD6E0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5E878B4-0D33-B5C9-D41F-0BF6A763055F}"/>
                </a:ext>
              </a:extLst>
            </p:cNvPr>
            <p:cNvGrpSpPr/>
            <p:nvPr/>
          </p:nvGrpSpPr>
          <p:grpSpPr>
            <a:xfrm>
              <a:off x="4481014" y="2660900"/>
              <a:ext cx="3728536" cy="1093811"/>
              <a:chOff x="1182324" y="1396925"/>
              <a:chExt cx="3728536" cy="1093811"/>
            </a:xfrm>
            <a:grpFill/>
          </p:grpSpPr>
          <p:sp>
            <p:nvSpPr>
              <p:cNvPr id="39" name="Callout: Line with No Border 38">
                <a:extLst>
                  <a:ext uri="{FF2B5EF4-FFF2-40B4-BE49-F238E27FC236}">
                    <a16:creationId xmlns:a16="http://schemas.microsoft.com/office/drawing/2014/main" id="{958337F7-E38B-6E35-2968-A2F9233169C7}"/>
                  </a:ext>
                </a:extLst>
              </p:cNvPr>
              <p:cNvSpPr/>
              <p:nvPr/>
            </p:nvSpPr>
            <p:spPr>
              <a:xfrm>
                <a:off x="2735234" y="1492998"/>
                <a:ext cx="892170" cy="573457"/>
              </a:xfrm>
              <a:prstGeom prst="callout1">
                <a:avLst>
                  <a:gd name="adj1" fmla="val 25047"/>
                  <a:gd name="adj2" fmla="val 90189"/>
                  <a:gd name="adj3" fmla="val 97608"/>
                  <a:gd name="adj4" fmla="val 140573"/>
                </a:avLst>
              </a:prstGeom>
              <a:grp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40" name="Speech Bubble: Rectangle with Corners Rounded 39">
                <a:extLst>
                  <a:ext uri="{FF2B5EF4-FFF2-40B4-BE49-F238E27FC236}">
                    <a16:creationId xmlns:a16="http://schemas.microsoft.com/office/drawing/2014/main" id="{D4226150-DBA5-DBA1-37B5-32C28816A3D4}"/>
                  </a:ext>
                </a:extLst>
              </p:cNvPr>
              <p:cNvSpPr/>
              <p:nvPr/>
            </p:nvSpPr>
            <p:spPr>
              <a:xfrm>
                <a:off x="1182324" y="1396925"/>
                <a:ext cx="3728536" cy="1093811"/>
              </a:xfrm>
              <a:prstGeom prst="wedgeRoundRectCallout">
                <a:avLst>
                  <a:gd name="adj1" fmla="val 25261"/>
                  <a:gd name="adj2" fmla="val 23996"/>
                  <a:gd name="adj3" fmla="val 16667"/>
                </a:avLst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800" b="1"/>
                  <a:t>W</a:t>
                </a:r>
                <a:r>
                  <a:rPr lang="en-DE" sz="1800" b="1" err="1"/>
                  <a:t>ake</a:t>
                </a:r>
                <a:r>
                  <a:rPr lang="en-DE" sz="1800" b="1"/>
                  <a:t> event </a:t>
                </a:r>
                <a:r>
                  <a:rPr lang="en-DE" sz="1800"/>
                  <a:t>occurred</a:t>
                </a:r>
                <a:r>
                  <a:rPr lang="en-DE" sz="1800" b="1"/>
                  <a:t>,</a:t>
                </a:r>
              </a:p>
              <a:p>
                <a:pPr algn="ctr"/>
                <a:r>
                  <a:rPr lang="en-DE" sz="1800"/>
                  <a:t>Drive</a:t>
                </a:r>
                <a:r>
                  <a:rPr lang="en-DE" sz="1800" b="1"/>
                  <a:t> INH = 1</a:t>
                </a:r>
              </a:p>
              <a:p>
                <a:pPr algn="ctr"/>
                <a:r>
                  <a:rPr lang="en-DE" sz="1800" b="1"/>
                  <a:t>VDDA/P/U = ON</a:t>
                </a:r>
                <a:endParaRPr lang="en-US" sz="1800" b="1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9BF9BC7-DD3A-63F6-8D64-77759C25EA35}"/>
              </a:ext>
            </a:extLst>
          </p:cNvPr>
          <p:cNvGrpSpPr/>
          <p:nvPr/>
        </p:nvGrpSpPr>
        <p:grpSpPr>
          <a:xfrm>
            <a:off x="7458202" y="2606101"/>
            <a:ext cx="4314813" cy="1406909"/>
            <a:chOff x="4481014" y="2526265"/>
            <a:chExt cx="3728536" cy="1228447"/>
          </a:xfrm>
          <a:solidFill>
            <a:schemeClr val="accent2"/>
          </a:solidFill>
        </p:grpSpPr>
        <p:sp>
          <p:nvSpPr>
            <p:cNvPr id="42" name="Callout: Line with No Border 41">
              <a:extLst>
                <a:ext uri="{FF2B5EF4-FFF2-40B4-BE49-F238E27FC236}">
                  <a16:creationId xmlns:a16="http://schemas.microsoft.com/office/drawing/2014/main" id="{C9C208AF-59F1-7A2E-EE03-52235B0C44A0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94264"/>
                <a:gd name="adj2" fmla="val -200921"/>
                <a:gd name="adj3" fmla="val 66322"/>
                <a:gd name="adj4" fmla="val -256933"/>
              </a:avLst>
            </a:prstGeom>
            <a:grpFill/>
            <a:ln w="38100" cap="rnd">
              <a:solidFill>
                <a:srgbClr val="FD6E0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DD6FA59-35D0-972E-54A7-C4ED7ACBC65A}"/>
                </a:ext>
              </a:extLst>
            </p:cNvPr>
            <p:cNvGrpSpPr/>
            <p:nvPr/>
          </p:nvGrpSpPr>
          <p:grpSpPr>
            <a:xfrm>
              <a:off x="4481014" y="2526265"/>
              <a:ext cx="3728536" cy="1228447"/>
              <a:chOff x="1182324" y="1262290"/>
              <a:chExt cx="3728536" cy="1228447"/>
            </a:xfrm>
            <a:grpFill/>
          </p:grpSpPr>
          <p:sp>
            <p:nvSpPr>
              <p:cNvPr id="44" name="Callout: Line with No Border 43">
                <a:extLst>
                  <a:ext uri="{FF2B5EF4-FFF2-40B4-BE49-F238E27FC236}">
                    <a16:creationId xmlns:a16="http://schemas.microsoft.com/office/drawing/2014/main" id="{965A57D5-9410-7602-3559-75CFD129D033}"/>
                  </a:ext>
                </a:extLst>
              </p:cNvPr>
              <p:cNvSpPr/>
              <p:nvPr/>
            </p:nvSpPr>
            <p:spPr>
              <a:xfrm>
                <a:off x="2735234" y="1492998"/>
                <a:ext cx="892170" cy="573457"/>
              </a:xfrm>
              <a:prstGeom prst="callout1">
                <a:avLst>
                  <a:gd name="adj1" fmla="val 25047"/>
                  <a:gd name="adj2" fmla="val 90189"/>
                  <a:gd name="adj3" fmla="val 97608"/>
                  <a:gd name="adj4" fmla="val 140573"/>
                </a:avLst>
              </a:prstGeom>
              <a:grp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45" name="Speech Bubble: Rectangle with Corners Rounded 44">
                <a:extLst>
                  <a:ext uri="{FF2B5EF4-FFF2-40B4-BE49-F238E27FC236}">
                    <a16:creationId xmlns:a16="http://schemas.microsoft.com/office/drawing/2014/main" id="{A4E6D6FE-4D5C-836E-82DC-3A9FF563C977}"/>
                  </a:ext>
                </a:extLst>
              </p:cNvPr>
              <p:cNvSpPr/>
              <p:nvPr/>
            </p:nvSpPr>
            <p:spPr>
              <a:xfrm>
                <a:off x="1182324" y="1262290"/>
                <a:ext cx="3728536" cy="1228447"/>
              </a:xfrm>
              <a:prstGeom prst="wedgeRoundRectCallout">
                <a:avLst>
                  <a:gd name="adj1" fmla="val 25261"/>
                  <a:gd name="adj2" fmla="val 23996"/>
                  <a:gd name="adj3" fmla="val 16667"/>
                </a:avLst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DE" sz="1800"/>
                  <a:t> if  </a:t>
                </a:r>
                <a:r>
                  <a:rPr lang="en-DE" sz="1800" b="1"/>
                  <a:t>WAKEIND</a:t>
                </a:r>
                <a:r>
                  <a:rPr lang="en-DE" sz="1800"/>
                  <a:t>  (Wake Indication) = 1,</a:t>
                </a:r>
              </a:p>
              <a:p>
                <a:pPr algn="ctr"/>
                <a:r>
                  <a:rPr lang="en-DE" sz="1800"/>
                  <a:t>set  </a:t>
                </a:r>
                <a:r>
                  <a:rPr lang="en-DE" sz="1800" b="1"/>
                  <a:t>CLRWKI</a:t>
                </a:r>
                <a:r>
                  <a:rPr lang="en-DE" sz="1800"/>
                  <a:t>  (clear wake indication) = 1</a:t>
                </a:r>
              </a:p>
              <a:p>
                <a:pPr algn="ctr"/>
                <a:r>
                  <a:rPr lang="en-DE" sz="1800"/>
                  <a:t>to activate wake-detection for the next wake-up</a:t>
                </a: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5FBCB99-B17D-07E6-DF57-033C9F8AB8C7}"/>
              </a:ext>
            </a:extLst>
          </p:cNvPr>
          <p:cNvGrpSpPr/>
          <p:nvPr/>
        </p:nvGrpSpPr>
        <p:grpSpPr>
          <a:xfrm>
            <a:off x="7458202" y="755761"/>
            <a:ext cx="4314813" cy="1406909"/>
            <a:chOff x="4481014" y="2526265"/>
            <a:chExt cx="3728536" cy="1228447"/>
          </a:xfrm>
          <a:solidFill>
            <a:schemeClr val="accent2"/>
          </a:solidFill>
        </p:grpSpPr>
        <p:sp>
          <p:nvSpPr>
            <p:cNvPr id="47" name="Callout: Line with No Border 46">
              <a:extLst>
                <a:ext uri="{FF2B5EF4-FFF2-40B4-BE49-F238E27FC236}">
                  <a16:creationId xmlns:a16="http://schemas.microsoft.com/office/drawing/2014/main" id="{86890F94-F745-919E-3606-B377FD3C834A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94264"/>
                <a:gd name="adj2" fmla="val -198460"/>
                <a:gd name="adj3" fmla="val 64265"/>
                <a:gd name="adj4" fmla="val -255813"/>
              </a:avLst>
            </a:prstGeom>
            <a:grpFill/>
            <a:ln w="38100" cap="rnd">
              <a:solidFill>
                <a:srgbClr val="FD6E0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C945A8C-8BE1-D1A4-6E81-EFA33102F7E9}"/>
                </a:ext>
              </a:extLst>
            </p:cNvPr>
            <p:cNvGrpSpPr/>
            <p:nvPr/>
          </p:nvGrpSpPr>
          <p:grpSpPr>
            <a:xfrm>
              <a:off x="4481014" y="2526265"/>
              <a:ext cx="3728536" cy="1228447"/>
              <a:chOff x="1182324" y="1262290"/>
              <a:chExt cx="3728536" cy="1228447"/>
            </a:xfrm>
            <a:grpFill/>
          </p:grpSpPr>
          <p:sp>
            <p:nvSpPr>
              <p:cNvPr id="49" name="Callout: Line with No Border 48">
                <a:extLst>
                  <a:ext uri="{FF2B5EF4-FFF2-40B4-BE49-F238E27FC236}">
                    <a16:creationId xmlns:a16="http://schemas.microsoft.com/office/drawing/2014/main" id="{D85BD52D-0EE8-03C2-AFB5-2CD46578AD8D}"/>
                  </a:ext>
                </a:extLst>
              </p:cNvPr>
              <p:cNvSpPr/>
              <p:nvPr/>
            </p:nvSpPr>
            <p:spPr>
              <a:xfrm>
                <a:off x="2735234" y="1492998"/>
                <a:ext cx="892170" cy="573457"/>
              </a:xfrm>
              <a:prstGeom prst="callout1">
                <a:avLst>
                  <a:gd name="adj1" fmla="val 25047"/>
                  <a:gd name="adj2" fmla="val 90189"/>
                  <a:gd name="adj3" fmla="val 97608"/>
                  <a:gd name="adj4" fmla="val 140573"/>
                </a:avLst>
              </a:prstGeom>
              <a:grp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50" name="Speech Bubble: Rectangle with Corners Rounded 49">
                <a:extLst>
                  <a:ext uri="{FF2B5EF4-FFF2-40B4-BE49-F238E27FC236}">
                    <a16:creationId xmlns:a16="http://schemas.microsoft.com/office/drawing/2014/main" id="{505FF004-AECF-4410-D3BC-4A2828C011C4}"/>
                  </a:ext>
                </a:extLst>
              </p:cNvPr>
              <p:cNvSpPr/>
              <p:nvPr/>
            </p:nvSpPr>
            <p:spPr>
              <a:xfrm>
                <a:off x="1182324" y="1262290"/>
                <a:ext cx="3728536" cy="1228447"/>
              </a:xfrm>
              <a:prstGeom prst="wedgeRoundRectCallout">
                <a:avLst>
                  <a:gd name="adj1" fmla="val 25261"/>
                  <a:gd name="adj2" fmla="val 23996"/>
                  <a:gd name="adj3" fmla="val 16667"/>
                </a:avLst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800"/>
                  <a:t>C</a:t>
                </a:r>
                <a:r>
                  <a:rPr lang="en-DE" sz="1800"/>
                  <a:t>heck if  </a:t>
                </a:r>
                <a:r>
                  <a:rPr lang="en-DE" sz="1800" b="1"/>
                  <a:t>WAKEIND</a:t>
                </a:r>
                <a:r>
                  <a:rPr lang="en-DE" sz="1800"/>
                  <a:t>  (Wake Indication) = 1,</a:t>
                </a:r>
              </a:p>
              <a:p>
                <a:pPr algn="ctr"/>
                <a:r>
                  <a:rPr lang="en-DE" sz="1800"/>
                  <a:t>in case of a wake event: </a:t>
                </a:r>
              </a:p>
              <a:p>
                <a:pPr algn="ctr"/>
                <a:r>
                  <a:rPr lang="en-DE" sz="1800"/>
                  <a:t>check  </a:t>
                </a:r>
                <a:r>
                  <a:rPr lang="en-DE" sz="1800" b="1"/>
                  <a:t>WKEWI</a:t>
                </a:r>
                <a:r>
                  <a:rPr lang="en-DE" sz="1800"/>
                  <a:t>  (wake over Wake IN), </a:t>
                </a:r>
              </a:p>
              <a:p>
                <a:pPr algn="ctr"/>
                <a:r>
                  <a:rPr lang="en-DE" sz="1800"/>
                  <a:t>check  </a:t>
                </a:r>
                <a:r>
                  <a:rPr lang="en-DE" sz="1800" b="1"/>
                  <a:t>WKEMDI</a:t>
                </a:r>
                <a:r>
                  <a:rPr lang="en-DE" sz="1800"/>
                  <a:t>  (wake over MDI)</a:t>
                </a:r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871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4C266-8F6C-A56A-79C5-8F3AA4B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Agenda  LAN8670/1/2  PHY</a:t>
            </a:r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9473ED-F49C-7675-7925-7B86099754E6}"/>
              </a:ext>
            </a:extLst>
          </p:cNvPr>
          <p:cNvSpPr/>
          <p:nvPr/>
        </p:nvSpPr>
        <p:spPr bwMode="auto">
          <a:xfrm rot="5400000">
            <a:off x="3613629" y="174027"/>
            <a:ext cx="633619" cy="646819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68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118" y="697193"/>
            <a:ext cx="2734188" cy="3224887"/>
          </a:xfrm>
        </p:spPr>
        <p:txBody>
          <a:bodyPr/>
          <a:lstStyle/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ACMA</a:t>
            </a:r>
          </a:p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lvl="0"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LAN8670/1/2 Family</a:t>
            </a:r>
            <a:endParaRPr lang="en-US" sz="3200" b="1">
              <a:solidFill>
                <a:srgbClr val="FFFFFF"/>
              </a:solidFill>
            </a:endParaRPr>
          </a:p>
        </p:txBody>
      </p:sp>
      <p:sp>
        <p:nvSpPr>
          <p:cNvPr id="35" name="Content Placeholder 1">
            <a:extLst>
              <a:ext uri="{FF2B5EF4-FFF2-40B4-BE49-F238E27FC236}">
                <a16:creationId xmlns:a16="http://schemas.microsoft.com/office/drawing/2014/main" id="{6CEFD6CA-154A-B574-A8B0-12C50C10BD7B}"/>
              </a:ext>
            </a:extLst>
          </p:cNvPr>
          <p:cNvSpPr txBox="1">
            <a:spLocks/>
          </p:cNvSpPr>
          <p:nvPr/>
        </p:nvSpPr>
        <p:spPr>
          <a:xfrm>
            <a:off x="3596672" y="238138"/>
            <a:ext cx="8474035" cy="6313133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DE" sz="2800" b="1">
                <a:solidFill>
                  <a:schemeClr val="accent1"/>
                </a:solidFill>
              </a:rPr>
              <a:t>ACMA – Application Controlled Media Access</a:t>
            </a:r>
          </a:p>
          <a:p>
            <a:pPr marL="418129" indent="-3600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Alternative to PLCA or CSMA/CD access</a:t>
            </a:r>
          </a:p>
          <a:p>
            <a:pPr marL="418129" indent="-3600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Node can only send when app asserts ACMA-signal</a:t>
            </a:r>
          </a:p>
          <a:p>
            <a:pPr marL="418129" indent="-3600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C</a:t>
            </a:r>
            <a:r>
              <a:rPr lang="en-US" err="1">
                <a:solidFill>
                  <a:schemeClr val="accent1"/>
                </a:solidFill>
              </a:rPr>
              <a:t>ustom</a:t>
            </a:r>
            <a:r>
              <a:rPr lang="en-US">
                <a:solidFill>
                  <a:schemeClr val="accent1"/>
                </a:solidFill>
              </a:rPr>
              <a:t> scheduled access to the medium</a:t>
            </a:r>
            <a:r>
              <a:rPr lang="en-DE">
                <a:solidFill>
                  <a:schemeClr val="accent1"/>
                </a:solidFill>
              </a:rPr>
              <a:t>, e.g. TDMA</a:t>
            </a:r>
          </a:p>
          <a:p>
            <a:pPr marL="720000" lvl="1" indent="-360000">
              <a:lnSpc>
                <a:spcPct val="150000"/>
              </a:lnSpc>
            </a:pPr>
            <a:endParaRPr lang="en-DE">
              <a:solidFill>
                <a:schemeClr val="accent1"/>
              </a:solidFill>
            </a:endParaRPr>
          </a:p>
          <a:p>
            <a:pPr marL="720000" lvl="1" indent="-360000">
              <a:lnSpc>
                <a:spcPct val="150000"/>
              </a:lnSpc>
            </a:pPr>
            <a:endParaRPr lang="en-DE">
              <a:solidFill>
                <a:schemeClr val="accent1"/>
              </a:solidFill>
            </a:endParaRPr>
          </a:p>
          <a:p>
            <a:pPr marL="720000" lvl="1" indent="-360000">
              <a:lnSpc>
                <a:spcPct val="150000"/>
              </a:lnSpc>
            </a:pPr>
            <a:endParaRPr lang="en-DE">
              <a:solidFill>
                <a:schemeClr val="accent1"/>
              </a:solidFill>
            </a:endParaRPr>
          </a:p>
          <a:p>
            <a:pPr marL="58129" indent="0">
              <a:lnSpc>
                <a:spcPct val="150000"/>
              </a:lnSpc>
              <a:buNone/>
            </a:pPr>
            <a:r>
              <a:rPr lang="en-DE" sz="2800" b="1">
                <a:solidFill>
                  <a:schemeClr val="accent1"/>
                </a:solidFill>
              </a:rPr>
              <a:t>ACMA – how is it done?</a:t>
            </a:r>
            <a:endParaRPr lang="en-DE" sz="2800">
              <a:solidFill>
                <a:schemeClr val="accent1"/>
              </a:solidFill>
            </a:endParaRPr>
          </a:p>
          <a:p>
            <a:pPr marL="418129" indent="-3600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When ACMA-signal is asserted LAN865x and LAN867x releases CRSDV/CRS, </a:t>
            </a:r>
            <a:r>
              <a:rPr lang="en-DE" err="1">
                <a:solidFill>
                  <a:schemeClr val="accent1"/>
                </a:solidFill>
              </a:rPr>
              <a:t>signaling</a:t>
            </a:r>
            <a:r>
              <a:rPr lang="en-DE">
                <a:solidFill>
                  <a:schemeClr val="accent1"/>
                </a:solidFill>
              </a:rPr>
              <a:t> to the MAC that network is idle and MAC can start sending.</a:t>
            </a:r>
          </a:p>
          <a:p>
            <a:pPr marL="418129" indent="-3600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Packets are sent completely</a:t>
            </a:r>
          </a:p>
          <a:p>
            <a:pPr marL="418129" indent="-3600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When ACMA-slot is large enough several packets can be sent</a:t>
            </a:r>
          </a:p>
          <a:p>
            <a:pPr marL="720000" lvl="1" indent="-360000">
              <a:lnSpc>
                <a:spcPct val="150000"/>
              </a:lnSpc>
            </a:pPr>
            <a:endParaRPr lang="en-DE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E8B545A-7594-B1D5-57D9-BE49D254B264}"/>
              </a:ext>
            </a:extLst>
          </p:cNvPr>
          <p:cNvSpPr/>
          <p:nvPr/>
        </p:nvSpPr>
        <p:spPr>
          <a:xfrm>
            <a:off x="4447822" y="2661022"/>
            <a:ext cx="3228622" cy="996578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DE" sz="2000" b="1">
                <a:solidFill>
                  <a:srgbClr val="FFFFFF"/>
                </a:solidFill>
              </a:rPr>
              <a:t>ACMA enables </a:t>
            </a:r>
          </a:p>
          <a:p>
            <a:pPr lvl="0" algn="ctr">
              <a:defRPr/>
            </a:pPr>
            <a:r>
              <a:rPr lang="en-US" sz="2000" b="1">
                <a:solidFill>
                  <a:srgbClr val="FFFFFF"/>
                </a:solidFill>
              </a:rPr>
              <a:t>TDMA in small MCUs</a:t>
            </a:r>
          </a:p>
        </p:txBody>
      </p:sp>
    </p:spTree>
    <p:extLst>
      <p:ext uri="{BB962C8B-B14F-4D97-AF65-F5344CB8AC3E}">
        <p14:creationId xmlns:p14="http://schemas.microsoft.com/office/powerpoint/2010/main" val="208632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E24B79F0-793E-7585-9AB7-BD276C8257E1}"/>
              </a:ext>
            </a:extLst>
          </p:cNvPr>
          <p:cNvGrpSpPr/>
          <p:nvPr/>
        </p:nvGrpSpPr>
        <p:grpSpPr>
          <a:xfrm>
            <a:off x="7199345" y="5719324"/>
            <a:ext cx="3495537" cy="886559"/>
            <a:chOff x="9528282" y="379278"/>
            <a:chExt cx="2595986" cy="735133"/>
          </a:xfrm>
        </p:grpSpPr>
        <p:sp>
          <p:nvSpPr>
            <p:cNvPr id="46" name="Callout: Line with No Border 45">
              <a:extLst>
                <a:ext uri="{FF2B5EF4-FFF2-40B4-BE49-F238E27FC236}">
                  <a16:creationId xmlns:a16="http://schemas.microsoft.com/office/drawing/2014/main" id="{A19EB082-85E5-D567-E1EF-B3696EB91B05}"/>
                </a:ext>
              </a:extLst>
            </p:cNvPr>
            <p:cNvSpPr/>
            <p:nvPr/>
          </p:nvSpPr>
          <p:spPr>
            <a:xfrm>
              <a:off x="9853468" y="521061"/>
              <a:ext cx="723900" cy="421054"/>
            </a:xfrm>
            <a:prstGeom prst="callout1">
              <a:avLst>
                <a:gd name="adj1" fmla="val -6378"/>
                <a:gd name="adj2" fmla="val -31677"/>
                <a:gd name="adj3" fmla="val 52786"/>
                <a:gd name="adj4" fmla="val -4443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7" name="Speech Bubble: Rectangle with Corners Rounded 46">
              <a:extLst>
                <a:ext uri="{FF2B5EF4-FFF2-40B4-BE49-F238E27FC236}">
                  <a16:creationId xmlns:a16="http://schemas.microsoft.com/office/drawing/2014/main" id="{96A410EC-3873-FD1A-59C5-47D1FFCDB976}"/>
                </a:ext>
              </a:extLst>
            </p:cNvPr>
            <p:cNvSpPr/>
            <p:nvPr/>
          </p:nvSpPr>
          <p:spPr>
            <a:xfrm>
              <a:off x="9528282" y="379278"/>
              <a:ext cx="2595986" cy="735133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ACMA pin available </a:t>
              </a:r>
            </a:p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in each chip, in each mode</a:t>
              </a:r>
            </a:p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Sometimes via GPIO0</a:t>
              </a:r>
              <a:endParaRPr lang="en-US" sz="1800" b="1">
                <a:solidFill>
                  <a:srgbClr val="FFFFFF"/>
                </a:solidFill>
              </a:endParaRPr>
            </a:p>
          </p:txBody>
        </p:sp>
      </p:grp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CEFE4502-28C0-9A3E-E8CC-067802C2FC6A}"/>
              </a:ext>
            </a:extLst>
          </p:cNvPr>
          <p:cNvSpPr txBox="1">
            <a:spLocks/>
          </p:cNvSpPr>
          <p:nvPr/>
        </p:nvSpPr>
        <p:spPr>
          <a:xfrm>
            <a:off x="3749072" y="175554"/>
            <a:ext cx="8474035" cy="6195078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DE" sz="2800" b="1">
                <a:solidFill>
                  <a:schemeClr val="accent1"/>
                </a:solidFill>
              </a:rPr>
              <a:t>Available Pins on LAN8670 in RMII Mode</a:t>
            </a:r>
          </a:p>
          <a:p>
            <a:pPr marL="769871" lvl="1">
              <a:lnSpc>
                <a:spcPct val="150000"/>
              </a:lnSpc>
            </a:pPr>
            <a:endParaRPr lang="en-DE" sz="2400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sz="2400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sz="2400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sz="2400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sz="2400" b="1">
              <a:solidFill>
                <a:schemeClr val="accent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117" y="697193"/>
            <a:ext cx="2718057" cy="3224887"/>
          </a:xfrm>
        </p:spPr>
        <p:txBody>
          <a:bodyPr/>
          <a:lstStyle/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Configuration Example for ACMA</a:t>
            </a:r>
          </a:p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lvl="0"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LAN8670/1/2 Family</a:t>
            </a:r>
            <a:endParaRPr lang="en-US" sz="3200" b="1">
              <a:solidFill>
                <a:srgbClr val="FFFFFF"/>
              </a:solidFill>
            </a:endParaRPr>
          </a:p>
        </p:txBody>
      </p:sp>
      <p:sp>
        <p:nvSpPr>
          <p:cNvPr id="35" name="Content Placeholder 1">
            <a:extLst>
              <a:ext uri="{FF2B5EF4-FFF2-40B4-BE49-F238E27FC236}">
                <a16:creationId xmlns:a16="http://schemas.microsoft.com/office/drawing/2014/main" id="{6CEFD6CA-154A-B574-A8B0-12C50C10BD7B}"/>
              </a:ext>
            </a:extLst>
          </p:cNvPr>
          <p:cNvSpPr txBox="1">
            <a:spLocks/>
          </p:cNvSpPr>
          <p:nvPr/>
        </p:nvSpPr>
        <p:spPr>
          <a:xfrm>
            <a:off x="3596672" y="238138"/>
            <a:ext cx="8474035" cy="6313133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4D196B-CB8A-73E1-B9CC-3A6DDAA8B6F4}"/>
              </a:ext>
            </a:extLst>
          </p:cNvPr>
          <p:cNvGrpSpPr/>
          <p:nvPr/>
        </p:nvGrpSpPr>
        <p:grpSpPr>
          <a:xfrm>
            <a:off x="3466298" y="2767433"/>
            <a:ext cx="2820653" cy="1987603"/>
            <a:chOff x="8130598" y="480395"/>
            <a:chExt cx="3587957" cy="29002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B91DB-0E19-0721-362C-B20987D4AB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0724"/>
            <a:stretch/>
          </p:blipFill>
          <p:spPr>
            <a:xfrm>
              <a:off x="8130598" y="480395"/>
              <a:ext cx="3587957" cy="29002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8CC7DEBC-1110-26A0-758C-DC0118B54120}"/>
                </a:ext>
              </a:extLst>
            </p:cNvPr>
            <p:cNvSpPr/>
            <p:nvPr/>
          </p:nvSpPr>
          <p:spPr bwMode="auto">
            <a:xfrm>
              <a:off x="10918759" y="716276"/>
              <a:ext cx="779474" cy="2664404"/>
            </a:xfrm>
            <a:prstGeom prst="roundRect">
              <a:avLst/>
            </a:prstGeom>
            <a:solidFill>
              <a:schemeClr val="accent2">
                <a:alpha val="1176"/>
              </a:scheme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B89E5C0-92DE-EDA9-01DE-CA61C600D816}"/>
              </a:ext>
            </a:extLst>
          </p:cNvPr>
          <p:cNvGrpSpPr/>
          <p:nvPr/>
        </p:nvGrpSpPr>
        <p:grpSpPr>
          <a:xfrm>
            <a:off x="7399817" y="883919"/>
            <a:ext cx="4642869" cy="3876767"/>
            <a:chOff x="3383356" y="1153166"/>
            <a:chExt cx="5657824" cy="5128506"/>
          </a:xfrm>
          <a:solidFill>
            <a:srgbClr val="D9D9D9">
              <a:alpha val="89804"/>
            </a:srgbClr>
          </a:solidFill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080C2AB-0010-304B-0B19-DA9C1515A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3356" y="1153166"/>
              <a:ext cx="5657824" cy="5128506"/>
            </a:xfrm>
            <a:prstGeom prst="rect">
              <a:avLst/>
            </a:prstGeom>
            <a:grpFill/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F670D16-7FE5-0B55-4BD1-04754697441E}"/>
                </a:ext>
              </a:extLst>
            </p:cNvPr>
            <p:cNvSpPr/>
            <p:nvPr/>
          </p:nvSpPr>
          <p:spPr>
            <a:xfrm>
              <a:off x="5091132" y="5671651"/>
              <a:ext cx="199125" cy="545456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B332A88-78EE-1946-AE11-E3B62E2DE308}"/>
                </a:ext>
              </a:extLst>
            </p:cNvPr>
            <p:cNvSpPr/>
            <p:nvPr/>
          </p:nvSpPr>
          <p:spPr>
            <a:xfrm>
              <a:off x="5382617" y="5598160"/>
              <a:ext cx="199125" cy="61894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70D9CC-1781-A17B-D4DA-5E96B6F55FE5}"/>
                </a:ext>
              </a:extLst>
            </p:cNvPr>
            <p:cNvSpPr/>
            <p:nvPr/>
          </p:nvSpPr>
          <p:spPr>
            <a:xfrm>
              <a:off x="6259083" y="5780773"/>
              <a:ext cx="199125" cy="43633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5B4AE8-B337-7D93-FFED-BC20368A8D1F}"/>
                </a:ext>
              </a:extLst>
            </p:cNvPr>
            <p:cNvSpPr/>
            <p:nvPr/>
          </p:nvSpPr>
          <p:spPr>
            <a:xfrm rot="5400000">
              <a:off x="7577151" y="4231967"/>
              <a:ext cx="199125" cy="105798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D2AFE5-B9C2-4668-CC12-17F7F2E0ABD2}"/>
                </a:ext>
              </a:extLst>
            </p:cNvPr>
            <p:cNvSpPr/>
            <p:nvPr/>
          </p:nvSpPr>
          <p:spPr>
            <a:xfrm rot="5400000">
              <a:off x="7260172" y="3669799"/>
              <a:ext cx="199125" cy="43633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82093C-F8D1-9305-91FD-6F9BD5FCE036}"/>
                </a:ext>
              </a:extLst>
            </p:cNvPr>
            <p:cNvSpPr/>
            <p:nvPr/>
          </p:nvSpPr>
          <p:spPr>
            <a:xfrm rot="5400000">
              <a:off x="3822703" y="3409579"/>
              <a:ext cx="199125" cy="37083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9F3272A-4F51-172B-959E-6404B5738EEB}"/>
                </a:ext>
              </a:extLst>
            </p:cNvPr>
            <p:cNvSpPr/>
            <p:nvPr/>
          </p:nvSpPr>
          <p:spPr>
            <a:xfrm rot="5400000">
              <a:off x="3822703" y="3120960"/>
              <a:ext cx="199125" cy="37083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8B8093-0ABF-E048-E0F5-F06CCBB90A81}"/>
                </a:ext>
              </a:extLst>
            </p:cNvPr>
            <p:cNvSpPr/>
            <p:nvPr/>
          </p:nvSpPr>
          <p:spPr>
            <a:xfrm rot="10800000">
              <a:off x="5672094" y="1925321"/>
              <a:ext cx="199125" cy="30128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D796A70-92A7-0A42-28A3-E2E254F4DA94}"/>
                </a:ext>
              </a:extLst>
            </p:cNvPr>
            <p:cNvSpPr/>
            <p:nvPr/>
          </p:nvSpPr>
          <p:spPr>
            <a:xfrm rot="10800000">
              <a:off x="5969523" y="1925320"/>
              <a:ext cx="199125" cy="30128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86FE12-DED9-FCCB-A9A5-4CFDF37A8873}"/>
                </a:ext>
              </a:extLst>
            </p:cNvPr>
            <p:cNvSpPr/>
            <p:nvPr/>
          </p:nvSpPr>
          <p:spPr>
            <a:xfrm rot="5400000">
              <a:off x="7253281" y="2507044"/>
              <a:ext cx="199125" cy="42255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4A3033-8DEE-D8B5-3AA2-7D16E7E95CE2}"/>
                </a:ext>
              </a:extLst>
            </p:cNvPr>
            <p:cNvSpPr/>
            <p:nvPr/>
          </p:nvSpPr>
          <p:spPr>
            <a:xfrm rot="5400000">
              <a:off x="7253280" y="2803696"/>
              <a:ext cx="199125" cy="42255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79C6C7A-1158-021B-A4A5-A051659AA815}"/>
                </a:ext>
              </a:extLst>
            </p:cNvPr>
            <p:cNvSpPr/>
            <p:nvPr/>
          </p:nvSpPr>
          <p:spPr>
            <a:xfrm rot="5400000">
              <a:off x="3824441" y="2835930"/>
              <a:ext cx="199125" cy="37083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3D4C87-6AEA-2B1C-9E55-A7677DC08433}"/>
              </a:ext>
            </a:extLst>
          </p:cNvPr>
          <p:cNvGrpSpPr/>
          <p:nvPr/>
        </p:nvGrpSpPr>
        <p:grpSpPr>
          <a:xfrm>
            <a:off x="8030664" y="2618908"/>
            <a:ext cx="2394019" cy="1325841"/>
            <a:chOff x="8030664" y="2618908"/>
            <a:chExt cx="2394019" cy="1325841"/>
          </a:xfrm>
        </p:grpSpPr>
        <p:sp>
          <p:nvSpPr>
            <p:cNvPr id="25" name="Rounded Rectangle 4">
              <a:extLst>
                <a:ext uri="{FF2B5EF4-FFF2-40B4-BE49-F238E27FC236}">
                  <a16:creationId xmlns:a16="http://schemas.microsoft.com/office/drawing/2014/main" id="{E259AE92-7B10-70D3-E689-3ABC948FB647}"/>
                </a:ext>
              </a:extLst>
            </p:cNvPr>
            <p:cNvSpPr/>
            <p:nvPr/>
          </p:nvSpPr>
          <p:spPr bwMode="auto">
            <a:xfrm>
              <a:off x="8030664" y="2837128"/>
              <a:ext cx="264400" cy="659587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6" name="Rounded Rectangle 4">
              <a:extLst>
                <a:ext uri="{FF2B5EF4-FFF2-40B4-BE49-F238E27FC236}">
                  <a16:creationId xmlns:a16="http://schemas.microsoft.com/office/drawing/2014/main" id="{B9163066-6E3F-FD59-8C2C-E4A0050A9831}"/>
                </a:ext>
              </a:extLst>
            </p:cNvPr>
            <p:cNvSpPr/>
            <p:nvPr/>
          </p:nvSpPr>
          <p:spPr bwMode="auto">
            <a:xfrm>
              <a:off x="9945044" y="3686404"/>
              <a:ext cx="242241" cy="258345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8" name="Rounded Rectangle 4">
              <a:extLst>
                <a:ext uri="{FF2B5EF4-FFF2-40B4-BE49-F238E27FC236}">
                  <a16:creationId xmlns:a16="http://schemas.microsoft.com/office/drawing/2014/main" id="{3309986B-529E-9768-D636-00E78DB70C02}"/>
                </a:ext>
              </a:extLst>
            </p:cNvPr>
            <p:cNvSpPr/>
            <p:nvPr/>
          </p:nvSpPr>
          <p:spPr bwMode="auto">
            <a:xfrm rot="16200000">
              <a:off x="9954663" y="2808476"/>
              <a:ext cx="659587" cy="280452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29" name="Rounded Rectangle 4">
            <a:extLst>
              <a:ext uri="{FF2B5EF4-FFF2-40B4-BE49-F238E27FC236}">
                <a16:creationId xmlns:a16="http://schemas.microsoft.com/office/drawing/2014/main" id="{AA97C990-3990-F6DF-FCE0-0494D59BA8E7}"/>
              </a:ext>
            </a:extLst>
          </p:cNvPr>
          <p:cNvSpPr/>
          <p:nvPr/>
        </p:nvSpPr>
        <p:spPr bwMode="auto">
          <a:xfrm>
            <a:off x="8753833" y="3688010"/>
            <a:ext cx="242241" cy="611545"/>
          </a:xfrm>
          <a:prstGeom prst="round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chemeClr val="accent2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57F190-C3C1-ABF7-9CC7-FCBD6D9BA53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270975" y="3842061"/>
            <a:ext cx="2513179" cy="1197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09E63F-A70D-FC80-0C66-D2C81482ECAA}"/>
              </a:ext>
            </a:extLst>
          </p:cNvPr>
          <p:cNvGrpSpPr/>
          <p:nvPr/>
        </p:nvGrpSpPr>
        <p:grpSpPr>
          <a:xfrm>
            <a:off x="4564723" y="1521187"/>
            <a:ext cx="1706252" cy="906103"/>
            <a:chOff x="4035201" y="1240906"/>
            <a:chExt cx="1706252" cy="906103"/>
          </a:xfrm>
        </p:grpSpPr>
        <p:sp>
          <p:nvSpPr>
            <p:cNvPr id="30" name="Callout: Line with No Border 29">
              <a:extLst>
                <a:ext uri="{FF2B5EF4-FFF2-40B4-BE49-F238E27FC236}">
                  <a16:creationId xmlns:a16="http://schemas.microsoft.com/office/drawing/2014/main" id="{2892A060-AA93-CF76-E1E0-358BD577761A}"/>
                </a:ext>
              </a:extLst>
            </p:cNvPr>
            <p:cNvSpPr/>
            <p:nvPr/>
          </p:nvSpPr>
          <p:spPr>
            <a:xfrm>
              <a:off x="4759799" y="1486825"/>
              <a:ext cx="475794" cy="507784"/>
            </a:xfrm>
            <a:prstGeom prst="callout1">
              <a:avLst>
                <a:gd name="adj1" fmla="val 23254"/>
                <a:gd name="adj2" fmla="val 195697"/>
                <a:gd name="adj3" fmla="val 46962"/>
                <a:gd name="adj4" fmla="val 15503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2" name="Callout: Line with No Border 31">
              <a:extLst>
                <a:ext uri="{FF2B5EF4-FFF2-40B4-BE49-F238E27FC236}">
                  <a16:creationId xmlns:a16="http://schemas.microsoft.com/office/drawing/2014/main" id="{6732BEE0-E97D-AD35-0555-868068167297}"/>
                </a:ext>
              </a:extLst>
            </p:cNvPr>
            <p:cNvSpPr/>
            <p:nvPr/>
          </p:nvSpPr>
          <p:spPr>
            <a:xfrm>
              <a:off x="4912199" y="1639225"/>
              <a:ext cx="475794" cy="507784"/>
            </a:xfrm>
            <a:prstGeom prst="callout1">
              <a:avLst>
                <a:gd name="adj1" fmla="val 14137"/>
                <a:gd name="adj2" fmla="val 168938"/>
                <a:gd name="adj3" fmla="val 12770"/>
                <a:gd name="adj4" fmla="val 12341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AC2684-1896-5127-4A05-4736C3E434DE}"/>
                </a:ext>
              </a:extLst>
            </p:cNvPr>
            <p:cNvGrpSpPr/>
            <p:nvPr/>
          </p:nvGrpSpPr>
          <p:grpSpPr>
            <a:xfrm>
              <a:off x="4035201" y="1240906"/>
              <a:ext cx="1706252" cy="694824"/>
              <a:chOff x="9509540" y="447500"/>
              <a:chExt cx="2595986" cy="576147"/>
            </a:xfrm>
          </p:grpSpPr>
          <p:sp>
            <p:nvSpPr>
              <p:cNvPr id="23" name="Callout: Line with No Border 22">
                <a:extLst>
                  <a:ext uri="{FF2B5EF4-FFF2-40B4-BE49-F238E27FC236}">
                    <a16:creationId xmlns:a16="http://schemas.microsoft.com/office/drawing/2014/main" id="{B91AF92D-D654-9337-30BD-74DB8548F167}"/>
                  </a:ext>
                </a:extLst>
              </p:cNvPr>
              <p:cNvSpPr/>
              <p:nvPr/>
            </p:nvSpPr>
            <p:spPr>
              <a:xfrm>
                <a:off x="10380113" y="525046"/>
                <a:ext cx="723900" cy="421054"/>
              </a:xfrm>
              <a:prstGeom prst="callout1">
                <a:avLst>
                  <a:gd name="adj1" fmla="val 25534"/>
                  <a:gd name="adj2" fmla="val 217592"/>
                  <a:gd name="adj3" fmla="val 242248"/>
                  <a:gd name="adj4" fmla="val 598026"/>
                </a:avLst>
              </a:prstGeom>
              <a:noFill/>
              <a:ln w="28575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27" name="Speech Bubble: Rectangle with Corners Rounded 26">
                <a:extLst>
                  <a:ext uri="{FF2B5EF4-FFF2-40B4-BE49-F238E27FC236}">
                    <a16:creationId xmlns:a16="http://schemas.microsoft.com/office/drawing/2014/main" id="{9A41C881-721F-0875-419E-5FAA7806058C}"/>
                  </a:ext>
                </a:extLst>
              </p:cNvPr>
              <p:cNvSpPr/>
              <p:nvPr/>
            </p:nvSpPr>
            <p:spPr>
              <a:xfrm>
                <a:off x="9509540" y="447500"/>
                <a:ext cx="2595986" cy="576147"/>
              </a:xfrm>
              <a:prstGeom prst="wedgeRoundRectCallout">
                <a:avLst>
                  <a:gd name="adj1" fmla="val -6014"/>
                  <a:gd name="adj2" fmla="val 10491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44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8885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328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777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21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6656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6097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554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b="1"/>
                  <a:t>R</a:t>
                </a:r>
                <a:r>
                  <a:rPr lang="en-DE" sz="1800" b="1"/>
                  <a:t>MII Interface</a:t>
                </a:r>
                <a:endParaRPr lang="en-US" sz="1800" b="1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A5A8B10-9732-6594-5E5F-718FBF28BE92}"/>
              </a:ext>
            </a:extLst>
          </p:cNvPr>
          <p:cNvGrpSpPr/>
          <p:nvPr/>
        </p:nvGrpSpPr>
        <p:grpSpPr>
          <a:xfrm>
            <a:off x="7199347" y="4902194"/>
            <a:ext cx="3495537" cy="694823"/>
            <a:chOff x="9509540" y="493452"/>
            <a:chExt cx="2595986" cy="576147"/>
          </a:xfrm>
        </p:grpSpPr>
        <p:sp>
          <p:nvSpPr>
            <p:cNvPr id="40" name="Callout: Line with No Border 39">
              <a:extLst>
                <a:ext uri="{FF2B5EF4-FFF2-40B4-BE49-F238E27FC236}">
                  <a16:creationId xmlns:a16="http://schemas.microsoft.com/office/drawing/2014/main" id="{6600DF60-431D-7E26-1762-C5FE5E53AC57}"/>
                </a:ext>
              </a:extLst>
            </p:cNvPr>
            <p:cNvSpPr/>
            <p:nvPr/>
          </p:nvSpPr>
          <p:spPr>
            <a:xfrm>
              <a:off x="10738183" y="525046"/>
              <a:ext cx="723900" cy="421054"/>
            </a:xfrm>
            <a:prstGeom prst="callout1">
              <a:avLst>
                <a:gd name="adj1" fmla="val -2090"/>
                <a:gd name="adj2" fmla="val 2571"/>
                <a:gd name="adj3" fmla="val -120898"/>
                <a:gd name="adj4" fmla="val 3355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1" name="Speech Bubble: Rectangle with Corners Rounded 40">
              <a:extLst>
                <a:ext uri="{FF2B5EF4-FFF2-40B4-BE49-F238E27FC236}">
                  <a16:creationId xmlns:a16="http://schemas.microsoft.com/office/drawing/2014/main" id="{EC2F4A83-9BFC-CC14-CACD-00C43B110960}"/>
                </a:ext>
              </a:extLst>
            </p:cNvPr>
            <p:cNvSpPr/>
            <p:nvPr/>
          </p:nvSpPr>
          <p:spPr>
            <a:xfrm>
              <a:off x="9509540" y="493452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Dedicated ACMA pin available </a:t>
              </a:r>
            </a:p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in RMII / SC-MII mode, if enabled</a:t>
              </a:r>
              <a:endParaRPr lang="en-US" sz="1800" b="1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686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CEFE4502-28C0-9A3E-E8CC-067802C2FC6A}"/>
              </a:ext>
            </a:extLst>
          </p:cNvPr>
          <p:cNvSpPr txBox="1">
            <a:spLocks/>
          </p:cNvSpPr>
          <p:nvPr/>
        </p:nvSpPr>
        <p:spPr>
          <a:xfrm>
            <a:off x="3749073" y="462394"/>
            <a:ext cx="3316746" cy="590823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DE" sz="2400" b="1">
                <a:solidFill>
                  <a:schemeClr val="accent1"/>
                </a:solidFill>
              </a:rPr>
              <a:t>Application configures and enables ACMA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DE" sz="2400" b="1">
                <a:solidFill>
                  <a:schemeClr val="accent1"/>
                </a:solidFill>
              </a:rPr>
              <a:t>after reset</a:t>
            </a:r>
          </a:p>
          <a:p>
            <a:pPr marL="0" indent="0">
              <a:lnSpc>
                <a:spcPct val="150000"/>
              </a:lnSpc>
              <a:buNone/>
            </a:pPr>
            <a:endParaRPr lang="en-DE" sz="2400" b="1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DE" sz="2400" b="1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DE" sz="2400" b="1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DE" sz="2400" b="1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DE" sz="2400" b="1">
                <a:solidFill>
                  <a:schemeClr val="accent1"/>
                </a:solidFill>
              </a:rPr>
              <a:t>Application can monitor media access and detect errors</a:t>
            </a:r>
          </a:p>
          <a:p>
            <a:pPr marL="769871" lvl="1">
              <a:lnSpc>
                <a:spcPct val="150000"/>
              </a:lnSpc>
            </a:pPr>
            <a:endParaRPr lang="en-DE" sz="2400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sz="2400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sz="2400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sz="2400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sz="2400" b="1">
              <a:solidFill>
                <a:schemeClr val="accent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118" y="697193"/>
            <a:ext cx="2734188" cy="3224887"/>
          </a:xfrm>
        </p:spPr>
        <p:txBody>
          <a:bodyPr/>
          <a:lstStyle/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Configure &amp; Monitor ACMA</a:t>
            </a:r>
          </a:p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lvl="0"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LAN8670/1/2 Family</a:t>
            </a:r>
            <a:endParaRPr lang="en-US" sz="3200" b="1">
              <a:solidFill>
                <a:srgbClr val="FFFFFF"/>
              </a:solidFill>
            </a:endParaRPr>
          </a:p>
        </p:txBody>
      </p:sp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6B774ABE-F6BB-0C0D-2D68-C05D78A1CBAA}"/>
              </a:ext>
            </a:extLst>
          </p:cNvPr>
          <p:cNvSpPr/>
          <p:nvPr/>
        </p:nvSpPr>
        <p:spPr>
          <a:xfrm>
            <a:off x="7483024" y="630807"/>
            <a:ext cx="3839051" cy="870449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/>
              <a:t>A</a:t>
            </a:r>
            <a:r>
              <a:rPr lang="en-DE" sz="1800" b="1"/>
              <a:t>CMAPOL =1  </a:t>
            </a:r>
            <a:r>
              <a:rPr lang="en-DE" sz="1800"/>
              <a:t>(ACMA Polarity) </a:t>
            </a:r>
          </a:p>
          <a:p>
            <a:pPr algn="ctr">
              <a:lnSpc>
                <a:spcPct val="150000"/>
              </a:lnSpc>
            </a:pPr>
            <a:r>
              <a:rPr lang="en-DE" sz="1800"/>
              <a:t>in</a:t>
            </a:r>
            <a:r>
              <a:rPr lang="en-DE" sz="1800" b="1"/>
              <a:t> PINCTRL </a:t>
            </a:r>
            <a:r>
              <a:rPr lang="en-DE" sz="1800"/>
              <a:t>(Pin Control Register)</a:t>
            </a:r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6F32D4-719F-6585-3411-823963BCB2D5}"/>
              </a:ext>
            </a:extLst>
          </p:cNvPr>
          <p:cNvGrpSpPr/>
          <p:nvPr/>
        </p:nvGrpSpPr>
        <p:grpSpPr>
          <a:xfrm>
            <a:off x="3453019" y="3071628"/>
            <a:ext cx="8060007" cy="1274579"/>
            <a:chOff x="3453020" y="5137510"/>
            <a:chExt cx="8060007" cy="127457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B238282-EEB4-222C-37C3-2200D54FE0B7}"/>
                </a:ext>
              </a:extLst>
            </p:cNvPr>
            <p:cNvGrpSpPr/>
            <p:nvPr/>
          </p:nvGrpSpPr>
          <p:grpSpPr>
            <a:xfrm>
              <a:off x="3453020" y="5137510"/>
              <a:ext cx="8060007" cy="1233121"/>
              <a:chOff x="1356360" y="2795202"/>
              <a:chExt cx="10293514" cy="139272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512F010-2CA6-0AB5-D185-AA2D52C18D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7357"/>
              <a:stretch/>
            </p:blipFill>
            <p:spPr>
              <a:xfrm>
                <a:off x="1356360" y="2795202"/>
                <a:ext cx="10293514" cy="480102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D0D3FDA-3C5D-C1A7-1A25-8BAF089668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357"/>
              <a:stretch/>
            </p:blipFill>
            <p:spPr>
              <a:xfrm>
                <a:off x="1356360" y="3707828"/>
                <a:ext cx="10293514" cy="480102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24C4BCE-061C-D35C-F539-5489701E6E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357"/>
              <a:stretch/>
            </p:blipFill>
            <p:spPr>
              <a:xfrm>
                <a:off x="1356360" y="3230097"/>
                <a:ext cx="10293514" cy="480102"/>
              </a:xfrm>
              <a:prstGeom prst="rect">
                <a:avLst/>
              </a:prstGeom>
            </p:spPr>
          </p:pic>
        </p:grp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2490DAE4-AE6F-5A16-8874-86AE361B0F6D}"/>
                </a:ext>
              </a:extLst>
            </p:cNvPr>
            <p:cNvSpPr/>
            <p:nvPr/>
          </p:nvSpPr>
          <p:spPr bwMode="auto">
            <a:xfrm rot="5400000">
              <a:off x="10549551" y="4628450"/>
              <a:ext cx="322201" cy="1604750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10184F30-6573-36EC-C7F9-D4FCFAA321B3}"/>
                </a:ext>
              </a:extLst>
            </p:cNvPr>
            <p:cNvSpPr/>
            <p:nvPr/>
          </p:nvSpPr>
          <p:spPr bwMode="auto">
            <a:xfrm>
              <a:off x="8295393" y="6083164"/>
              <a:ext cx="838088" cy="328925"/>
            </a:xfrm>
            <a:prstGeom prst="roundRect">
              <a:avLst/>
            </a:prstGeom>
            <a:solidFill>
              <a:schemeClr val="accent2">
                <a:alpha val="10196"/>
              </a:scheme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7E5E280A-C09A-F383-0709-35BB29F793C1}"/>
                </a:ext>
              </a:extLst>
            </p:cNvPr>
            <p:cNvSpPr/>
            <p:nvPr/>
          </p:nvSpPr>
          <p:spPr bwMode="auto">
            <a:xfrm rot="5400000">
              <a:off x="10950575" y="5412435"/>
              <a:ext cx="302454" cy="822448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AC5385-1512-B6B8-F305-46B9BEE3750A}"/>
              </a:ext>
            </a:extLst>
          </p:cNvPr>
          <p:cNvGrpSpPr/>
          <p:nvPr/>
        </p:nvGrpSpPr>
        <p:grpSpPr>
          <a:xfrm>
            <a:off x="7483529" y="1660050"/>
            <a:ext cx="3839051" cy="1145655"/>
            <a:chOff x="7483529" y="1660050"/>
            <a:chExt cx="3839051" cy="1145655"/>
          </a:xfrm>
        </p:grpSpPr>
        <p:sp>
          <p:nvSpPr>
            <p:cNvPr id="3" name="Callout: Line with No Border 2">
              <a:extLst>
                <a:ext uri="{FF2B5EF4-FFF2-40B4-BE49-F238E27FC236}">
                  <a16:creationId xmlns:a16="http://schemas.microsoft.com/office/drawing/2014/main" id="{522E60CB-B25B-216C-548E-4B77A21A7D2B}"/>
                </a:ext>
              </a:extLst>
            </p:cNvPr>
            <p:cNvSpPr/>
            <p:nvPr/>
          </p:nvSpPr>
          <p:spPr>
            <a:xfrm>
              <a:off x="9864092" y="2297921"/>
              <a:ext cx="475794" cy="507784"/>
            </a:xfrm>
            <a:prstGeom prst="callout1">
              <a:avLst>
                <a:gd name="adj1" fmla="val 25534"/>
                <a:gd name="adj2" fmla="val 217592"/>
                <a:gd name="adj3" fmla="val 182223"/>
                <a:gd name="adj4" fmla="val 217152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" name="Speech Bubble: Rectangle with Corners Rounded 3">
              <a:extLst>
                <a:ext uri="{FF2B5EF4-FFF2-40B4-BE49-F238E27FC236}">
                  <a16:creationId xmlns:a16="http://schemas.microsoft.com/office/drawing/2014/main" id="{2A53BEC6-6A1D-B776-5736-3EBE9BEBB453}"/>
                </a:ext>
              </a:extLst>
            </p:cNvPr>
            <p:cNvSpPr/>
            <p:nvPr/>
          </p:nvSpPr>
          <p:spPr>
            <a:xfrm>
              <a:off x="7483529" y="1660050"/>
              <a:ext cx="3839051" cy="914997"/>
            </a:xfrm>
            <a:prstGeom prst="wedgeRoundRectCallout">
              <a:avLst>
                <a:gd name="adj1" fmla="val 39613"/>
                <a:gd name="adj2" fmla="val -11240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800" b="1"/>
                <a:t>A</a:t>
              </a:r>
              <a:r>
                <a:rPr lang="en-DE" sz="1800" b="1"/>
                <a:t>CMAEN =1  </a:t>
              </a:r>
              <a:r>
                <a:rPr lang="en-DE" sz="1800"/>
                <a:t>(ACMA Enable) </a:t>
              </a:r>
            </a:p>
            <a:p>
              <a:pPr algn="ctr">
                <a:lnSpc>
                  <a:spcPct val="150000"/>
                </a:lnSpc>
              </a:pPr>
              <a:r>
                <a:rPr lang="en-DE" sz="1800"/>
                <a:t>in</a:t>
              </a:r>
              <a:r>
                <a:rPr lang="en-DE" sz="1800" b="1"/>
                <a:t> ACMACTL </a:t>
              </a:r>
              <a:r>
                <a:rPr lang="en-DE" sz="1800"/>
                <a:t>(ACMA Control Register)</a:t>
              </a:r>
              <a:endParaRPr lang="en-US" sz="18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95D312-7A13-9E33-8682-7DAD958AF278}"/>
              </a:ext>
            </a:extLst>
          </p:cNvPr>
          <p:cNvGrpSpPr/>
          <p:nvPr/>
        </p:nvGrpSpPr>
        <p:grpSpPr>
          <a:xfrm>
            <a:off x="7483529" y="4844352"/>
            <a:ext cx="3839051" cy="1382841"/>
            <a:chOff x="7483529" y="4844352"/>
            <a:chExt cx="3839051" cy="1382841"/>
          </a:xfrm>
        </p:grpSpPr>
        <p:sp>
          <p:nvSpPr>
            <p:cNvPr id="7" name="Callout: Line with No Border 6">
              <a:extLst>
                <a:ext uri="{FF2B5EF4-FFF2-40B4-BE49-F238E27FC236}">
                  <a16:creationId xmlns:a16="http://schemas.microsoft.com/office/drawing/2014/main" id="{46BAA9A6-C2FE-70AF-9950-307E7012E8D1}"/>
                </a:ext>
              </a:extLst>
            </p:cNvPr>
            <p:cNvSpPr/>
            <p:nvPr/>
          </p:nvSpPr>
          <p:spPr>
            <a:xfrm>
              <a:off x="8926755" y="4885810"/>
              <a:ext cx="475794" cy="507784"/>
            </a:xfrm>
            <a:prstGeom prst="callout1">
              <a:avLst>
                <a:gd name="adj1" fmla="val -2842"/>
                <a:gd name="adj2" fmla="val -45642"/>
                <a:gd name="adj3" fmla="val -105900"/>
                <a:gd name="adj4" fmla="val -44917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9B5BE3E1-9C75-A45F-5A24-B1413F018A34}"/>
                </a:ext>
              </a:extLst>
            </p:cNvPr>
            <p:cNvSpPr/>
            <p:nvPr/>
          </p:nvSpPr>
          <p:spPr>
            <a:xfrm>
              <a:off x="7483529" y="4844352"/>
              <a:ext cx="3839051" cy="1382841"/>
            </a:xfrm>
            <a:prstGeom prst="wedgeRoundRectCallout">
              <a:avLst>
                <a:gd name="adj1" fmla="val 29270"/>
                <a:gd name="adj2" fmla="val -10234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800" b="1"/>
                <a:t>U</a:t>
              </a:r>
              <a:r>
                <a:rPr lang="en-DE" sz="1800" b="1"/>
                <a:t>NCRS  </a:t>
              </a:r>
              <a:r>
                <a:rPr lang="en-DE" sz="1800"/>
                <a:t>(Unexpected Carrier Sense) </a:t>
              </a:r>
            </a:p>
            <a:p>
              <a:pPr algn="ctr">
                <a:lnSpc>
                  <a:spcPct val="150000"/>
                </a:lnSpc>
              </a:pPr>
              <a:r>
                <a:rPr lang="en-DE" sz="1800"/>
                <a:t>in</a:t>
              </a:r>
              <a:r>
                <a:rPr lang="en-DE" sz="1800" b="1"/>
                <a:t> STS1  </a:t>
              </a:r>
              <a:r>
                <a:rPr lang="en-DE" sz="1800"/>
                <a:t>(Status1 Register)</a:t>
              </a:r>
            </a:p>
            <a:p>
              <a:pPr algn="ctr">
                <a:lnSpc>
                  <a:spcPct val="150000"/>
                </a:lnSpc>
              </a:pPr>
              <a:r>
                <a:rPr lang="en-DE" sz="1800" err="1"/>
                <a:t>signaled</a:t>
              </a:r>
              <a:r>
                <a:rPr lang="en-DE" sz="1800"/>
                <a:t> via </a:t>
              </a:r>
              <a:r>
                <a:rPr lang="en-DE" sz="1800" b="1"/>
                <a:t>interrupt</a:t>
              </a:r>
              <a:endParaRPr lang="en-US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73388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4C266-8F6C-A56A-79C5-8F3AA4B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Agenda  LAN8670/1/2  PHY</a:t>
            </a:r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9473ED-F49C-7675-7925-7B86099754E6}"/>
              </a:ext>
            </a:extLst>
          </p:cNvPr>
          <p:cNvSpPr/>
          <p:nvPr/>
        </p:nvSpPr>
        <p:spPr bwMode="auto">
          <a:xfrm rot="5400000">
            <a:off x="3036932" y="1300030"/>
            <a:ext cx="633619" cy="5314798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3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1">
            <a:extLst>
              <a:ext uri="{FF2B5EF4-FFF2-40B4-BE49-F238E27FC236}">
                <a16:creationId xmlns:a16="http://schemas.microsoft.com/office/drawing/2014/main" id="{6CEFD6CA-154A-B574-A8B0-12C50C10BD7B}"/>
              </a:ext>
            </a:extLst>
          </p:cNvPr>
          <p:cNvSpPr txBox="1">
            <a:spLocks/>
          </p:cNvSpPr>
          <p:nvPr/>
        </p:nvSpPr>
        <p:spPr>
          <a:xfrm>
            <a:off x="3483782" y="284436"/>
            <a:ext cx="7263239" cy="6313133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DE" sz="2800" b="1">
                <a:solidFill>
                  <a:schemeClr val="accent1"/>
                </a:solidFill>
              </a:rPr>
              <a:t>CBS – Credit Based Traffic Shaping</a:t>
            </a:r>
          </a:p>
          <a:p>
            <a:pPr marL="285750" indent="-285750">
              <a:lnSpc>
                <a:spcPct val="150000"/>
              </a:lnSpc>
            </a:pPr>
            <a:r>
              <a:rPr lang="en-DE" sz="1800">
                <a:solidFill>
                  <a:schemeClr val="accent1"/>
                </a:solidFill>
              </a:rPr>
              <a:t>Provides</a:t>
            </a:r>
            <a:r>
              <a:rPr lang="en-US" sz="1800">
                <a:solidFill>
                  <a:schemeClr val="accent1"/>
                </a:solidFill>
              </a:rPr>
              <a:t> a node a certain bandwidth </a:t>
            </a:r>
            <a:r>
              <a:rPr lang="en-DE" sz="1800">
                <a:solidFill>
                  <a:schemeClr val="accent1"/>
                </a:solidFill>
              </a:rPr>
              <a:t>based on credits</a:t>
            </a:r>
          </a:p>
          <a:p>
            <a:pPr marL="285750" indent="-285750">
              <a:lnSpc>
                <a:spcPct val="150000"/>
              </a:lnSpc>
            </a:pPr>
            <a:r>
              <a:rPr lang="en-US" sz="1800">
                <a:solidFill>
                  <a:schemeClr val="accent1"/>
                </a:solidFill>
              </a:rPr>
              <a:t>Prevents a “best-effort-node” from flooding the network</a:t>
            </a:r>
            <a:endParaRPr lang="en-DE" sz="180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1800">
                <a:solidFill>
                  <a:schemeClr val="accent1"/>
                </a:solidFill>
              </a:rPr>
              <a:t>Bandwidth distribution independent </a:t>
            </a:r>
            <a:r>
              <a:rPr lang="en-DE" sz="1800">
                <a:solidFill>
                  <a:schemeClr val="accent1"/>
                </a:solidFill>
              </a:rPr>
              <a:t>of</a:t>
            </a:r>
            <a:r>
              <a:rPr lang="en-US" sz="1800">
                <a:solidFill>
                  <a:schemeClr val="accent1"/>
                </a:solidFill>
              </a:rPr>
              <a:t> Ethernet frame length</a:t>
            </a:r>
            <a:endParaRPr lang="en-DE" sz="180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</a:pPr>
            <a:r>
              <a:rPr lang="en-DE" sz="1800">
                <a:solidFill>
                  <a:schemeClr val="accent1"/>
                </a:solidFill>
              </a:rPr>
              <a:t>HW-based: </a:t>
            </a:r>
            <a:r>
              <a:rPr lang="en-US" sz="1800">
                <a:solidFill>
                  <a:schemeClr val="accent1"/>
                </a:solidFill>
              </a:rPr>
              <a:t>Application </a:t>
            </a:r>
            <a:r>
              <a:rPr lang="en-DE" sz="1800">
                <a:solidFill>
                  <a:schemeClr val="accent1"/>
                </a:solidFill>
              </a:rPr>
              <a:t>only needs to </a:t>
            </a:r>
            <a:r>
              <a:rPr lang="en-US" sz="1800" err="1">
                <a:solidFill>
                  <a:schemeClr val="accent1"/>
                </a:solidFill>
              </a:rPr>
              <a:t>configu</a:t>
            </a:r>
            <a:r>
              <a:rPr lang="en-DE" sz="1800">
                <a:solidFill>
                  <a:schemeClr val="accent1"/>
                </a:solidFill>
              </a:rPr>
              <a:t>re</a:t>
            </a:r>
          </a:p>
          <a:p>
            <a:pPr marL="285750" indent="-285750">
              <a:lnSpc>
                <a:spcPct val="150000"/>
              </a:lnSpc>
            </a:pPr>
            <a:r>
              <a:rPr lang="en-DE" sz="1800">
                <a:solidFill>
                  <a:schemeClr val="accent1"/>
                </a:solidFill>
              </a:rPr>
              <a:t>Works on top of PLCA or CSMA/CD</a:t>
            </a:r>
          </a:p>
          <a:p>
            <a:pPr marL="285750" indent="-285750">
              <a:lnSpc>
                <a:spcPct val="150000"/>
              </a:lnSpc>
            </a:pPr>
            <a:r>
              <a:rPr lang="en-DE" sz="1800">
                <a:solidFill>
                  <a:schemeClr val="accent1"/>
                </a:solidFill>
              </a:rPr>
              <a:t>Do not mix with PLCA Burst Mode or Cycle Skipping</a:t>
            </a:r>
          </a:p>
          <a:p>
            <a:pPr marL="587621" lvl="1" indent="-285750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83A6F-FA8C-7248-A973-A36B929FF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683" y="3903273"/>
            <a:ext cx="5035419" cy="24078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87FF3BC4-B56A-1613-26D8-8C42C6D25AC8}"/>
              </a:ext>
            </a:extLst>
          </p:cNvPr>
          <p:cNvSpPr/>
          <p:nvPr/>
        </p:nvSpPr>
        <p:spPr>
          <a:xfrm>
            <a:off x="9850864" y="1147504"/>
            <a:ext cx="1706252" cy="1021444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800" b="1">
                <a:solidFill>
                  <a:srgbClr val="FFFFFF"/>
                </a:solidFill>
              </a:rPr>
              <a:t>Enables </a:t>
            </a:r>
            <a:endParaRPr lang="en-DE" sz="1800" b="1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lang="en-DE" sz="1800" b="1">
                <a:solidFill>
                  <a:srgbClr val="FFFFFF"/>
                </a:solidFill>
              </a:rPr>
              <a:t>t</a:t>
            </a:r>
            <a:r>
              <a:rPr lang="en-US" sz="1800" b="1" err="1">
                <a:solidFill>
                  <a:srgbClr val="FFFFFF"/>
                </a:solidFill>
              </a:rPr>
              <a:t>raffic</a:t>
            </a:r>
            <a:r>
              <a:rPr lang="en-US" sz="1800" b="1">
                <a:solidFill>
                  <a:srgbClr val="FFFFFF"/>
                </a:solidFill>
              </a:rPr>
              <a:t> </a:t>
            </a:r>
            <a:r>
              <a:rPr lang="en-DE" sz="1800" b="1">
                <a:solidFill>
                  <a:srgbClr val="FFFFFF"/>
                </a:solidFill>
              </a:rPr>
              <a:t>s</a:t>
            </a:r>
            <a:r>
              <a:rPr lang="en-US" sz="1800" b="1" err="1">
                <a:solidFill>
                  <a:srgbClr val="FFFFFF"/>
                </a:solidFill>
              </a:rPr>
              <a:t>haping</a:t>
            </a:r>
            <a:r>
              <a:rPr lang="en-US" sz="1800" b="1">
                <a:solidFill>
                  <a:srgbClr val="FFFFFF"/>
                </a:solidFill>
              </a:rPr>
              <a:t> in small MCUs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EB4C38-FBD0-24AC-FCB7-4F05AB376E16}"/>
              </a:ext>
            </a:extLst>
          </p:cNvPr>
          <p:cNvGrpSpPr/>
          <p:nvPr/>
        </p:nvGrpSpPr>
        <p:grpSpPr>
          <a:xfrm>
            <a:off x="9893895" y="3478937"/>
            <a:ext cx="1706252" cy="694824"/>
            <a:chOff x="9509540" y="447500"/>
            <a:chExt cx="2595986" cy="576147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8004FCEB-F85B-DF8F-BB02-A8D86DB42BC1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52887"/>
                <a:gd name="adj2" fmla="val -122987"/>
                <a:gd name="adj3" fmla="val 144978"/>
                <a:gd name="adj4" fmla="val -499361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22F6BC23-91FE-60BA-4425-23FEB81AD958}"/>
                </a:ext>
              </a:extLst>
            </p:cNvPr>
            <p:cNvSpPr/>
            <p:nvPr/>
          </p:nvSpPr>
          <p:spPr>
            <a:xfrm>
              <a:off x="9509540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/>
                <a:t>Credits decrease while TX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12451B-E759-D353-04BA-702D923D5473}"/>
              </a:ext>
            </a:extLst>
          </p:cNvPr>
          <p:cNvGrpSpPr/>
          <p:nvPr/>
        </p:nvGrpSpPr>
        <p:grpSpPr>
          <a:xfrm>
            <a:off x="9893895" y="5624175"/>
            <a:ext cx="1706252" cy="694824"/>
            <a:chOff x="9509540" y="447500"/>
            <a:chExt cx="2595986" cy="576147"/>
          </a:xfrm>
        </p:grpSpPr>
        <p:sp>
          <p:nvSpPr>
            <p:cNvPr id="12" name="Callout: Line with No Border 11">
              <a:extLst>
                <a:ext uri="{FF2B5EF4-FFF2-40B4-BE49-F238E27FC236}">
                  <a16:creationId xmlns:a16="http://schemas.microsoft.com/office/drawing/2014/main" id="{A4932821-DA13-E679-821A-7DB880436B7A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49886"/>
                <a:gd name="adj2" fmla="val -119784"/>
                <a:gd name="adj3" fmla="val -130516"/>
                <a:gd name="adj4" fmla="val -75681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53AAFF10-A702-6B07-DCB6-B05B40FB043C}"/>
                </a:ext>
              </a:extLst>
            </p:cNvPr>
            <p:cNvSpPr/>
            <p:nvPr/>
          </p:nvSpPr>
          <p:spPr>
            <a:xfrm>
              <a:off x="9509540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/>
                <a:t>Credits </a:t>
              </a:r>
              <a:r>
                <a:rPr lang="en-DE" sz="1600" b="1"/>
                <a:t>in</a:t>
              </a:r>
              <a:r>
                <a:rPr lang="en-US" sz="1600" b="1"/>
                <a:t>crease while </a:t>
              </a:r>
              <a:r>
                <a:rPr lang="en-DE" sz="1600" b="1"/>
                <a:t>R</a:t>
              </a:r>
              <a:r>
                <a:rPr lang="en-US" sz="1600" b="1"/>
                <a:t>X</a:t>
              </a:r>
              <a:r>
                <a:rPr lang="en-DE" sz="1600" b="1"/>
                <a:t> or idle</a:t>
              </a:r>
              <a:endParaRPr lang="en-US" sz="1600" b="1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92064F-5621-0833-E64A-9800A2988B27}"/>
              </a:ext>
            </a:extLst>
          </p:cNvPr>
          <p:cNvGrpSpPr/>
          <p:nvPr/>
        </p:nvGrpSpPr>
        <p:grpSpPr>
          <a:xfrm>
            <a:off x="9893895" y="4379161"/>
            <a:ext cx="1706252" cy="1032283"/>
            <a:chOff x="9509540" y="447500"/>
            <a:chExt cx="2595986" cy="576147"/>
          </a:xfrm>
        </p:grpSpPr>
        <p:sp>
          <p:nvSpPr>
            <p:cNvPr id="15" name="Callout: Line with No Border 14">
              <a:extLst>
                <a:ext uri="{FF2B5EF4-FFF2-40B4-BE49-F238E27FC236}">
                  <a16:creationId xmlns:a16="http://schemas.microsoft.com/office/drawing/2014/main" id="{1D1759B2-AD7D-10BB-1246-73A06FFCB050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49249"/>
                <a:gd name="adj2" fmla="val -119784"/>
                <a:gd name="adj3" fmla="val 20391"/>
                <a:gd name="adj4" fmla="val -414824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6" name="Speech Bubble: Rectangle with Corners Rounded 15">
              <a:extLst>
                <a:ext uri="{FF2B5EF4-FFF2-40B4-BE49-F238E27FC236}">
                  <a16:creationId xmlns:a16="http://schemas.microsoft.com/office/drawing/2014/main" id="{6AD96290-0C77-C410-7220-9BF1BA541EC5}"/>
                </a:ext>
              </a:extLst>
            </p:cNvPr>
            <p:cNvSpPr/>
            <p:nvPr/>
          </p:nvSpPr>
          <p:spPr>
            <a:xfrm>
              <a:off x="9509540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/>
                <a:t>Node can only send a packet if it has enough credits</a:t>
              </a:r>
            </a:p>
          </p:txBody>
        </p:sp>
      </p:grp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1864B817-FE4B-03BE-4622-583309A05B5D}"/>
              </a:ext>
            </a:extLst>
          </p:cNvPr>
          <p:cNvSpPr txBox="1">
            <a:spLocks/>
          </p:cNvSpPr>
          <p:nvPr/>
        </p:nvSpPr>
        <p:spPr>
          <a:xfrm>
            <a:off x="118118" y="697193"/>
            <a:ext cx="2744578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Credit Based Traffic Shaping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LAN8670/1/2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&amp;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LAN8650/1</a:t>
            </a:r>
            <a:endParaRPr lang="en-US" sz="3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20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0D4B490-9076-32BA-497E-971415587182}"/>
              </a:ext>
            </a:extLst>
          </p:cNvPr>
          <p:cNvSpPr txBox="1">
            <a:spLocks/>
          </p:cNvSpPr>
          <p:nvPr/>
        </p:nvSpPr>
        <p:spPr>
          <a:xfrm>
            <a:off x="118117" y="697193"/>
            <a:ext cx="2740171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Credit Based Traffic Shaping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LAN8670/1/2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&amp;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LAN8650/1</a:t>
            </a:r>
            <a:endParaRPr lang="en-US" sz="32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83A6F-FA8C-7248-A973-A36B929FF2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13" r="4860"/>
          <a:stretch/>
        </p:blipFill>
        <p:spPr>
          <a:xfrm>
            <a:off x="5700622" y="1720434"/>
            <a:ext cx="6205362" cy="34171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B9596B7-36EA-A4D3-7BE0-6404E32F02D5}"/>
              </a:ext>
            </a:extLst>
          </p:cNvPr>
          <p:cNvGrpSpPr/>
          <p:nvPr/>
        </p:nvGrpSpPr>
        <p:grpSpPr>
          <a:xfrm>
            <a:off x="3252327" y="423148"/>
            <a:ext cx="2377779" cy="881768"/>
            <a:chOff x="9509541" y="447500"/>
            <a:chExt cx="2595986" cy="576147"/>
          </a:xfrm>
        </p:grpSpPr>
        <p:sp>
          <p:nvSpPr>
            <p:cNvPr id="18" name="Callout: Line with No Border 17">
              <a:extLst>
                <a:ext uri="{FF2B5EF4-FFF2-40B4-BE49-F238E27FC236}">
                  <a16:creationId xmlns:a16="http://schemas.microsoft.com/office/drawing/2014/main" id="{5F0EB66E-39CF-3BE3-CAAC-FBE0D496A362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104875"/>
                <a:gd name="adj2" fmla="val 167789"/>
                <a:gd name="adj3" fmla="val 216277"/>
                <a:gd name="adj4" fmla="val 30315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9" name="Speech Bubble: Rectangle with Corners Rounded 18">
              <a:extLst>
                <a:ext uri="{FF2B5EF4-FFF2-40B4-BE49-F238E27FC236}">
                  <a16:creationId xmlns:a16="http://schemas.microsoft.com/office/drawing/2014/main" id="{28F24F30-8575-222B-C105-A39E4895F465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No more increment when</a:t>
              </a:r>
            </a:p>
            <a:p>
              <a:pPr algn="ctr"/>
              <a:r>
                <a:rPr lang="en-DE" sz="1600"/>
                <a:t> </a:t>
              </a:r>
              <a:r>
                <a:rPr lang="en-DE" sz="1600" b="1"/>
                <a:t>credits</a:t>
              </a:r>
              <a:r>
                <a:rPr lang="en-DE" sz="1600"/>
                <a:t> &gt; </a:t>
              </a:r>
              <a:r>
                <a:rPr lang="en-DE" sz="1600" b="1"/>
                <a:t>TOPLIMIT</a:t>
              </a:r>
            </a:p>
            <a:p>
              <a:pPr algn="ctr"/>
              <a:r>
                <a:rPr lang="en-DE" sz="1600"/>
                <a:t>prevents bursts of packets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CDF9F9-6904-5433-D48B-8F82D931CC32}"/>
              </a:ext>
            </a:extLst>
          </p:cNvPr>
          <p:cNvGrpSpPr/>
          <p:nvPr/>
        </p:nvGrpSpPr>
        <p:grpSpPr>
          <a:xfrm>
            <a:off x="3261874" y="1875759"/>
            <a:ext cx="2033081" cy="881768"/>
            <a:chOff x="9509541" y="447500"/>
            <a:chExt cx="2595986" cy="576147"/>
          </a:xfrm>
        </p:grpSpPr>
        <p:sp>
          <p:nvSpPr>
            <p:cNvPr id="21" name="Callout: Line with No Border 20">
              <a:extLst>
                <a:ext uri="{FF2B5EF4-FFF2-40B4-BE49-F238E27FC236}">
                  <a16:creationId xmlns:a16="http://schemas.microsoft.com/office/drawing/2014/main" id="{81D86EA4-894F-E96C-0A67-B59AEEF4DCDA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51251"/>
                <a:gd name="adj2" fmla="val 222771"/>
                <a:gd name="adj3" fmla="val 114107"/>
                <a:gd name="adj4" fmla="val 31892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2" name="Speech Bubble: Rectangle with Corners Rounded 21">
              <a:extLst>
                <a:ext uri="{FF2B5EF4-FFF2-40B4-BE49-F238E27FC236}">
                  <a16:creationId xmlns:a16="http://schemas.microsoft.com/office/drawing/2014/main" id="{E09D6D8B-2A92-F4FF-B5E9-B1B0D687E260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PHY starts TX only if </a:t>
              </a:r>
            </a:p>
            <a:p>
              <a:pPr algn="ctr"/>
              <a:r>
                <a:rPr lang="en-DE" sz="1600" b="1"/>
                <a:t>credits</a:t>
              </a:r>
              <a:r>
                <a:rPr lang="en-DE" sz="1600"/>
                <a:t> &gt; </a:t>
              </a:r>
              <a:r>
                <a:rPr lang="en-DE" sz="1600" b="1"/>
                <a:t>STARTTHR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178EE9-9A41-1F51-6686-B25592323525}"/>
              </a:ext>
            </a:extLst>
          </p:cNvPr>
          <p:cNvGrpSpPr/>
          <p:nvPr/>
        </p:nvGrpSpPr>
        <p:grpSpPr>
          <a:xfrm>
            <a:off x="3261874" y="3001964"/>
            <a:ext cx="2033081" cy="881768"/>
            <a:chOff x="9509541" y="447500"/>
            <a:chExt cx="2595986" cy="576147"/>
          </a:xfrm>
        </p:grpSpPr>
        <p:sp>
          <p:nvSpPr>
            <p:cNvPr id="24" name="Callout: Line with No Border 23">
              <a:extLst>
                <a:ext uri="{FF2B5EF4-FFF2-40B4-BE49-F238E27FC236}">
                  <a16:creationId xmlns:a16="http://schemas.microsoft.com/office/drawing/2014/main" id="{7D310D62-38E9-469F-5F95-7E1F7074B9A8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51251"/>
                <a:gd name="adj2" fmla="val 222771"/>
                <a:gd name="adj3" fmla="val 77014"/>
                <a:gd name="adj4" fmla="val 320254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5" name="Speech Bubble: Rectangle with Corners Rounded 24">
              <a:extLst>
                <a:ext uri="{FF2B5EF4-FFF2-40B4-BE49-F238E27FC236}">
                  <a16:creationId xmlns:a16="http://schemas.microsoft.com/office/drawing/2014/main" id="{2879F82B-F029-8D47-6317-57909830C164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PHY stops TX when </a:t>
              </a:r>
            </a:p>
            <a:p>
              <a:pPr algn="ctr"/>
              <a:r>
                <a:rPr lang="en-DE" sz="1600" b="1"/>
                <a:t>credits</a:t>
              </a:r>
              <a:r>
                <a:rPr lang="en-DE" sz="1600"/>
                <a:t> &lt; </a:t>
              </a:r>
              <a:r>
                <a:rPr lang="en-DE" sz="1600" b="1"/>
                <a:t>STOPTHR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8561FD-3849-7CAB-1C2A-DC97A31D576D}"/>
              </a:ext>
            </a:extLst>
          </p:cNvPr>
          <p:cNvGrpSpPr/>
          <p:nvPr/>
        </p:nvGrpSpPr>
        <p:grpSpPr>
          <a:xfrm>
            <a:off x="3261874" y="4128168"/>
            <a:ext cx="2033081" cy="881768"/>
            <a:chOff x="9509541" y="447500"/>
            <a:chExt cx="2595986" cy="576147"/>
          </a:xfrm>
        </p:grpSpPr>
        <p:sp>
          <p:nvSpPr>
            <p:cNvPr id="27" name="Callout: Line with No Border 26">
              <a:extLst>
                <a:ext uri="{FF2B5EF4-FFF2-40B4-BE49-F238E27FC236}">
                  <a16:creationId xmlns:a16="http://schemas.microsoft.com/office/drawing/2014/main" id="{FF9CAD3A-ADAF-E66C-1E91-C83276A2425C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51251"/>
                <a:gd name="adj2" fmla="val 222771"/>
                <a:gd name="adj3" fmla="val -64420"/>
                <a:gd name="adj4" fmla="val 477079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8" name="Speech Bubble: Rectangle with Corners Rounded 27">
              <a:extLst>
                <a:ext uri="{FF2B5EF4-FFF2-40B4-BE49-F238E27FC236}">
                  <a16:creationId xmlns:a16="http://schemas.microsoft.com/office/drawing/2014/main" id="{43EA5AC0-2065-FF66-479B-030657C670CF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Packet sent completely, </a:t>
              </a:r>
            </a:p>
            <a:p>
              <a:pPr algn="ctr"/>
              <a:r>
                <a:rPr lang="en-DE" sz="1600"/>
                <a:t>even when </a:t>
              </a:r>
            </a:p>
            <a:p>
              <a:pPr algn="ctr"/>
              <a:r>
                <a:rPr lang="en-DE" sz="1600" b="1"/>
                <a:t>credits</a:t>
              </a:r>
              <a:r>
                <a:rPr lang="en-DE" sz="1600"/>
                <a:t> &lt; </a:t>
              </a:r>
              <a:r>
                <a:rPr lang="en-DE" sz="1600" b="1"/>
                <a:t>STOPTHR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E802DBC-E2BA-5898-D470-D3C967A61E4E}"/>
              </a:ext>
            </a:extLst>
          </p:cNvPr>
          <p:cNvGrpSpPr/>
          <p:nvPr/>
        </p:nvGrpSpPr>
        <p:grpSpPr>
          <a:xfrm>
            <a:off x="8237947" y="5496564"/>
            <a:ext cx="2520374" cy="881768"/>
            <a:chOff x="9509541" y="447500"/>
            <a:chExt cx="2595986" cy="576147"/>
          </a:xfrm>
        </p:grpSpPr>
        <p:sp>
          <p:nvSpPr>
            <p:cNvPr id="31" name="Callout: Line with No Border 30">
              <a:extLst>
                <a:ext uri="{FF2B5EF4-FFF2-40B4-BE49-F238E27FC236}">
                  <a16:creationId xmlns:a16="http://schemas.microsoft.com/office/drawing/2014/main" id="{D95824AD-AE94-5571-8FD7-651D644D78C4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-17004"/>
                <a:gd name="adj2" fmla="val 61374"/>
                <a:gd name="adj3" fmla="val -170200"/>
                <a:gd name="adj4" fmla="val 5834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2" name="Speech Bubble: Rectangle with Corners Rounded 31">
              <a:extLst>
                <a:ext uri="{FF2B5EF4-FFF2-40B4-BE49-F238E27FC236}">
                  <a16:creationId xmlns:a16="http://schemas.microsoft.com/office/drawing/2014/main" id="{FA6062E1-5341-B7E8-9F38-524483309692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No more decrement when</a:t>
              </a:r>
            </a:p>
            <a:p>
              <a:pPr algn="ctr"/>
              <a:r>
                <a:rPr lang="en-DE" sz="1600"/>
                <a:t> </a:t>
              </a:r>
              <a:r>
                <a:rPr lang="en-DE" sz="1600" b="1"/>
                <a:t>credits</a:t>
              </a:r>
              <a:r>
                <a:rPr lang="en-DE" sz="1600"/>
                <a:t> &lt; </a:t>
              </a:r>
              <a:r>
                <a:rPr lang="en-DE" sz="1600" b="1"/>
                <a:t>BOTLIMIT</a:t>
              </a:r>
            </a:p>
            <a:p>
              <a:pPr algn="ctr"/>
              <a:r>
                <a:rPr lang="en-DE" sz="1600"/>
                <a:t>prevents waiting for too long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4F77D0-B2DA-6358-F142-F5EEBCAD9FDE}"/>
              </a:ext>
            </a:extLst>
          </p:cNvPr>
          <p:cNvGrpSpPr/>
          <p:nvPr/>
        </p:nvGrpSpPr>
        <p:grpSpPr>
          <a:xfrm>
            <a:off x="6278700" y="423150"/>
            <a:ext cx="2377779" cy="881768"/>
            <a:chOff x="9509541" y="447500"/>
            <a:chExt cx="2595986" cy="576147"/>
          </a:xfrm>
        </p:grpSpPr>
        <p:sp>
          <p:nvSpPr>
            <p:cNvPr id="34" name="Callout: Line with No Border 33">
              <a:extLst>
                <a:ext uri="{FF2B5EF4-FFF2-40B4-BE49-F238E27FC236}">
                  <a16:creationId xmlns:a16="http://schemas.microsoft.com/office/drawing/2014/main" id="{B951E33B-4D2B-33CA-5A32-3ED0C8FB099B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115913"/>
                <a:gd name="adj2" fmla="val 144346"/>
                <a:gd name="adj3" fmla="val 368869"/>
                <a:gd name="adj4" fmla="val 234311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5" name="Speech Bubble: Rectangle with Corners Rounded 34">
              <a:extLst>
                <a:ext uri="{FF2B5EF4-FFF2-40B4-BE49-F238E27FC236}">
                  <a16:creationId xmlns:a16="http://schemas.microsoft.com/office/drawing/2014/main" id="{606122A0-9B35-9A74-C0DA-EE40E88CE983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RISESLP</a:t>
              </a:r>
              <a:r>
                <a:rPr lang="en-DE" sz="1600"/>
                <a:t> (Rising Slope)</a:t>
              </a:r>
            </a:p>
            <a:p>
              <a:pPr algn="ctr"/>
              <a:r>
                <a:rPr lang="en-DE" sz="1600"/>
                <a:t>30 Bytes RX  or  800 </a:t>
              </a:r>
              <a:r>
                <a:rPr lang="en-DE" sz="1600" err="1"/>
                <a:t>ms</a:t>
              </a:r>
              <a:r>
                <a:rPr lang="en-DE" sz="1600"/>
                <a:t> idle =&gt;  +1 Credit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E9CDFF-2142-D190-0DC9-FD0E868906AD}"/>
              </a:ext>
            </a:extLst>
          </p:cNvPr>
          <p:cNvGrpSpPr/>
          <p:nvPr/>
        </p:nvGrpSpPr>
        <p:grpSpPr>
          <a:xfrm>
            <a:off x="9211563" y="423149"/>
            <a:ext cx="2593417" cy="881768"/>
            <a:chOff x="9509541" y="447500"/>
            <a:chExt cx="2595986" cy="576147"/>
          </a:xfrm>
        </p:grpSpPr>
        <p:sp>
          <p:nvSpPr>
            <p:cNvPr id="37" name="Callout: Line with No Border 36">
              <a:extLst>
                <a:ext uri="{FF2B5EF4-FFF2-40B4-BE49-F238E27FC236}">
                  <a16:creationId xmlns:a16="http://schemas.microsoft.com/office/drawing/2014/main" id="{FC4E1386-E60D-0F19-1422-5B8CD9965BA8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115914"/>
                <a:gd name="adj2" fmla="val -49317"/>
                <a:gd name="adj3" fmla="val 245051"/>
                <a:gd name="adj4" fmla="val -7189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8" name="Speech Bubble: Rectangle with Corners Rounded 37">
              <a:extLst>
                <a:ext uri="{FF2B5EF4-FFF2-40B4-BE49-F238E27FC236}">
                  <a16:creationId xmlns:a16="http://schemas.microsoft.com/office/drawing/2014/main" id="{9B321694-F447-90B1-2794-10D71540075E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ECCRDS</a:t>
              </a:r>
              <a:r>
                <a:rPr lang="en-DE" sz="1600"/>
                <a:t> (empty Cycle Credits)</a:t>
              </a:r>
            </a:p>
            <a:p>
              <a:pPr algn="ctr"/>
              <a:r>
                <a:rPr lang="en-DE" sz="1600"/>
                <a:t>1 empty PLCA cycle  </a:t>
              </a:r>
            </a:p>
            <a:p>
              <a:pPr algn="ctr"/>
              <a:r>
                <a:rPr lang="en-DE" sz="1600"/>
                <a:t>=&gt;  +30 Credits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C14AC4-B880-CAF4-FCDD-31AD4DA6C2B3}"/>
              </a:ext>
            </a:extLst>
          </p:cNvPr>
          <p:cNvGrpSpPr/>
          <p:nvPr/>
        </p:nvGrpSpPr>
        <p:grpSpPr>
          <a:xfrm>
            <a:off x="5478672" y="5496564"/>
            <a:ext cx="2024263" cy="1037630"/>
            <a:chOff x="10319202" y="545978"/>
            <a:chExt cx="2595986" cy="677987"/>
          </a:xfrm>
        </p:grpSpPr>
        <p:sp>
          <p:nvSpPr>
            <p:cNvPr id="40" name="Callout: Line with No Border 39">
              <a:extLst>
                <a:ext uri="{FF2B5EF4-FFF2-40B4-BE49-F238E27FC236}">
                  <a16:creationId xmlns:a16="http://schemas.microsoft.com/office/drawing/2014/main" id="{92248F86-4C2E-DD3C-978C-B2B5DBA18945}"/>
                </a:ext>
              </a:extLst>
            </p:cNvPr>
            <p:cNvSpPr/>
            <p:nvPr/>
          </p:nvSpPr>
          <p:spPr>
            <a:xfrm>
              <a:off x="11459441" y="802911"/>
              <a:ext cx="723900" cy="421054"/>
            </a:xfrm>
            <a:prstGeom prst="callout1">
              <a:avLst>
                <a:gd name="adj1" fmla="val -60113"/>
                <a:gd name="adj2" fmla="val 98580"/>
                <a:gd name="adj3" fmla="val -244695"/>
                <a:gd name="adj4" fmla="val 170494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1" name="Speech Bubble: Rectangle with Corners Rounded 40">
              <a:extLst>
                <a:ext uri="{FF2B5EF4-FFF2-40B4-BE49-F238E27FC236}">
                  <a16:creationId xmlns:a16="http://schemas.microsoft.com/office/drawing/2014/main" id="{DDC9EBF6-1EA5-AC95-BCC1-333F2FCC353A}"/>
                </a:ext>
              </a:extLst>
            </p:cNvPr>
            <p:cNvSpPr/>
            <p:nvPr/>
          </p:nvSpPr>
          <p:spPr>
            <a:xfrm>
              <a:off x="10319202" y="545978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FALLSLP</a:t>
              </a:r>
              <a:r>
                <a:rPr lang="en-DE" sz="1600"/>
                <a:t> (Falling Slope)</a:t>
              </a:r>
            </a:p>
            <a:p>
              <a:pPr algn="ctr"/>
              <a:r>
                <a:rPr lang="en-DE" sz="1600"/>
                <a:t>2 Bytes TX  </a:t>
              </a:r>
            </a:p>
            <a:p>
              <a:pPr algn="ctr"/>
              <a:r>
                <a:rPr lang="en-DE" sz="1600"/>
                <a:t>=&gt;  -1 Credit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72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118" y="697193"/>
            <a:ext cx="2734188" cy="3224887"/>
          </a:xfrm>
        </p:spPr>
        <p:txBody>
          <a:bodyPr/>
          <a:lstStyle/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 b="1">
                <a:solidFill>
                  <a:srgbClr val="FFFFFF"/>
                </a:solidFill>
              </a:rPr>
              <a:t>Credit Based Traffic Shaping</a:t>
            </a:r>
          </a:p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LAN8670/1/2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&amp;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LAN8650/1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35" name="Content Placeholder 1">
            <a:extLst>
              <a:ext uri="{FF2B5EF4-FFF2-40B4-BE49-F238E27FC236}">
                <a16:creationId xmlns:a16="http://schemas.microsoft.com/office/drawing/2014/main" id="{6CEFD6CA-154A-B574-A8B0-12C50C10BD7B}"/>
              </a:ext>
            </a:extLst>
          </p:cNvPr>
          <p:cNvSpPr txBox="1">
            <a:spLocks/>
          </p:cNvSpPr>
          <p:nvPr/>
        </p:nvSpPr>
        <p:spPr>
          <a:xfrm>
            <a:off x="3483782" y="284436"/>
            <a:ext cx="8448574" cy="6313133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DE" sz="2800" b="1">
                <a:solidFill>
                  <a:schemeClr val="accent1"/>
                </a:solidFill>
              </a:rPr>
              <a:t>CBS – Credit Based Traffic Shaping</a:t>
            </a:r>
          </a:p>
          <a:p>
            <a:pPr marL="285750" indent="-28575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Switched on by </a:t>
            </a:r>
            <a:r>
              <a:rPr lang="en-DE" b="1">
                <a:solidFill>
                  <a:schemeClr val="accent1"/>
                </a:solidFill>
              </a:rPr>
              <a:t>CBSEN</a:t>
            </a:r>
            <a:r>
              <a:rPr lang="en-DE">
                <a:solidFill>
                  <a:schemeClr val="accent1"/>
                </a:solidFill>
              </a:rPr>
              <a:t> (CBS Enable) =1</a:t>
            </a:r>
          </a:p>
          <a:p>
            <a:pPr marL="285750" indent="-285750">
              <a:lnSpc>
                <a:spcPct val="150000"/>
              </a:lnSpc>
            </a:pPr>
            <a:r>
              <a:rPr lang="en-DE" b="1">
                <a:solidFill>
                  <a:schemeClr val="accent1"/>
                </a:solidFill>
              </a:rPr>
              <a:t>CREDITCTR</a:t>
            </a:r>
            <a:r>
              <a:rPr lang="en-DE">
                <a:solidFill>
                  <a:schemeClr val="accent1"/>
                </a:solidFill>
              </a:rPr>
              <a:t> (Credit Counter) for monitoring and debugging</a:t>
            </a:r>
          </a:p>
          <a:p>
            <a:pPr marL="587621" lvl="1" indent="-285750">
              <a:lnSpc>
                <a:spcPct val="150000"/>
              </a:lnSpc>
            </a:pPr>
            <a:endParaRPr lang="en-DE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DE" sz="2800" b="1">
                <a:solidFill>
                  <a:schemeClr val="accent1"/>
                </a:solidFill>
              </a:rPr>
              <a:t>Less bandwidth available for certain nodes:</a:t>
            </a:r>
          </a:p>
          <a:p>
            <a:pPr marL="342900" indent="-3429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Start/stop threshold can be configured differently in each node</a:t>
            </a:r>
          </a:p>
          <a:p>
            <a:pPr marL="342900" indent="-3429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Higher start threshold =&gt; node needs to </a:t>
            </a:r>
            <a:r>
              <a:rPr lang="en-DE" b="1">
                <a:solidFill>
                  <a:schemeClr val="accent1"/>
                </a:solidFill>
              </a:rPr>
              <a:t>wait longer for TX</a:t>
            </a:r>
          </a:p>
          <a:p>
            <a:pPr marL="342900" indent="-342900">
              <a:lnSpc>
                <a:spcPct val="150000"/>
              </a:lnSpc>
            </a:pPr>
            <a:r>
              <a:rPr lang="en-DE">
                <a:solidFill>
                  <a:schemeClr val="accent1"/>
                </a:solidFill>
              </a:rPr>
              <a:t>Higher stop threshold =&gt; node needs to </a:t>
            </a:r>
            <a:r>
              <a:rPr lang="en-DE" b="1">
                <a:solidFill>
                  <a:schemeClr val="accent1"/>
                </a:solidFill>
              </a:rPr>
              <a:t>stop earlier when TX</a:t>
            </a:r>
          </a:p>
          <a:p>
            <a:pPr marL="587621" lvl="1" indent="-285750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587621" lvl="1" indent="-285750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  <a:p>
            <a:pPr marL="769871" lvl="1">
              <a:lnSpc>
                <a:spcPct val="150000"/>
              </a:lnSpc>
            </a:pPr>
            <a:endParaRPr lang="en-DE" sz="180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83A6F-FA8C-7248-A973-A36B929FF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363" y="5038526"/>
            <a:ext cx="3528837" cy="1687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533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4C266-8F6C-A56A-79C5-8F3AA4B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Agenda  LAN8670/1/2  PHY</a:t>
            </a:r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9473ED-F49C-7675-7925-7B86099754E6}"/>
              </a:ext>
            </a:extLst>
          </p:cNvPr>
          <p:cNvSpPr/>
          <p:nvPr/>
        </p:nvSpPr>
        <p:spPr bwMode="auto">
          <a:xfrm rot="5400000">
            <a:off x="3078568" y="1788997"/>
            <a:ext cx="633619" cy="5398069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66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1">
            <a:extLst>
              <a:ext uri="{FF2B5EF4-FFF2-40B4-BE49-F238E27FC236}">
                <a16:creationId xmlns:a16="http://schemas.microsoft.com/office/drawing/2014/main" id="{6CEFD6CA-154A-B574-A8B0-12C50C10BD7B}"/>
              </a:ext>
            </a:extLst>
          </p:cNvPr>
          <p:cNvSpPr txBox="1">
            <a:spLocks/>
          </p:cNvSpPr>
          <p:nvPr/>
        </p:nvSpPr>
        <p:spPr>
          <a:xfrm>
            <a:off x="3440862" y="244232"/>
            <a:ext cx="8466004" cy="2874948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00" indent="0">
              <a:lnSpc>
                <a:spcPct val="150000"/>
              </a:lnSpc>
              <a:buNone/>
            </a:pPr>
            <a:r>
              <a:rPr lang="en-DE" sz="2800" b="1" err="1">
                <a:solidFill>
                  <a:schemeClr val="accent1"/>
                </a:solidFill>
              </a:rPr>
              <a:t>Usecases</a:t>
            </a:r>
            <a:r>
              <a:rPr lang="en-DE" sz="2800" b="1">
                <a:solidFill>
                  <a:schemeClr val="accent1"/>
                </a:solidFill>
              </a:rPr>
              <a:t> &amp; Standards</a:t>
            </a:r>
          </a:p>
          <a:p>
            <a:pPr marL="468000">
              <a:lnSpc>
                <a:spcPct val="150000"/>
              </a:lnSpc>
            </a:pPr>
            <a:r>
              <a:rPr lang="en-US" b="1">
                <a:solidFill>
                  <a:schemeClr val="accent1"/>
                </a:solidFill>
              </a:rPr>
              <a:t>Input sensor data needs timestamping for processing and analysis</a:t>
            </a: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r>
              <a:rPr lang="en-DE" b="1">
                <a:solidFill>
                  <a:schemeClr val="accent1"/>
                </a:solidFill>
              </a:rPr>
              <a:t>M</a:t>
            </a:r>
            <a:r>
              <a:rPr lang="en-US" b="1" err="1">
                <a:solidFill>
                  <a:schemeClr val="accent1"/>
                </a:solidFill>
              </a:rPr>
              <a:t>otor</a:t>
            </a:r>
            <a:r>
              <a:rPr lang="en-US" b="1">
                <a:solidFill>
                  <a:schemeClr val="accent1"/>
                </a:solidFill>
              </a:rPr>
              <a:t> and</a:t>
            </a:r>
            <a:r>
              <a:rPr lang="en-DE" b="1">
                <a:solidFill>
                  <a:schemeClr val="accent1"/>
                </a:solidFill>
              </a:rPr>
              <a:t> </a:t>
            </a:r>
            <a:r>
              <a:rPr lang="en-US" b="1">
                <a:solidFill>
                  <a:schemeClr val="accent1"/>
                </a:solidFill>
              </a:rPr>
              <a:t>brake controls must be synchronized to control machines</a:t>
            </a: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r>
              <a:rPr lang="en-DE" b="1">
                <a:solidFill>
                  <a:schemeClr val="accent1"/>
                </a:solidFill>
              </a:rPr>
              <a:t>C</a:t>
            </a:r>
            <a:r>
              <a:rPr lang="en-US" b="1" err="1">
                <a:solidFill>
                  <a:schemeClr val="accent1"/>
                </a:solidFill>
              </a:rPr>
              <a:t>himes</a:t>
            </a:r>
            <a:r>
              <a:rPr lang="en-US" b="1">
                <a:solidFill>
                  <a:schemeClr val="accent1"/>
                </a:solidFill>
              </a:rPr>
              <a:t> and lights are coordinated for</a:t>
            </a:r>
            <a:r>
              <a:rPr lang="en-DE" b="1">
                <a:solidFill>
                  <a:schemeClr val="accent1"/>
                </a:solidFill>
              </a:rPr>
              <a:t> </a:t>
            </a:r>
            <a:r>
              <a:rPr lang="en-US" b="1">
                <a:solidFill>
                  <a:schemeClr val="accent1"/>
                </a:solidFill>
              </a:rPr>
              <a:t>better user experience</a:t>
            </a:r>
            <a:r>
              <a:rPr lang="en-DE" b="1">
                <a:solidFill>
                  <a:schemeClr val="accent1"/>
                </a:solidFill>
              </a:rPr>
              <a:t> in the car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A8DCCB04-11AC-7A79-CF06-C4B1496EB373}"/>
              </a:ext>
            </a:extLst>
          </p:cNvPr>
          <p:cNvSpPr/>
          <p:nvPr/>
        </p:nvSpPr>
        <p:spPr>
          <a:xfrm>
            <a:off x="7299574" y="2567741"/>
            <a:ext cx="4233457" cy="3878128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r>
              <a:rPr lang="en-DE" sz="1800" b="1">
                <a:solidFill>
                  <a:srgbClr val="FFFFFF"/>
                </a:solidFill>
              </a:rPr>
              <a:t>IEEE1588 (PTPv2) </a:t>
            </a:r>
          </a:p>
          <a:p>
            <a:pPr lvl="0">
              <a:defRPr/>
            </a:pPr>
            <a:r>
              <a:rPr lang="en-DE" sz="1800" b="1">
                <a:solidFill>
                  <a:srgbClr val="FFFFFF"/>
                </a:solidFill>
              </a:rPr>
              <a:t>Precision Time Protocol</a:t>
            </a:r>
            <a:br>
              <a:rPr lang="en-DE" sz="1800" b="1">
                <a:solidFill>
                  <a:srgbClr val="FFFFFF"/>
                </a:solidFill>
              </a:rPr>
            </a:br>
            <a:r>
              <a:rPr lang="en-DE" sz="800" b="1">
                <a:solidFill>
                  <a:srgbClr val="FFFFFF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DE" sz="1800">
                <a:solidFill>
                  <a:srgbClr val="FFFFFF"/>
                </a:solidFill>
              </a:rPr>
              <a:t>IEEE 802.1Qbv (Traffic scheduling)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800"/>
              <a:t>IEEE 802.1Qcc</a:t>
            </a:r>
            <a:r>
              <a:rPr lang="en-DE" sz="1800"/>
              <a:t> (Stream Reservation)</a:t>
            </a:r>
            <a:endParaRPr lang="en-US" sz="1800"/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DE" sz="1800">
                <a:solidFill>
                  <a:srgbClr val="FFFFFF"/>
                </a:solidFill>
              </a:rPr>
              <a:t>... many other PTP-profiles ...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9729125-3A03-3D92-0DC4-42EA2491990B}"/>
              </a:ext>
            </a:extLst>
          </p:cNvPr>
          <p:cNvSpPr/>
          <p:nvPr/>
        </p:nvSpPr>
        <p:spPr>
          <a:xfrm>
            <a:off x="7435605" y="4371426"/>
            <a:ext cx="3930001" cy="1859190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1800" b="1">
                <a:solidFill>
                  <a:srgbClr val="FFFFFF"/>
                </a:solidFill>
              </a:rPr>
              <a:t>IEEE 802.1AS </a:t>
            </a:r>
            <a:br>
              <a:rPr lang="en-DE" sz="1800" b="1">
                <a:solidFill>
                  <a:srgbClr val="FFFFFF"/>
                </a:solidFill>
              </a:rPr>
            </a:br>
            <a:r>
              <a:rPr lang="en-DE" sz="1800" b="1">
                <a:solidFill>
                  <a:srgbClr val="FFFFFF"/>
                </a:solidFill>
              </a:rPr>
              <a:t>(Time Synchronization - </a:t>
            </a:r>
            <a:r>
              <a:rPr lang="en-DE" sz="1800" b="1" err="1">
                <a:solidFill>
                  <a:srgbClr val="FFFFFF"/>
                </a:solidFill>
              </a:rPr>
              <a:t>gPTP</a:t>
            </a:r>
            <a:r>
              <a:rPr lang="en-DE" sz="1800" b="1">
                <a:solidFill>
                  <a:srgbClr val="FFFFFF"/>
                </a:solidFill>
              </a:rPr>
              <a:t>)</a:t>
            </a:r>
          </a:p>
          <a:p>
            <a:pPr marL="952343" lvl="1" indent="-342900">
              <a:buFont typeface="Arial" panose="020B0604020202020204" pitchFamily="34" charset="0"/>
              <a:buChar char="•"/>
            </a:pPr>
            <a:r>
              <a:rPr lang="en-DE" sz="1800" b="1">
                <a:solidFill>
                  <a:srgbClr val="FFFFFF"/>
                </a:solidFill>
              </a:rPr>
              <a:t>SYNC</a:t>
            </a:r>
          </a:p>
          <a:p>
            <a:pPr marL="952343" lvl="1" indent="-342900">
              <a:buFont typeface="Arial" panose="020B0604020202020204" pitchFamily="34" charset="0"/>
              <a:buChar char="•"/>
            </a:pPr>
            <a:r>
              <a:rPr lang="en-DE" sz="1800" b="1">
                <a:solidFill>
                  <a:srgbClr val="FFFFFF"/>
                </a:solidFill>
              </a:rPr>
              <a:t>FOLLOW_UP</a:t>
            </a:r>
          </a:p>
          <a:p>
            <a:pPr marL="952343" lvl="1" indent="-342900">
              <a:buFont typeface="Arial" panose="020B0604020202020204" pitchFamily="34" charset="0"/>
              <a:buChar char="•"/>
            </a:pPr>
            <a:r>
              <a:rPr lang="en-DE" sz="1800" b="1">
                <a:solidFill>
                  <a:srgbClr val="FFFFFF"/>
                </a:solidFill>
              </a:rPr>
              <a:t>PDELAY_REQ</a:t>
            </a:r>
          </a:p>
          <a:p>
            <a:pPr marL="952343" lvl="1" indent="-342900">
              <a:buFont typeface="Arial" panose="020B0604020202020204" pitchFamily="34" charset="0"/>
              <a:buChar char="•"/>
            </a:pPr>
            <a:r>
              <a:rPr lang="en-DE" sz="1800" b="1">
                <a:solidFill>
                  <a:srgbClr val="FFFFFF"/>
                </a:solidFill>
              </a:rPr>
              <a:t>PDELAY_RES</a:t>
            </a:r>
            <a:endParaRPr lang="en-US" sz="1800" b="1">
              <a:solidFill>
                <a:srgbClr val="FFFFFF"/>
              </a:solidFill>
            </a:endParaRPr>
          </a:p>
        </p:txBody>
      </p:sp>
      <p:pic>
        <p:nvPicPr>
          <p:cNvPr id="11" name="Picture 10" descr="A picture containing orange, construction&#10;&#10;Description automatically generated">
            <a:extLst>
              <a:ext uri="{FF2B5EF4-FFF2-40B4-BE49-F238E27FC236}">
                <a16:creationId xmlns:a16="http://schemas.microsoft.com/office/drawing/2014/main" id="{4AE25948-5684-0D8F-58E6-D8A67F3A6A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7313" y="3498830"/>
            <a:ext cx="3513286" cy="1985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1F53645-8353-3740-8E43-E4D0B9F2AFAE}"/>
              </a:ext>
            </a:extLst>
          </p:cNvPr>
          <p:cNvSpPr txBox="1">
            <a:spLocks/>
          </p:cNvSpPr>
          <p:nvPr/>
        </p:nvSpPr>
        <p:spPr>
          <a:xfrm>
            <a:off x="118117" y="697195"/>
            <a:ext cx="2739383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1D9CE5"/>
              </a:buClr>
            </a:pPr>
            <a:endParaRPr lang="en-DE" sz="3200"/>
          </a:p>
          <a:p>
            <a:pPr algn="ctr">
              <a:buClr>
                <a:srgbClr val="1D9CE5"/>
              </a:buClr>
            </a:pPr>
            <a:r>
              <a:rPr lang="en-DE" sz="3200"/>
              <a:t>Time Sensitive Networking</a:t>
            </a:r>
          </a:p>
          <a:p>
            <a:pPr algn="ctr">
              <a:buClr>
                <a:srgbClr val="1D9CE5"/>
              </a:buClr>
            </a:pPr>
            <a:endParaRPr lang="en-DE" sz="3200"/>
          </a:p>
          <a:p>
            <a:pPr algn="ctr">
              <a:buClr>
                <a:srgbClr val="1D9CE5"/>
              </a:buClr>
            </a:pPr>
            <a:endParaRPr lang="en-DE" sz="3200"/>
          </a:p>
          <a:p>
            <a:pPr algn="ctr">
              <a:buClr>
                <a:srgbClr val="1D9CE5"/>
              </a:buClr>
            </a:pPr>
            <a:r>
              <a:rPr lang="en-DE" sz="3200"/>
              <a:t>LAN8670/1/2</a:t>
            </a:r>
          </a:p>
          <a:p>
            <a:pPr algn="ctr">
              <a:buClr>
                <a:srgbClr val="1D9CE5"/>
              </a:buClr>
            </a:pPr>
            <a:r>
              <a:rPr lang="en-DE" sz="3200"/>
              <a:t>&amp;</a:t>
            </a:r>
          </a:p>
          <a:p>
            <a:pPr algn="ctr">
              <a:buClr>
                <a:srgbClr val="1D9CE5"/>
              </a:buClr>
            </a:pPr>
            <a:r>
              <a:rPr lang="en-DE" sz="3200"/>
              <a:t>LAN8650/1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81526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117" y="697195"/>
            <a:ext cx="2739383" cy="3224887"/>
          </a:xfrm>
        </p:spPr>
        <p:txBody>
          <a:bodyPr/>
          <a:lstStyle/>
          <a:p>
            <a:pPr lvl="0" algn="ctr">
              <a:buClr>
                <a:srgbClr val="1D9CE5"/>
              </a:buClr>
            </a:pPr>
            <a:endParaRPr lang="en-DE" sz="3200" b="1">
              <a:solidFill>
                <a:srgbClr val="FF0000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 b="1"/>
              <a:t>IEEE 802.1AS Support</a:t>
            </a:r>
          </a:p>
          <a:p>
            <a:pPr lvl="0" algn="ctr">
              <a:buClr>
                <a:srgbClr val="1D9CE5"/>
              </a:buClr>
            </a:pPr>
            <a:endParaRPr lang="en-DE" sz="3200" b="1"/>
          </a:p>
          <a:p>
            <a:pPr lvl="0" algn="ctr">
              <a:buClr>
                <a:srgbClr val="1D9CE5"/>
              </a:buClr>
            </a:pPr>
            <a:endParaRPr lang="en-DE" sz="3200" b="1"/>
          </a:p>
          <a:p>
            <a:pPr lvl="0" algn="ctr">
              <a:buClr>
                <a:srgbClr val="1D9CE5"/>
              </a:buClr>
            </a:pPr>
            <a:r>
              <a:rPr lang="en-DE" sz="3200" b="1"/>
              <a:t>LAN8670/1/2</a:t>
            </a:r>
          </a:p>
          <a:p>
            <a:pPr lvl="0" algn="ctr">
              <a:buClr>
                <a:srgbClr val="1D9CE5"/>
              </a:buClr>
            </a:pPr>
            <a:r>
              <a:rPr lang="en-DE" sz="3200"/>
              <a:t>&amp;</a:t>
            </a:r>
            <a:endParaRPr lang="en-DE" sz="3200" b="1"/>
          </a:p>
          <a:p>
            <a:pPr lvl="0" algn="ctr">
              <a:buClr>
                <a:srgbClr val="1D9CE5"/>
              </a:buClr>
            </a:pPr>
            <a:r>
              <a:rPr lang="en-DE" sz="3200"/>
              <a:t>LAN8650/1</a:t>
            </a:r>
            <a:endParaRPr lang="en-US" sz="3200" b="1"/>
          </a:p>
        </p:txBody>
      </p:sp>
      <p:sp>
        <p:nvSpPr>
          <p:cNvPr id="35" name="Content Placeholder 1">
            <a:extLst>
              <a:ext uri="{FF2B5EF4-FFF2-40B4-BE49-F238E27FC236}">
                <a16:creationId xmlns:a16="http://schemas.microsoft.com/office/drawing/2014/main" id="{6CEFD6CA-154A-B574-A8B0-12C50C10BD7B}"/>
              </a:ext>
            </a:extLst>
          </p:cNvPr>
          <p:cNvSpPr txBox="1">
            <a:spLocks/>
          </p:cNvSpPr>
          <p:nvPr/>
        </p:nvSpPr>
        <p:spPr>
          <a:xfrm>
            <a:off x="3440862" y="244232"/>
            <a:ext cx="5054746" cy="2874948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00" indent="0">
              <a:lnSpc>
                <a:spcPts val="2800"/>
              </a:lnSpc>
              <a:buNone/>
            </a:pPr>
            <a:r>
              <a:rPr lang="en-DE" sz="2800" b="1">
                <a:solidFill>
                  <a:schemeClr val="accent1"/>
                </a:solidFill>
              </a:rPr>
              <a:t>IEEE 802.1AS Support</a:t>
            </a:r>
          </a:p>
          <a:p>
            <a:pPr marL="360000" indent="-360000">
              <a:lnSpc>
                <a:spcPts val="2800"/>
              </a:lnSpc>
            </a:pPr>
            <a:r>
              <a:rPr lang="en-DE" sz="1800" b="1">
                <a:solidFill>
                  <a:schemeClr val="accent1"/>
                </a:solidFill>
              </a:rPr>
              <a:t>Pattern Matcher (Comparator)</a:t>
            </a:r>
          </a:p>
          <a:p>
            <a:pPr marL="720000" lvl="1" indent="-360000">
              <a:lnSpc>
                <a:spcPts val="2800"/>
              </a:lnSpc>
            </a:pPr>
            <a:r>
              <a:rPr lang="en-DE" sz="1800">
                <a:solidFill>
                  <a:schemeClr val="accent1"/>
                </a:solidFill>
              </a:rPr>
              <a:t>Identifies </a:t>
            </a:r>
            <a:r>
              <a:rPr lang="en-DE" sz="1800" err="1">
                <a:solidFill>
                  <a:schemeClr val="accent1"/>
                </a:solidFill>
              </a:rPr>
              <a:t>gPTP</a:t>
            </a:r>
            <a:r>
              <a:rPr lang="en-DE" sz="1800">
                <a:solidFill>
                  <a:schemeClr val="accent1"/>
                </a:solidFill>
              </a:rPr>
              <a:t> messages</a:t>
            </a:r>
          </a:p>
          <a:p>
            <a:pPr marL="720000" lvl="1" indent="-360000">
              <a:lnSpc>
                <a:spcPts val="2800"/>
              </a:lnSpc>
            </a:pPr>
            <a:r>
              <a:rPr lang="en-DE" sz="1800">
                <a:solidFill>
                  <a:schemeClr val="accent1"/>
                </a:solidFill>
              </a:rPr>
              <a:t>Enables precise ingress/egress timestamping by MAC/MCU</a:t>
            </a:r>
          </a:p>
          <a:p>
            <a:pPr marL="360000" lvl="1" indent="0">
              <a:lnSpc>
                <a:spcPts val="2800"/>
              </a:lnSpc>
              <a:buNone/>
            </a:pPr>
            <a:endParaRPr lang="en-DE" sz="1800">
              <a:solidFill>
                <a:schemeClr val="accent1"/>
              </a:solidFill>
            </a:endParaRPr>
          </a:p>
          <a:p>
            <a:pPr marL="418129" indent="-360000">
              <a:lnSpc>
                <a:spcPts val="2800"/>
              </a:lnSpc>
            </a:pPr>
            <a:r>
              <a:rPr lang="en-DE" sz="1800" b="1">
                <a:solidFill>
                  <a:schemeClr val="accent1"/>
                </a:solidFill>
              </a:rPr>
              <a:t>LAN8670/1/2  &amp;  LAN8650/1  </a:t>
            </a:r>
            <a:br>
              <a:rPr lang="en-DE" sz="1800" b="1">
                <a:solidFill>
                  <a:schemeClr val="accent1"/>
                </a:solidFill>
              </a:rPr>
            </a:br>
            <a:r>
              <a:rPr lang="en-DE" sz="1800" b="1">
                <a:solidFill>
                  <a:schemeClr val="accent1"/>
                </a:solidFill>
              </a:rPr>
              <a:t>“Transmit Match Enable”</a:t>
            </a:r>
            <a:br>
              <a:rPr lang="en-DE" sz="1800" b="1">
                <a:solidFill>
                  <a:schemeClr val="accent1"/>
                </a:solidFill>
              </a:rPr>
            </a:br>
            <a:r>
              <a:rPr lang="en-DE" sz="1800">
                <a:solidFill>
                  <a:schemeClr val="accent1"/>
                </a:solidFill>
              </a:rPr>
              <a:t>Pattern Matcher can assert GPIO </a:t>
            </a:r>
            <a:br>
              <a:rPr lang="en-DE" sz="1800">
                <a:solidFill>
                  <a:schemeClr val="accent1"/>
                </a:solidFill>
              </a:rPr>
            </a:br>
            <a:r>
              <a:rPr lang="en-DE" sz="1800">
                <a:solidFill>
                  <a:schemeClr val="accent1"/>
                </a:solidFill>
              </a:rPr>
              <a:t>to inform MCU/MAC on ingress/egress </a:t>
            </a:r>
            <a:br>
              <a:rPr lang="en-DE" sz="1800">
                <a:solidFill>
                  <a:schemeClr val="accent1"/>
                </a:solidFill>
              </a:rPr>
            </a:br>
            <a:endParaRPr lang="en-DE" sz="1800">
              <a:solidFill>
                <a:schemeClr val="accent1"/>
              </a:solidFill>
            </a:endParaRPr>
          </a:p>
          <a:p>
            <a:pPr marL="418129" indent="-360000">
              <a:lnSpc>
                <a:spcPts val="2800"/>
              </a:lnSpc>
            </a:pPr>
            <a:r>
              <a:rPr lang="en-DE" sz="1800" b="1">
                <a:solidFill>
                  <a:schemeClr val="accent1"/>
                </a:solidFill>
              </a:rPr>
              <a:t>LAN8670/1/2 MAC </a:t>
            </a:r>
            <a:br>
              <a:rPr lang="en-DE" sz="1800" b="1">
                <a:solidFill>
                  <a:schemeClr val="accent1"/>
                </a:solidFill>
              </a:rPr>
            </a:br>
            <a:r>
              <a:rPr lang="en-DE" sz="1800" b="1">
                <a:solidFill>
                  <a:schemeClr val="accent1"/>
                </a:solidFill>
              </a:rPr>
              <a:t>“MAC Transmit Timestamp Enable”</a:t>
            </a:r>
            <a:br>
              <a:rPr lang="en-DE" sz="1800">
                <a:solidFill>
                  <a:schemeClr val="accent1"/>
                </a:solidFill>
              </a:rPr>
            </a:br>
            <a:r>
              <a:rPr lang="en-DE" sz="1800">
                <a:solidFill>
                  <a:schemeClr val="accent1"/>
                </a:solidFill>
              </a:rPr>
              <a:t>Pattern Matcher can trigger PLCA-aware transmission of </a:t>
            </a:r>
            <a:r>
              <a:rPr lang="en-DE" sz="1800" err="1">
                <a:solidFill>
                  <a:schemeClr val="accent1"/>
                </a:solidFill>
              </a:rPr>
              <a:t>gPTP</a:t>
            </a:r>
            <a:r>
              <a:rPr lang="en-DE" sz="1800">
                <a:solidFill>
                  <a:schemeClr val="accent1"/>
                </a:solidFill>
              </a:rPr>
              <a:t> messages, </a:t>
            </a:r>
            <a:br>
              <a:rPr lang="en-DE" sz="1800">
                <a:solidFill>
                  <a:schemeClr val="accent1"/>
                </a:solidFill>
              </a:rPr>
            </a:br>
            <a:r>
              <a:rPr lang="en-DE" sz="1800">
                <a:solidFill>
                  <a:schemeClr val="accent1"/>
                </a:solidFill>
              </a:rPr>
              <a:t>bypassing the PLCA buffer,</a:t>
            </a:r>
            <a:br>
              <a:rPr lang="en-DE" sz="1800">
                <a:solidFill>
                  <a:schemeClr val="accent1"/>
                </a:solidFill>
              </a:rPr>
            </a:br>
            <a:r>
              <a:rPr lang="en-DE" sz="1800">
                <a:solidFill>
                  <a:schemeClr val="accent1"/>
                </a:solidFill>
              </a:rPr>
              <a:t>having very low and constant PHY-delay </a:t>
            </a:r>
            <a:br>
              <a:rPr lang="en-DE" sz="1800">
                <a:solidFill>
                  <a:schemeClr val="accent1"/>
                </a:solidFill>
              </a:rPr>
            </a:br>
            <a:endParaRPr lang="en-DE" sz="1800">
              <a:solidFill>
                <a:schemeClr val="accent1"/>
              </a:solidFill>
            </a:endParaRPr>
          </a:p>
          <a:p>
            <a:pPr marL="720000" lvl="1" indent="-360000">
              <a:lnSpc>
                <a:spcPts val="2800"/>
              </a:lnSpc>
            </a:pPr>
            <a:endParaRPr lang="en-DE" sz="1800" b="1">
              <a:solidFill>
                <a:schemeClr val="accent1"/>
              </a:solidFill>
            </a:endParaRPr>
          </a:p>
          <a:p>
            <a:pPr marL="644771" lvl="1" indent="-342900">
              <a:lnSpc>
                <a:spcPts val="2800"/>
              </a:lnSpc>
            </a:pPr>
            <a:endParaRPr lang="en-DE" sz="1800" b="1">
              <a:solidFill>
                <a:schemeClr val="accent1"/>
              </a:solidFill>
            </a:endParaRPr>
          </a:p>
          <a:p>
            <a:pPr marL="468000">
              <a:lnSpc>
                <a:spcPts val="2800"/>
              </a:lnSpc>
            </a:pPr>
            <a:endParaRPr lang="en-DE" sz="1800" b="1">
              <a:solidFill>
                <a:schemeClr val="accent1"/>
              </a:solidFill>
            </a:endParaRPr>
          </a:p>
          <a:p>
            <a:pPr marL="468000">
              <a:lnSpc>
                <a:spcPts val="2800"/>
              </a:lnSpc>
            </a:pPr>
            <a:endParaRPr lang="en-DE" sz="1800" b="1">
              <a:solidFill>
                <a:schemeClr val="accent1"/>
              </a:solidFill>
            </a:endParaRPr>
          </a:p>
          <a:p>
            <a:pPr marL="468000">
              <a:lnSpc>
                <a:spcPts val="2800"/>
              </a:lnSpc>
            </a:pPr>
            <a:endParaRPr lang="en-DE" sz="1800" b="1">
              <a:solidFill>
                <a:schemeClr val="accent1"/>
              </a:solidFill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9729125-3A03-3D92-0DC4-42EA2491990B}"/>
              </a:ext>
            </a:extLst>
          </p:cNvPr>
          <p:cNvSpPr/>
          <p:nvPr/>
        </p:nvSpPr>
        <p:spPr>
          <a:xfrm>
            <a:off x="8841868" y="337888"/>
            <a:ext cx="3070578" cy="1125588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DE" sz="2000" b="1">
                <a:solidFill>
                  <a:srgbClr val="FFFFFF"/>
                </a:solidFill>
              </a:rPr>
              <a:t>Enables time sensitive networking</a:t>
            </a:r>
            <a:r>
              <a:rPr lang="en-US" sz="2000" b="1">
                <a:solidFill>
                  <a:srgbClr val="FFFFFF"/>
                </a:solidFill>
              </a:rPr>
              <a:t> </a:t>
            </a:r>
            <a:r>
              <a:rPr lang="en-DE" sz="2000" b="1">
                <a:solidFill>
                  <a:srgbClr val="FFFFFF"/>
                </a:solidFill>
              </a:rPr>
              <a:t>according to IEEE 802.1AS</a:t>
            </a:r>
            <a:endParaRPr lang="en-US" sz="2000" b="1">
              <a:solidFill>
                <a:srgbClr val="FFFFFF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842B22D-6B81-0EC0-0220-EE7947D0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807" y="1822973"/>
            <a:ext cx="3281639" cy="44365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840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8D002E-EEF0-F10A-0473-EAA360CE48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7" y="923073"/>
            <a:ext cx="11154925" cy="5385963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DE" sz="1800"/>
              <a:t>PTP relies on exact timestamps (Ts) broadcasted regularly (e.g. every 125 </a:t>
            </a:r>
            <a:r>
              <a:rPr lang="en-DE" sz="1800" err="1"/>
              <a:t>ms</a:t>
            </a:r>
            <a:r>
              <a:rPr lang="en-DE" sz="1800"/>
              <a:t>) in SYNC or FOLLOWUP messages by the Clock Source. All Clock Followers use this exact timestamp Ts to calculate the offset to their own time Ts.</a:t>
            </a:r>
          </a:p>
          <a:p>
            <a:pPr>
              <a:spcBef>
                <a:spcPts val="1800"/>
              </a:spcBef>
            </a:pPr>
            <a:r>
              <a:rPr lang="en-DE" sz="1800"/>
              <a:t>Sending a SYNC message over a PLCA-based network adds a variable delay of 0-40 µs caused by the PLCA sending buffer when waiting for the own transmit opportunity and leads to an outdated timestamp Ts. </a:t>
            </a:r>
          </a:p>
          <a:p>
            <a:pPr>
              <a:spcBef>
                <a:spcPts val="1800"/>
              </a:spcBef>
            </a:pPr>
            <a:r>
              <a:rPr lang="en-DE" sz="1800"/>
              <a:t>Receiving a SYNC message (or any frame) is done without PLCA buffer, adding only internal fixed delays of PHY, MAC and stacks.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DE" sz="1800" b="1">
                <a:solidFill>
                  <a:schemeClr val="bg2"/>
                </a:solidFill>
              </a:rPr>
              <a:t>LAN8670/1/2 has two  operational modes to solve this problem: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EAC128-E039-9A0B-4B11-C4087F964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IEEE 802.1AS Support – Packet Timestamping</a:t>
            </a:r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72F89B9-EC1D-4989-A90B-7C469C92EEB4}"/>
              </a:ext>
            </a:extLst>
          </p:cNvPr>
          <p:cNvGrpSpPr/>
          <p:nvPr/>
        </p:nvGrpSpPr>
        <p:grpSpPr>
          <a:xfrm>
            <a:off x="10529947" y="3600402"/>
            <a:ext cx="1279075" cy="2480370"/>
            <a:chOff x="10529947" y="3600402"/>
            <a:chExt cx="1279075" cy="248037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F7325FF-FB2F-1673-3490-B5EF0466223D}"/>
                </a:ext>
              </a:extLst>
            </p:cNvPr>
            <p:cNvSpPr/>
            <p:nvPr/>
          </p:nvSpPr>
          <p:spPr>
            <a:xfrm>
              <a:off x="10529947" y="3600402"/>
              <a:ext cx="1279075" cy="720627"/>
            </a:xfrm>
            <a:prstGeom prst="rect">
              <a:avLst/>
            </a:prstGeom>
            <a:solidFill>
              <a:schemeClr val="tx2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MCU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4618297-A5EF-5981-019C-99B513FD7636}"/>
                </a:ext>
              </a:extLst>
            </p:cNvPr>
            <p:cNvSpPr/>
            <p:nvPr/>
          </p:nvSpPr>
          <p:spPr>
            <a:xfrm>
              <a:off x="10597816" y="3965608"/>
              <a:ext cx="1143336" cy="236510"/>
            </a:xfrm>
            <a:prstGeom prst="rect">
              <a:avLst/>
            </a:prstGeom>
            <a:solidFill>
              <a:srgbClr val="6D6E7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MAC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9BE923-B333-0216-7EAD-C30E01C61116}"/>
                </a:ext>
              </a:extLst>
            </p:cNvPr>
            <p:cNvSpPr/>
            <p:nvPr/>
          </p:nvSpPr>
          <p:spPr>
            <a:xfrm>
              <a:off x="10529947" y="4557539"/>
              <a:ext cx="1279075" cy="152323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PHY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787F82-5F3B-E512-FA61-173E5E6CF1AF}"/>
                </a:ext>
              </a:extLst>
            </p:cNvPr>
            <p:cNvSpPr/>
            <p:nvPr/>
          </p:nvSpPr>
          <p:spPr>
            <a:xfrm>
              <a:off x="10597816" y="4686235"/>
              <a:ext cx="1143336" cy="446828"/>
            </a:xfrm>
            <a:prstGeom prst="rect">
              <a:avLst/>
            </a:prstGeom>
            <a:solidFill>
              <a:srgbClr val="6D6E7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PLCA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ED4277C-13D2-82BD-41A4-066181DB6321}"/>
                </a:ext>
              </a:extLst>
            </p:cNvPr>
            <p:cNvSpPr/>
            <p:nvPr/>
          </p:nvSpPr>
          <p:spPr>
            <a:xfrm>
              <a:off x="10694399" y="4909648"/>
              <a:ext cx="950169" cy="16453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1400" b="1"/>
                <a:t>PLCA Buffer</a:t>
              </a:r>
              <a:endParaRPr lang="en-US" sz="1400" b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D23A8FF-E2E4-CEE5-E95D-90C9F733C829}"/>
                </a:ext>
              </a:extLst>
            </p:cNvPr>
            <p:cNvSpPr/>
            <p:nvPr/>
          </p:nvSpPr>
          <p:spPr>
            <a:xfrm>
              <a:off x="10597816" y="5393371"/>
              <a:ext cx="1143336" cy="410426"/>
            </a:xfrm>
            <a:prstGeom prst="rect">
              <a:avLst/>
            </a:prstGeom>
            <a:solidFill>
              <a:srgbClr val="6D6E7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PCS</a:t>
              </a:r>
            </a:p>
            <a:p>
              <a:pPr algn="ctr"/>
              <a:r>
                <a:rPr lang="en-US" sz="1400"/>
                <a:t>PMA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22334D3-295D-4183-B938-58AC59B32C1A}"/>
                </a:ext>
              </a:extLst>
            </p:cNvPr>
            <p:cNvCxnSpPr>
              <a:stCxn id="26" idx="2"/>
            </p:cNvCxnSpPr>
            <p:nvPr/>
          </p:nvCxnSpPr>
          <p:spPr>
            <a:xfrm flipH="1">
              <a:off x="11169484" y="4202118"/>
              <a:ext cx="1" cy="484117"/>
            </a:xfrm>
            <a:prstGeom prst="line">
              <a:avLst/>
            </a:prstGeom>
            <a:ln w="63500" cmpd="dbl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4D76159-DDC1-6605-DA3B-26687C3B8FAC}"/>
                </a:ext>
              </a:extLst>
            </p:cNvPr>
            <p:cNvCxnSpPr>
              <a:cxnSpLocks/>
              <a:stCxn id="28" idx="2"/>
              <a:endCxn id="30" idx="0"/>
            </p:cNvCxnSpPr>
            <p:nvPr/>
          </p:nvCxnSpPr>
          <p:spPr>
            <a:xfrm>
              <a:off x="11169484" y="5133063"/>
              <a:ext cx="0" cy="260308"/>
            </a:xfrm>
            <a:prstGeom prst="line">
              <a:avLst/>
            </a:prstGeom>
            <a:ln w="63500" cmpd="dbl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3A1D24-FC09-5CE3-F7A1-33E4E4F58869}"/>
                </a:ext>
              </a:extLst>
            </p:cNvPr>
            <p:cNvSpPr txBox="1"/>
            <p:nvPr/>
          </p:nvSpPr>
          <p:spPr>
            <a:xfrm>
              <a:off x="11221928" y="4308076"/>
              <a:ext cx="354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MII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AB5865-CD2F-7C29-DFDF-F9A2A48B7EF3}"/>
                </a:ext>
              </a:extLst>
            </p:cNvPr>
            <p:cNvSpPr txBox="1"/>
            <p:nvPr/>
          </p:nvSpPr>
          <p:spPr>
            <a:xfrm>
              <a:off x="11195726" y="5131120"/>
              <a:ext cx="354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MII</a:t>
              </a:r>
            </a:p>
          </p:txBody>
        </p:sp>
      </p:grpSp>
      <p:sp>
        <p:nvSpPr>
          <p:cNvPr id="37" name="Content Placeholder 1">
            <a:extLst>
              <a:ext uri="{FF2B5EF4-FFF2-40B4-BE49-F238E27FC236}">
                <a16:creationId xmlns:a16="http://schemas.microsoft.com/office/drawing/2014/main" id="{9D54691D-35F7-4899-A5F3-5C70C8C27A6E}"/>
              </a:ext>
            </a:extLst>
          </p:cNvPr>
          <p:cNvSpPr txBox="1">
            <a:spLocks/>
          </p:cNvSpPr>
          <p:nvPr/>
        </p:nvSpPr>
        <p:spPr>
          <a:xfrm>
            <a:off x="360188" y="3812815"/>
            <a:ext cx="3119974" cy="2438857"/>
          </a:xfrm>
          <a:prstGeom prst="rect">
            <a:avLst/>
          </a:prstGeom>
        </p:spPr>
        <p:txBody>
          <a:bodyPr vert="horz" wrap="square" lIns="108000" tIns="60944" rIns="36000" bIns="60944" rtlCol="0">
            <a:noAutofit/>
          </a:bodyPr>
          <a:lstStyle>
            <a:lvl1pPr marL="360000" indent="-360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720000" indent="-360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800" b="1">
                <a:solidFill>
                  <a:schemeClr val="bg2"/>
                </a:solidFill>
              </a:rPr>
              <a:t>Transmit Match Enable</a:t>
            </a:r>
            <a:endParaRPr lang="en-DE" sz="1800" b="1">
              <a:solidFill>
                <a:schemeClr val="bg2"/>
              </a:solidFill>
            </a:endParaRPr>
          </a:p>
          <a:p>
            <a:pPr>
              <a:spcBef>
                <a:spcPts val="1200"/>
              </a:spcBef>
            </a:pPr>
            <a:r>
              <a:rPr lang="en-DE" sz="1600"/>
              <a:t>PHY recognizes an ingress/egress SYNC </a:t>
            </a:r>
            <a:r>
              <a:rPr lang="en-DE" sz="1600" b="1"/>
              <a:t>at its MDI</a:t>
            </a:r>
          </a:p>
          <a:p>
            <a:pPr>
              <a:spcBef>
                <a:spcPts val="1200"/>
              </a:spcBef>
            </a:pPr>
            <a:r>
              <a:rPr lang="en-DE" sz="1600"/>
              <a:t>PHY </a:t>
            </a:r>
            <a:r>
              <a:rPr lang="en-DE" sz="1600" b="1"/>
              <a:t>informs</a:t>
            </a:r>
            <a:r>
              <a:rPr lang="en-DE" sz="1600"/>
              <a:t> MCU via GPIO </a:t>
            </a:r>
          </a:p>
          <a:p>
            <a:pPr>
              <a:spcBef>
                <a:spcPts val="1200"/>
              </a:spcBef>
            </a:pPr>
            <a:r>
              <a:rPr lang="en-DE" sz="1600"/>
              <a:t>MCU can now </a:t>
            </a:r>
            <a:r>
              <a:rPr lang="en-DE" sz="1600" b="1"/>
              <a:t>compensate</a:t>
            </a:r>
            <a:r>
              <a:rPr lang="en-DE" sz="1600"/>
              <a:t> </a:t>
            </a:r>
            <a:br>
              <a:rPr lang="en-DE" sz="1600"/>
            </a:br>
            <a:r>
              <a:rPr lang="en-DE" sz="1600"/>
              <a:t>any delay in its time stamps due to PLCA or internal reasons  (e.g. By using FOLLOW-UP messages)</a:t>
            </a:r>
          </a:p>
        </p:txBody>
      </p:sp>
      <p:sp>
        <p:nvSpPr>
          <p:cNvPr id="40" name="Content Placeholder 1">
            <a:extLst>
              <a:ext uri="{FF2B5EF4-FFF2-40B4-BE49-F238E27FC236}">
                <a16:creationId xmlns:a16="http://schemas.microsoft.com/office/drawing/2014/main" id="{870ED13B-A245-65D1-4322-4901513BE5E0}"/>
              </a:ext>
            </a:extLst>
          </p:cNvPr>
          <p:cNvSpPr txBox="1">
            <a:spLocks/>
          </p:cNvSpPr>
          <p:nvPr/>
        </p:nvSpPr>
        <p:spPr>
          <a:xfrm>
            <a:off x="6740908" y="3812814"/>
            <a:ext cx="3661815" cy="2438857"/>
          </a:xfrm>
          <a:prstGeom prst="rect">
            <a:avLst/>
          </a:prstGeom>
        </p:spPr>
        <p:txBody>
          <a:bodyPr vert="horz" wrap="square" lIns="121888" tIns="60944" rIns="0" bIns="60944" rtlCol="0">
            <a:noAutofit/>
          </a:bodyPr>
          <a:lstStyle>
            <a:lvl1pPr marL="360000" indent="-360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720000" indent="-360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800" b="1">
                <a:solidFill>
                  <a:schemeClr val="bg2"/>
                </a:solidFill>
              </a:rPr>
              <a:t>MAC Transmit Time Stamp Enable</a:t>
            </a:r>
            <a:endParaRPr lang="en-DE" sz="1800" b="1">
              <a:solidFill>
                <a:schemeClr val="bg2"/>
              </a:solidFill>
            </a:endParaRPr>
          </a:p>
          <a:p>
            <a:pPr>
              <a:spcBef>
                <a:spcPts val="1200"/>
              </a:spcBef>
            </a:pPr>
            <a:r>
              <a:rPr lang="en-DE" sz="1600"/>
              <a:t>PHY signals a </a:t>
            </a:r>
            <a:r>
              <a:rPr lang="en-DE" sz="1600" b="1"/>
              <a:t>logical collision </a:t>
            </a:r>
            <a:r>
              <a:rPr lang="en-DE" sz="1600"/>
              <a:t>to the MAC when it starts sending a SYNC. </a:t>
            </a:r>
          </a:p>
          <a:p>
            <a:pPr>
              <a:spcBef>
                <a:spcPts val="1200"/>
              </a:spcBef>
            </a:pPr>
            <a:r>
              <a:rPr lang="en-DE" sz="1600"/>
              <a:t>MAC will </a:t>
            </a:r>
            <a:r>
              <a:rPr lang="en-DE" sz="1600" b="1"/>
              <a:t>backoff and retry </a:t>
            </a:r>
            <a:r>
              <a:rPr lang="en-DE" sz="1600"/>
              <a:t>the SYNC with an updated timestamp Ts. </a:t>
            </a:r>
          </a:p>
          <a:p>
            <a:pPr>
              <a:spcBef>
                <a:spcPts val="1200"/>
              </a:spcBef>
            </a:pPr>
            <a:r>
              <a:rPr lang="en-DE" sz="1600"/>
              <a:t>This retry will pass the PHY </a:t>
            </a:r>
            <a:br>
              <a:rPr lang="en-DE" sz="1600"/>
            </a:br>
            <a:r>
              <a:rPr lang="en-DE" sz="1600" b="1"/>
              <a:t>without PLCA buffer</a:t>
            </a:r>
            <a:r>
              <a:rPr lang="en-DE" sz="1600"/>
              <a:t>, </a:t>
            </a:r>
            <a:br>
              <a:rPr lang="en-DE" sz="1600"/>
            </a:br>
            <a:r>
              <a:rPr lang="en-DE" sz="1600"/>
              <a:t>i.e. having an exact timestamp.</a:t>
            </a:r>
            <a:endParaRPr lang="en-US" sz="1600"/>
          </a:p>
        </p:txBody>
      </p:sp>
      <p:sp>
        <p:nvSpPr>
          <p:cNvPr id="44" name="Textfeld 6">
            <a:extLst>
              <a:ext uri="{FF2B5EF4-FFF2-40B4-BE49-F238E27FC236}">
                <a16:creationId xmlns:a16="http://schemas.microsoft.com/office/drawing/2014/main" id="{F1AAFACA-2C25-6325-D5EE-1DCF781E8344}"/>
              </a:ext>
            </a:extLst>
          </p:cNvPr>
          <p:cNvSpPr txBox="1"/>
          <p:nvPr/>
        </p:nvSpPr>
        <p:spPr>
          <a:xfrm>
            <a:off x="4401728" y="4298710"/>
            <a:ext cx="106044" cy="2616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100">
              <a:solidFill>
                <a:srgbClr val="000000"/>
              </a:solidFill>
              <a:latin typeface="Arial" charset="0"/>
              <a:ea typeface="メイリオ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76665A5-5714-94C9-A3CF-1A5773B1CC96}"/>
              </a:ext>
            </a:extLst>
          </p:cNvPr>
          <p:cNvGrpSpPr/>
          <p:nvPr/>
        </p:nvGrpSpPr>
        <p:grpSpPr>
          <a:xfrm>
            <a:off x="3996014" y="3965608"/>
            <a:ext cx="739325" cy="1266714"/>
            <a:chOff x="4081591" y="3687415"/>
            <a:chExt cx="1039712" cy="18462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37263D1B-32DF-5E25-A77B-7E284E86375B}"/>
                </a:ext>
              </a:extLst>
            </p:cNvPr>
            <p:cNvCxnSpPr>
              <a:cxnSpLocks/>
              <a:stCxn id="41" idx="1"/>
              <a:endCxn id="42" idx="1"/>
            </p:cNvCxnSpPr>
            <p:nvPr/>
          </p:nvCxnSpPr>
          <p:spPr>
            <a:xfrm rot="10800000" flipV="1">
              <a:off x="4383248" y="3687415"/>
              <a:ext cx="12700" cy="1846212"/>
            </a:xfrm>
            <a:prstGeom prst="bentConnector3">
              <a:avLst>
                <a:gd name="adj1" fmla="val 1800000"/>
              </a:avLst>
            </a:prstGeom>
            <a:ln w="2540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feld 14">
              <a:extLst>
                <a:ext uri="{FF2B5EF4-FFF2-40B4-BE49-F238E27FC236}">
                  <a16:creationId xmlns:a16="http://schemas.microsoft.com/office/drawing/2014/main" id="{DB89EF4E-29C9-7397-F7B0-3FA38EF0FDD4}"/>
                </a:ext>
              </a:extLst>
            </p:cNvPr>
            <p:cNvSpPr txBox="1"/>
            <p:nvPr/>
          </p:nvSpPr>
          <p:spPr>
            <a:xfrm>
              <a:off x="4182988" y="4529482"/>
              <a:ext cx="938315" cy="43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DE" sz="1100">
                  <a:solidFill>
                    <a:srgbClr val="000000"/>
                  </a:solidFill>
                  <a:latin typeface="Arial" charset="0"/>
                  <a:ea typeface="メイリオ"/>
                </a:rPr>
                <a:t>GPIO</a:t>
              </a:r>
              <a:endParaRPr lang="en-US" sz="1100">
                <a:solidFill>
                  <a:srgbClr val="000000"/>
                </a:solidFill>
                <a:latin typeface="Arial" charset="0"/>
                <a:ea typeface="メイリオ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B12CE08-90F1-5B2C-8F49-1738C1E36B38}"/>
                </a:ext>
              </a:extLst>
            </p:cNvPr>
            <p:cNvSpPr/>
            <p:nvPr/>
          </p:nvSpPr>
          <p:spPr>
            <a:xfrm>
              <a:off x="4081591" y="4612057"/>
              <a:ext cx="162730" cy="24045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1400">
                <a:solidFill>
                  <a:srgbClr val="000000"/>
                </a:solidFill>
                <a:latin typeface="Calibri"/>
                <a:ea typeface="メイリオ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938043B-AB97-0C91-2665-14509B35C200}"/>
              </a:ext>
            </a:extLst>
          </p:cNvPr>
          <p:cNvSpPr txBox="1"/>
          <p:nvPr/>
        </p:nvSpPr>
        <p:spPr>
          <a:xfrm>
            <a:off x="4678562" y="5710622"/>
            <a:ext cx="1375239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DE" sz="1200">
                <a:highlight>
                  <a:srgbClr val="E6E6E8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FOLLOWUP(Ts)</a:t>
            </a:r>
            <a:endParaRPr lang="en-US" sz="1200">
              <a:highlight>
                <a:srgbClr val="E6E6E8"/>
              </a:highlight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21F45F-A2DA-24D3-A7B6-277193CD119A}"/>
              </a:ext>
            </a:extLst>
          </p:cNvPr>
          <p:cNvSpPr txBox="1"/>
          <p:nvPr/>
        </p:nvSpPr>
        <p:spPr>
          <a:xfrm>
            <a:off x="4102269" y="5710623"/>
            <a:ext cx="735408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DE" sz="1200">
                <a:highlight>
                  <a:srgbClr val="E6E6E8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endParaRPr lang="en-US" sz="1200">
              <a:highlight>
                <a:srgbClr val="E6E6E8"/>
              </a:highlight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ABBE6E-6F33-A5C6-9597-94A3EAAC3A3C}"/>
              </a:ext>
            </a:extLst>
          </p:cNvPr>
          <p:cNvGrpSpPr/>
          <p:nvPr/>
        </p:nvGrpSpPr>
        <p:grpSpPr>
          <a:xfrm>
            <a:off x="5411661" y="5047969"/>
            <a:ext cx="788156" cy="348683"/>
            <a:chOff x="8688231" y="-964038"/>
            <a:chExt cx="3165011" cy="5761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Callout: Line with No Border 53">
              <a:extLst>
                <a:ext uri="{FF2B5EF4-FFF2-40B4-BE49-F238E27FC236}">
                  <a16:creationId xmlns:a16="http://schemas.microsoft.com/office/drawing/2014/main" id="{F31B984B-8734-45D0-B7DB-1F8EBEFB4A75}"/>
                </a:ext>
              </a:extLst>
            </p:cNvPr>
            <p:cNvSpPr/>
            <p:nvPr/>
          </p:nvSpPr>
          <p:spPr>
            <a:xfrm>
              <a:off x="10246583" y="-870739"/>
              <a:ext cx="723899" cy="421054"/>
            </a:xfrm>
            <a:prstGeom prst="callout1">
              <a:avLst>
                <a:gd name="adj1" fmla="val 59580"/>
                <a:gd name="adj2" fmla="val -99516"/>
                <a:gd name="adj3" fmla="val 87029"/>
                <a:gd name="adj4" fmla="val -323424"/>
              </a:avLst>
            </a:prstGeom>
            <a:noFill/>
            <a:ln w="38100" cap="rnd">
              <a:solidFill>
                <a:schemeClr val="tx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b="1"/>
            </a:p>
          </p:txBody>
        </p:sp>
        <p:sp>
          <p:nvSpPr>
            <p:cNvPr id="55" name="Speech Bubble: Rectangle with Corners Rounded 54">
              <a:extLst>
                <a:ext uri="{FF2B5EF4-FFF2-40B4-BE49-F238E27FC236}">
                  <a16:creationId xmlns:a16="http://schemas.microsoft.com/office/drawing/2014/main" id="{4362F54E-14C9-110C-AFC0-7C0581B7FA43}"/>
                </a:ext>
              </a:extLst>
            </p:cNvPr>
            <p:cNvSpPr/>
            <p:nvPr/>
          </p:nvSpPr>
          <p:spPr>
            <a:xfrm>
              <a:off x="8688231" y="-964038"/>
              <a:ext cx="3165011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100" b="1"/>
                <a:t>Timestamp at MDI</a:t>
              </a:r>
              <a:endParaRPr lang="en-US" sz="1100" b="1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58525CE-6993-C3D3-EB5E-35C9093FD0AB}"/>
              </a:ext>
            </a:extLst>
          </p:cNvPr>
          <p:cNvGrpSpPr/>
          <p:nvPr/>
        </p:nvGrpSpPr>
        <p:grpSpPr>
          <a:xfrm>
            <a:off x="3996014" y="3845016"/>
            <a:ext cx="1435398" cy="2469767"/>
            <a:chOff x="4496989" y="3845016"/>
            <a:chExt cx="1435398" cy="2469767"/>
          </a:xfrm>
        </p:grpSpPr>
        <p:sp>
          <p:nvSpPr>
            <p:cNvPr id="41" name="Rechteck 3">
              <a:extLst>
                <a:ext uri="{FF2B5EF4-FFF2-40B4-BE49-F238E27FC236}">
                  <a16:creationId xmlns:a16="http://schemas.microsoft.com/office/drawing/2014/main" id="{7EA7A0FF-17D0-2299-547D-5FB843AF528A}"/>
                </a:ext>
              </a:extLst>
            </p:cNvPr>
            <p:cNvSpPr/>
            <p:nvPr/>
          </p:nvSpPr>
          <p:spPr>
            <a:xfrm>
              <a:off x="4711493" y="3845016"/>
              <a:ext cx="930957" cy="568780"/>
            </a:xfrm>
            <a:prstGeom prst="rect">
              <a:avLst/>
            </a:prstGeom>
            <a:solidFill>
              <a:schemeClr val="tx2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DE" sz="1400" b="1">
                  <a:solidFill>
                    <a:schemeClr val="bg1"/>
                  </a:solidFill>
                  <a:latin typeface="Calibri"/>
                  <a:ea typeface="メイリオ"/>
                </a:rPr>
                <a:t>MCU/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DE" sz="1400" b="1">
                  <a:solidFill>
                    <a:schemeClr val="bg1"/>
                  </a:solidFill>
                  <a:latin typeface="Calibri"/>
                  <a:ea typeface="メイリオ"/>
                </a:rPr>
                <a:t>MAC</a:t>
              </a:r>
              <a:endParaRPr lang="en-US" sz="1400" b="1">
                <a:solidFill>
                  <a:schemeClr val="bg1"/>
                </a:solidFill>
                <a:latin typeface="Calibri"/>
                <a:ea typeface="メイリオ"/>
              </a:endParaRPr>
            </a:p>
          </p:txBody>
        </p:sp>
        <p:sp>
          <p:nvSpPr>
            <p:cNvPr id="42" name="Rechteck 4">
              <a:extLst>
                <a:ext uri="{FF2B5EF4-FFF2-40B4-BE49-F238E27FC236}">
                  <a16:creationId xmlns:a16="http://schemas.microsoft.com/office/drawing/2014/main" id="{431C28E1-EA92-26F0-6E8D-A3C0541CEF8E}"/>
                </a:ext>
              </a:extLst>
            </p:cNvPr>
            <p:cNvSpPr/>
            <p:nvPr/>
          </p:nvSpPr>
          <p:spPr>
            <a:xfrm>
              <a:off x="4711493" y="4947932"/>
              <a:ext cx="923436" cy="5687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srgbClr val="FFFFFF"/>
                  </a:solidFill>
                  <a:latin typeface="Calibri"/>
                  <a:ea typeface="メイリオ"/>
                </a:rPr>
                <a:t>PHY</a:t>
              </a:r>
            </a:p>
          </p:txBody>
        </p:sp>
        <p:cxnSp>
          <p:nvCxnSpPr>
            <p:cNvPr id="43" name="Gerader Verbinder 5">
              <a:extLst>
                <a:ext uri="{FF2B5EF4-FFF2-40B4-BE49-F238E27FC236}">
                  <a16:creationId xmlns:a16="http://schemas.microsoft.com/office/drawing/2014/main" id="{5A4C925B-D387-73E3-61A0-8F8C2D387A51}"/>
                </a:ext>
              </a:extLst>
            </p:cNvPr>
            <p:cNvCxnSpPr>
              <a:cxnSpLocks/>
              <a:stCxn id="41" idx="2"/>
              <a:endCxn id="42" idx="0"/>
            </p:cNvCxnSpPr>
            <p:nvPr/>
          </p:nvCxnSpPr>
          <p:spPr>
            <a:xfrm flipH="1">
              <a:off x="5173211" y="4413796"/>
              <a:ext cx="3761" cy="53413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13">
              <a:extLst>
                <a:ext uri="{FF2B5EF4-FFF2-40B4-BE49-F238E27FC236}">
                  <a16:creationId xmlns:a16="http://schemas.microsoft.com/office/drawing/2014/main" id="{59432113-3A1B-CF28-0A36-249FD6D0F383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5173211" y="5516712"/>
              <a:ext cx="3761" cy="500063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13">
              <a:extLst>
                <a:ext uri="{FF2B5EF4-FFF2-40B4-BE49-F238E27FC236}">
                  <a16:creationId xmlns:a16="http://schemas.microsoft.com/office/drawing/2014/main" id="{BD6407F1-AA8B-B3CC-DAA9-DD03B1371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6989" y="6015916"/>
              <a:ext cx="1404980" cy="3801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66F80D8-062D-042D-B54F-AD06E3E62458}"/>
                </a:ext>
              </a:extLst>
            </p:cNvPr>
            <p:cNvCxnSpPr>
              <a:cxnSpLocks/>
            </p:cNvCxnSpPr>
            <p:nvPr/>
          </p:nvCxnSpPr>
          <p:spPr>
            <a:xfrm>
              <a:off x="4733205" y="5330742"/>
              <a:ext cx="896343" cy="0"/>
            </a:xfrm>
            <a:prstGeom prst="line">
              <a:avLst/>
            </a:prstGeom>
            <a:ln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58A7D64-3F84-B20E-2310-7F288AE830E1}"/>
                </a:ext>
              </a:extLst>
            </p:cNvPr>
            <p:cNvSpPr txBox="1"/>
            <p:nvPr/>
          </p:nvSpPr>
          <p:spPr>
            <a:xfrm>
              <a:off x="4680891" y="6053173"/>
              <a:ext cx="1251496" cy="26161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DE" sz="1100"/>
                <a:t>10BASE-T1S</a:t>
              </a:r>
              <a:endParaRPr lang="en-US" sz="1100"/>
            </a:p>
          </p:txBody>
        </p: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6898698-365E-9AC6-0283-F50ED9FA3828}"/>
              </a:ext>
            </a:extLst>
          </p:cNvPr>
          <p:cNvCxnSpPr>
            <a:cxnSpLocks/>
          </p:cNvCxnSpPr>
          <p:nvPr/>
        </p:nvCxnSpPr>
        <p:spPr>
          <a:xfrm>
            <a:off x="10935588" y="4846612"/>
            <a:ext cx="515347" cy="285449"/>
          </a:xfrm>
          <a:prstGeom prst="line">
            <a:avLst/>
          </a:prstGeom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DE91485-6F01-8D21-B952-F8DD6943E921}"/>
              </a:ext>
            </a:extLst>
          </p:cNvPr>
          <p:cNvCxnSpPr>
            <a:cxnSpLocks/>
          </p:cNvCxnSpPr>
          <p:nvPr/>
        </p:nvCxnSpPr>
        <p:spPr>
          <a:xfrm flipV="1">
            <a:off x="10935588" y="4851645"/>
            <a:ext cx="520276" cy="274770"/>
          </a:xfrm>
          <a:prstGeom prst="line">
            <a:avLst/>
          </a:prstGeom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04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38681 L -1.9354E-6 2.22222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87 -0.38148 L 1.19302E-6 2.22222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  <p:bldP spid="51" grpId="0"/>
      <p:bldP spid="51" grpId="1"/>
      <p:bldP spid="52" grpId="0"/>
      <p:bldP spid="52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6E9C9E-B68F-0F28-48E6-D8565449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Pin Configuration – RMII Example</a:t>
            </a:r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5E7898-86F0-D429-3EDC-8D4088A74E88}"/>
              </a:ext>
            </a:extLst>
          </p:cNvPr>
          <p:cNvGrpSpPr/>
          <p:nvPr/>
        </p:nvGrpSpPr>
        <p:grpSpPr>
          <a:xfrm>
            <a:off x="4457700" y="2802983"/>
            <a:ext cx="7169819" cy="1831874"/>
            <a:chOff x="3726180" y="2937510"/>
            <a:chExt cx="7901339" cy="18318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82E9E9-576C-6259-1723-F10A517BA2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87"/>
            <a:stretch/>
          </p:blipFill>
          <p:spPr>
            <a:xfrm>
              <a:off x="3726180" y="2937510"/>
              <a:ext cx="7901339" cy="183187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A33361D-ECF0-CDC0-24BE-22FCFCD5E11A}"/>
                </a:ext>
              </a:extLst>
            </p:cNvPr>
            <p:cNvSpPr/>
            <p:nvPr/>
          </p:nvSpPr>
          <p:spPr bwMode="auto">
            <a:xfrm rot="5400000">
              <a:off x="8635913" y="3484033"/>
              <a:ext cx="286881" cy="1134690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69144778-D71D-C120-10C6-1689A912BD58}"/>
                </a:ext>
              </a:extLst>
            </p:cNvPr>
            <p:cNvSpPr/>
            <p:nvPr/>
          </p:nvSpPr>
          <p:spPr bwMode="auto">
            <a:xfrm rot="5400000">
              <a:off x="8026243" y="3397594"/>
              <a:ext cx="1506219" cy="1134690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9E241CFA-1CC9-54B4-1A30-12043FA4ABA5}"/>
                </a:ext>
              </a:extLst>
            </p:cNvPr>
            <p:cNvSpPr/>
            <p:nvPr/>
          </p:nvSpPr>
          <p:spPr bwMode="auto">
            <a:xfrm rot="5400000">
              <a:off x="4246370" y="3484028"/>
              <a:ext cx="286881" cy="1134690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ED1B2E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5950988-5D38-B0AD-C10E-D59287D1E60B}"/>
              </a:ext>
            </a:extLst>
          </p:cNvPr>
          <p:cNvSpPr/>
          <p:nvPr/>
        </p:nvSpPr>
        <p:spPr>
          <a:xfrm>
            <a:off x="803036" y="1359174"/>
            <a:ext cx="2489575" cy="913423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DE" sz="1800" b="1"/>
              <a:t>LAN8670/1/2 started in </a:t>
            </a:r>
          </a:p>
          <a:p>
            <a:pPr>
              <a:lnSpc>
                <a:spcPct val="150000"/>
              </a:lnSpc>
            </a:pPr>
            <a:r>
              <a:rPr lang="en-DE" sz="1800" b="1"/>
              <a:t>RMII Device Mode</a:t>
            </a:r>
            <a:endParaRPr lang="en-DE" sz="1800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7359E43-108F-45C3-0657-6F5F01AA4B94}"/>
              </a:ext>
            </a:extLst>
          </p:cNvPr>
          <p:cNvSpPr/>
          <p:nvPr/>
        </p:nvSpPr>
        <p:spPr>
          <a:xfrm>
            <a:off x="427993" y="3736513"/>
            <a:ext cx="3239659" cy="2308853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DE" sz="1800" b="1"/>
              <a:t>RMII example configuration has dedicated pins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 b="1"/>
              <a:t>RXPI </a:t>
            </a:r>
            <a:r>
              <a:rPr lang="en-DE" sz="1800"/>
              <a:t>(RX Packet Indication)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 b="1"/>
              <a:t>TXPI </a:t>
            </a:r>
            <a:r>
              <a:rPr lang="en-DE" sz="1800"/>
              <a:t>(TX Packet Indication)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 b="1"/>
              <a:t>ACMA </a:t>
            </a:r>
            <a:r>
              <a:rPr lang="en-DE" sz="1800"/>
              <a:t>(Application Controlled Media Access)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EB01339-263A-2DEE-F75D-72FD46FFBDDB}"/>
              </a:ext>
            </a:extLst>
          </p:cNvPr>
          <p:cNvGrpSpPr/>
          <p:nvPr/>
        </p:nvGrpSpPr>
        <p:grpSpPr>
          <a:xfrm>
            <a:off x="8823192" y="1359173"/>
            <a:ext cx="2663175" cy="913423"/>
            <a:chOff x="8823192" y="1359173"/>
            <a:chExt cx="2663175" cy="913423"/>
          </a:xfrm>
        </p:grpSpPr>
        <p:sp>
          <p:nvSpPr>
            <p:cNvPr id="15" name="Callout: Line with No Border 14">
              <a:extLst>
                <a:ext uri="{FF2B5EF4-FFF2-40B4-BE49-F238E27FC236}">
                  <a16:creationId xmlns:a16="http://schemas.microsoft.com/office/drawing/2014/main" id="{9A0F6741-10D7-9744-85B6-BD7438CBB53D}"/>
                </a:ext>
              </a:extLst>
            </p:cNvPr>
            <p:cNvSpPr/>
            <p:nvPr/>
          </p:nvSpPr>
          <p:spPr>
            <a:xfrm>
              <a:off x="9553033" y="1479719"/>
              <a:ext cx="892170" cy="573457"/>
            </a:xfrm>
            <a:prstGeom prst="callout1">
              <a:avLst>
                <a:gd name="adj1" fmla="val 126085"/>
                <a:gd name="adj2" fmla="val 39860"/>
                <a:gd name="adj3" fmla="val 380805"/>
                <a:gd name="adj4" fmla="val -2984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" name="Speech Bubble: Rectangle with Corners Rounded 3">
              <a:extLst>
                <a:ext uri="{FF2B5EF4-FFF2-40B4-BE49-F238E27FC236}">
                  <a16:creationId xmlns:a16="http://schemas.microsoft.com/office/drawing/2014/main" id="{F3F6DB55-0745-665F-88E9-542343C183B2}"/>
                </a:ext>
              </a:extLst>
            </p:cNvPr>
            <p:cNvSpPr/>
            <p:nvPr/>
          </p:nvSpPr>
          <p:spPr>
            <a:xfrm>
              <a:off x="8823192" y="1359173"/>
              <a:ext cx="2663175" cy="913423"/>
            </a:xfrm>
            <a:prstGeom prst="wedgeRoundRectCallout">
              <a:avLst>
                <a:gd name="adj1" fmla="val -22752"/>
                <a:gd name="adj2" fmla="val 2317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DE" sz="1800"/>
                <a:t>When </a:t>
              </a:r>
              <a:r>
                <a:rPr lang="en-DE" sz="1800" b="1"/>
                <a:t>RX-SYNC() </a:t>
              </a:r>
              <a:r>
                <a:rPr lang="en-DE" sz="1800"/>
                <a:t>detected</a:t>
              </a:r>
            </a:p>
            <a:p>
              <a:pPr>
                <a:lnSpc>
                  <a:spcPct val="150000"/>
                </a:lnSpc>
              </a:pPr>
              <a:r>
                <a:rPr lang="en-DE" sz="1800"/>
                <a:t>=&gt;  </a:t>
              </a:r>
              <a:r>
                <a:rPr lang="en-DE" sz="1800" b="1"/>
                <a:t>Pin 12 </a:t>
              </a:r>
              <a:r>
                <a:rPr lang="en-DE" sz="1800"/>
                <a:t>asserted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E16246-6A8D-F2AA-1465-D50CB27EEE25}"/>
              </a:ext>
            </a:extLst>
          </p:cNvPr>
          <p:cNvGrpSpPr/>
          <p:nvPr/>
        </p:nvGrpSpPr>
        <p:grpSpPr>
          <a:xfrm>
            <a:off x="9043040" y="5165246"/>
            <a:ext cx="2804327" cy="913423"/>
            <a:chOff x="9043040" y="5165246"/>
            <a:chExt cx="2804327" cy="913423"/>
          </a:xfrm>
        </p:grpSpPr>
        <p:sp>
          <p:nvSpPr>
            <p:cNvPr id="16" name="Callout: Line with No Border 15">
              <a:extLst>
                <a:ext uri="{FF2B5EF4-FFF2-40B4-BE49-F238E27FC236}">
                  <a16:creationId xmlns:a16="http://schemas.microsoft.com/office/drawing/2014/main" id="{CF80295D-A3AC-8F87-4425-DC2C117C3979}"/>
                </a:ext>
              </a:extLst>
            </p:cNvPr>
            <p:cNvSpPr/>
            <p:nvPr/>
          </p:nvSpPr>
          <p:spPr>
            <a:xfrm>
              <a:off x="9871688" y="5471909"/>
              <a:ext cx="892170" cy="573457"/>
            </a:xfrm>
            <a:prstGeom prst="callout1">
              <a:avLst>
                <a:gd name="adj1" fmla="val -38805"/>
                <a:gd name="adj2" fmla="val 29378"/>
                <a:gd name="adj3" fmla="val -261541"/>
                <a:gd name="adj4" fmla="val -6420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5DC7E328-4865-3923-DE04-3C8C4E416536}"/>
                </a:ext>
              </a:extLst>
            </p:cNvPr>
            <p:cNvSpPr/>
            <p:nvPr/>
          </p:nvSpPr>
          <p:spPr>
            <a:xfrm>
              <a:off x="9043040" y="5165246"/>
              <a:ext cx="2804327" cy="913423"/>
            </a:xfrm>
            <a:prstGeom prst="wedgeRoundRectCallout">
              <a:avLst>
                <a:gd name="adj1" fmla="val -18790"/>
                <a:gd name="adj2" fmla="val -3449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DE" sz="1800"/>
                <a:t>When </a:t>
              </a:r>
              <a:r>
                <a:rPr lang="en-DE" sz="1800" b="1"/>
                <a:t>TX-SYNC() </a:t>
              </a:r>
              <a:r>
                <a:rPr lang="en-DE" sz="1800"/>
                <a:t>detected</a:t>
              </a:r>
            </a:p>
            <a:p>
              <a:pPr>
                <a:lnSpc>
                  <a:spcPct val="150000"/>
                </a:lnSpc>
              </a:pPr>
              <a:r>
                <a:rPr lang="en-DE" sz="1800"/>
                <a:t>=&gt;  </a:t>
              </a:r>
              <a:r>
                <a:rPr lang="en-DE" sz="1800" b="1"/>
                <a:t>Pin 9</a:t>
              </a:r>
              <a:r>
                <a:rPr lang="en-DE" sz="1800"/>
                <a:t> (GPIO0 ) asserted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4642DE-F750-D3B1-AD7E-8DCA9E348771}"/>
              </a:ext>
            </a:extLst>
          </p:cNvPr>
          <p:cNvGrpSpPr/>
          <p:nvPr/>
        </p:nvGrpSpPr>
        <p:grpSpPr>
          <a:xfrm>
            <a:off x="5463245" y="5165246"/>
            <a:ext cx="2489575" cy="913423"/>
            <a:chOff x="5463245" y="5131943"/>
            <a:chExt cx="2489575" cy="913423"/>
          </a:xfrm>
        </p:grpSpPr>
        <p:sp>
          <p:nvSpPr>
            <p:cNvPr id="17" name="Callout: Line with No Border 16">
              <a:extLst>
                <a:ext uri="{FF2B5EF4-FFF2-40B4-BE49-F238E27FC236}">
                  <a16:creationId xmlns:a16="http://schemas.microsoft.com/office/drawing/2014/main" id="{A6CEF5E3-3CF4-235E-8C88-C08CA2B495DE}"/>
                </a:ext>
              </a:extLst>
            </p:cNvPr>
            <p:cNvSpPr/>
            <p:nvPr/>
          </p:nvSpPr>
          <p:spPr>
            <a:xfrm>
              <a:off x="6148279" y="5312848"/>
              <a:ext cx="892170" cy="573457"/>
            </a:xfrm>
            <a:prstGeom prst="callout1">
              <a:avLst>
                <a:gd name="adj1" fmla="val -30651"/>
                <a:gd name="adj2" fmla="val 177874"/>
                <a:gd name="adj3" fmla="val -158258"/>
                <a:gd name="adj4" fmla="val 296263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18600F9D-0EA7-1190-FC06-22579B73BC2A}"/>
                </a:ext>
              </a:extLst>
            </p:cNvPr>
            <p:cNvSpPr/>
            <p:nvPr/>
          </p:nvSpPr>
          <p:spPr>
            <a:xfrm>
              <a:off x="5463245" y="5131943"/>
              <a:ext cx="2489575" cy="913423"/>
            </a:xfrm>
            <a:prstGeom prst="wedgeRoundRectCallout">
              <a:avLst>
                <a:gd name="adj1" fmla="val 11203"/>
                <a:gd name="adj2" fmla="val -24949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DE" sz="1800"/>
                <a:t>Dedicated </a:t>
              </a:r>
              <a:r>
                <a:rPr lang="en-DE" sz="1800" b="1"/>
                <a:t>ACMA</a:t>
              </a:r>
              <a:r>
                <a:rPr lang="en-DE" sz="1800"/>
                <a:t> input pin available on </a:t>
              </a:r>
              <a:r>
                <a:rPr lang="en-DE" sz="1800" b="1"/>
                <a:t>Pin 11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2E6FBA-3494-5F9C-DDC1-8C6AD6396C73}"/>
              </a:ext>
            </a:extLst>
          </p:cNvPr>
          <p:cNvGrpSpPr/>
          <p:nvPr/>
        </p:nvGrpSpPr>
        <p:grpSpPr>
          <a:xfrm>
            <a:off x="4704382" y="1359172"/>
            <a:ext cx="2489575" cy="913423"/>
            <a:chOff x="4704382" y="1359172"/>
            <a:chExt cx="2489575" cy="913423"/>
          </a:xfrm>
        </p:grpSpPr>
        <p:sp>
          <p:nvSpPr>
            <p:cNvPr id="14" name="Callout: Line with No Border 13">
              <a:extLst>
                <a:ext uri="{FF2B5EF4-FFF2-40B4-BE49-F238E27FC236}">
                  <a16:creationId xmlns:a16="http://schemas.microsoft.com/office/drawing/2014/main" id="{7F5048F7-5489-5352-9A6E-D18D803960DB}"/>
                </a:ext>
              </a:extLst>
            </p:cNvPr>
            <p:cNvSpPr/>
            <p:nvPr/>
          </p:nvSpPr>
          <p:spPr>
            <a:xfrm>
              <a:off x="5298513" y="1529154"/>
              <a:ext cx="892170" cy="573457"/>
            </a:xfrm>
            <a:prstGeom prst="callout1">
              <a:avLst>
                <a:gd name="adj1" fmla="val 126085"/>
                <a:gd name="adj2" fmla="val 39860"/>
                <a:gd name="adj3" fmla="val 401643"/>
                <a:gd name="adj4" fmla="val -5389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" name="Speech Bubble: Rectangle with Corners Rounded 2">
              <a:extLst>
                <a:ext uri="{FF2B5EF4-FFF2-40B4-BE49-F238E27FC236}">
                  <a16:creationId xmlns:a16="http://schemas.microsoft.com/office/drawing/2014/main" id="{7613F17A-4ECC-9728-6589-51AE8030455E}"/>
                </a:ext>
              </a:extLst>
            </p:cNvPr>
            <p:cNvSpPr/>
            <p:nvPr/>
          </p:nvSpPr>
          <p:spPr>
            <a:xfrm>
              <a:off x="4704382" y="1359172"/>
              <a:ext cx="2489575" cy="913423"/>
            </a:xfrm>
            <a:prstGeom prst="wedgeRoundRectCallout">
              <a:avLst>
                <a:gd name="adj1" fmla="val -24900"/>
                <a:gd name="adj2" fmla="val -947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DE" sz="1800" b="1"/>
                <a:t>GPIO0SS field = 01</a:t>
              </a:r>
            </a:p>
            <a:p>
              <a:r>
                <a:rPr lang="en-DE" sz="1800"/>
                <a:t>(GPIO Signal Select) </a:t>
              </a:r>
            </a:p>
            <a:p>
              <a:r>
                <a:rPr lang="en-DE" sz="1800" b="1"/>
                <a:t>in PINCTRL </a:t>
              </a:r>
              <a:r>
                <a:rPr lang="en-DE" sz="1800"/>
                <a:t>(Pin Control)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359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1C2CBBFA-AA9F-5F7F-5869-5883A3CE894D}"/>
              </a:ext>
            </a:extLst>
          </p:cNvPr>
          <p:cNvSpPr/>
          <p:nvPr/>
        </p:nvSpPr>
        <p:spPr>
          <a:xfrm>
            <a:off x="2203428" y="3907003"/>
            <a:ext cx="5072862" cy="685068"/>
          </a:xfrm>
          <a:prstGeom prst="wedgeRoundRectCallout">
            <a:avLst>
              <a:gd name="adj1" fmla="val -9336"/>
              <a:gd name="adj2" fmla="val -8613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>
                <a:solidFill>
                  <a:schemeClr val="tx1"/>
                </a:solidFill>
              </a:rPr>
              <a:t>Pattern for SYNC: </a:t>
            </a:r>
          </a:p>
          <a:p>
            <a:pPr algn="ctr"/>
            <a:r>
              <a:rPr lang="en-DE" sz="1800" b="1">
                <a:solidFill>
                  <a:schemeClr val="tx1"/>
                </a:solidFill>
              </a:rPr>
              <a:t>0x </a:t>
            </a:r>
            <a:r>
              <a:rPr lang="en-DE" sz="1800" b="1" u="sng">
                <a:solidFill>
                  <a:schemeClr val="tx1"/>
                </a:solidFill>
              </a:rPr>
              <a:t>88</a:t>
            </a:r>
            <a:r>
              <a:rPr lang="en-DE" sz="1800" b="1">
                <a:solidFill>
                  <a:schemeClr val="tx1"/>
                </a:solidFill>
              </a:rPr>
              <a:t>  </a:t>
            </a:r>
            <a:r>
              <a:rPr lang="en-DE" sz="1800" b="1" u="sng">
                <a:solidFill>
                  <a:schemeClr val="tx1"/>
                </a:solidFill>
              </a:rPr>
              <a:t>F7 10</a:t>
            </a:r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560C438F-634A-4AD3-A6AA-86B83F75C1D7}"/>
              </a:ext>
            </a:extLst>
          </p:cNvPr>
          <p:cNvSpPr/>
          <p:nvPr/>
        </p:nvSpPr>
        <p:spPr>
          <a:xfrm>
            <a:off x="2223640" y="5268988"/>
            <a:ext cx="2489575" cy="913423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DE" sz="1800"/>
              <a:t>Configured in </a:t>
            </a:r>
            <a:r>
              <a:rPr lang="en-DE" sz="1800" b="1"/>
              <a:t>TXMPATH</a:t>
            </a:r>
            <a:r>
              <a:rPr lang="en-DE" sz="1800"/>
              <a:t> </a:t>
            </a:r>
          </a:p>
          <a:p>
            <a:pPr>
              <a:lnSpc>
                <a:spcPct val="150000"/>
              </a:lnSpc>
            </a:pPr>
            <a:r>
              <a:rPr lang="en-DE" sz="1800"/>
              <a:t>(TX Match Pattern High)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5A0E8A7A-02DB-ECAC-020E-7FAFAF2F298A}"/>
              </a:ext>
            </a:extLst>
          </p:cNvPr>
          <p:cNvSpPr/>
          <p:nvPr/>
        </p:nvSpPr>
        <p:spPr>
          <a:xfrm>
            <a:off x="4770909" y="5258828"/>
            <a:ext cx="2543234" cy="913423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DE" sz="1800"/>
              <a:t>Configured in </a:t>
            </a:r>
            <a:r>
              <a:rPr lang="en-DE" sz="1800" b="1"/>
              <a:t>TXMPATL</a:t>
            </a:r>
          </a:p>
          <a:p>
            <a:pPr>
              <a:lnSpc>
                <a:spcPct val="150000"/>
              </a:lnSpc>
            </a:pPr>
            <a:r>
              <a:rPr lang="en-DE" sz="1800"/>
              <a:t>(TX Match Pattern Low)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8ED24B-3CEC-EFB8-943D-5A885C81D0FC}"/>
              </a:ext>
            </a:extLst>
          </p:cNvPr>
          <p:cNvCxnSpPr>
            <a:cxnSpLocks/>
          </p:cNvCxnSpPr>
          <p:nvPr/>
        </p:nvCxnSpPr>
        <p:spPr>
          <a:xfrm flipH="1">
            <a:off x="4309355" y="4511091"/>
            <a:ext cx="262342" cy="71628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AC6509-A57F-95E2-106D-F8D0D2596AF0}"/>
              </a:ext>
            </a:extLst>
          </p:cNvPr>
          <p:cNvCxnSpPr>
            <a:cxnSpLocks/>
          </p:cNvCxnSpPr>
          <p:nvPr/>
        </p:nvCxnSpPr>
        <p:spPr>
          <a:xfrm>
            <a:off x="5006037" y="4511091"/>
            <a:ext cx="175260" cy="70866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3FAA7-2D78-DFB4-8BDB-36A4476FA4E4}"/>
              </a:ext>
            </a:extLst>
          </p:cNvPr>
          <p:cNvCxnSpPr>
            <a:cxnSpLocks/>
          </p:cNvCxnSpPr>
          <p:nvPr/>
        </p:nvCxnSpPr>
        <p:spPr>
          <a:xfrm>
            <a:off x="5644587" y="3261843"/>
            <a:ext cx="0" cy="62230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83356549-11CA-10FE-8448-4A1BC4672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Pattern Matcher – PTP SYNC Example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CD203D0-6C9D-CCB0-DF5F-7DE0B6D24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798" y="1369551"/>
            <a:ext cx="6955314" cy="18807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D5DF2AB-D4DF-5320-5A9E-5036964B411D}"/>
              </a:ext>
            </a:extLst>
          </p:cNvPr>
          <p:cNvGrpSpPr/>
          <p:nvPr/>
        </p:nvGrpSpPr>
        <p:grpSpPr>
          <a:xfrm>
            <a:off x="8505365" y="2441009"/>
            <a:ext cx="2955113" cy="1443134"/>
            <a:chOff x="361333" y="2410618"/>
            <a:chExt cx="4997746" cy="1044616"/>
          </a:xfrm>
          <a:solidFill>
            <a:schemeClr val="accent2"/>
          </a:solidFill>
        </p:grpSpPr>
        <p:sp>
          <p:nvSpPr>
            <p:cNvPr id="10" name="Callout: Line with No Border 9">
              <a:extLst>
                <a:ext uri="{FF2B5EF4-FFF2-40B4-BE49-F238E27FC236}">
                  <a16:creationId xmlns:a16="http://schemas.microsoft.com/office/drawing/2014/main" id="{B14E5B2E-02CD-1A49-AC10-292CF5B39DC0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-4726"/>
                <a:gd name="adj2" fmla="val -369820"/>
                <a:gd name="adj3" fmla="val -4950"/>
                <a:gd name="adj4" fmla="val -500073"/>
              </a:avLst>
            </a:prstGeom>
            <a:grp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18CEE2D3-8BF4-34A3-5006-2EC5DC0C400A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1800">
                  <a:solidFill>
                    <a:srgbClr val="FFFFFF"/>
                  </a:solidFill>
                </a:rPr>
                <a:t>Pattern Matcher can </a:t>
              </a:r>
            </a:p>
            <a:p>
              <a:pPr algn="ctr"/>
              <a:r>
                <a:rPr lang="en-DE" sz="1800" b="1">
                  <a:solidFill>
                    <a:srgbClr val="FFFFFF"/>
                  </a:solidFill>
                </a:rPr>
                <a:t>check 3 Bytes </a:t>
              </a:r>
            </a:p>
            <a:p>
              <a:pPr algn="ctr"/>
              <a:r>
                <a:rPr lang="en-DE" sz="1800">
                  <a:solidFill>
                    <a:srgbClr val="FFFFFF"/>
                  </a:solidFill>
                </a:rPr>
                <a:t>in RT/TX Ethernet frame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B91475-06B4-420B-7B2B-92D482AE9544}"/>
              </a:ext>
            </a:extLst>
          </p:cNvPr>
          <p:cNvGrpSpPr/>
          <p:nvPr/>
        </p:nvGrpSpPr>
        <p:grpSpPr>
          <a:xfrm>
            <a:off x="8505365" y="4719389"/>
            <a:ext cx="2955113" cy="1443134"/>
            <a:chOff x="361333" y="2410618"/>
            <a:chExt cx="4997746" cy="1044616"/>
          </a:xfrm>
          <a:solidFill>
            <a:schemeClr val="accent2"/>
          </a:solidFill>
        </p:grpSpPr>
        <p:sp>
          <p:nvSpPr>
            <p:cNvPr id="15" name="Callout: Line with No Border 14">
              <a:extLst>
                <a:ext uri="{FF2B5EF4-FFF2-40B4-BE49-F238E27FC236}">
                  <a16:creationId xmlns:a16="http://schemas.microsoft.com/office/drawing/2014/main" id="{E8728783-76BD-A678-01A5-8B323968EC29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74145"/>
                <a:gd name="adj2" fmla="val -390829"/>
                <a:gd name="adj3" fmla="val 73921"/>
                <a:gd name="adj4" fmla="val -505326"/>
              </a:avLst>
            </a:prstGeom>
            <a:grp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7" name="Speech Bubble: Rectangle with Corners Rounded 16">
              <a:extLst>
                <a:ext uri="{FF2B5EF4-FFF2-40B4-BE49-F238E27FC236}">
                  <a16:creationId xmlns:a16="http://schemas.microsoft.com/office/drawing/2014/main" id="{2EBBB5C5-A45C-539B-EB7A-5DA30795FA9E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1800">
                  <a:solidFill>
                    <a:srgbClr val="FFFFFF"/>
                  </a:solidFill>
                </a:rPr>
                <a:t>In case of a </a:t>
              </a:r>
              <a:r>
                <a:rPr lang="en-DE" sz="1800" b="1">
                  <a:solidFill>
                    <a:srgbClr val="FFFFFF"/>
                  </a:solidFill>
                </a:rPr>
                <a:t>match</a:t>
              </a:r>
            </a:p>
            <a:p>
              <a:pPr algn="ctr"/>
              <a:r>
                <a:rPr lang="en-DE" sz="1800">
                  <a:solidFill>
                    <a:srgbClr val="FFFFFF"/>
                  </a:solidFill>
                </a:rPr>
                <a:t>either </a:t>
              </a:r>
              <a:r>
                <a:rPr lang="en-DE" sz="1800" b="1">
                  <a:solidFill>
                    <a:srgbClr val="FFFFFF"/>
                  </a:solidFill>
                </a:rPr>
                <a:t>RXPI, TXPI or RXTXPI </a:t>
              </a:r>
              <a:r>
                <a:rPr lang="en-DE" sz="1800">
                  <a:solidFill>
                    <a:srgbClr val="FFFFFF"/>
                  </a:solidFill>
                </a:rPr>
                <a:t>pin is asserted </a:t>
              </a:r>
            </a:p>
            <a:p>
              <a:pPr algn="ctr"/>
              <a:r>
                <a:rPr lang="en-DE" sz="1800">
                  <a:solidFill>
                    <a:srgbClr val="FFFFFF"/>
                  </a:solidFill>
                </a:rPr>
                <a:t>according to pin configuration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B571163-E7B3-7DC1-BA19-940AF96B9C01}"/>
              </a:ext>
            </a:extLst>
          </p:cNvPr>
          <p:cNvGrpSpPr/>
          <p:nvPr/>
        </p:nvGrpSpPr>
        <p:grpSpPr>
          <a:xfrm>
            <a:off x="8504777" y="884268"/>
            <a:ext cx="2955735" cy="1177209"/>
            <a:chOff x="361333" y="2410618"/>
            <a:chExt cx="4997746" cy="1374354"/>
          </a:xfrm>
          <a:solidFill>
            <a:schemeClr val="accent2"/>
          </a:solidFill>
        </p:grpSpPr>
        <p:sp>
          <p:nvSpPr>
            <p:cNvPr id="6" name="Callout: Line with No Border 5">
              <a:extLst>
                <a:ext uri="{FF2B5EF4-FFF2-40B4-BE49-F238E27FC236}">
                  <a16:creationId xmlns:a16="http://schemas.microsoft.com/office/drawing/2014/main" id="{C51381DD-02FB-58FE-1AAE-D4EDC7BF6C64}"/>
                </a:ext>
              </a:extLst>
            </p:cNvPr>
            <p:cNvSpPr/>
            <p:nvPr/>
          </p:nvSpPr>
          <p:spPr>
            <a:xfrm>
              <a:off x="3978869" y="3211515"/>
              <a:ext cx="892169" cy="573457"/>
            </a:xfrm>
            <a:prstGeom prst="callout1">
              <a:avLst>
                <a:gd name="adj1" fmla="val -4726"/>
                <a:gd name="adj2" fmla="val -369820"/>
                <a:gd name="adj3" fmla="val -4950"/>
                <a:gd name="adj4" fmla="val -500073"/>
              </a:avLst>
            </a:prstGeom>
            <a:no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380985F5-0BEC-120B-7E0C-34A761B1E61E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1800">
                  <a:solidFill>
                    <a:srgbClr val="FFFFFF"/>
                  </a:solidFill>
                </a:rPr>
                <a:t>Arbitrary RX/TX Ethernet frame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748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FF195A-B8B1-482A-9610-AD934020170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54777" y="1181911"/>
                <a:ext cx="5827444" cy="5127125"/>
              </a:xfrm>
            </p:spPr>
            <p:txBody>
              <a:bodyPr/>
              <a:lstStyle/>
              <a:p>
                <a:r>
                  <a:rPr lang="en-DE"/>
                  <a:t>In the </a:t>
                </a:r>
                <a:r>
                  <a:rPr lang="en-DE" b="1">
                    <a:solidFill>
                      <a:srgbClr val="0070C0"/>
                    </a:solidFill>
                  </a:rPr>
                  <a:t>clock source:</a:t>
                </a:r>
                <a:br>
                  <a:rPr lang="en-DE" b="1">
                    <a:solidFill>
                      <a:srgbClr val="0070C0"/>
                    </a:solidFill>
                  </a:rPr>
                </a:br>
                <a:r>
                  <a:rPr lang="en-US"/>
                  <a:t>D</a:t>
                </a:r>
                <a:r>
                  <a:rPr lang="en-DE" err="1"/>
                  <a:t>elays</a:t>
                </a:r>
                <a:r>
                  <a:rPr lang="en-DE"/>
                  <a:t> in PHY and because of PLCA lead to incorrect timestamp (generated by MCU) in </a:t>
                </a:r>
                <a:r>
                  <a:rPr lang="en-US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</a:t>
                </a:r>
                <a:endParaRPr lang="en-DE"/>
              </a:p>
              <a:p>
                <a:endParaRPr lang="en-DE" b="1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</a:t>
                </a:r>
                <a:r>
                  <a:rPr lang="en-DE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DE"/>
                  <a:t>used “only” to trigger </a:t>
                </a:r>
                <a:br>
                  <a:rPr lang="en-DE"/>
                </a:br>
                <a:r>
                  <a:rPr lang="en-DE"/>
                  <a:t>Pattern Matcher in LAN8670/1/2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DE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DE"/>
                  <a:t>MCU can now generate </a:t>
                </a:r>
                <a:br>
                  <a:rPr lang="en-DE"/>
                </a:br>
                <a:r>
                  <a:rPr lang="en-DE"/>
                  <a:t>exact timestamp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DE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DE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DE"/>
                </a:br>
                <a:r>
                  <a:rPr lang="en-DE"/>
                  <a:t>when </a:t>
                </a:r>
                <a:r>
                  <a:rPr lang="en-US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</a:t>
                </a:r>
                <a:r>
                  <a:rPr lang="en-DE"/>
                  <a:t> has been sent out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DE"/>
                  <a:t>Exact timestamp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DE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DE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DE"/>
                </a:br>
                <a:r>
                  <a:rPr lang="en-DE"/>
                  <a:t>(of the previous </a:t>
                </a:r>
                <a:r>
                  <a:rPr lang="en-DE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</a:t>
                </a:r>
                <a:r>
                  <a:rPr lang="en-DE"/>
                  <a:t>) </a:t>
                </a:r>
                <a:br>
                  <a:rPr lang="en-DE"/>
                </a:br>
                <a:r>
                  <a:rPr lang="en-DE"/>
                  <a:t>sent by subsequent </a:t>
                </a:r>
                <a:r>
                  <a:rPr lang="en-US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FOLLOWUP</a:t>
                </a:r>
                <a:endParaRPr lang="en-DE"/>
              </a:p>
              <a:p>
                <a:pPr marL="0" indent="0">
                  <a:buNone/>
                </a:pPr>
                <a:endParaRPr lang="en-DE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b="1">
                    <a:solidFill>
                      <a:schemeClr val="bg2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DE" sz="2800" b="1">
                    <a:solidFill>
                      <a:schemeClr val="bg2"/>
                    </a:solidFill>
                    <a:sym typeface="Wingdings" panose="05000000000000000000" pitchFamily="2" charset="2"/>
                  </a:rPr>
                  <a:t>T</a:t>
                </a:r>
                <a:r>
                  <a:rPr lang="en-US" sz="2800" b="1">
                    <a:solidFill>
                      <a:schemeClr val="bg2"/>
                    </a:solidFill>
                    <a:sym typeface="Wingdings" panose="05000000000000000000" pitchFamily="2" charset="2"/>
                  </a:rPr>
                  <a:t>wo-step-approach</a:t>
                </a:r>
                <a:r>
                  <a:rPr lang="en-DE" sz="2800" b="1">
                    <a:solidFill>
                      <a:schemeClr val="bg2"/>
                    </a:solidFill>
                    <a:sym typeface="Wingdings" panose="05000000000000000000" pitchFamily="2" charset="2"/>
                  </a:rPr>
                  <a:t> (Standard)</a:t>
                </a:r>
                <a:endParaRPr lang="en-US" b="1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FF195A-B8B1-482A-9610-AD9340201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54777" y="1181911"/>
                <a:ext cx="5827444" cy="5127125"/>
              </a:xfrm>
              <a:blipFill>
                <a:blip r:embed="rId3"/>
                <a:stretch>
                  <a:fillRect l="-628" t="-357" b="-8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IEEE 802.1AS</a:t>
            </a:r>
            <a:r>
              <a:rPr lang="en-DE"/>
              <a:t>  –  Clock Synchronization (Standard)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2F0A20-52B2-42CA-88E3-BCE6B37F8ACC}"/>
              </a:ext>
            </a:extLst>
          </p:cNvPr>
          <p:cNvCxnSpPr/>
          <p:nvPr/>
        </p:nvCxnSpPr>
        <p:spPr>
          <a:xfrm>
            <a:off x="8513113" y="1356013"/>
            <a:ext cx="0" cy="46101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B02321-69E6-4249-BC52-58891D743982}"/>
              </a:ext>
            </a:extLst>
          </p:cNvPr>
          <p:cNvCxnSpPr/>
          <p:nvPr/>
        </p:nvCxnSpPr>
        <p:spPr>
          <a:xfrm>
            <a:off x="11142825" y="1356013"/>
            <a:ext cx="0" cy="46101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72BDF6-44B5-4A7C-82CA-9B45D166AE5F}"/>
              </a:ext>
            </a:extLst>
          </p:cNvPr>
          <p:cNvSpPr txBox="1"/>
          <p:nvPr/>
        </p:nvSpPr>
        <p:spPr>
          <a:xfrm>
            <a:off x="8163696" y="804353"/>
            <a:ext cx="688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>
                <a:solidFill>
                  <a:srgbClr val="0070C0"/>
                </a:solidFill>
              </a:rPr>
              <a:t>Clock </a:t>
            </a:r>
          </a:p>
          <a:p>
            <a:pPr algn="ctr"/>
            <a:r>
              <a:rPr lang="en-DE" sz="1400" b="1">
                <a:solidFill>
                  <a:srgbClr val="0070C0"/>
                </a:solidFill>
              </a:rPr>
              <a:t>Source</a:t>
            </a:r>
            <a:endParaRPr lang="en-US" sz="1400" b="1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C27132-4F4D-4EB2-83E8-65FEAAAD5304}"/>
              </a:ext>
            </a:extLst>
          </p:cNvPr>
          <p:cNvSpPr txBox="1"/>
          <p:nvPr/>
        </p:nvSpPr>
        <p:spPr>
          <a:xfrm>
            <a:off x="10727038" y="781353"/>
            <a:ext cx="831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>
                <a:solidFill>
                  <a:srgbClr val="00B050"/>
                </a:solidFill>
              </a:rPr>
              <a:t>Clock </a:t>
            </a:r>
          </a:p>
          <a:p>
            <a:pPr algn="ctr"/>
            <a:r>
              <a:rPr lang="en-DE" sz="1400" b="1">
                <a:solidFill>
                  <a:srgbClr val="00B050"/>
                </a:solidFill>
              </a:rPr>
              <a:t>Follower</a:t>
            </a:r>
            <a:endParaRPr lang="en-US" sz="1400" b="1">
              <a:solidFill>
                <a:srgbClr val="00B05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9B4D0F-FA0D-42C0-B5D0-08E7575CEF04}"/>
              </a:ext>
            </a:extLst>
          </p:cNvPr>
          <p:cNvCxnSpPr>
            <a:cxnSpLocks/>
          </p:cNvCxnSpPr>
          <p:nvPr/>
        </p:nvCxnSpPr>
        <p:spPr>
          <a:xfrm>
            <a:off x="8513112" y="1641763"/>
            <a:ext cx="2590801" cy="78105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1A0019-9D0F-47F7-9130-17987A18553B}"/>
              </a:ext>
            </a:extLst>
          </p:cNvPr>
          <p:cNvSpPr txBox="1"/>
          <p:nvPr/>
        </p:nvSpPr>
        <p:spPr>
          <a:xfrm rot="997081">
            <a:off x="9393977" y="17531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SYNC()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D812EF-81D2-445C-AB0F-C5DFFEBC5DD4}"/>
              </a:ext>
            </a:extLst>
          </p:cNvPr>
          <p:cNvCxnSpPr>
            <a:cxnSpLocks/>
          </p:cNvCxnSpPr>
          <p:nvPr/>
        </p:nvCxnSpPr>
        <p:spPr>
          <a:xfrm>
            <a:off x="8513111" y="2314568"/>
            <a:ext cx="2590801" cy="781050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0BF437-5694-45FE-B9CA-2F74435D94CC}"/>
              </a:ext>
            </a:extLst>
          </p:cNvPr>
          <p:cNvCxnSpPr>
            <a:cxnSpLocks/>
          </p:cNvCxnSpPr>
          <p:nvPr/>
        </p:nvCxnSpPr>
        <p:spPr>
          <a:xfrm>
            <a:off x="8513110" y="4221450"/>
            <a:ext cx="2590801" cy="78105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F3D731-49B5-466C-9A21-06BFDA57736B}"/>
              </a:ext>
            </a:extLst>
          </p:cNvPr>
          <p:cNvCxnSpPr>
            <a:cxnSpLocks/>
          </p:cNvCxnSpPr>
          <p:nvPr/>
        </p:nvCxnSpPr>
        <p:spPr>
          <a:xfrm>
            <a:off x="8513108" y="4962814"/>
            <a:ext cx="2590801" cy="781050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4DA035-3863-435C-8FD3-37D598BC3DFF}"/>
              </a:ext>
            </a:extLst>
          </p:cNvPr>
          <p:cNvSpPr txBox="1"/>
          <p:nvPr/>
        </p:nvSpPr>
        <p:spPr>
          <a:xfrm rot="997081">
            <a:off x="9393972" y="4332830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B15625-7EFA-4108-8B15-FA1D7EB037E8}"/>
                  </a:ext>
                </a:extLst>
              </p:cNvPr>
              <p:cNvSpPr txBox="1"/>
              <p:nvPr/>
            </p:nvSpPr>
            <p:spPr>
              <a:xfrm rot="997081">
                <a:off x="9051475" y="2428997"/>
                <a:ext cx="1514069" cy="332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FOLLOWUP(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D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B15625-7EFA-4108-8B15-FA1D7EB03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97081">
                <a:off x="9051475" y="2428997"/>
                <a:ext cx="1514069" cy="332912"/>
              </a:xfrm>
              <a:prstGeom prst="rect">
                <a:avLst/>
              </a:prstGeom>
              <a:blipFill>
                <a:blip r:embed="rId4"/>
                <a:stretch>
                  <a:fillRect l="-2362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68E1C1-DB71-4B6D-AC44-D7A99BF2716E}"/>
                  </a:ext>
                </a:extLst>
              </p:cNvPr>
              <p:cNvSpPr txBox="1"/>
              <p:nvPr/>
            </p:nvSpPr>
            <p:spPr>
              <a:xfrm rot="997081">
                <a:off x="8988156" y="5073844"/>
                <a:ext cx="1640706" cy="332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FOLLOWUP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68E1C1-DB71-4B6D-AC44-D7A99BF27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97081">
                <a:off x="8988156" y="5073844"/>
                <a:ext cx="1640706" cy="332912"/>
              </a:xfrm>
              <a:prstGeom prst="rect">
                <a:avLst/>
              </a:prstGeom>
              <a:blipFill>
                <a:blip r:embed="rId5"/>
                <a:stretch>
                  <a:fillRect l="-2190" b="-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344CCA-CCE8-4813-AE33-FB2B25C338F6}"/>
                  </a:ext>
                </a:extLst>
              </p:cNvPr>
              <p:cNvSpPr txBox="1"/>
              <p:nvPr/>
            </p:nvSpPr>
            <p:spPr>
              <a:xfrm>
                <a:off x="8009207" y="1463129"/>
                <a:ext cx="5607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DE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344CCA-CCE8-4813-AE33-FB2B25C33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207" y="1463129"/>
                <a:ext cx="56079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49F2A0-DE71-4812-9A7B-6FA128788682}"/>
                  </a:ext>
                </a:extLst>
              </p:cNvPr>
              <p:cNvSpPr txBox="1"/>
              <p:nvPr/>
            </p:nvSpPr>
            <p:spPr>
              <a:xfrm>
                <a:off x="8009207" y="4052172"/>
                <a:ext cx="5191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49F2A0-DE71-4812-9A7B-6FA12878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207" y="4052172"/>
                <a:ext cx="519116" cy="400110"/>
              </a:xfrm>
              <a:prstGeom prst="rect">
                <a:avLst/>
              </a:prstGeom>
              <a:blipFill>
                <a:blip r:embed="rId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E1BC4B-DAF2-4BB8-802C-AB2DCB9F5E8C}"/>
                  </a:ext>
                </a:extLst>
              </p:cNvPr>
              <p:cNvSpPr txBox="1"/>
              <p:nvPr/>
            </p:nvSpPr>
            <p:spPr>
              <a:xfrm>
                <a:off x="11086889" y="2251384"/>
                <a:ext cx="5736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DE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i="1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E1BC4B-DAF2-4BB8-802C-AB2DCB9F5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6889" y="2251384"/>
                <a:ext cx="573619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3DED28-604A-4ECB-9C4D-A6B9968BD70C}"/>
                  </a:ext>
                </a:extLst>
              </p:cNvPr>
              <p:cNvSpPr txBox="1"/>
              <p:nvPr/>
            </p:nvSpPr>
            <p:spPr>
              <a:xfrm>
                <a:off x="11086889" y="4833223"/>
                <a:ext cx="5319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</m:oMath>
                  </m:oMathPara>
                </a14:m>
                <a:endParaRPr lang="en-US" sz="2000" b="1" i="1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3DED28-604A-4ECB-9C4D-A6B9968BD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6889" y="4833223"/>
                <a:ext cx="531940" cy="400110"/>
              </a:xfrm>
              <a:prstGeom prst="rect">
                <a:avLst/>
              </a:prstGeom>
              <a:blipFill>
                <a:blip r:embed="rId9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577038-04FA-4C42-84FA-70266FB1002A}"/>
                  </a:ext>
                </a:extLst>
              </p:cNvPr>
              <p:cNvSpPr txBox="1"/>
              <p:nvPr/>
            </p:nvSpPr>
            <p:spPr>
              <a:xfrm>
                <a:off x="8556572" y="6078459"/>
                <a:ext cx="2590800" cy="429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𝑶𝒇𝒇𝒔𝒆𝒕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577038-04FA-4C42-84FA-70266FB10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572" y="6078459"/>
                <a:ext cx="2590800" cy="429220"/>
              </a:xfrm>
              <a:prstGeom prst="rect">
                <a:avLst/>
              </a:prstGeom>
              <a:blipFill>
                <a:blip r:embed="rId10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8EDD87B-BF0F-451B-9296-2502DE2D77D3}"/>
              </a:ext>
            </a:extLst>
          </p:cNvPr>
          <p:cNvSpPr/>
          <p:nvPr/>
        </p:nvSpPr>
        <p:spPr>
          <a:xfrm>
            <a:off x="6239371" y="3399603"/>
            <a:ext cx="1221243" cy="57687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Pattern Matcher</a:t>
            </a:r>
            <a:endParaRPr lang="en-US" sz="1800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537D-1CFF-40C1-9554-590737AF87D6}"/>
              </a:ext>
            </a:extLst>
          </p:cNvPr>
          <p:cNvSpPr/>
          <p:nvPr/>
        </p:nvSpPr>
        <p:spPr>
          <a:xfrm>
            <a:off x="6239371" y="4038107"/>
            <a:ext cx="1221242" cy="113367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PLCA</a:t>
            </a:r>
            <a:endParaRPr lang="en-US" sz="1800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E56777-9DB4-45F5-9767-3CC0F7181961}"/>
              </a:ext>
            </a:extLst>
          </p:cNvPr>
          <p:cNvSpPr/>
          <p:nvPr/>
        </p:nvSpPr>
        <p:spPr>
          <a:xfrm>
            <a:off x="4490128" y="3399603"/>
            <a:ext cx="1221243" cy="576870"/>
          </a:xfrm>
          <a:prstGeom prst="rect">
            <a:avLst/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MCU</a:t>
            </a:r>
            <a:endParaRPr lang="en-US" sz="1800" b="1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E1FD4BD-E2BF-45EE-96C4-36975D4FCE96}"/>
              </a:ext>
            </a:extLst>
          </p:cNvPr>
          <p:cNvCxnSpPr>
            <a:cxnSpLocks/>
          </p:cNvCxnSpPr>
          <p:nvPr/>
        </p:nvCxnSpPr>
        <p:spPr>
          <a:xfrm>
            <a:off x="5478608" y="3971795"/>
            <a:ext cx="708705" cy="294482"/>
          </a:xfrm>
          <a:prstGeom prst="bentConnector3">
            <a:avLst>
              <a:gd name="adj1" fmla="val -109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1F2F4B8-9760-482E-8873-038294721BD0}"/>
              </a:ext>
            </a:extLst>
          </p:cNvPr>
          <p:cNvCxnSpPr>
            <a:cxnSpLocks/>
          </p:cNvCxnSpPr>
          <p:nvPr/>
        </p:nvCxnSpPr>
        <p:spPr>
          <a:xfrm>
            <a:off x="4720367" y="3971794"/>
            <a:ext cx="1466946" cy="926940"/>
          </a:xfrm>
          <a:prstGeom prst="bentConnector3">
            <a:avLst>
              <a:gd name="adj1" fmla="val -62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36DD7E7-67B3-48D2-812F-09F9A5260503}"/>
              </a:ext>
            </a:extLst>
          </p:cNvPr>
          <p:cNvSpPr txBox="1"/>
          <p:nvPr/>
        </p:nvSpPr>
        <p:spPr>
          <a:xfrm>
            <a:off x="5335419" y="4228423"/>
            <a:ext cx="93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endParaRPr lang="en-US" sz="1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15DBEA-BFE6-4827-BBBC-2C63CD0E02F4}"/>
              </a:ext>
            </a:extLst>
          </p:cNvPr>
          <p:cNvSpPr txBox="1"/>
          <p:nvPr/>
        </p:nvSpPr>
        <p:spPr>
          <a:xfrm>
            <a:off x="4637856" y="4878038"/>
            <a:ext cx="1571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3.FOLLOW-UP</a:t>
            </a:r>
            <a:endParaRPr lang="en-US" sz="14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0A38F88-0B00-427D-A6DC-8F62C9C0E411}"/>
              </a:ext>
            </a:extLst>
          </p:cNvPr>
          <p:cNvGrpSpPr/>
          <p:nvPr/>
        </p:nvGrpSpPr>
        <p:grpSpPr>
          <a:xfrm>
            <a:off x="4706457" y="3038402"/>
            <a:ext cx="2139694" cy="347464"/>
            <a:chOff x="4555005" y="4001828"/>
            <a:chExt cx="2154236" cy="347464"/>
          </a:xfrm>
        </p:grpSpPr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AE4B8021-1C5F-410A-91FB-BA9A546F106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555005" y="4001828"/>
              <a:ext cx="1093537" cy="346000"/>
            </a:xfrm>
            <a:prstGeom prst="bentConnector3">
              <a:avLst>
                <a:gd name="adj1" fmla="val 100001"/>
              </a:avLst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65196B6A-6B60-423D-8AE0-139129F34070}"/>
                </a:ext>
              </a:extLst>
            </p:cNvPr>
            <p:cNvCxnSpPr>
              <a:cxnSpLocks/>
            </p:cNvCxnSpPr>
            <p:nvPr/>
          </p:nvCxnSpPr>
          <p:spPr>
            <a:xfrm>
              <a:off x="5639005" y="4001828"/>
              <a:ext cx="1070236" cy="347464"/>
            </a:xfrm>
            <a:prstGeom prst="bentConnector3">
              <a:avLst>
                <a:gd name="adj1" fmla="val 101034"/>
              </a:avLst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A96894B5-427A-4486-9FAE-1226FC0CDF81}"/>
              </a:ext>
            </a:extLst>
          </p:cNvPr>
          <p:cNvSpPr txBox="1"/>
          <p:nvPr/>
        </p:nvSpPr>
        <p:spPr>
          <a:xfrm>
            <a:off x="6887890" y="3042125"/>
            <a:ext cx="1287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1a.TXPI</a:t>
            </a:r>
            <a:endParaRPr lang="en-US" sz="140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7B1ABD0-A093-473B-860E-8141C8596C17}"/>
              </a:ext>
            </a:extLst>
          </p:cNvPr>
          <p:cNvCxnSpPr>
            <a:cxnSpLocks/>
          </p:cNvCxnSpPr>
          <p:nvPr/>
        </p:nvCxnSpPr>
        <p:spPr>
          <a:xfrm>
            <a:off x="4708483" y="3448401"/>
            <a:ext cx="1" cy="465857"/>
          </a:xfrm>
          <a:prstGeom prst="straightConnector1">
            <a:avLst/>
          </a:prstGeom>
          <a:ln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A0C9F8-C74D-45B4-B478-660081EA3C23}"/>
              </a:ext>
            </a:extLst>
          </p:cNvPr>
          <p:cNvCxnSpPr>
            <a:cxnSpLocks/>
          </p:cNvCxnSpPr>
          <p:nvPr/>
        </p:nvCxnSpPr>
        <p:spPr>
          <a:xfrm>
            <a:off x="7503509" y="4255154"/>
            <a:ext cx="559979" cy="0"/>
          </a:xfrm>
          <a:prstGeom prst="straightConnector1">
            <a:avLst/>
          </a:prstGeom>
          <a:ln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7035DF3-973A-40A0-9C48-732745C7B760}"/>
              </a:ext>
            </a:extLst>
          </p:cNvPr>
          <p:cNvCxnSpPr>
            <a:cxnSpLocks/>
          </p:cNvCxnSpPr>
          <p:nvPr/>
        </p:nvCxnSpPr>
        <p:spPr>
          <a:xfrm>
            <a:off x="7503509" y="4911096"/>
            <a:ext cx="952454" cy="0"/>
          </a:xfrm>
          <a:prstGeom prst="straightConnector1">
            <a:avLst/>
          </a:prstGeom>
          <a:ln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349CB42A-A85C-4000-B588-031F81CD9ADB}"/>
              </a:ext>
            </a:extLst>
          </p:cNvPr>
          <p:cNvSpPr/>
          <p:nvPr/>
        </p:nvSpPr>
        <p:spPr bwMode="auto">
          <a:xfrm rot="5400000">
            <a:off x="8040878" y="3998534"/>
            <a:ext cx="437932" cy="500369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Rounded Rectangle 4">
            <a:extLst>
              <a:ext uri="{FF2B5EF4-FFF2-40B4-BE49-F238E27FC236}">
                <a16:creationId xmlns:a16="http://schemas.microsoft.com/office/drawing/2014/main" id="{1CDC930C-46FD-41D9-8462-F29594793840}"/>
              </a:ext>
            </a:extLst>
          </p:cNvPr>
          <p:cNvSpPr/>
          <p:nvPr/>
        </p:nvSpPr>
        <p:spPr bwMode="auto">
          <a:xfrm rot="5400000">
            <a:off x="9994369" y="5141057"/>
            <a:ext cx="452733" cy="504247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FBE53-A9E7-989D-CD38-3FA4382F97A1}"/>
              </a:ext>
            </a:extLst>
          </p:cNvPr>
          <p:cNvSpPr txBox="1"/>
          <p:nvPr/>
        </p:nvSpPr>
        <p:spPr>
          <a:xfrm>
            <a:off x="4141419" y="3534149"/>
            <a:ext cx="562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8890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40" grpId="0"/>
      <p:bldP spid="41" grpId="0"/>
      <p:bldP spid="58" grpId="0"/>
      <p:bldP spid="35" grpId="0" animBg="1"/>
      <p:bldP spid="37" grpId="0" animBg="1"/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B146F43-6BB3-6AA4-7EDC-1F1AB165684A}"/>
              </a:ext>
            </a:extLst>
          </p:cNvPr>
          <p:cNvGrpSpPr/>
          <p:nvPr/>
        </p:nvGrpSpPr>
        <p:grpSpPr>
          <a:xfrm>
            <a:off x="609099" y="3216949"/>
            <a:ext cx="7944032" cy="1221222"/>
            <a:chOff x="755777" y="4580408"/>
            <a:chExt cx="10099040" cy="153143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CA0E3CC-B040-AE38-5420-223C0C9E84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10"/>
            <a:stretch/>
          </p:blipFill>
          <p:spPr>
            <a:xfrm>
              <a:off x="755777" y="4580408"/>
              <a:ext cx="10099040" cy="153143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66279955-9E41-7D94-B58F-5A732A1211A3}"/>
                </a:ext>
              </a:extLst>
            </p:cNvPr>
            <p:cNvSpPr/>
            <p:nvPr/>
          </p:nvSpPr>
          <p:spPr bwMode="auto">
            <a:xfrm rot="5400000">
              <a:off x="9186635" y="4406784"/>
              <a:ext cx="333960" cy="1116171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027AAF3-D0D6-FCA8-590B-90CFF4F98B14}"/>
              </a:ext>
            </a:extLst>
          </p:cNvPr>
          <p:cNvGrpSpPr/>
          <p:nvPr/>
        </p:nvGrpSpPr>
        <p:grpSpPr>
          <a:xfrm>
            <a:off x="609099" y="1735611"/>
            <a:ext cx="4476885" cy="1044616"/>
            <a:chOff x="609099" y="1735611"/>
            <a:chExt cx="4476885" cy="1044616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413823A1-5997-E4A7-A546-AF144EF458F1}"/>
                </a:ext>
              </a:extLst>
            </p:cNvPr>
            <p:cNvSpPr/>
            <p:nvPr/>
          </p:nvSpPr>
          <p:spPr>
            <a:xfrm>
              <a:off x="3849617" y="2051733"/>
              <a:ext cx="799189" cy="573457"/>
            </a:xfrm>
            <a:prstGeom prst="callout1">
              <a:avLst>
                <a:gd name="adj1" fmla="val 120299"/>
                <a:gd name="adj2" fmla="val 65012"/>
                <a:gd name="adj3" fmla="val 300887"/>
                <a:gd name="adj4" fmla="val 128541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CA5E3F2A-94B7-F63F-8FA1-6D7E4F225095}"/>
                </a:ext>
              </a:extLst>
            </p:cNvPr>
            <p:cNvSpPr/>
            <p:nvPr/>
          </p:nvSpPr>
          <p:spPr>
            <a:xfrm>
              <a:off x="609099" y="1735611"/>
              <a:ext cx="4476885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DE" sz="1800"/>
                <a:t>Configure </a:t>
              </a:r>
              <a:r>
                <a:rPr lang="en-DE" sz="1800" b="1"/>
                <a:t>Pattern Matcher </a:t>
              </a:r>
              <a:r>
                <a:rPr lang="en-DE" sz="1800"/>
                <a:t>to detect TX SYNC packets (or other PTP message)</a:t>
              </a:r>
              <a:endParaRPr lang="en-US" sz="1800" b="1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91" y="96296"/>
            <a:ext cx="11863993" cy="633617"/>
          </a:xfrm>
        </p:spPr>
        <p:txBody>
          <a:bodyPr/>
          <a:lstStyle/>
          <a:p>
            <a:r>
              <a:rPr lang="en-US" sz="2800"/>
              <a:t>IEEE 802.1AS</a:t>
            </a:r>
            <a:r>
              <a:rPr lang="en-DE" sz="2800"/>
              <a:t>  –  LAN8670/1/2 Configuration for Standard </a:t>
            </a:r>
            <a:r>
              <a:rPr lang="en-DE" sz="2800" err="1"/>
              <a:t>Clocksynchronization</a:t>
            </a:r>
            <a:endParaRPr lang="en-US" sz="2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2F294-4450-BDCA-AC48-A07A725F647C}"/>
              </a:ext>
            </a:extLst>
          </p:cNvPr>
          <p:cNvSpPr txBox="1"/>
          <p:nvPr/>
        </p:nvSpPr>
        <p:spPr>
          <a:xfrm>
            <a:off x="302596" y="878031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400" b="1">
                <a:solidFill>
                  <a:schemeClr val="bg2"/>
                </a:solidFill>
                <a:sym typeface="Wingdings" panose="05000000000000000000" pitchFamily="2" charset="2"/>
              </a:rPr>
              <a:t>“T</a:t>
            </a:r>
            <a:r>
              <a:rPr lang="en-US" sz="2400" b="1">
                <a:solidFill>
                  <a:schemeClr val="bg2"/>
                </a:solidFill>
                <a:sym typeface="Wingdings" panose="05000000000000000000" pitchFamily="2" charset="2"/>
              </a:rPr>
              <a:t>wo-step-approach</a:t>
            </a:r>
            <a:r>
              <a:rPr lang="en-DE" sz="2400" b="1">
                <a:solidFill>
                  <a:schemeClr val="bg2"/>
                </a:solidFill>
                <a:sym typeface="Wingdings" panose="05000000000000000000" pitchFamily="2" charset="2"/>
              </a:rPr>
              <a:t>”  (Standard)</a:t>
            </a:r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0B03CE-7CD0-D02B-A735-6E6D490D78C2}"/>
              </a:ext>
            </a:extLst>
          </p:cNvPr>
          <p:cNvGrpSpPr/>
          <p:nvPr/>
        </p:nvGrpSpPr>
        <p:grpSpPr>
          <a:xfrm>
            <a:off x="7102841" y="1735611"/>
            <a:ext cx="4476885" cy="1044616"/>
            <a:chOff x="361333" y="2410618"/>
            <a:chExt cx="4997746" cy="1044616"/>
          </a:xfrm>
        </p:grpSpPr>
        <p:sp>
          <p:nvSpPr>
            <p:cNvPr id="16" name="Callout: Line with No Border 15">
              <a:extLst>
                <a:ext uri="{FF2B5EF4-FFF2-40B4-BE49-F238E27FC236}">
                  <a16:creationId xmlns:a16="http://schemas.microsoft.com/office/drawing/2014/main" id="{19E2E468-A4BD-3E26-7539-22E11EF5B893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105356"/>
                <a:gd name="adj2" fmla="val -280123"/>
                <a:gd name="adj3" fmla="val 231588"/>
                <a:gd name="adj4" fmla="val -333507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1A31F895-25BB-E8C4-4A42-0738A8250711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b="1"/>
                <a:t>TXME </a:t>
              </a:r>
              <a:r>
                <a:rPr lang="en-DE" sz="1800" b="1"/>
                <a:t>= 1 </a:t>
              </a:r>
              <a:r>
                <a:rPr lang="en-DE" sz="1800"/>
                <a:t>(</a:t>
              </a:r>
              <a:r>
                <a:rPr lang="en-US" sz="1800"/>
                <a:t>Transmit Packet Match Enable</a:t>
              </a:r>
              <a:r>
                <a:rPr lang="en-DE" sz="1800"/>
                <a:t>)</a:t>
              </a:r>
              <a:r>
                <a:rPr lang="en-US" sz="1800"/>
                <a:t> </a:t>
              </a:r>
              <a:r>
                <a:rPr lang="en-DE" sz="1800" b="1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DE" sz="1800"/>
                <a:t>in </a:t>
              </a:r>
              <a:r>
                <a:rPr lang="en-US" sz="1800" b="1"/>
                <a:t>TXMCTL</a:t>
              </a:r>
              <a:r>
                <a:rPr lang="en-DE" sz="1800" b="1"/>
                <a:t> (</a:t>
              </a:r>
              <a:r>
                <a:rPr lang="en-US" sz="1800"/>
                <a:t>Transmit Match Control Register</a:t>
              </a:r>
              <a:r>
                <a:rPr lang="en-DE" sz="1800" b="1"/>
                <a:t>)</a:t>
              </a:r>
              <a:endParaRPr lang="en-US" sz="1800" b="1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0F49F1-D85E-2B08-CB04-0030771595F2}"/>
              </a:ext>
            </a:extLst>
          </p:cNvPr>
          <p:cNvGrpSpPr/>
          <p:nvPr/>
        </p:nvGrpSpPr>
        <p:grpSpPr>
          <a:xfrm>
            <a:off x="7102841" y="4872290"/>
            <a:ext cx="4476885" cy="1443134"/>
            <a:chOff x="361333" y="2410618"/>
            <a:chExt cx="4997746" cy="1044616"/>
          </a:xfrm>
          <a:solidFill>
            <a:schemeClr val="accent2"/>
          </a:solidFill>
        </p:grpSpPr>
        <p:sp>
          <p:nvSpPr>
            <p:cNvPr id="19" name="Callout: Line with No Border 18">
              <a:extLst>
                <a:ext uri="{FF2B5EF4-FFF2-40B4-BE49-F238E27FC236}">
                  <a16:creationId xmlns:a16="http://schemas.microsoft.com/office/drawing/2014/main" id="{466B3A66-A7EA-8992-6F92-27FFD52DD30A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27977"/>
                <a:gd name="adj2" fmla="val -45952"/>
                <a:gd name="adj3" fmla="val 66867"/>
                <a:gd name="adj4" fmla="val 85222"/>
              </a:avLst>
            </a:prstGeom>
            <a:grp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8" name="Speech Bubble: Rectangle with Corners Rounded 17">
              <a:extLst>
                <a:ext uri="{FF2B5EF4-FFF2-40B4-BE49-F238E27FC236}">
                  <a16:creationId xmlns:a16="http://schemas.microsoft.com/office/drawing/2014/main" id="{D8E1D508-547C-36E1-0AFF-F47C2F5CA511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DE" sz="1800"/>
                <a:t>In case of a </a:t>
              </a:r>
              <a:r>
                <a:rPr lang="en-US" sz="1800"/>
                <a:t>match</a:t>
              </a:r>
              <a:r>
                <a:rPr lang="en-DE" sz="1800"/>
                <a:t>,</a:t>
              </a:r>
              <a:r>
                <a:rPr lang="en-US" sz="1800"/>
                <a:t> the </a:t>
              </a:r>
              <a:r>
                <a:rPr lang="en-US" sz="1800" b="1"/>
                <a:t>TXPI</a:t>
              </a:r>
              <a:r>
                <a:rPr lang="en-US" sz="1800"/>
                <a:t> </a:t>
              </a:r>
              <a:r>
                <a:rPr lang="en-DE" sz="1800"/>
                <a:t>pin </a:t>
              </a:r>
              <a:r>
                <a:rPr lang="en-US" sz="1800"/>
                <a:t>will be asserted</a:t>
              </a:r>
              <a:r>
                <a:rPr lang="en-DE" sz="1800"/>
                <a:t> to inform MCU.</a:t>
              </a:r>
            </a:p>
            <a:p>
              <a:pPr>
                <a:lnSpc>
                  <a:spcPct val="150000"/>
                </a:lnSpc>
              </a:pPr>
              <a:r>
                <a:rPr lang="en-DE" sz="1800">
                  <a:sym typeface="Wingdings" panose="05000000000000000000" pitchFamily="2" charset="2"/>
                </a:rPr>
                <a:t>MCU sends a </a:t>
              </a:r>
              <a:r>
                <a:rPr lang="en-DE" sz="1800" b="1">
                  <a:sym typeface="Wingdings" panose="05000000000000000000" pitchFamily="2" charset="2"/>
                </a:rPr>
                <a:t>FOLLOWUP</a:t>
              </a:r>
              <a:r>
                <a:rPr lang="en-DE" sz="1800">
                  <a:sym typeface="Wingdings" panose="05000000000000000000" pitchFamily="2" charset="2"/>
                </a:rPr>
                <a:t>, with previous TS</a:t>
              </a:r>
              <a:endParaRPr lang="en-DE" sz="1600">
                <a:sym typeface="Wingdings" panose="05000000000000000000" pitchFamily="2" charset="2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D3D689-88FD-5E03-0452-52E997E92211}"/>
              </a:ext>
            </a:extLst>
          </p:cNvPr>
          <p:cNvGrpSpPr/>
          <p:nvPr/>
        </p:nvGrpSpPr>
        <p:grpSpPr>
          <a:xfrm>
            <a:off x="3439206" y="4872290"/>
            <a:ext cx="3092651" cy="1443134"/>
            <a:chOff x="361333" y="2410618"/>
            <a:chExt cx="4997746" cy="1044616"/>
          </a:xfrm>
          <a:solidFill>
            <a:schemeClr val="accent2"/>
          </a:solidFill>
        </p:grpSpPr>
        <p:sp>
          <p:nvSpPr>
            <p:cNvPr id="22" name="Callout: Line with No Border 21">
              <a:extLst>
                <a:ext uri="{FF2B5EF4-FFF2-40B4-BE49-F238E27FC236}">
                  <a16:creationId xmlns:a16="http://schemas.microsoft.com/office/drawing/2014/main" id="{E6FD78B2-5A7E-567D-D1FE-D6AC3FAF3930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126085"/>
                <a:gd name="adj2" fmla="val 39860"/>
                <a:gd name="adj3" fmla="val -201166"/>
                <a:gd name="adj4" fmla="val 166970"/>
              </a:avLst>
            </a:prstGeom>
            <a:grp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1" name="Speech Bubble: Rectangle with Corners Rounded 20">
              <a:extLst>
                <a:ext uri="{FF2B5EF4-FFF2-40B4-BE49-F238E27FC236}">
                  <a16:creationId xmlns:a16="http://schemas.microsoft.com/office/drawing/2014/main" id="{A10F1A98-29AB-9E3A-C74F-4DCB337E0C5D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DE" sz="1800" b="1"/>
                <a:t>MACTXTSE</a:t>
              </a:r>
              <a:r>
                <a:rPr lang="en-DE" sz="1800"/>
                <a:t> and </a:t>
              </a:r>
              <a:r>
                <a:rPr lang="en-DE" sz="1800" b="1"/>
                <a:t>TXME</a:t>
              </a:r>
              <a:r>
                <a:rPr lang="en-DE" sz="1800"/>
                <a:t> cannot be set at the same time.</a:t>
              </a:r>
            </a:p>
            <a:p>
              <a:endParaRPr lang="en-DE" sz="1800"/>
            </a:p>
            <a:p>
              <a:r>
                <a:rPr lang="en-DE" sz="1800">
                  <a:sym typeface="Wingdings" panose="05000000000000000000" pitchFamily="2" charset="2"/>
                </a:rPr>
                <a:t>Functionalities mutually exclude each other.</a:t>
              </a:r>
              <a:endParaRPr lang="en-DE" sz="1600">
                <a:sym typeface="Wingdings" panose="05000000000000000000" pitchFamily="2" charset="2"/>
              </a:endParaRPr>
            </a:p>
          </p:txBody>
        </p:sp>
      </p:grp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FFDDD95-6DE2-8279-2DDE-2FA4383B5932}"/>
              </a:ext>
            </a:extLst>
          </p:cNvPr>
          <p:cNvSpPr/>
          <p:nvPr/>
        </p:nvSpPr>
        <p:spPr bwMode="auto">
          <a:xfrm rot="5400000">
            <a:off x="5088220" y="3345510"/>
            <a:ext cx="653246" cy="1532075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61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FF195A-B8B1-482A-9610-AD93402017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4301" y="848558"/>
            <a:ext cx="6290407" cy="5127125"/>
          </a:xfrm>
        </p:spPr>
        <p:txBody>
          <a:bodyPr/>
          <a:lstStyle/>
          <a:p>
            <a:pPr marL="0" indent="0">
              <a:buNone/>
            </a:pPr>
            <a:r>
              <a:rPr lang="en-DE" sz="1800"/>
              <a:t>In the </a:t>
            </a:r>
            <a:r>
              <a:rPr lang="en-DE" sz="1800" b="1">
                <a:solidFill>
                  <a:srgbClr val="0070C0"/>
                </a:solidFill>
              </a:rPr>
              <a:t>clock source:</a:t>
            </a:r>
          </a:p>
          <a:p>
            <a:r>
              <a:rPr lang="en-DE" sz="1800"/>
              <a:t>Some MACs can compensate constant TX-delay through PHY</a:t>
            </a:r>
          </a:p>
          <a:p>
            <a:r>
              <a:rPr lang="en-DE" sz="1800"/>
              <a:t>However, TX PHY delay is variable (0...39,6 µs) because of PLCA buffer =&gt; cannot be compensated</a:t>
            </a:r>
          </a:p>
          <a:p>
            <a:r>
              <a:rPr lang="en-DE" sz="1800"/>
              <a:t>LAN8670/1/2 can be configured for MAC Timestamping</a:t>
            </a:r>
            <a:br>
              <a:rPr lang="en-DE" sz="1800"/>
            </a:br>
            <a:endParaRPr lang="en-DE" sz="1800"/>
          </a:p>
          <a:p>
            <a:pPr marL="457200" indent="-457200">
              <a:buFont typeface="+mj-lt"/>
              <a:buAutoNum type="arabicPeriod"/>
            </a:pPr>
            <a:r>
              <a:rPr lang="en-DE" sz="1800" err="1"/>
              <a:t>Patern</a:t>
            </a:r>
            <a:r>
              <a:rPr lang="en-DE" sz="1800"/>
              <a:t> Matcher detects  TX-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r>
              <a:rPr lang="en-DE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DE" sz="18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DE" sz="1800"/>
              <a:t>and triggers PLCA module</a:t>
            </a:r>
            <a:br>
              <a:rPr lang="en-DE" sz="1800"/>
            </a:br>
            <a:r>
              <a:rPr lang="en-DE" sz="90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/>
              <a:t>PLCA emulates collision to MAC</a:t>
            </a:r>
            <a:br>
              <a:rPr lang="en-DE" sz="1800"/>
            </a:br>
            <a:r>
              <a:rPr lang="en-DE" sz="600"/>
              <a:t> </a:t>
            </a:r>
            <a:endParaRPr lang="en-DE" sz="1800"/>
          </a:p>
          <a:p>
            <a:pPr marL="457200" indent="-457200">
              <a:buFont typeface="+mj-lt"/>
              <a:buAutoNum type="arabicPeriod"/>
            </a:pPr>
            <a:r>
              <a:rPr lang="en-DE" sz="1800"/>
              <a:t>MAC terminates  TX-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r>
              <a:rPr lang="en-DE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DE" sz="18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DE" sz="1800">
                <a:cs typeface="Courier New" panose="02070309020205020404" pitchFamily="49" charset="0"/>
              </a:rPr>
              <a:t>sends JAM, backs off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600">
                <a:cs typeface="Courier New" panose="020703090202050204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>
                <a:cs typeface="Courier New" panose="02070309020205020404" pitchFamily="49" charset="0"/>
              </a:rPr>
              <a:t>PLCA asserts Carrier Sense to keep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1800">
                <a:cs typeface="Courier New" panose="02070309020205020404" pitchFamily="49" charset="0"/>
              </a:rPr>
              <a:t>MAC waiting until its next TO arrives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600">
                <a:cs typeface="Courier New" panose="020703090202050204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>
                <a:cs typeface="Courier New" panose="02070309020205020404" pitchFamily="49" charset="0"/>
              </a:rPr>
              <a:t>PLCA sends COMMITS to hold its TO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600">
                <a:cs typeface="Courier New" panose="020703090202050204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>
                <a:cs typeface="Courier New" panose="02070309020205020404" pitchFamily="49" charset="0"/>
              </a:rPr>
              <a:t>PLCA releases Carrier Sense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600">
                <a:cs typeface="Courier New" panose="020703090202050204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>
                <a:cs typeface="Courier New" panose="02070309020205020404" pitchFamily="49" charset="0"/>
              </a:rPr>
              <a:t>MAC retransmits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r>
              <a:rPr lang="en-DE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DE" sz="1800">
                <a:cs typeface="Courier New" panose="02070309020205020404" pitchFamily="49" charset="0"/>
              </a:rPr>
              <a:t>(updated, correct TS) 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1800">
                <a:cs typeface="Courier New" panose="02070309020205020404" pitchFamily="49" charset="0"/>
              </a:rPr>
              <a:t>which bypasses PLCA buffer (no delay)</a:t>
            </a:r>
            <a:endParaRPr lang="en-DE" sz="1800">
              <a:sym typeface="Wingdings" panose="05000000000000000000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91" y="96296"/>
            <a:ext cx="11727795" cy="633617"/>
          </a:xfrm>
        </p:spPr>
        <p:txBody>
          <a:bodyPr/>
          <a:lstStyle/>
          <a:p>
            <a:r>
              <a:rPr lang="en-US"/>
              <a:t>IEEE 802.1AS</a:t>
            </a:r>
            <a:r>
              <a:rPr lang="en-DE"/>
              <a:t>  –  Clock Synchronization (MAC Timestamping)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2F0A20-52B2-42CA-88E3-BCE6B37F8ACC}"/>
              </a:ext>
            </a:extLst>
          </p:cNvPr>
          <p:cNvCxnSpPr/>
          <p:nvPr/>
        </p:nvCxnSpPr>
        <p:spPr>
          <a:xfrm>
            <a:off x="9793904" y="1365440"/>
            <a:ext cx="0" cy="46101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B02321-69E6-4249-BC52-58891D743982}"/>
              </a:ext>
            </a:extLst>
          </p:cNvPr>
          <p:cNvCxnSpPr/>
          <p:nvPr/>
        </p:nvCxnSpPr>
        <p:spPr>
          <a:xfrm>
            <a:off x="11660357" y="1365440"/>
            <a:ext cx="0" cy="46101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72BDF6-44B5-4A7C-82CA-9B45D166AE5F}"/>
              </a:ext>
            </a:extLst>
          </p:cNvPr>
          <p:cNvSpPr txBox="1"/>
          <p:nvPr/>
        </p:nvSpPr>
        <p:spPr>
          <a:xfrm>
            <a:off x="9231883" y="1057663"/>
            <a:ext cx="1126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>
                <a:solidFill>
                  <a:srgbClr val="0070C0"/>
                </a:solidFill>
              </a:rPr>
              <a:t>Clock Source</a:t>
            </a:r>
            <a:endParaRPr lang="en-US" sz="1400" b="1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C27132-4F4D-4EB2-83E8-65FEAAAD5304}"/>
              </a:ext>
            </a:extLst>
          </p:cNvPr>
          <p:cNvSpPr txBox="1"/>
          <p:nvPr/>
        </p:nvSpPr>
        <p:spPr>
          <a:xfrm>
            <a:off x="10958882" y="1057663"/>
            <a:ext cx="1269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>
                <a:solidFill>
                  <a:srgbClr val="00B050"/>
                </a:solidFill>
              </a:rPr>
              <a:t>Clock Follower</a:t>
            </a:r>
            <a:endParaRPr lang="en-US" sz="1400" b="1">
              <a:solidFill>
                <a:srgbClr val="00B05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9B4D0F-FA0D-42C0-B5D0-08E7575CEF04}"/>
              </a:ext>
            </a:extLst>
          </p:cNvPr>
          <p:cNvCxnSpPr>
            <a:cxnSpLocks/>
          </p:cNvCxnSpPr>
          <p:nvPr/>
        </p:nvCxnSpPr>
        <p:spPr>
          <a:xfrm>
            <a:off x="9801981" y="1794907"/>
            <a:ext cx="1858376" cy="57164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1A0019-9D0F-47F7-9130-17987A18553B}"/>
              </a:ext>
            </a:extLst>
          </p:cNvPr>
          <p:cNvSpPr txBox="1"/>
          <p:nvPr/>
        </p:nvSpPr>
        <p:spPr>
          <a:xfrm rot="997081">
            <a:off x="10115194" y="1630929"/>
            <a:ext cx="1043876" cy="7117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SYNC()</a:t>
            </a:r>
            <a:endParaRPr lang="en-DE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previous</a:t>
            </a: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D812EF-81D2-445C-AB0F-C5DFFEBC5DD4}"/>
              </a:ext>
            </a:extLst>
          </p:cNvPr>
          <p:cNvCxnSpPr>
            <a:cxnSpLocks/>
          </p:cNvCxnSpPr>
          <p:nvPr/>
        </p:nvCxnSpPr>
        <p:spPr>
          <a:xfrm>
            <a:off x="9801981" y="3149854"/>
            <a:ext cx="1398091" cy="412466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0BF437-5694-45FE-B9CA-2F74435D94CC}"/>
              </a:ext>
            </a:extLst>
          </p:cNvPr>
          <p:cNvCxnSpPr>
            <a:cxnSpLocks/>
          </p:cNvCxnSpPr>
          <p:nvPr/>
        </p:nvCxnSpPr>
        <p:spPr>
          <a:xfrm>
            <a:off x="9793904" y="4892929"/>
            <a:ext cx="1857877" cy="583485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B15625-7EFA-4108-8B15-FA1D7EB037E8}"/>
              </a:ext>
            </a:extLst>
          </p:cNvPr>
          <p:cNvSpPr txBox="1"/>
          <p:nvPr/>
        </p:nvSpPr>
        <p:spPr>
          <a:xfrm rot="997081">
            <a:off x="9971063" y="2973459"/>
            <a:ext cx="1151277" cy="7117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  SYNC() </a:t>
            </a:r>
          </a:p>
          <a:p>
            <a:pPr>
              <a:lnSpc>
                <a:spcPct val="15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3.aborted</a:t>
            </a: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344CCA-CCE8-4813-AE33-FB2B25C338F6}"/>
                  </a:ext>
                </a:extLst>
              </p:cNvPr>
              <p:cNvSpPr txBox="1"/>
              <p:nvPr/>
            </p:nvSpPr>
            <p:spPr>
              <a:xfrm>
                <a:off x="9279950" y="1552940"/>
                <a:ext cx="4865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DE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344CCA-CCE8-4813-AE33-FB2B25C33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950" y="1552940"/>
                <a:ext cx="48654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49F2A0-DE71-4812-9A7B-6FA128788682}"/>
                  </a:ext>
                </a:extLst>
              </p:cNvPr>
              <p:cNvSpPr txBox="1"/>
              <p:nvPr/>
            </p:nvSpPr>
            <p:spPr>
              <a:xfrm>
                <a:off x="9271531" y="4932488"/>
                <a:ext cx="4528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49F2A0-DE71-4812-9A7B-6FA12878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531" y="4932488"/>
                <a:ext cx="45288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E1BC4B-DAF2-4BB8-802C-AB2DCB9F5E8C}"/>
                  </a:ext>
                </a:extLst>
              </p:cNvPr>
              <p:cNvSpPr txBox="1"/>
              <p:nvPr/>
            </p:nvSpPr>
            <p:spPr>
              <a:xfrm>
                <a:off x="11632704" y="2204249"/>
                <a:ext cx="4961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DE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600" b="1" i="1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E1BC4B-DAF2-4BB8-802C-AB2DCB9F5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2704" y="2204249"/>
                <a:ext cx="49616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3DED28-604A-4ECB-9C4D-A6B9968BD70C}"/>
                  </a:ext>
                </a:extLst>
              </p:cNvPr>
              <p:cNvSpPr txBox="1"/>
              <p:nvPr/>
            </p:nvSpPr>
            <p:spPr>
              <a:xfrm>
                <a:off x="11632704" y="5318523"/>
                <a:ext cx="4624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</m:oMath>
                  </m:oMathPara>
                </a14:m>
                <a:endParaRPr lang="en-US" sz="1600" b="1" i="1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3DED28-604A-4ECB-9C4D-A6B9968BD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2704" y="5318523"/>
                <a:ext cx="462499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577038-04FA-4C42-84FA-70266FB1002A}"/>
                  </a:ext>
                </a:extLst>
              </p:cNvPr>
              <p:cNvSpPr txBox="1"/>
              <p:nvPr/>
            </p:nvSpPr>
            <p:spPr>
              <a:xfrm>
                <a:off x="9659009" y="6021897"/>
                <a:ext cx="2168091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𝑶𝒇𝒇𝒔𝒆𝒕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577038-04FA-4C42-84FA-70266FB10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009" y="6021897"/>
                <a:ext cx="2168091" cy="395558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8EDD87B-BF0F-451B-9296-2502DE2D77D3}"/>
              </a:ext>
            </a:extLst>
          </p:cNvPr>
          <p:cNvSpPr/>
          <p:nvPr/>
        </p:nvSpPr>
        <p:spPr>
          <a:xfrm>
            <a:off x="8267893" y="2538775"/>
            <a:ext cx="957928" cy="259236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400" b="1"/>
              <a:t>Pattern Matcher</a:t>
            </a:r>
            <a:endParaRPr lang="en-US" sz="1400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537D-1CFF-40C1-9554-590737AF87D6}"/>
              </a:ext>
            </a:extLst>
          </p:cNvPr>
          <p:cNvSpPr/>
          <p:nvPr/>
        </p:nvSpPr>
        <p:spPr>
          <a:xfrm>
            <a:off x="7014116" y="2538775"/>
            <a:ext cx="1203922" cy="259531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1800" b="1"/>
          </a:p>
          <a:p>
            <a:pPr algn="ctr"/>
            <a:r>
              <a:rPr lang="en-DE" sz="1800" b="1"/>
              <a:t>PLCA</a:t>
            </a:r>
            <a:endParaRPr lang="en-US" sz="1800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E56777-9DB4-45F5-9767-3CC0F7181961}"/>
              </a:ext>
            </a:extLst>
          </p:cNvPr>
          <p:cNvSpPr/>
          <p:nvPr/>
        </p:nvSpPr>
        <p:spPr>
          <a:xfrm>
            <a:off x="5042210" y="2538775"/>
            <a:ext cx="844031" cy="2588844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MAC</a:t>
            </a:r>
            <a:endParaRPr lang="en-US" sz="1800" b="1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1F2F4B8-9760-482E-8873-038294721B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73019" y="3180400"/>
            <a:ext cx="865966" cy="520452"/>
          </a:xfrm>
          <a:prstGeom prst="bentConnector3">
            <a:avLst>
              <a:gd name="adj1" fmla="val -1056"/>
            </a:avLst>
          </a:prstGeom>
          <a:ln>
            <a:prstDash val="sys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36DD7E7-67B3-48D2-812F-09F9A5260503}"/>
              </a:ext>
            </a:extLst>
          </p:cNvPr>
          <p:cNvSpPr txBox="1"/>
          <p:nvPr/>
        </p:nvSpPr>
        <p:spPr>
          <a:xfrm>
            <a:off x="5900237" y="2865512"/>
            <a:ext cx="1091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4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E8AF486-9644-22D6-412C-0D55C5831FC2}"/>
              </a:ext>
            </a:extLst>
          </p:cNvPr>
          <p:cNvCxnSpPr>
            <a:cxnSpLocks/>
          </p:cNvCxnSpPr>
          <p:nvPr/>
        </p:nvCxnSpPr>
        <p:spPr>
          <a:xfrm>
            <a:off x="5922874" y="3152811"/>
            <a:ext cx="128903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A4A160B-A287-B84F-7579-7633380CDFC4}"/>
              </a:ext>
            </a:extLst>
          </p:cNvPr>
          <p:cNvSpPr/>
          <p:nvPr/>
        </p:nvSpPr>
        <p:spPr>
          <a:xfrm>
            <a:off x="7235404" y="2865512"/>
            <a:ext cx="789371" cy="5768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Buffer</a:t>
            </a:r>
            <a:endParaRPr lang="en-US" sz="1800" b="1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F300C1-A2DB-FE03-EBF5-E93FC5042CE1}"/>
              </a:ext>
            </a:extLst>
          </p:cNvPr>
          <p:cNvCxnSpPr>
            <a:cxnSpLocks/>
          </p:cNvCxnSpPr>
          <p:nvPr/>
        </p:nvCxnSpPr>
        <p:spPr>
          <a:xfrm>
            <a:off x="8024775" y="3149854"/>
            <a:ext cx="1720453" cy="2957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51D9B0-C9AB-8879-26FF-E24F471210E8}"/>
              </a:ext>
            </a:extLst>
          </p:cNvPr>
          <p:cNvCxnSpPr>
            <a:cxnSpLocks/>
          </p:cNvCxnSpPr>
          <p:nvPr/>
        </p:nvCxnSpPr>
        <p:spPr>
          <a:xfrm>
            <a:off x="5888148" y="3700852"/>
            <a:ext cx="1466761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D748FC8-DE04-050D-A6E7-9AC0F91E48FC}"/>
              </a:ext>
            </a:extLst>
          </p:cNvPr>
          <p:cNvSpPr txBox="1"/>
          <p:nvPr/>
        </p:nvSpPr>
        <p:spPr>
          <a:xfrm>
            <a:off x="5912441" y="3421896"/>
            <a:ext cx="93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2.COL</a:t>
            </a:r>
            <a:endParaRPr lang="en-US" sz="140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5C20806-C44D-299F-9385-77F699E7F300}"/>
              </a:ext>
            </a:extLst>
          </p:cNvPr>
          <p:cNvCxnSpPr>
            <a:cxnSpLocks/>
          </p:cNvCxnSpPr>
          <p:nvPr/>
        </p:nvCxnSpPr>
        <p:spPr>
          <a:xfrm>
            <a:off x="5888761" y="4287585"/>
            <a:ext cx="14661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666C11C-0221-8906-6C98-E30B093F80E4}"/>
              </a:ext>
            </a:extLst>
          </p:cNvPr>
          <p:cNvSpPr txBox="1"/>
          <p:nvPr/>
        </p:nvSpPr>
        <p:spPr>
          <a:xfrm>
            <a:off x="5913053" y="3958389"/>
            <a:ext cx="1155129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4.CRS</a:t>
            </a:r>
            <a:endParaRPr lang="en-US" sz="14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BF2474-C4C7-0EC5-1A0A-5F619D47AF90}"/>
              </a:ext>
            </a:extLst>
          </p:cNvPr>
          <p:cNvCxnSpPr>
            <a:cxnSpLocks/>
            <a:stCxn id="50" idx="1"/>
          </p:cNvCxnSpPr>
          <p:nvPr/>
        </p:nvCxnSpPr>
        <p:spPr>
          <a:xfrm>
            <a:off x="5926007" y="4872542"/>
            <a:ext cx="3819221" cy="20387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3AEBD8A-1A59-748D-DF24-CDF66DCCA226}"/>
              </a:ext>
            </a:extLst>
          </p:cNvPr>
          <p:cNvSpPr txBox="1"/>
          <p:nvPr/>
        </p:nvSpPr>
        <p:spPr>
          <a:xfrm>
            <a:off x="5926007" y="4573229"/>
            <a:ext cx="2402385" cy="59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7.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endParaRPr lang="en-DE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(updated Ts)</a:t>
            </a:r>
            <a:endParaRPr lang="en-US" sz="140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3F6D5FA-AD71-C5ED-23BD-EA9406E2FD60}"/>
              </a:ext>
            </a:extLst>
          </p:cNvPr>
          <p:cNvCxnSpPr>
            <a:cxnSpLocks/>
          </p:cNvCxnSpPr>
          <p:nvPr/>
        </p:nvCxnSpPr>
        <p:spPr>
          <a:xfrm>
            <a:off x="7906944" y="4287981"/>
            <a:ext cx="1838284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2240BA9-D9D6-E182-F1C2-3E72A616BD5C}"/>
              </a:ext>
            </a:extLst>
          </p:cNvPr>
          <p:cNvSpPr txBox="1"/>
          <p:nvPr/>
        </p:nvSpPr>
        <p:spPr>
          <a:xfrm>
            <a:off x="8187909" y="4009025"/>
            <a:ext cx="1108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5.COMMIT</a:t>
            </a:r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B57F87-82C8-C651-63C3-260F44B30225}"/>
                  </a:ext>
                </a:extLst>
              </p:cNvPr>
              <p:cNvSpPr txBox="1"/>
              <p:nvPr/>
            </p:nvSpPr>
            <p:spPr>
              <a:xfrm rot="997081">
                <a:off x="9894289" y="4801427"/>
                <a:ext cx="1795684" cy="7117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DE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  SYNC(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DE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DE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7.retransmitted</a:t>
                </a:r>
                <a:endParaRPr lang="en-US" sz="1400" b="1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B57F87-82C8-C651-63C3-260F44B30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97081">
                <a:off x="9894289" y="4801427"/>
                <a:ext cx="1795684" cy="711733"/>
              </a:xfrm>
              <a:prstGeom prst="rect">
                <a:avLst/>
              </a:prstGeom>
              <a:blipFill>
                <a:blip r:embed="rId8"/>
                <a:stretch>
                  <a:fillRect l="-1577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284D3BD0-7961-9FCC-327A-56FBEB5E8873}"/>
              </a:ext>
            </a:extLst>
          </p:cNvPr>
          <p:cNvSpPr txBox="1"/>
          <p:nvPr/>
        </p:nvSpPr>
        <p:spPr>
          <a:xfrm>
            <a:off x="7858020" y="3432163"/>
            <a:ext cx="93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trigger</a:t>
            </a:r>
            <a:endParaRPr lang="en-US" sz="1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C2813F-56A2-3215-C089-0999F57D2DC9}"/>
              </a:ext>
            </a:extLst>
          </p:cNvPr>
          <p:cNvSpPr txBox="1"/>
          <p:nvPr/>
        </p:nvSpPr>
        <p:spPr>
          <a:xfrm>
            <a:off x="5653861" y="5709200"/>
            <a:ext cx="3658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DE" b="1">
                <a:solidFill>
                  <a:schemeClr val="bg2"/>
                </a:solidFill>
                <a:sym typeface="Wingdings" panose="05000000000000000000" pitchFamily="2" charset="2"/>
              </a:rPr>
              <a:t>One</a:t>
            </a:r>
            <a:r>
              <a:rPr lang="en-US" b="1">
                <a:solidFill>
                  <a:schemeClr val="bg2"/>
                </a:solidFill>
                <a:sym typeface="Wingdings" panose="05000000000000000000" pitchFamily="2" charset="2"/>
              </a:rPr>
              <a:t>-step-approach</a:t>
            </a:r>
            <a:endParaRPr lang="en-US" b="1">
              <a:solidFill>
                <a:schemeClr val="bg2"/>
              </a:solidFill>
            </a:endParaRPr>
          </a:p>
        </p:txBody>
      </p: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349CB42A-A85C-4000-B588-031F81CD9ADB}"/>
              </a:ext>
            </a:extLst>
          </p:cNvPr>
          <p:cNvSpPr/>
          <p:nvPr/>
        </p:nvSpPr>
        <p:spPr bwMode="auto">
          <a:xfrm>
            <a:off x="10641777" y="4798080"/>
            <a:ext cx="428147" cy="448311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5C2D97-9366-249E-8D07-9C5A4D9CD046}"/>
              </a:ext>
            </a:extLst>
          </p:cNvPr>
          <p:cNvSpPr txBox="1"/>
          <p:nvPr/>
        </p:nvSpPr>
        <p:spPr>
          <a:xfrm>
            <a:off x="5914753" y="4218223"/>
            <a:ext cx="1155129" cy="391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6.release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9949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0" grpId="0"/>
      <p:bldP spid="45" grpId="0"/>
      <p:bldP spid="47" grpId="0"/>
      <p:bldP spid="50" grpId="0"/>
      <p:bldP spid="52" grpId="0"/>
      <p:bldP spid="59" grpId="0"/>
      <p:bldP spid="68" grpId="0"/>
      <p:bldP spid="38" grpId="0"/>
      <p:bldP spid="35" grpId="0" animBg="1"/>
      <p:bldP spid="4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B1491BB-BE32-E37B-1C67-54586C2E54D7}"/>
              </a:ext>
            </a:extLst>
          </p:cNvPr>
          <p:cNvGrpSpPr/>
          <p:nvPr/>
        </p:nvGrpSpPr>
        <p:grpSpPr>
          <a:xfrm>
            <a:off x="487549" y="4793678"/>
            <a:ext cx="7944032" cy="1221224"/>
            <a:chOff x="452937" y="5048907"/>
            <a:chExt cx="7944032" cy="122122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1D29C57-DA8A-21EC-10F4-25C9F5F40021}"/>
                </a:ext>
              </a:extLst>
            </p:cNvPr>
            <p:cNvGrpSpPr/>
            <p:nvPr/>
          </p:nvGrpSpPr>
          <p:grpSpPr>
            <a:xfrm>
              <a:off x="452937" y="5048907"/>
              <a:ext cx="7944032" cy="1221222"/>
              <a:chOff x="755777" y="4580408"/>
              <a:chExt cx="10099040" cy="153143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14D93A2-BE02-2147-70EA-0548E966F5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7210"/>
              <a:stretch/>
            </p:blipFill>
            <p:spPr>
              <a:xfrm>
                <a:off x="755777" y="4580408"/>
                <a:ext cx="10099040" cy="153143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" name="Rounded Rectangle 4">
                <a:extLst>
                  <a:ext uri="{FF2B5EF4-FFF2-40B4-BE49-F238E27FC236}">
                    <a16:creationId xmlns:a16="http://schemas.microsoft.com/office/drawing/2014/main" id="{D2E526B1-91E9-8292-ABEE-7CC07858B52B}"/>
                  </a:ext>
                </a:extLst>
              </p:cNvPr>
              <p:cNvSpPr/>
              <p:nvPr/>
            </p:nvSpPr>
            <p:spPr bwMode="auto">
              <a:xfrm rot="5400000">
                <a:off x="8180614" y="4406784"/>
                <a:ext cx="367356" cy="1116171"/>
              </a:xfrm>
              <a:prstGeom prst="roundRect">
                <a:avLst/>
              </a:prstGeom>
              <a:solidFill>
                <a:srgbClr val="FF0000">
                  <a:alpha val="1176"/>
                </a:srgbClr>
              </a:solidFill>
              <a:ln w="28575" algn="ctr">
                <a:solidFill>
                  <a:srgbClr val="0070C0"/>
                </a:solidFill>
                <a:round/>
                <a:headEnd/>
                <a:tailEnd/>
              </a:ln>
              <a:effectLst>
                <a:outerShdw blurRad="38100" dist="38100" dir="2700000" algn="tl" rotWithShape="0">
                  <a:schemeClr val="bg1">
                    <a:lumMod val="75000"/>
                  </a:schemeClr>
                </a:outerShdw>
              </a:effectLst>
            </p:spPr>
            <p:txBody>
              <a:bodyPr lIns="35991" tIns="0" rIns="35991" bIns="0" rtlCol="0" anchor="t" anchorCtr="0"/>
              <a:lstStyle/>
              <a:p>
                <a:pPr marL="1202039" lvl="2" indent="-287914" algn="ctr">
                  <a:spcBef>
                    <a:spcPct val="30000"/>
                  </a:spcBef>
                  <a:buClr>
                    <a:srgbClr val="C00000"/>
                  </a:buClr>
                  <a:buSzPct val="75000"/>
                  <a:buFont typeface="Wingdings" pitchFamily="2" charset="2"/>
                  <a:buChar char="n"/>
                </a:pPr>
                <a:endParaRPr lang="en-US" sz="16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0E100B29-B0D2-9EEC-B8D3-A677A3CE4A63}"/>
                </a:ext>
              </a:extLst>
            </p:cNvPr>
            <p:cNvSpPr/>
            <p:nvPr/>
          </p:nvSpPr>
          <p:spPr bwMode="auto">
            <a:xfrm rot="5400000">
              <a:off x="4945501" y="5417947"/>
              <a:ext cx="665256" cy="103911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91" y="96296"/>
            <a:ext cx="11727795" cy="633617"/>
          </a:xfrm>
        </p:spPr>
        <p:txBody>
          <a:bodyPr/>
          <a:lstStyle/>
          <a:p>
            <a:r>
              <a:rPr lang="en-US" sz="3200"/>
              <a:t>IEEE 802.1AS</a:t>
            </a:r>
            <a:r>
              <a:rPr lang="en-DE" sz="3200"/>
              <a:t>  –  LAN8670/1/2 Configuration for MAC Timestamping</a:t>
            </a:r>
            <a:endParaRPr lang="en-US" sz="320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CFD2C3C-E75F-DBA4-0B5B-B0D7B775F6A7}"/>
              </a:ext>
            </a:extLst>
          </p:cNvPr>
          <p:cNvSpPr/>
          <p:nvPr/>
        </p:nvSpPr>
        <p:spPr>
          <a:xfrm>
            <a:off x="7417135" y="1352850"/>
            <a:ext cx="4557151" cy="2688306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DE" sz="1800"/>
              <a:t>In case of a </a:t>
            </a:r>
            <a:r>
              <a:rPr lang="en-US" sz="1800"/>
              <a:t>match</a:t>
            </a:r>
            <a:r>
              <a:rPr lang="en-DE" sz="1800"/>
              <a:t>,</a:t>
            </a:r>
            <a:r>
              <a:rPr lang="en-US" sz="1800"/>
              <a:t> the </a:t>
            </a:r>
            <a:r>
              <a:rPr lang="en-DE" sz="1800"/>
              <a:t>PLCA module </a:t>
            </a:r>
            <a:r>
              <a:rPr lang="en-US" sz="1800"/>
              <a:t>will be t</a:t>
            </a:r>
            <a:r>
              <a:rPr lang="en-DE" sz="1800" err="1"/>
              <a:t>riggered</a:t>
            </a:r>
            <a:r>
              <a:rPr lang="en-DE" sz="1800"/>
              <a:t> to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/>
              <a:t>signal a </a:t>
            </a:r>
            <a:r>
              <a:rPr lang="en-DE" sz="1800" b="1"/>
              <a:t>logical collision </a:t>
            </a:r>
            <a:r>
              <a:rPr lang="en-DE" sz="1800"/>
              <a:t>to the MAC,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 b="1"/>
              <a:t>CRS</a:t>
            </a:r>
            <a:r>
              <a:rPr lang="en-DE" sz="1800"/>
              <a:t> is asserted until the next TO arrives,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/>
              <a:t>and retransmitted SYNC can </a:t>
            </a:r>
            <a:r>
              <a:rPr lang="en-DE" sz="1800" b="1"/>
              <a:t>bypass the PLCA buffer</a:t>
            </a:r>
            <a:r>
              <a:rPr lang="en-DE" sz="1800"/>
              <a:t>.</a:t>
            </a:r>
            <a:endParaRPr lang="en-DE" sz="1800"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65AA0-3BC0-237C-4033-84A2427059EB}"/>
              </a:ext>
            </a:extLst>
          </p:cNvPr>
          <p:cNvSpPr txBox="1"/>
          <p:nvPr/>
        </p:nvSpPr>
        <p:spPr>
          <a:xfrm>
            <a:off x="352610" y="843098"/>
            <a:ext cx="3658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DE" sz="2400" b="1">
                <a:solidFill>
                  <a:schemeClr val="bg2"/>
                </a:solidFill>
                <a:sym typeface="Wingdings" panose="05000000000000000000" pitchFamily="2" charset="2"/>
              </a:rPr>
              <a:t>“One</a:t>
            </a:r>
            <a:r>
              <a:rPr lang="en-US" sz="2400" b="1">
                <a:solidFill>
                  <a:schemeClr val="bg2"/>
                </a:solidFill>
                <a:sym typeface="Wingdings" panose="05000000000000000000" pitchFamily="2" charset="2"/>
              </a:rPr>
              <a:t>-step-approach</a:t>
            </a:r>
            <a:r>
              <a:rPr lang="en-DE" sz="2400" b="1">
                <a:solidFill>
                  <a:schemeClr val="bg2"/>
                </a:solidFill>
                <a:sym typeface="Wingdings" panose="05000000000000000000" pitchFamily="2" charset="2"/>
              </a:rPr>
              <a:t>”</a:t>
            </a:r>
            <a:endParaRPr lang="en-US" sz="1800" b="1">
              <a:solidFill>
                <a:schemeClr val="bg2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549A43-92F3-9608-AD5E-A4814E550195}"/>
              </a:ext>
            </a:extLst>
          </p:cNvPr>
          <p:cNvGrpSpPr/>
          <p:nvPr/>
        </p:nvGrpSpPr>
        <p:grpSpPr>
          <a:xfrm>
            <a:off x="3861320" y="2991721"/>
            <a:ext cx="3008064" cy="1044616"/>
            <a:chOff x="7069918" y="3174103"/>
            <a:chExt cx="4695361" cy="1044616"/>
          </a:xfrm>
        </p:grpSpPr>
        <p:sp>
          <p:nvSpPr>
            <p:cNvPr id="5" name="Callout: Line with No Border 4">
              <a:extLst>
                <a:ext uri="{FF2B5EF4-FFF2-40B4-BE49-F238E27FC236}">
                  <a16:creationId xmlns:a16="http://schemas.microsoft.com/office/drawing/2014/main" id="{9077F91A-5772-0DAB-9C24-18559D0A64F7}"/>
                </a:ext>
              </a:extLst>
            </p:cNvPr>
            <p:cNvSpPr/>
            <p:nvPr/>
          </p:nvSpPr>
          <p:spPr>
            <a:xfrm>
              <a:off x="10468577" y="3490225"/>
              <a:ext cx="838190" cy="573457"/>
            </a:xfrm>
            <a:prstGeom prst="callout1">
              <a:avLst>
                <a:gd name="adj1" fmla="val 125265"/>
                <a:gd name="adj2" fmla="val -84404"/>
                <a:gd name="adj3" fmla="val 283105"/>
                <a:gd name="adj4" fmla="val 7494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6" name="Speech Bubble: Rectangle with Corners Rounded 15">
              <a:extLst>
                <a:ext uri="{FF2B5EF4-FFF2-40B4-BE49-F238E27FC236}">
                  <a16:creationId xmlns:a16="http://schemas.microsoft.com/office/drawing/2014/main" id="{62CAB5A5-067B-A462-00DF-EA34B82FD891}"/>
                </a:ext>
              </a:extLst>
            </p:cNvPr>
            <p:cNvSpPr/>
            <p:nvPr/>
          </p:nvSpPr>
          <p:spPr>
            <a:xfrm>
              <a:off x="7069918" y="3174103"/>
              <a:ext cx="4695361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b="1"/>
                <a:t>MACTXTSE</a:t>
              </a:r>
              <a:r>
                <a:rPr lang="en-DE" sz="1800" b="1"/>
                <a:t> =1  </a:t>
              </a:r>
            </a:p>
            <a:p>
              <a:pPr>
                <a:lnSpc>
                  <a:spcPct val="150000"/>
                </a:lnSpc>
              </a:pPr>
              <a:r>
                <a:rPr lang="en-DE" sz="1800" b="1"/>
                <a:t>(</a:t>
              </a:r>
              <a:r>
                <a:rPr lang="en-US" sz="1800"/>
                <a:t>MAC </a:t>
              </a:r>
              <a:r>
                <a:rPr lang="en-DE" sz="1800"/>
                <a:t>TX</a:t>
              </a:r>
              <a:r>
                <a:rPr lang="en-US" sz="1800"/>
                <a:t> Time Stamp</a:t>
              </a:r>
              <a:r>
                <a:rPr lang="en-DE" sz="1800"/>
                <a:t> </a:t>
              </a:r>
              <a:r>
                <a:rPr lang="en-US" sz="1800"/>
                <a:t>Enable</a:t>
              </a:r>
              <a:r>
                <a:rPr lang="en-DE" sz="1800" b="1"/>
                <a:t>)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04B85D2-4191-5D1E-F9E6-40D865DB4786}"/>
              </a:ext>
            </a:extLst>
          </p:cNvPr>
          <p:cNvGrpSpPr/>
          <p:nvPr/>
        </p:nvGrpSpPr>
        <p:grpSpPr>
          <a:xfrm>
            <a:off x="487549" y="2648489"/>
            <a:ext cx="2844227" cy="1392667"/>
            <a:chOff x="7066681" y="1558399"/>
            <a:chExt cx="4695361" cy="1044616"/>
          </a:xfrm>
        </p:grpSpPr>
        <p:sp>
          <p:nvSpPr>
            <p:cNvPr id="18" name="Callout: Line with No Border 17">
              <a:extLst>
                <a:ext uri="{FF2B5EF4-FFF2-40B4-BE49-F238E27FC236}">
                  <a16:creationId xmlns:a16="http://schemas.microsoft.com/office/drawing/2014/main" id="{AA07CD33-2A7A-7B90-3C14-E972D296B27E}"/>
                </a:ext>
              </a:extLst>
            </p:cNvPr>
            <p:cNvSpPr/>
            <p:nvPr/>
          </p:nvSpPr>
          <p:spPr>
            <a:xfrm>
              <a:off x="10465340" y="1874521"/>
              <a:ext cx="838190" cy="573457"/>
            </a:xfrm>
            <a:prstGeom prst="callout1">
              <a:avLst>
                <a:gd name="adj1" fmla="val 108849"/>
                <a:gd name="adj2" fmla="val 132088"/>
                <a:gd name="adj3" fmla="val 301953"/>
                <a:gd name="adj4" fmla="val 45044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7" name="Speech Bubble: Rectangle with Corners Rounded 16">
              <a:extLst>
                <a:ext uri="{FF2B5EF4-FFF2-40B4-BE49-F238E27FC236}">
                  <a16:creationId xmlns:a16="http://schemas.microsoft.com/office/drawing/2014/main" id="{34DE9039-603D-0AAA-C2CF-2A022FEC6C2A}"/>
                </a:ext>
              </a:extLst>
            </p:cNvPr>
            <p:cNvSpPr/>
            <p:nvPr/>
          </p:nvSpPr>
          <p:spPr>
            <a:xfrm>
              <a:off x="7066681" y="1558399"/>
              <a:ext cx="4695361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DE" sz="1800"/>
                <a:t>Configure </a:t>
              </a:r>
              <a:r>
                <a:rPr lang="en-DE" sz="1800" b="1"/>
                <a:t>Pattern Matcher </a:t>
              </a:r>
            </a:p>
            <a:p>
              <a:pPr>
                <a:lnSpc>
                  <a:spcPct val="150000"/>
                </a:lnSpc>
              </a:pPr>
              <a:r>
                <a:rPr lang="en-DE" sz="1800"/>
                <a:t>to detect TX SYNC packets </a:t>
              </a:r>
            </a:p>
            <a:p>
              <a:pPr>
                <a:lnSpc>
                  <a:spcPct val="150000"/>
                </a:lnSpc>
              </a:pPr>
              <a:r>
                <a:rPr lang="en-DE" sz="1800"/>
                <a:t>(or other PTP message)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33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64C266-8F6C-A56A-79C5-8F3AA4B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Agenda  LAN8670/1/2  PHY</a:t>
            </a:r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9473ED-F49C-7675-7925-7B86099754E6}"/>
              </a:ext>
            </a:extLst>
          </p:cNvPr>
          <p:cNvSpPr/>
          <p:nvPr/>
        </p:nvSpPr>
        <p:spPr bwMode="auto">
          <a:xfrm rot="5400000">
            <a:off x="3078568" y="2359429"/>
            <a:ext cx="633619" cy="5398069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4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48380" y="696532"/>
            <a:ext cx="2692195" cy="3224887"/>
          </a:xfrm>
        </p:spPr>
        <p:txBody>
          <a:bodyPr vert="horz" wrap="square" lIns="121888" tIns="60944" rIns="121888" bIns="60944" rtlCol="0">
            <a:noAutofit/>
          </a:bodyPr>
          <a:lstStyle/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SQI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LAN8670/1/2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&amp;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LAN8650/1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87FF3BC4-B56A-1613-26D8-8C42C6D25AC8}"/>
              </a:ext>
            </a:extLst>
          </p:cNvPr>
          <p:cNvSpPr/>
          <p:nvPr/>
        </p:nvSpPr>
        <p:spPr>
          <a:xfrm>
            <a:off x="9473094" y="2016972"/>
            <a:ext cx="2377646" cy="2329458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800" b="1">
                <a:solidFill>
                  <a:srgbClr val="FFFFFF"/>
                </a:solidFill>
              </a:rPr>
              <a:t>Compatible</a:t>
            </a:r>
            <a:r>
              <a:rPr lang="en-DE" sz="1800" b="1">
                <a:solidFill>
                  <a:srgbClr val="FFFFFF"/>
                </a:solidFill>
              </a:rPr>
              <a:t> with </a:t>
            </a:r>
            <a:br>
              <a:rPr lang="en-DE" sz="1800" b="1">
                <a:solidFill>
                  <a:srgbClr val="FFFFFF"/>
                </a:solidFill>
              </a:rPr>
            </a:br>
            <a:r>
              <a:rPr lang="en-DE" sz="1800" b="1">
                <a:solidFill>
                  <a:srgbClr val="FFFFFF"/>
                </a:solidFill>
              </a:rPr>
              <a:t>OPEN Alliance TC14 </a:t>
            </a:r>
            <a:r>
              <a:rPr lang="en-US" sz="1800" b="1">
                <a:solidFill>
                  <a:srgbClr val="FFFFFF"/>
                </a:solidFill>
              </a:rPr>
              <a:t> </a:t>
            </a:r>
            <a:endParaRPr lang="en-DE" sz="1800" b="1">
              <a:solidFill>
                <a:srgbClr val="FFFFFF"/>
              </a:solidFill>
            </a:endParaRPr>
          </a:p>
          <a:p>
            <a:pPr lvl="0" algn="ctr">
              <a:defRPr/>
            </a:pPr>
            <a:endParaRPr lang="en-DE" sz="1800" b="1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lang="en-DE" sz="1800" b="1">
                <a:solidFill>
                  <a:srgbClr val="FFFFFF"/>
                </a:solidFill>
              </a:rPr>
              <a:t>A</a:t>
            </a:r>
            <a:r>
              <a:rPr lang="en-US" sz="1800" b="1" err="1">
                <a:solidFill>
                  <a:srgbClr val="FFFFFF"/>
                </a:solidFill>
              </a:rPr>
              <a:t>dvanced</a:t>
            </a:r>
            <a:r>
              <a:rPr lang="en-US" sz="1800" b="1">
                <a:solidFill>
                  <a:srgbClr val="FFFFFF"/>
                </a:solidFill>
              </a:rPr>
              <a:t> </a:t>
            </a:r>
            <a:r>
              <a:rPr lang="en-DE" sz="1800" b="1">
                <a:solidFill>
                  <a:srgbClr val="FFFFFF"/>
                </a:solidFill>
              </a:rPr>
              <a:t>d</a:t>
            </a:r>
            <a:r>
              <a:rPr lang="en-US" sz="1800" b="1" err="1">
                <a:solidFill>
                  <a:srgbClr val="FFFFFF"/>
                </a:solidFill>
              </a:rPr>
              <a:t>iagnostic</a:t>
            </a:r>
            <a:r>
              <a:rPr lang="en-US" sz="1800" b="1">
                <a:solidFill>
                  <a:srgbClr val="FFFFFF"/>
                </a:solidFill>
              </a:rPr>
              <a:t> </a:t>
            </a:r>
            <a:r>
              <a:rPr lang="en-DE" sz="1800" b="1">
                <a:solidFill>
                  <a:srgbClr val="FFFFFF"/>
                </a:solidFill>
              </a:rPr>
              <a:t>f</a:t>
            </a:r>
            <a:r>
              <a:rPr lang="en-US" sz="1800" b="1" err="1">
                <a:solidFill>
                  <a:srgbClr val="FFFFFF"/>
                </a:solidFill>
              </a:rPr>
              <a:t>eatures</a:t>
            </a:r>
            <a:r>
              <a:rPr lang="en-US" sz="1800" b="1">
                <a:solidFill>
                  <a:srgbClr val="FFFFFF"/>
                </a:solidFill>
              </a:rPr>
              <a:t> for automotive Ethernet </a:t>
            </a:r>
            <a:r>
              <a:rPr lang="en-US" sz="1800" b="1" err="1">
                <a:solidFill>
                  <a:srgbClr val="FFFFFF"/>
                </a:solidFill>
              </a:rPr>
              <a:t>PHYs.</a:t>
            </a:r>
            <a:endParaRPr lang="en-US" sz="1800" b="1">
              <a:solidFill>
                <a:srgbClr val="FFFFFF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EB4C38-FBD0-24AC-FCB7-4F05AB376E16}"/>
              </a:ext>
            </a:extLst>
          </p:cNvPr>
          <p:cNvGrpSpPr/>
          <p:nvPr/>
        </p:nvGrpSpPr>
        <p:grpSpPr>
          <a:xfrm>
            <a:off x="10113861" y="4928807"/>
            <a:ext cx="1354835" cy="442304"/>
            <a:chOff x="9509540" y="-1025831"/>
            <a:chExt cx="2595986" cy="576147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8004FCEB-F85B-DF8F-BB02-A8D86DB42BC1}"/>
                </a:ext>
              </a:extLst>
            </p:cNvPr>
            <p:cNvSpPr/>
            <p:nvPr/>
          </p:nvSpPr>
          <p:spPr>
            <a:xfrm>
              <a:off x="10246583" y="-870739"/>
              <a:ext cx="723899" cy="421054"/>
            </a:xfrm>
            <a:prstGeom prst="callout1">
              <a:avLst>
                <a:gd name="adj1" fmla="val 31907"/>
                <a:gd name="adj2" fmla="val -95060"/>
                <a:gd name="adj3" fmla="val 35467"/>
                <a:gd name="adj4" fmla="val -295408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22F6BC23-91FE-60BA-4425-23FEB81AD958}"/>
                </a:ext>
              </a:extLst>
            </p:cNvPr>
            <p:cNvSpPr/>
            <p:nvPr/>
          </p:nvSpPr>
          <p:spPr>
            <a:xfrm>
              <a:off x="9509540" y="-1025831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400" b="1"/>
                <a:t>Calculates SQI</a:t>
              </a:r>
              <a:endParaRPr lang="en-US" sz="1400" b="1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AC8196D-AF80-11B2-647E-D6CEBD3F4875}"/>
              </a:ext>
            </a:extLst>
          </p:cNvPr>
          <p:cNvGrpSpPr/>
          <p:nvPr/>
        </p:nvGrpSpPr>
        <p:grpSpPr>
          <a:xfrm>
            <a:off x="3713367" y="5841190"/>
            <a:ext cx="7254763" cy="417575"/>
            <a:chOff x="50457" y="3912843"/>
            <a:chExt cx="12436329" cy="702265"/>
          </a:xfrm>
        </p:grpSpPr>
        <p:sp>
          <p:nvSpPr>
            <p:cNvPr id="6" name="Rechteck 3">
              <a:extLst>
                <a:ext uri="{FF2B5EF4-FFF2-40B4-BE49-F238E27FC236}">
                  <a16:creationId xmlns:a16="http://schemas.microsoft.com/office/drawing/2014/main" id="{FE31C3E9-58AA-8C52-4CE1-7D4CA38B321D}"/>
                </a:ext>
              </a:extLst>
            </p:cNvPr>
            <p:cNvSpPr/>
            <p:nvPr/>
          </p:nvSpPr>
          <p:spPr>
            <a:xfrm>
              <a:off x="9885950" y="4014603"/>
              <a:ext cx="164324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7" name="Rechteck 3">
              <a:extLst>
                <a:ext uri="{FF2B5EF4-FFF2-40B4-BE49-F238E27FC236}">
                  <a16:creationId xmlns:a16="http://schemas.microsoft.com/office/drawing/2014/main" id="{46B40225-F409-D3D4-71DA-1F6419C6C694}"/>
                </a:ext>
              </a:extLst>
            </p:cNvPr>
            <p:cNvSpPr/>
            <p:nvPr/>
          </p:nvSpPr>
          <p:spPr>
            <a:xfrm>
              <a:off x="11308998" y="4015985"/>
              <a:ext cx="164324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7" name="Rechteck 3">
              <a:extLst>
                <a:ext uri="{FF2B5EF4-FFF2-40B4-BE49-F238E27FC236}">
                  <a16:creationId xmlns:a16="http://schemas.microsoft.com/office/drawing/2014/main" id="{F7373BA6-8EFF-0E1A-80EB-F1B2F549C9BB}"/>
                </a:ext>
              </a:extLst>
            </p:cNvPr>
            <p:cNvSpPr/>
            <p:nvPr/>
          </p:nvSpPr>
          <p:spPr>
            <a:xfrm>
              <a:off x="5891279" y="4015169"/>
              <a:ext cx="164324" cy="54145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0BFAD9B-B46A-C691-0BF4-D33C975F4EC4}"/>
                </a:ext>
              </a:extLst>
            </p:cNvPr>
            <p:cNvGrpSpPr/>
            <p:nvPr/>
          </p:nvGrpSpPr>
          <p:grpSpPr>
            <a:xfrm>
              <a:off x="286319" y="4015892"/>
              <a:ext cx="1007845" cy="540641"/>
              <a:chOff x="257682" y="3559211"/>
              <a:chExt cx="1269384" cy="592741"/>
            </a:xfrm>
          </p:grpSpPr>
          <p:sp>
            <p:nvSpPr>
              <p:cNvPr id="38" name="Rechteck 30">
                <a:extLst>
                  <a:ext uri="{FF2B5EF4-FFF2-40B4-BE49-F238E27FC236}">
                    <a16:creationId xmlns:a16="http://schemas.microsoft.com/office/drawing/2014/main" id="{D9C6DC86-BD98-DE97-6334-CE616EE4532F}"/>
                  </a:ext>
                </a:extLst>
              </p:cNvPr>
              <p:cNvSpPr/>
              <p:nvPr/>
            </p:nvSpPr>
            <p:spPr>
              <a:xfrm>
                <a:off x="257682" y="3559211"/>
                <a:ext cx="1074788" cy="592741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hteck 3">
                <a:extLst>
                  <a:ext uri="{FF2B5EF4-FFF2-40B4-BE49-F238E27FC236}">
                    <a16:creationId xmlns:a16="http://schemas.microsoft.com/office/drawing/2014/main" id="{BF141F32-F005-C179-FE0B-A19A6D783FE1}"/>
                  </a:ext>
                </a:extLst>
              </p:cNvPr>
              <p:cNvSpPr/>
              <p:nvPr/>
            </p:nvSpPr>
            <p:spPr>
              <a:xfrm>
                <a:off x="1332470" y="3559211"/>
                <a:ext cx="194596" cy="592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sp>
          <p:nvSpPr>
            <p:cNvPr id="19" name="Rechteck 3">
              <a:extLst>
                <a:ext uri="{FF2B5EF4-FFF2-40B4-BE49-F238E27FC236}">
                  <a16:creationId xmlns:a16="http://schemas.microsoft.com/office/drawing/2014/main" id="{DB9016DE-A238-0E09-74CE-C0A69344B345}"/>
                </a:ext>
              </a:extLst>
            </p:cNvPr>
            <p:cNvSpPr/>
            <p:nvPr/>
          </p:nvSpPr>
          <p:spPr>
            <a:xfrm>
              <a:off x="1296706" y="4015892"/>
              <a:ext cx="334975" cy="540641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/>
                <a:t>B</a:t>
              </a:r>
              <a:endParaRPr lang="en-US" sz="1400"/>
            </a:p>
          </p:txBody>
        </p:sp>
        <p:sp>
          <p:nvSpPr>
            <p:cNvPr id="20" name="Rechteck 3">
              <a:extLst>
                <a:ext uri="{FF2B5EF4-FFF2-40B4-BE49-F238E27FC236}">
                  <a16:creationId xmlns:a16="http://schemas.microsoft.com/office/drawing/2014/main" id="{0DD5782B-C99D-1A1B-7B08-7563ECB9B1F1}"/>
                </a:ext>
              </a:extLst>
            </p:cNvPr>
            <p:cNvSpPr/>
            <p:nvPr/>
          </p:nvSpPr>
          <p:spPr>
            <a:xfrm>
              <a:off x="1635316" y="4015892"/>
              <a:ext cx="440383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>
                  <a:solidFill>
                    <a:schemeClr val="tx1"/>
                  </a:solidFill>
                </a:rPr>
                <a:t>0</a:t>
              </a: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Rechteck 3">
              <a:extLst>
                <a:ext uri="{FF2B5EF4-FFF2-40B4-BE49-F238E27FC236}">
                  <a16:creationId xmlns:a16="http://schemas.microsoft.com/office/drawing/2014/main" id="{8BA2F037-7981-7623-5C21-6450344193A9}"/>
                </a:ext>
              </a:extLst>
            </p:cNvPr>
            <p:cNvSpPr/>
            <p:nvPr/>
          </p:nvSpPr>
          <p:spPr>
            <a:xfrm>
              <a:off x="4413647" y="4015892"/>
              <a:ext cx="164324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8BCD33BA-55F7-288F-9A9A-8503D84AF08C}"/>
                </a:ext>
              </a:extLst>
            </p:cNvPr>
            <p:cNvSpPr/>
            <p:nvPr/>
          </p:nvSpPr>
          <p:spPr>
            <a:xfrm>
              <a:off x="2079334" y="4015892"/>
              <a:ext cx="2339586" cy="540641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TO-</a:t>
              </a:r>
              <a:r>
                <a:rPr lang="en-DE" sz="1400">
                  <a:solidFill>
                    <a:schemeClr val="tx1"/>
                  </a:solidFill>
                </a:rPr>
                <a:t>1</a:t>
              </a:r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23" name="Rechteck 4">
              <a:extLst>
                <a:ext uri="{FF2B5EF4-FFF2-40B4-BE49-F238E27FC236}">
                  <a16:creationId xmlns:a16="http://schemas.microsoft.com/office/drawing/2014/main" id="{0763E375-93BC-BC0D-79FC-5CD4E800471F}"/>
                </a:ext>
              </a:extLst>
            </p:cNvPr>
            <p:cNvSpPr/>
            <p:nvPr/>
          </p:nvSpPr>
          <p:spPr>
            <a:xfrm>
              <a:off x="10051148" y="4014231"/>
              <a:ext cx="1300556" cy="540641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TO-</a:t>
              </a:r>
              <a:r>
                <a:rPr lang="en-DE" sz="1400">
                  <a:solidFill>
                    <a:schemeClr val="tx1"/>
                  </a:solidFill>
                </a:rPr>
                <a:t>5</a:t>
              </a: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4" name="Rechteck 3">
              <a:extLst>
                <a:ext uri="{FF2B5EF4-FFF2-40B4-BE49-F238E27FC236}">
                  <a16:creationId xmlns:a16="http://schemas.microsoft.com/office/drawing/2014/main" id="{7FCC6BF8-7F5C-7C24-5BC0-AC953F0CF80A}"/>
                </a:ext>
              </a:extLst>
            </p:cNvPr>
            <p:cNvSpPr/>
            <p:nvPr/>
          </p:nvSpPr>
          <p:spPr>
            <a:xfrm>
              <a:off x="11479298" y="4015892"/>
              <a:ext cx="334975" cy="540641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1400"/>
                <a:t>B</a:t>
              </a:r>
              <a:endParaRPr lang="en-US" sz="140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6831727-1F28-8E79-DFDB-4D208621CF33}"/>
                </a:ext>
              </a:extLst>
            </p:cNvPr>
            <p:cNvGrpSpPr/>
            <p:nvPr/>
          </p:nvGrpSpPr>
          <p:grpSpPr>
            <a:xfrm>
              <a:off x="11707193" y="3912840"/>
              <a:ext cx="779602" cy="695909"/>
              <a:chOff x="10740774" y="3414290"/>
              <a:chExt cx="981909" cy="762973"/>
            </a:xfrm>
          </p:grpSpPr>
          <p:sp>
            <p:nvSpPr>
              <p:cNvPr id="34" name="Flussdiagramm: Lochstreifen 31">
                <a:extLst>
                  <a:ext uri="{FF2B5EF4-FFF2-40B4-BE49-F238E27FC236}">
                    <a16:creationId xmlns:a16="http://schemas.microsoft.com/office/drawing/2014/main" id="{270C2EB0-C3E2-DB85-311B-410493C9F606}"/>
                  </a:ext>
                </a:extLst>
              </p:cNvPr>
              <p:cNvSpPr/>
              <p:nvPr/>
            </p:nvSpPr>
            <p:spPr>
              <a:xfrm rot="5400000" flipH="1">
                <a:off x="10659640" y="3557837"/>
                <a:ext cx="700560" cy="538292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6" name="Rechteck 11">
                <a:extLst>
                  <a:ext uri="{FF2B5EF4-FFF2-40B4-BE49-F238E27FC236}">
                    <a16:creationId xmlns:a16="http://schemas.microsoft.com/office/drawing/2014/main" id="{58F7BB65-2DCC-2DBB-7AC5-90401E14B74F}"/>
                  </a:ext>
                </a:extLst>
              </p:cNvPr>
              <p:cNvSpPr/>
              <p:nvPr/>
            </p:nvSpPr>
            <p:spPr>
              <a:xfrm>
                <a:off x="10872165" y="3414290"/>
                <a:ext cx="468675" cy="592741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37" name="Textfeld 29">
                <a:extLst>
                  <a:ext uri="{FF2B5EF4-FFF2-40B4-BE49-F238E27FC236}">
                    <a16:creationId xmlns:a16="http://schemas.microsoft.com/office/drawing/2014/main" id="{ACB70A1C-CAE5-1F2F-D6FE-66914F8C033D}"/>
                  </a:ext>
                </a:extLst>
              </p:cNvPr>
              <p:cNvSpPr txBox="1"/>
              <p:nvPr/>
            </p:nvSpPr>
            <p:spPr>
              <a:xfrm>
                <a:off x="11389775" y="3465600"/>
                <a:ext cx="332908" cy="32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20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6A063FB-C311-069C-6AB8-E9C8C2859817}"/>
                </a:ext>
              </a:extLst>
            </p:cNvPr>
            <p:cNvGrpSpPr/>
            <p:nvPr/>
          </p:nvGrpSpPr>
          <p:grpSpPr>
            <a:xfrm>
              <a:off x="50457" y="3919193"/>
              <a:ext cx="819240" cy="695915"/>
              <a:chOff x="10690848" y="3414290"/>
              <a:chExt cx="1031835" cy="762979"/>
            </a:xfrm>
          </p:grpSpPr>
          <p:sp>
            <p:nvSpPr>
              <p:cNvPr id="31" name="Flussdiagramm: Lochstreifen 31">
                <a:extLst>
                  <a:ext uri="{FF2B5EF4-FFF2-40B4-BE49-F238E27FC236}">
                    <a16:creationId xmlns:a16="http://schemas.microsoft.com/office/drawing/2014/main" id="{E7186393-4B38-2ED2-94F5-2A93395C05BD}"/>
                  </a:ext>
                </a:extLst>
              </p:cNvPr>
              <p:cNvSpPr/>
              <p:nvPr/>
            </p:nvSpPr>
            <p:spPr>
              <a:xfrm rot="5400000" flipH="1">
                <a:off x="10659648" y="3557842"/>
                <a:ext cx="700562" cy="538291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2" name="Rechteck 11">
                <a:extLst>
                  <a:ext uri="{FF2B5EF4-FFF2-40B4-BE49-F238E27FC236}">
                    <a16:creationId xmlns:a16="http://schemas.microsoft.com/office/drawing/2014/main" id="{EFCA5FD1-62EE-BDE8-17EA-6E6AE3592D01}"/>
                  </a:ext>
                </a:extLst>
              </p:cNvPr>
              <p:cNvSpPr/>
              <p:nvPr/>
            </p:nvSpPr>
            <p:spPr>
              <a:xfrm>
                <a:off x="10690848" y="3414290"/>
                <a:ext cx="468675" cy="5927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33" name="Textfeld 29">
                <a:extLst>
                  <a:ext uri="{FF2B5EF4-FFF2-40B4-BE49-F238E27FC236}">
                    <a16:creationId xmlns:a16="http://schemas.microsoft.com/office/drawing/2014/main" id="{18BEE13D-81AB-0B2D-1A35-31AF91584848}"/>
                  </a:ext>
                </a:extLst>
              </p:cNvPr>
              <p:cNvSpPr txBox="1"/>
              <p:nvPr/>
            </p:nvSpPr>
            <p:spPr>
              <a:xfrm>
                <a:off x="11389774" y="3465600"/>
                <a:ext cx="332909" cy="32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200"/>
              </a:p>
            </p:txBody>
          </p:sp>
        </p:grpSp>
        <p:sp>
          <p:nvSpPr>
            <p:cNvPr id="27" name="Rechteck 4">
              <a:extLst>
                <a:ext uri="{FF2B5EF4-FFF2-40B4-BE49-F238E27FC236}">
                  <a16:creationId xmlns:a16="http://schemas.microsoft.com/office/drawing/2014/main" id="{028C4208-A276-9472-452C-0E382984280F}"/>
                </a:ext>
              </a:extLst>
            </p:cNvPr>
            <p:cNvSpPr/>
            <p:nvPr/>
          </p:nvSpPr>
          <p:spPr>
            <a:xfrm>
              <a:off x="4555258" y="4015543"/>
              <a:ext cx="1360792" cy="5410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TO-</a:t>
              </a:r>
              <a:r>
                <a:rPr lang="en-DE" sz="1400">
                  <a:solidFill>
                    <a:schemeClr val="tx1"/>
                  </a:solidFill>
                </a:rPr>
                <a:t>2</a:t>
              </a:r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28" name="Rechteck 4">
              <a:extLst>
                <a:ext uri="{FF2B5EF4-FFF2-40B4-BE49-F238E27FC236}">
                  <a16:creationId xmlns:a16="http://schemas.microsoft.com/office/drawing/2014/main" id="{B6C38818-2A47-6E54-F20C-0DCC5EF127F4}"/>
                </a:ext>
              </a:extLst>
            </p:cNvPr>
            <p:cNvSpPr/>
            <p:nvPr/>
          </p:nvSpPr>
          <p:spPr>
            <a:xfrm>
              <a:off x="6042881" y="4015984"/>
              <a:ext cx="1989020" cy="540641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TO-</a:t>
              </a:r>
              <a:r>
                <a:rPr lang="en-DE" sz="1400">
                  <a:solidFill>
                    <a:schemeClr val="tx1"/>
                  </a:solidFill>
                </a:rPr>
                <a:t>3</a:t>
              </a:r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29" name="Rechteck 3">
              <a:extLst>
                <a:ext uri="{FF2B5EF4-FFF2-40B4-BE49-F238E27FC236}">
                  <a16:creationId xmlns:a16="http://schemas.microsoft.com/office/drawing/2014/main" id="{33040C79-8667-BD7A-BEAD-511294880222}"/>
                </a:ext>
              </a:extLst>
            </p:cNvPr>
            <p:cNvSpPr/>
            <p:nvPr/>
          </p:nvSpPr>
          <p:spPr>
            <a:xfrm>
              <a:off x="8017100" y="4015985"/>
              <a:ext cx="164324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0" name="Rechteck 4">
              <a:extLst>
                <a:ext uri="{FF2B5EF4-FFF2-40B4-BE49-F238E27FC236}">
                  <a16:creationId xmlns:a16="http://schemas.microsoft.com/office/drawing/2014/main" id="{84BA3F17-8E62-363E-D658-8D4F3D4C5A46}"/>
                </a:ext>
              </a:extLst>
            </p:cNvPr>
            <p:cNvSpPr/>
            <p:nvPr/>
          </p:nvSpPr>
          <p:spPr>
            <a:xfrm>
              <a:off x="8142793" y="4015985"/>
              <a:ext cx="1781159" cy="54064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>
                  <a:solidFill>
                    <a:schemeClr val="tx1"/>
                  </a:solidFill>
                </a:rPr>
                <a:t>TO-</a:t>
              </a:r>
              <a:r>
                <a:rPr lang="en-DE" sz="1400">
                  <a:solidFill>
                    <a:schemeClr val="tx1"/>
                  </a:solidFill>
                </a:rPr>
                <a:t>4</a:t>
              </a:r>
              <a:endParaRPr lang="en-US" sz="1400">
                <a:solidFill>
                  <a:schemeClr val="tx1"/>
                </a:solidFill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FCB59A2-B029-0CE2-7685-2C4C4D1DE2A6}"/>
              </a:ext>
            </a:extLst>
          </p:cNvPr>
          <p:cNvSpPr/>
          <p:nvPr/>
        </p:nvSpPr>
        <p:spPr>
          <a:xfrm>
            <a:off x="8624342" y="4928807"/>
            <a:ext cx="658460" cy="63159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DE" sz="1400" b="1">
                <a:solidFill>
                  <a:schemeClr val="bg1"/>
                </a:solidFill>
              </a:rPr>
              <a:t>Local Node</a:t>
            </a:r>
            <a:endParaRPr lang="de-DE" sz="1400" b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BF713F-7AFA-169D-B29D-23B3E5E36721}"/>
              </a:ext>
            </a:extLst>
          </p:cNvPr>
          <p:cNvSpPr/>
          <p:nvPr/>
        </p:nvSpPr>
        <p:spPr>
          <a:xfrm>
            <a:off x="5226316" y="4948761"/>
            <a:ext cx="658460" cy="63159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90000"/>
              </a:lnSpc>
            </a:pPr>
            <a:r>
              <a:rPr lang="en-DE" sz="1400" b="1">
                <a:solidFill>
                  <a:schemeClr val="bg1"/>
                </a:solidFill>
              </a:rPr>
              <a:t>Remote Node</a:t>
            </a:r>
            <a:br>
              <a:rPr lang="en-DE" sz="1400" b="1">
                <a:solidFill>
                  <a:schemeClr val="bg1"/>
                </a:solidFill>
              </a:rPr>
            </a:br>
            <a:r>
              <a:rPr lang="en-DE" sz="1400" b="1">
                <a:solidFill>
                  <a:schemeClr val="bg1"/>
                </a:solidFill>
              </a:rPr>
              <a:t>ID 1</a:t>
            </a:r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08FCF1E2-847A-99B6-2917-D31CE0D883B2}"/>
              </a:ext>
            </a:extLst>
          </p:cNvPr>
          <p:cNvSpPr/>
          <p:nvPr/>
        </p:nvSpPr>
        <p:spPr>
          <a:xfrm rot="16200000">
            <a:off x="6963634" y="4562945"/>
            <a:ext cx="494011" cy="1225735"/>
          </a:xfrm>
          <a:prstGeom prst="downArrow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400" b="1"/>
              <a:t>Data</a:t>
            </a:r>
            <a:endParaRPr lang="en-US" sz="1400" b="1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8D62B4B-0E64-770E-85F8-0B67121524B2}"/>
              </a:ext>
            </a:extLst>
          </p:cNvPr>
          <p:cNvSpPr txBox="1">
            <a:spLocks/>
          </p:cNvSpPr>
          <p:nvPr/>
        </p:nvSpPr>
        <p:spPr>
          <a:xfrm>
            <a:off x="3375940" y="446757"/>
            <a:ext cx="8683382" cy="455121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00" lvl="0">
              <a:lnSpc>
                <a:spcPts val="2800"/>
              </a:lnSpc>
              <a:spcBef>
                <a:spcPts val="0"/>
              </a:spcBef>
              <a:buClrTx/>
            </a:pPr>
            <a:r>
              <a:rPr lang="en-DE" sz="2800">
                <a:solidFill>
                  <a:srgbClr val="0E3689"/>
                </a:solidFill>
              </a:rPr>
              <a:t>SQI - Signal Quality Index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DE" sz="1800" b="0">
                <a:solidFill>
                  <a:schemeClr val="accent1"/>
                </a:solidFill>
              </a:rPr>
              <a:t>LAN867x and LAN865x can accumulate statistics on RX-data.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DE" sz="1800" b="0">
                <a:solidFill>
                  <a:schemeClr val="accent1"/>
                </a:solidFill>
              </a:rPr>
              <a:t>Signal quality of the RX-signal rated in one of 8 levels from 0 (worst) to 7 (best).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DE" sz="1800" b="0">
                <a:solidFill>
                  <a:schemeClr val="accent1"/>
                </a:solidFill>
              </a:rPr>
              <a:t>MCU can monitor the SQI and take corrective 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800" b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800">
                <a:solidFill>
                  <a:schemeClr val="accent1"/>
                </a:solidFill>
              </a:rPr>
              <a:t>Without PLCA:</a:t>
            </a:r>
            <a:br>
              <a:rPr lang="en-DE" sz="1800">
                <a:solidFill>
                  <a:schemeClr val="accent1"/>
                </a:solidFill>
              </a:rPr>
            </a:br>
            <a:r>
              <a:rPr lang="en-DE" sz="1800" b="0">
                <a:solidFill>
                  <a:schemeClr val="accent1"/>
                </a:solidFill>
              </a:rPr>
              <a:t>SQI determined from RX-data from all nodes on the bus.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800" b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800">
                <a:solidFill>
                  <a:schemeClr val="accent1"/>
                </a:solidFill>
              </a:rPr>
              <a:t>PLCA enabled:</a:t>
            </a:r>
            <a:br>
              <a:rPr lang="en-DE" sz="1800">
                <a:solidFill>
                  <a:schemeClr val="accent1"/>
                </a:solidFill>
              </a:rPr>
            </a:br>
            <a:r>
              <a:rPr lang="en-DE" sz="1800" b="0">
                <a:solidFill>
                  <a:schemeClr val="accent1"/>
                </a:solidFill>
              </a:rPr>
              <a:t>SQI determined from RX-data from a single node </a:t>
            </a:r>
            <a:br>
              <a:rPr lang="en-DE" sz="1800" b="0">
                <a:solidFill>
                  <a:schemeClr val="accent1"/>
                </a:solidFill>
              </a:rPr>
            </a:br>
            <a:r>
              <a:rPr lang="en-DE" sz="1800" b="0">
                <a:solidFill>
                  <a:schemeClr val="accent1"/>
                </a:solidFill>
              </a:rPr>
              <a:t>(Transmit Opportunity)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800" b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800" b="0"/>
          </a:p>
        </p:txBody>
      </p:sp>
    </p:spTree>
    <p:extLst>
      <p:ext uri="{BB962C8B-B14F-4D97-AF65-F5344CB8AC3E}">
        <p14:creationId xmlns:p14="http://schemas.microsoft.com/office/powerpoint/2010/main" val="339683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0" grpId="0" animBg="1"/>
      <p:bldP spid="41" grpId="0" animBg="1"/>
      <p:bldP spid="4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2BCE1DF-890B-6777-3C18-CD09C5E2D8E6}"/>
              </a:ext>
            </a:extLst>
          </p:cNvPr>
          <p:cNvGrpSpPr/>
          <p:nvPr/>
        </p:nvGrpSpPr>
        <p:grpSpPr>
          <a:xfrm>
            <a:off x="2878001" y="4186289"/>
            <a:ext cx="6144848" cy="1503449"/>
            <a:chOff x="2878001" y="4186289"/>
            <a:chExt cx="6144848" cy="150344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9BBFB18-9B92-9296-7D27-86DE65B73F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26" r="9448" b="62879"/>
            <a:stretch/>
          </p:blipFill>
          <p:spPr>
            <a:xfrm>
              <a:off x="2878002" y="4186289"/>
              <a:ext cx="6144847" cy="754463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1377B5E-7C9A-DDCD-A670-FE21A908D5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26" t="62879" r="9448" b="18345"/>
            <a:stretch/>
          </p:blipFill>
          <p:spPr>
            <a:xfrm>
              <a:off x="2878001" y="5308127"/>
              <a:ext cx="6144847" cy="38161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2850CA7-CA86-7FBB-47D7-72E47DF6E8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26" t="81224" r="9448"/>
            <a:stretch/>
          </p:blipFill>
          <p:spPr>
            <a:xfrm>
              <a:off x="2878002" y="4938974"/>
              <a:ext cx="6144847" cy="381611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A387401B-685E-3D1C-D991-73A7E3F6E692}"/>
              </a:ext>
            </a:extLst>
          </p:cNvPr>
          <p:cNvSpPr/>
          <p:nvPr/>
        </p:nvSpPr>
        <p:spPr bwMode="auto">
          <a:xfrm rot="5400000">
            <a:off x="6895993" y="3759168"/>
            <a:ext cx="374629" cy="3458721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F7AD4C31-739E-F2D5-DD49-1763C0A79F92}"/>
              </a:ext>
            </a:extLst>
          </p:cNvPr>
          <p:cNvSpPr/>
          <p:nvPr/>
        </p:nvSpPr>
        <p:spPr bwMode="auto">
          <a:xfrm rot="5400000">
            <a:off x="5255790" y="3936558"/>
            <a:ext cx="196314" cy="69212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C57F4AEA-4802-B1CF-72B2-D09E86DDE71F}"/>
              </a:ext>
            </a:extLst>
          </p:cNvPr>
          <p:cNvSpPr/>
          <p:nvPr/>
        </p:nvSpPr>
        <p:spPr bwMode="auto">
          <a:xfrm rot="5400000">
            <a:off x="6618827" y="4481538"/>
            <a:ext cx="196314" cy="69212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AB5F2804-0ADB-7A30-7064-994CEA503F43}"/>
              </a:ext>
            </a:extLst>
          </p:cNvPr>
          <p:cNvSpPr/>
          <p:nvPr/>
        </p:nvSpPr>
        <p:spPr bwMode="auto">
          <a:xfrm rot="5400000">
            <a:off x="7919638" y="4524150"/>
            <a:ext cx="199977" cy="1003189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F7D591D0-9E6A-2003-70F9-7D7425E1112A}"/>
              </a:ext>
            </a:extLst>
          </p:cNvPr>
          <p:cNvSpPr/>
          <p:nvPr/>
        </p:nvSpPr>
        <p:spPr bwMode="auto">
          <a:xfrm rot="5400000">
            <a:off x="5255790" y="4481142"/>
            <a:ext cx="196314" cy="69212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100" y="107462"/>
            <a:ext cx="8429369" cy="77724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800"/>
              <a:t>S</a:t>
            </a:r>
            <a:r>
              <a:rPr lang="en-DE" sz="2800"/>
              <a:t>QI – Polling Mode </a:t>
            </a:r>
            <a:br>
              <a:rPr lang="en-DE" sz="2400"/>
            </a:br>
            <a:r>
              <a:rPr lang="en-DE" sz="2400">
                <a:solidFill>
                  <a:schemeClr val="bg2"/>
                </a:solidFill>
              </a:rPr>
              <a:t>Single measurement used to compare SQI of different channels</a:t>
            </a:r>
            <a:br>
              <a:rPr lang="en-DE" sz="2400">
                <a:solidFill>
                  <a:schemeClr val="accent1"/>
                </a:solidFill>
              </a:rPr>
            </a:br>
            <a:endParaRPr lang="en-US" sz="24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74B295-36F4-E1F4-0A62-C53D9240878C}"/>
              </a:ext>
            </a:extLst>
          </p:cNvPr>
          <p:cNvGrpSpPr/>
          <p:nvPr/>
        </p:nvGrpSpPr>
        <p:grpSpPr>
          <a:xfrm>
            <a:off x="9222689" y="3114867"/>
            <a:ext cx="2814557" cy="1265909"/>
            <a:chOff x="-6356365" y="1434441"/>
            <a:chExt cx="3947259" cy="4113890"/>
          </a:xfrm>
        </p:grpSpPr>
        <p:sp>
          <p:nvSpPr>
            <p:cNvPr id="20" name="Callout: Line with No Border 19">
              <a:extLst>
                <a:ext uri="{FF2B5EF4-FFF2-40B4-BE49-F238E27FC236}">
                  <a16:creationId xmlns:a16="http://schemas.microsoft.com/office/drawing/2014/main" id="{18E2B97F-6DE1-D79B-C5D1-1DF820E98CC2}"/>
                </a:ext>
              </a:extLst>
            </p:cNvPr>
            <p:cNvSpPr/>
            <p:nvPr/>
          </p:nvSpPr>
          <p:spPr>
            <a:xfrm>
              <a:off x="-3806690" y="4376762"/>
              <a:ext cx="896953" cy="1095369"/>
            </a:xfrm>
            <a:prstGeom prst="callout1">
              <a:avLst>
                <a:gd name="adj1" fmla="val 88465"/>
                <a:gd name="adj2" fmla="val -261418"/>
                <a:gd name="adj3" fmla="val 272524"/>
                <a:gd name="adj4" fmla="val -39490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sp>
          <p:nvSpPr>
            <p:cNvPr id="21" name="Speech Bubble: Rectangle with Corners Rounded 20">
              <a:extLst>
                <a:ext uri="{FF2B5EF4-FFF2-40B4-BE49-F238E27FC236}">
                  <a16:creationId xmlns:a16="http://schemas.microsoft.com/office/drawing/2014/main" id="{3771D921-2502-4A89-02D8-FA48E8359CD1}"/>
                </a:ext>
              </a:extLst>
            </p:cNvPr>
            <p:cNvSpPr/>
            <p:nvPr/>
          </p:nvSpPr>
          <p:spPr>
            <a:xfrm>
              <a:off x="-6356365" y="1434441"/>
              <a:ext cx="3947259" cy="4113890"/>
            </a:xfrm>
            <a:prstGeom prst="wedgeRoundRectCallout">
              <a:avLst>
                <a:gd name="adj1" fmla="val 25232"/>
                <a:gd name="adj2" fmla="val -28923"/>
                <a:gd name="adj3" fmla="val 16667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lang="en-DE" sz="1600" b="1"/>
                <a:t>Configure</a:t>
              </a:r>
              <a:br>
                <a:rPr lang="en-DE" sz="1600" b="1"/>
              </a:br>
              <a:r>
                <a:rPr lang="en-US" sz="1600" b="1"/>
                <a:t>SQIINTTHR = “11111b” </a:t>
              </a:r>
              <a:br>
                <a:rPr lang="en-DE" sz="1600" b="1"/>
              </a:br>
              <a:r>
                <a:rPr lang="en-US" sz="1600"/>
                <a:t>(SQI Interrupt Threshold)</a:t>
              </a:r>
              <a:br>
                <a:rPr lang="en-US" sz="1600"/>
              </a:br>
              <a:r>
                <a:rPr lang="en-US" sz="1600"/>
                <a:t>in </a:t>
              </a:r>
              <a:r>
                <a:rPr lang="en-US" sz="1600" b="1"/>
                <a:t>SQICFG2 </a:t>
              </a:r>
              <a:r>
                <a:rPr lang="en-US" sz="1600"/>
                <a:t>(SQI Config 2)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64253C-AE43-77C6-8478-6C62C6C72180}"/>
              </a:ext>
            </a:extLst>
          </p:cNvPr>
          <p:cNvGrpSpPr/>
          <p:nvPr/>
        </p:nvGrpSpPr>
        <p:grpSpPr>
          <a:xfrm>
            <a:off x="9211758" y="4956645"/>
            <a:ext cx="2814557" cy="1265909"/>
            <a:chOff x="-6356365" y="1434441"/>
            <a:chExt cx="3947259" cy="3710342"/>
          </a:xfrm>
        </p:grpSpPr>
        <p:sp>
          <p:nvSpPr>
            <p:cNvPr id="23" name="Callout: Line with No Border 22">
              <a:extLst>
                <a:ext uri="{FF2B5EF4-FFF2-40B4-BE49-F238E27FC236}">
                  <a16:creationId xmlns:a16="http://schemas.microsoft.com/office/drawing/2014/main" id="{7D8EE429-F9B5-B4E1-8AAD-6EF6639E1960}"/>
                </a:ext>
              </a:extLst>
            </p:cNvPr>
            <p:cNvSpPr/>
            <p:nvPr/>
          </p:nvSpPr>
          <p:spPr>
            <a:xfrm>
              <a:off x="-3806688" y="1711040"/>
              <a:ext cx="896953" cy="1095369"/>
            </a:xfrm>
            <a:prstGeom prst="callout1">
              <a:avLst>
                <a:gd name="adj1" fmla="val 32641"/>
                <a:gd name="adj2" fmla="val -279385"/>
                <a:gd name="adj3" fmla="val 83236"/>
                <a:gd name="adj4" fmla="val -34659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sp>
          <p:nvSpPr>
            <p:cNvPr id="24" name="Speech Bubble: Rectangle with Corners Rounded 23">
              <a:extLst>
                <a:ext uri="{FF2B5EF4-FFF2-40B4-BE49-F238E27FC236}">
                  <a16:creationId xmlns:a16="http://schemas.microsoft.com/office/drawing/2014/main" id="{BA497B06-914C-E98D-B44E-A67052AA0EC9}"/>
                </a:ext>
              </a:extLst>
            </p:cNvPr>
            <p:cNvSpPr/>
            <p:nvPr/>
          </p:nvSpPr>
          <p:spPr>
            <a:xfrm>
              <a:off x="-6356365" y="1434441"/>
              <a:ext cx="3947259" cy="3710342"/>
            </a:xfrm>
            <a:prstGeom prst="wedgeRoundRectCallout">
              <a:avLst>
                <a:gd name="adj1" fmla="val 25232"/>
                <a:gd name="adj2" fmla="val -28923"/>
                <a:gd name="adj3" fmla="val 16667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DE" sz="1600" b="1"/>
                <a:t>Configure</a:t>
              </a:r>
              <a:br>
                <a:rPr lang="en-DE" sz="1600" b="1"/>
              </a:br>
              <a:r>
                <a:rPr lang="en-US" sz="1600" b="1"/>
                <a:t>TOID = n </a:t>
              </a:r>
              <a:br>
                <a:rPr lang="en-DE" sz="1600" b="1"/>
              </a:br>
              <a:r>
                <a:rPr lang="en-US" sz="1600"/>
                <a:t>(n</a:t>
              </a:r>
              <a:r>
                <a:rPr lang="en-DE" sz="1600"/>
                <a:t> </a:t>
              </a:r>
              <a:r>
                <a:rPr lang="en-US" sz="1600"/>
                <a:t>=</a:t>
              </a:r>
              <a:r>
                <a:rPr lang="en-DE" sz="1600"/>
                <a:t> </a:t>
              </a:r>
              <a:r>
                <a:rPr lang="en-US" sz="1600"/>
                <a:t>TO of interest)</a:t>
              </a:r>
              <a:br>
                <a:rPr lang="en-US" sz="1600" b="1"/>
              </a:br>
              <a:r>
                <a:rPr lang="en-US" sz="1600"/>
                <a:t>in </a:t>
              </a:r>
              <a:r>
                <a:rPr lang="en-US" sz="1600" b="1"/>
                <a:t>SQICFG0 </a:t>
              </a:r>
              <a:r>
                <a:rPr lang="en-US" sz="1600"/>
                <a:t>(SQI Config 0)</a:t>
              </a:r>
              <a:endParaRPr lang="en-DE" sz="16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B246B52-3BEA-594A-3153-A8F442CB685D}"/>
              </a:ext>
            </a:extLst>
          </p:cNvPr>
          <p:cNvGrpSpPr/>
          <p:nvPr/>
        </p:nvGrpSpPr>
        <p:grpSpPr>
          <a:xfrm>
            <a:off x="9222689" y="1559202"/>
            <a:ext cx="2814557" cy="956995"/>
            <a:chOff x="-6341035" y="2646953"/>
            <a:chExt cx="3947259" cy="4113890"/>
          </a:xfrm>
        </p:grpSpPr>
        <p:sp>
          <p:nvSpPr>
            <p:cNvPr id="26" name="Callout: Line with No Border 25">
              <a:extLst>
                <a:ext uri="{FF2B5EF4-FFF2-40B4-BE49-F238E27FC236}">
                  <a16:creationId xmlns:a16="http://schemas.microsoft.com/office/drawing/2014/main" id="{15ED3F5D-F351-C91C-58DD-814F606C9B38}"/>
                </a:ext>
              </a:extLst>
            </p:cNvPr>
            <p:cNvSpPr/>
            <p:nvPr/>
          </p:nvSpPr>
          <p:spPr>
            <a:xfrm>
              <a:off x="-3806690" y="4376762"/>
              <a:ext cx="896953" cy="1095369"/>
            </a:xfrm>
            <a:prstGeom prst="callout1">
              <a:avLst>
                <a:gd name="adj1" fmla="val 156336"/>
                <a:gd name="adj2" fmla="val -277154"/>
                <a:gd name="adj3" fmla="val 883957"/>
                <a:gd name="adj4" fmla="val -83452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sp>
          <p:nvSpPr>
            <p:cNvPr id="27" name="Speech Bubble: Rectangle with Corners Rounded 26">
              <a:extLst>
                <a:ext uri="{FF2B5EF4-FFF2-40B4-BE49-F238E27FC236}">
                  <a16:creationId xmlns:a16="http://schemas.microsoft.com/office/drawing/2014/main" id="{190F4007-A2BE-8D9F-C0BD-2FBABE422304}"/>
                </a:ext>
              </a:extLst>
            </p:cNvPr>
            <p:cNvSpPr/>
            <p:nvPr/>
          </p:nvSpPr>
          <p:spPr>
            <a:xfrm>
              <a:off x="-6341035" y="2646953"/>
              <a:ext cx="3947259" cy="4113890"/>
            </a:xfrm>
            <a:prstGeom prst="wedgeRoundRectCallout">
              <a:avLst>
                <a:gd name="adj1" fmla="val 25232"/>
                <a:gd name="adj2" fmla="val -28923"/>
                <a:gd name="adj3" fmla="val 16667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lang="en-DE" sz="1600" b="1"/>
                <a:t>Start measurement</a:t>
              </a:r>
              <a:br>
                <a:rPr lang="en-DE" sz="1600" b="1"/>
              </a:br>
              <a:r>
                <a:rPr lang="en-US" sz="1600" b="1"/>
                <a:t>SQIEN = 1 </a:t>
              </a:r>
              <a:r>
                <a:rPr lang="en-US" sz="1600"/>
                <a:t>(SQI Enable)</a:t>
              </a:r>
              <a:br>
                <a:rPr lang="en-US" sz="1600"/>
              </a:br>
              <a:r>
                <a:rPr lang="en-US" sz="1600"/>
                <a:t>in </a:t>
              </a:r>
              <a:r>
                <a:rPr lang="en-US" sz="1600" b="1"/>
                <a:t>SQICTL </a:t>
              </a:r>
              <a:r>
                <a:rPr lang="en-US" sz="1600"/>
                <a:t>(SQI Control)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A37CE6-7D01-0014-7869-710ADDA0175F}"/>
              </a:ext>
            </a:extLst>
          </p:cNvPr>
          <p:cNvGrpSpPr/>
          <p:nvPr/>
        </p:nvGrpSpPr>
        <p:grpSpPr>
          <a:xfrm>
            <a:off x="3281658" y="1528648"/>
            <a:ext cx="3410965" cy="1968078"/>
            <a:chOff x="8374037" y="1039766"/>
            <a:chExt cx="3410965" cy="1968078"/>
          </a:xfrm>
        </p:grpSpPr>
        <p:sp>
          <p:nvSpPr>
            <p:cNvPr id="36" name="Callout: Line with No Border 35">
              <a:extLst>
                <a:ext uri="{FF2B5EF4-FFF2-40B4-BE49-F238E27FC236}">
                  <a16:creationId xmlns:a16="http://schemas.microsoft.com/office/drawing/2014/main" id="{206CAE36-E5F9-A7BA-18B6-5BFD68D7812B}"/>
                </a:ext>
              </a:extLst>
            </p:cNvPr>
            <p:cNvSpPr/>
            <p:nvPr/>
          </p:nvSpPr>
          <p:spPr>
            <a:xfrm>
              <a:off x="8518230" y="1513132"/>
              <a:ext cx="951160" cy="1438291"/>
            </a:xfrm>
            <a:prstGeom prst="callout1">
              <a:avLst>
                <a:gd name="adj1" fmla="val 130992"/>
                <a:gd name="adj2" fmla="val 171904"/>
                <a:gd name="adj3" fmla="val 73459"/>
                <a:gd name="adj4" fmla="val 129402"/>
              </a:avLst>
            </a:prstGeom>
            <a:no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EE79885-9396-C170-992E-44045F3A1F36}"/>
                </a:ext>
              </a:extLst>
            </p:cNvPr>
            <p:cNvGrpSpPr/>
            <p:nvPr/>
          </p:nvGrpSpPr>
          <p:grpSpPr>
            <a:xfrm>
              <a:off x="8374037" y="1039766"/>
              <a:ext cx="3410965" cy="1968078"/>
              <a:chOff x="9444070" y="392473"/>
              <a:chExt cx="2595986" cy="576147"/>
            </a:xfrm>
            <a:solidFill>
              <a:schemeClr val="accent2"/>
            </a:solidFill>
          </p:grpSpPr>
          <p:sp>
            <p:nvSpPr>
              <p:cNvPr id="29" name="Callout: Line with No Border 28">
                <a:extLst>
                  <a:ext uri="{FF2B5EF4-FFF2-40B4-BE49-F238E27FC236}">
                    <a16:creationId xmlns:a16="http://schemas.microsoft.com/office/drawing/2014/main" id="{5AAB9E79-2AFD-B614-62B0-47B2D414A3F4}"/>
                  </a:ext>
                </a:extLst>
              </p:cNvPr>
              <p:cNvSpPr/>
              <p:nvPr/>
            </p:nvSpPr>
            <p:spPr>
              <a:xfrm>
                <a:off x="10380113" y="525046"/>
                <a:ext cx="723900" cy="421054"/>
              </a:xfrm>
              <a:prstGeom prst="callout1">
                <a:avLst>
                  <a:gd name="adj1" fmla="val 130145"/>
                  <a:gd name="adj2" fmla="val 158018"/>
                  <a:gd name="adj3" fmla="val 80768"/>
                  <a:gd name="adj4" fmla="val 114439"/>
                </a:avLst>
              </a:prstGeom>
              <a:noFill/>
              <a:ln w="38100" cap="rnd">
                <a:solidFill>
                  <a:schemeClr val="accent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b="1"/>
              </a:p>
            </p:txBody>
          </p:sp>
          <p:sp>
            <p:nvSpPr>
              <p:cNvPr id="30" name="Speech Bubble: Rectangle with Corners Rounded 29">
                <a:extLst>
                  <a:ext uri="{FF2B5EF4-FFF2-40B4-BE49-F238E27FC236}">
                    <a16:creationId xmlns:a16="http://schemas.microsoft.com/office/drawing/2014/main" id="{B0E320F2-4B99-EE04-3055-65C23F5369EF}"/>
                  </a:ext>
                </a:extLst>
              </p:cNvPr>
              <p:cNvSpPr/>
              <p:nvPr/>
            </p:nvSpPr>
            <p:spPr>
              <a:xfrm>
                <a:off x="9444070" y="392473"/>
                <a:ext cx="2595986" cy="576147"/>
              </a:xfrm>
              <a:prstGeom prst="wedgeRoundRectCallout">
                <a:avLst>
                  <a:gd name="adj1" fmla="val -6014"/>
                  <a:gd name="adj2" fmla="val 10491"/>
                  <a:gd name="adj3" fmla="val 16667"/>
                </a:avLst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44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8885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328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777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21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6656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6097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554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 startAt="4"/>
                  <a:tabLst/>
                  <a:defRPr/>
                </a:pPr>
                <a: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Read the result</a:t>
                </a:r>
                <a:b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</a:b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SQIVAL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(SQI Value)</a:t>
                </a:r>
                <a:b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</a:b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When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SQIVLD = 1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(SQI Valid)</a:t>
                </a:r>
                <a:br>
                  <a:rPr lang="en-DE" sz="1600">
                    <a:solidFill>
                      <a:srgbClr val="FFFFFF"/>
                    </a:solidFill>
                    <a:latin typeface="Calibri"/>
                  </a:rPr>
                </a:br>
                <a:r>
                  <a:rPr kumimoji="0" lang="en-US" sz="16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in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 SQISTS0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(SQI Status 0)</a:t>
                </a:r>
                <a:br>
                  <a:rPr kumimoji="0" lang="en-DE" sz="16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</a:br>
                <a:br>
                  <a:rPr kumimoji="0" lang="en-DE" sz="16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</a:br>
                <a:r>
                  <a:rPr lang="en-DE" sz="1600" b="1">
                    <a:solidFill>
                      <a:srgbClr val="FFFFFF"/>
                    </a:solidFill>
                    <a:latin typeface="Calibri"/>
                  </a:rPr>
                  <a:t>Recommended SQI polling rate</a:t>
                </a:r>
                <a:br>
                  <a:rPr lang="en-DE" sz="1600" b="1">
                    <a:solidFill>
                      <a:srgbClr val="FFFFFF"/>
                    </a:solidFill>
                    <a:latin typeface="Calibri"/>
                  </a:rPr>
                </a:br>
                <a:r>
                  <a:rPr lang="en-DE" sz="1600" b="1">
                    <a:solidFill>
                      <a:srgbClr val="FFFFFF"/>
                    </a:solidFill>
                    <a:latin typeface="Calibri"/>
                  </a:rPr>
                  <a:t>~ 1 sec</a:t>
                </a:r>
                <a:endParaRPr lang="en-DE" sz="1600" b="1">
                  <a:solidFill>
                    <a:srgbClr val="FFFFFF"/>
                  </a:solidFill>
                  <a:latin typeface="Calibri"/>
                  <a:sym typeface="Wingdings" panose="05000000000000000000" pitchFamily="2" charset="2"/>
                </a:endParaRPr>
              </a:p>
            </p:txBody>
          </p:sp>
        </p:grpSp>
      </p:grp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A0A4D590-2AB9-9C3D-28F4-ACF1CEC39133}"/>
              </a:ext>
            </a:extLst>
          </p:cNvPr>
          <p:cNvSpPr txBox="1">
            <a:spLocks/>
          </p:cNvSpPr>
          <p:nvPr/>
        </p:nvSpPr>
        <p:spPr>
          <a:xfrm>
            <a:off x="148380" y="696532"/>
            <a:ext cx="2692195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SQI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LAN8670/1/2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&amp;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LAN8650/1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40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3E0D8EB-604B-0504-896E-826CD3884166}"/>
              </a:ext>
            </a:extLst>
          </p:cNvPr>
          <p:cNvGrpSpPr/>
          <p:nvPr/>
        </p:nvGrpSpPr>
        <p:grpSpPr>
          <a:xfrm>
            <a:off x="7838500" y="3007360"/>
            <a:ext cx="6144847" cy="789635"/>
            <a:chOff x="7627711" y="3424260"/>
            <a:chExt cx="6694821" cy="78963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9D65E0F-B714-B4B0-708E-9C649B8333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26"/>
            <a:stretch/>
          </p:blipFill>
          <p:spPr>
            <a:xfrm>
              <a:off x="7627711" y="3465949"/>
              <a:ext cx="6694821" cy="74794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1" name="Rounded Rectangle 4">
              <a:extLst>
                <a:ext uri="{FF2B5EF4-FFF2-40B4-BE49-F238E27FC236}">
                  <a16:creationId xmlns:a16="http://schemas.microsoft.com/office/drawing/2014/main" id="{6562355C-CB92-57B3-CDBF-8EF1FD2A3652}"/>
                </a:ext>
              </a:extLst>
            </p:cNvPr>
            <p:cNvSpPr/>
            <p:nvPr/>
          </p:nvSpPr>
          <p:spPr bwMode="auto">
            <a:xfrm rot="5400000">
              <a:off x="11223673" y="3183258"/>
              <a:ext cx="264160" cy="746164"/>
            </a:xfrm>
            <a:prstGeom prst="roundRect">
              <a:avLst/>
            </a:prstGeom>
            <a:solidFill>
              <a:schemeClr val="accent2">
                <a:alpha val="1176"/>
              </a:scheme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6F368F-CC0B-E824-5E27-CB49466F5935}"/>
              </a:ext>
            </a:extLst>
          </p:cNvPr>
          <p:cNvGrpSpPr/>
          <p:nvPr/>
        </p:nvGrpSpPr>
        <p:grpSpPr>
          <a:xfrm>
            <a:off x="2886610" y="3434080"/>
            <a:ext cx="6144847" cy="1536458"/>
            <a:chOff x="4739879" y="4892869"/>
            <a:chExt cx="6368179" cy="142573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0077550-5BA6-35F7-D56C-75AF67880349}"/>
                </a:ext>
              </a:extLst>
            </p:cNvPr>
            <p:cNvGrpSpPr/>
            <p:nvPr/>
          </p:nvGrpSpPr>
          <p:grpSpPr>
            <a:xfrm>
              <a:off x="4739879" y="4927774"/>
              <a:ext cx="6368179" cy="1390829"/>
              <a:chOff x="3106430" y="1893888"/>
              <a:chExt cx="6948773" cy="1390829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30FF508-6E35-BA8D-7581-9F0923B40C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226" r="9448" b="62879"/>
              <a:stretch/>
            </p:blipFill>
            <p:spPr>
              <a:xfrm>
                <a:off x="3106430" y="1893888"/>
                <a:ext cx="6948773" cy="700093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E62C08A2-66D7-5107-B727-4B8874CC4B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226" t="62879" r="9448"/>
              <a:stretch/>
            </p:blipFill>
            <p:spPr>
              <a:xfrm>
                <a:off x="3106430" y="2584623"/>
                <a:ext cx="6948773" cy="70009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26" name="Rounded Rectangle 4">
              <a:extLst>
                <a:ext uri="{FF2B5EF4-FFF2-40B4-BE49-F238E27FC236}">
                  <a16:creationId xmlns:a16="http://schemas.microsoft.com/office/drawing/2014/main" id="{A1BE0AFB-2C2E-78D2-C735-0B3A21AC83F5}"/>
                </a:ext>
              </a:extLst>
            </p:cNvPr>
            <p:cNvSpPr/>
            <p:nvPr/>
          </p:nvSpPr>
          <p:spPr bwMode="auto">
            <a:xfrm rot="5400000">
              <a:off x="8907017" y="3995187"/>
              <a:ext cx="347632" cy="3584427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9" name="Rounded Rectangle 4">
              <a:extLst>
                <a:ext uri="{FF2B5EF4-FFF2-40B4-BE49-F238E27FC236}">
                  <a16:creationId xmlns:a16="http://schemas.microsoft.com/office/drawing/2014/main" id="{1295B817-9769-2FE3-60ED-F9CB3D1A9297}"/>
                </a:ext>
              </a:extLst>
            </p:cNvPr>
            <p:cNvSpPr/>
            <p:nvPr/>
          </p:nvSpPr>
          <p:spPr bwMode="auto">
            <a:xfrm rot="5400000">
              <a:off x="7184476" y="4634507"/>
              <a:ext cx="254551" cy="771275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30" name="Rounded Rectangle 4">
              <a:extLst>
                <a:ext uri="{FF2B5EF4-FFF2-40B4-BE49-F238E27FC236}">
                  <a16:creationId xmlns:a16="http://schemas.microsoft.com/office/drawing/2014/main" id="{62DD8F05-21B1-E812-FEB1-CC0F796916FF}"/>
                </a:ext>
              </a:extLst>
            </p:cNvPr>
            <p:cNvSpPr/>
            <p:nvPr/>
          </p:nvSpPr>
          <p:spPr bwMode="auto">
            <a:xfrm rot="5400000">
              <a:off x="8582104" y="5124649"/>
              <a:ext cx="189317" cy="800527"/>
            </a:xfrm>
            <a:prstGeom prst="roundRect">
              <a:avLst/>
            </a:prstGeom>
            <a:solidFill>
              <a:schemeClr val="accent2">
                <a:alpha val="1176"/>
              </a:scheme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32" name="Rounded Rectangle 4">
              <a:extLst>
                <a:ext uri="{FF2B5EF4-FFF2-40B4-BE49-F238E27FC236}">
                  <a16:creationId xmlns:a16="http://schemas.microsoft.com/office/drawing/2014/main" id="{ABCE68B2-1A77-1B65-F293-A6EA32FB13E5}"/>
                </a:ext>
              </a:extLst>
            </p:cNvPr>
            <p:cNvSpPr/>
            <p:nvPr/>
          </p:nvSpPr>
          <p:spPr bwMode="auto">
            <a:xfrm rot="5400000">
              <a:off x="9961470" y="5534174"/>
              <a:ext cx="185566" cy="1039650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632" y="136645"/>
            <a:ext cx="8766528" cy="77724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800"/>
              <a:t>S</a:t>
            </a:r>
            <a:r>
              <a:rPr lang="en-DE" sz="2800"/>
              <a:t>QI – Threshold Alert Mode </a:t>
            </a:r>
            <a:br>
              <a:rPr lang="en-DE" sz="2400"/>
            </a:br>
            <a:r>
              <a:rPr lang="en-DE" sz="2000">
                <a:solidFill>
                  <a:schemeClr val="bg2"/>
                </a:solidFill>
              </a:rPr>
              <a:t>SQI measured continuously,  MCU alerted via interrupt when SQI &lt;= threshold</a:t>
            </a:r>
            <a:endParaRPr lang="en-US" sz="20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85FD26-EE53-F8AA-3BB7-D5DFA5A6E34A}"/>
              </a:ext>
            </a:extLst>
          </p:cNvPr>
          <p:cNvGrpSpPr/>
          <p:nvPr/>
        </p:nvGrpSpPr>
        <p:grpSpPr>
          <a:xfrm>
            <a:off x="7838500" y="1291926"/>
            <a:ext cx="2711306" cy="1445975"/>
            <a:chOff x="4599508" y="1456672"/>
            <a:chExt cx="3669256" cy="1689378"/>
          </a:xfrm>
          <a:solidFill>
            <a:schemeClr val="accent2"/>
          </a:solidFill>
        </p:grpSpPr>
        <p:sp>
          <p:nvSpPr>
            <p:cNvPr id="14" name="Callout: Line with No Border 13">
              <a:extLst>
                <a:ext uri="{FF2B5EF4-FFF2-40B4-BE49-F238E27FC236}">
                  <a16:creationId xmlns:a16="http://schemas.microsoft.com/office/drawing/2014/main" id="{995E8AA6-F889-CA11-2C9E-94C6A596302E}"/>
                </a:ext>
              </a:extLst>
            </p:cNvPr>
            <p:cNvSpPr/>
            <p:nvPr/>
          </p:nvSpPr>
          <p:spPr>
            <a:xfrm>
              <a:off x="6999595" y="1720900"/>
              <a:ext cx="1023185" cy="1234614"/>
            </a:xfrm>
            <a:prstGeom prst="callout1">
              <a:avLst>
                <a:gd name="adj1" fmla="val 104626"/>
                <a:gd name="adj2" fmla="val 106848"/>
                <a:gd name="adj3" fmla="val 142094"/>
                <a:gd name="adj4" fmla="val 172476"/>
              </a:avLst>
            </a:prstGeom>
            <a:no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95F0299-DC44-113E-52D5-11AECE5ED6AA}"/>
                </a:ext>
              </a:extLst>
            </p:cNvPr>
            <p:cNvGrpSpPr/>
            <p:nvPr/>
          </p:nvGrpSpPr>
          <p:grpSpPr>
            <a:xfrm>
              <a:off x="4599508" y="1456672"/>
              <a:ext cx="3669256" cy="1689378"/>
              <a:chOff x="9509541" y="447500"/>
              <a:chExt cx="2595986" cy="576147"/>
            </a:xfrm>
            <a:grpFill/>
          </p:grpSpPr>
          <p:sp>
            <p:nvSpPr>
              <p:cNvPr id="5" name="Callout: Line with No Border 4">
                <a:extLst>
                  <a:ext uri="{FF2B5EF4-FFF2-40B4-BE49-F238E27FC236}">
                    <a16:creationId xmlns:a16="http://schemas.microsoft.com/office/drawing/2014/main" id="{3BB5E84C-4AA3-3445-A92C-E0F569D8FE1D}"/>
                  </a:ext>
                </a:extLst>
              </p:cNvPr>
              <p:cNvSpPr/>
              <p:nvPr/>
            </p:nvSpPr>
            <p:spPr>
              <a:xfrm>
                <a:off x="10380113" y="525046"/>
                <a:ext cx="723900" cy="421054"/>
              </a:xfrm>
              <a:prstGeom prst="callout1">
                <a:avLst>
                  <a:gd name="adj1" fmla="val 108419"/>
                  <a:gd name="adj2" fmla="val -97933"/>
                  <a:gd name="adj3" fmla="val 238357"/>
                  <a:gd name="adj4" fmla="val -225184"/>
                </a:avLst>
              </a:prstGeom>
              <a:noFill/>
              <a:ln w="38100" cap="rnd">
                <a:solidFill>
                  <a:schemeClr val="accent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b="1"/>
              </a:p>
            </p:txBody>
          </p:sp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6AC90660-AF4B-DCF3-E52A-67A0D70FD585}"/>
                  </a:ext>
                </a:extLst>
              </p:cNvPr>
              <p:cNvSpPr/>
              <p:nvPr/>
            </p:nvSpPr>
            <p:spPr>
              <a:xfrm>
                <a:off x="9509541" y="447500"/>
                <a:ext cx="2595986" cy="576147"/>
              </a:xfrm>
              <a:prstGeom prst="wedgeRoundRectCallout">
                <a:avLst>
                  <a:gd name="adj1" fmla="val -6014"/>
                  <a:gd name="adj2" fmla="val 10491"/>
                  <a:gd name="adj3" fmla="val 16667"/>
                </a:avLst>
              </a:prstGeom>
              <a:grp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44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8885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328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777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21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6656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6097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554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 startAt="4"/>
                  <a:tabLst/>
                  <a:defRPr/>
                </a:pPr>
                <a: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Read the result</a:t>
                </a:r>
                <a:b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</a:b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SQIVAL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(SQI Value)</a:t>
                </a:r>
                <a:b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</a:br>
                <a:r>
                  <a:rPr kumimoji="0" lang="en-DE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w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hen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I</a:t>
                </a:r>
                <a:r>
                  <a:rPr kumimoji="0" lang="en-DE" sz="160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nterrupt</a:t>
                </a:r>
                <a: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 asserted</a:t>
                </a:r>
                <a:b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</a:br>
                <a:r>
                  <a:rPr kumimoji="0" lang="en-DE" sz="16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because</a:t>
                </a:r>
                <a: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 SQI = 1 </a:t>
                </a:r>
                <a:b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</a:br>
                <a:r>
                  <a:rPr kumimoji="0" lang="en-DE" sz="16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changed</a:t>
                </a:r>
                <a: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 </a:t>
                </a:r>
                <a:r>
                  <a:rPr kumimoji="0" lang="en-DE" sz="16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in </a:t>
                </a:r>
                <a:r>
                  <a:rPr kumimoji="0" lang="en-DE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STS1</a:t>
                </a:r>
                <a:r>
                  <a:rPr kumimoji="0" lang="en-DE" sz="16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 </a:t>
                </a:r>
                <a:r>
                  <a:rPr kumimoji="0" lang="en-US" sz="16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</a:rPr>
                  <a:t>register</a:t>
                </a: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6D4D366-8F04-3738-4134-A53D66F2F47D}"/>
              </a:ext>
            </a:extLst>
          </p:cNvPr>
          <p:cNvGrpSpPr/>
          <p:nvPr/>
        </p:nvGrpSpPr>
        <p:grpSpPr>
          <a:xfrm>
            <a:off x="7513014" y="5485562"/>
            <a:ext cx="2821291" cy="1183196"/>
            <a:chOff x="-6356365" y="1434441"/>
            <a:chExt cx="3947259" cy="4113890"/>
          </a:xfrm>
        </p:grpSpPr>
        <p:sp>
          <p:nvSpPr>
            <p:cNvPr id="42" name="Callout: Line with No Border 41">
              <a:extLst>
                <a:ext uri="{FF2B5EF4-FFF2-40B4-BE49-F238E27FC236}">
                  <a16:creationId xmlns:a16="http://schemas.microsoft.com/office/drawing/2014/main" id="{0D625A9C-D062-1C39-2253-3B780CB1589F}"/>
                </a:ext>
              </a:extLst>
            </p:cNvPr>
            <p:cNvSpPr/>
            <p:nvPr/>
          </p:nvSpPr>
          <p:spPr>
            <a:xfrm>
              <a:off x="-3806690" y="4376762"/>
              <a:ext cx="896953" cy="1095369"/>
            </a:xfrm>
            <a:prstGeom prst="callout1">
              <a:avLst>
                <a:gd name="adj1" fmla="val -242766"/>
                <a:gd name="adj2" fmla="val -189717"/>
                <a:gd name="adj3" fmla="val -500079"/>
                <a:gd name="adj4" fmla="val -18851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sp>
          <p:nvSpPr>
            <p:cNvPr id="43" name="Speech Bubble: Rectangle with Corners Rounded 42">
              <a:extLst>
                <a:ext uri="{FF2B5EF4-FFF2-40B4-BE49-F238E27FC236}">
                  <a16:creationId xmlns:a16="http://schemas.microsoft.com/office/drawing/2014/main" id="{8C2F2359-8ED0-A172-EFA8-37DCD4B33A3D}"/>
                </a:ext>
              </a:extLst>
            </p:cNvPr>
            <p:cNvSpPr/>
            <p:nvPr/>
          </p:nvSpPr>
          <p:spPr>
            <a:xfrm>
              <a:off x="-6356365" y="1434441"/>
              <a:ext cx="3947259" cy="4113890"/>
            </a:xfrm>
            <a:prstGeom prst="wedgeRoundRectCallout">
              <a:avLst>
                <a:gd name="adj1" fmla="val 25232"/>
                <a:gd name="adj2" fmla="val -28923"/>
                <a:gd name="adj3" fmla="val 16667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lang="en-DE" sz="1600" b="1"/>
                <a:t>Configure</a:t>
              </a:r>
              <a:br>
                <a:rPr lang="en-DE" sz="1600" b="1"/>
              </a:br>
              <a:r>
                <a:rPr lang="en-US" sz="1600" b="1"/>
                <a:t>SQIINTTHR = </a:t>
              </a:r>
              <a:r>
                <a:rPr lang="en-DE" sz="1600" b="1"/>
                <a:t>1...7</a:t>
              </a:r>
              <a:r>
                <a:rPr lang="en-US" sz="1600" b="1"/>
                <a:t> </a:t>
              </a:r>
              <a:br>
                <a:rPr lang="en-DE" sz="1600" b="1"/>
              </a:br>
              <a:r>
                <a:rPr lang="en-US" sz="1600"/>
                <a:t>(SQI Interrupt Threshold)</a:t>
              </a:r>
              <a:br>
                <a:rPr lang="en-US" sz="1600"/>
              </a:br>
              <a:r>
                <a:rPr lang="en-US" sz="1600"/>
                <a:t>in </a:t>
              </a:r>
              <a:r>
                <a:rPr lang="en-US" sz="1600" b="1"/>
                <a:t>SQICFG2 </a:t>
              </a:r>
              <a:r>
                <a:rPr lang="en-US" sz="1600"/>
                <a:t>(SQI Config 2)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6633067-45C2-2FC7-E770-5B3A8CCDFCDE}"/>
              </a:ext>
            </a:extLst>
          </p:cNvPr>
          <p:cNvGrpSpPr/>
          <p:nvPr/>
        </p:nvGrpSpPr>
        <p:grpSpPr>
          <a:xfrm>
            <a:off x="3856789" y="5485562"/>
            <a:ext cx="2978354" cy="1183196"/>
            <a:chOff x="-6356365" y="1290726"/>
            <a:chExt cx="3446630" cy="4876779"/>
          </a:xfrm>
        </p:grpSpPr>
        <p:sp>
          <p:nvSpPr>
            <p:cNvPr id="45" name="Callout: Line with No Border 44">
              <a:extLst>
                <a:ext uri="{FF2B5EF4-FFF2-40B4-BE49-F238E27FC236}">
                  <a16:creationId xmlns:a16="http://schemas.microsoft.com/office/drawing/2014/main" id="{E2711ECE-ABCD-5B33-C77C-F56BA89212ED}"/>
                </a:ext>
              </a:extLst>
            </p:cNvPr>
            <p:cNvSpPr/>
            <p:nvPr/>
          </p:nvSpPr>
          <p:spPr>
            <a:xfrm>
              <a:off x="-3806688" y="1711040"/>
              <a:ext cx="896953" cy="1095369"/>
            </a:xfrm>
            <a:prstGeom prst="callout1">
              <a:avLst>
                <a:gd name="adj1" fmla="val 24875"/>
                <a:gd name="adj2" fmla="val 11526"/>
                <a:gd name="adj3" fmla="val -367105"/>
                <a:gd name="adj4" fmla="val 10948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sp>
          <p:nvSpPr>
            <p:cNvPr id="48" name="Speech Bubble: Rectangle with Corners Rounded 47">
              <a:extLst>
                <a:ext uri="{FF2B5EF4-FFF2-40B4-BE49-F238E27FC236}">
                  <a16:creationId xmlns:a16="http://schemas.microsoft.com/office/drawing/2014/main" id="{785CCD2C-6DF8-B06A-5560-92B74B709E63}"/>
                </a:ext>
              </a:extLst>
            </p:cNvPr>
            <p:cNvSpPr/>
            <p:nvPr/>
          </p:nvSpPr>
          <p:spPr>
            <a:xfrm>
              <a:off x="-6356365" y="1290726"/>
              <a:ext cx="3441817" cy="4876779"/>
            </a:xfrm>
            <a:prstGeom prst="wedgeRoundRectCallout">
              <a:avLst>
                <a:gd name="adj1" fmla="val 25232"/>
                <a:gd name="adj2" fmla="val -28923"/>
                <a:gd name="adj3" fmla="val 16667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DE" sz="1600" b="1"/>
                <a:t>Configure</a:t>
              </a:r>
              <a:br>
                <a:rPr lang="en-DE" sz="1600" b="1"/>
              </a:br>
              <a:r>
                <a:rPr lang="en-US" sz="1600" b="1"/>
                <a:t>TOID = n </a:t>
              </a:r>
              <a:br>
                <a:rPr lang="en-DE" sz="1600" b="1"/>
              </a:br>
              <a:r>
                <a:rPr lang="en-US" sz="1600"/>
                <a:t>(n=TO of interest)</a:t>
              </a:r>
              <a:br>
                <a:rPr lang="en-US" sz="1600" b="1"/>
              </a:br>
              <a:r>
                <a:rPr lang="en-US" sz="1600"/>
                <a:t>in </a:t>
              </a:r>
              <a:r>
                <a:rPr lang="en-US" sz="1600" b="1"/>
                <a:t>SQICFG0 </a:t>
              </a:r>
              <a:r>
                <a:rPr lang="en-US" sz="1600"/>
                <a:t>(SQI Config 0)</a:t>
              </a:r>
              <a:endParaRPr lang="en-DE" sz="160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CA5351F-D849-B87B-AD3A-178B9B7E099D}"/>
              </a:ext>
            </a:extLst>
          </p:cNvPr>
          <p:cNvGrpSpPr/>
          <p:nvPr/>
        </p:nvGrpSpPr>
        <p:grpSpPr>
          <a:xfrm>
            <a:off x="3856789" y="1804427"/>
            <a:ext cx="2579596" cy="956995"/>
            <a:chOff x="-6356365" y="1434441"/>
            <a:chExt cx="2985177" cy="4113890"/>
          </a:xfrm>
        </p:grpSpPr>
        <p:sp>
          <p:nvSpPr>
            <p:cNvPr id="52" name="Callout: Line with No Border 51">
              <a:extLst>
                <a:ext uri="{FF2B5EF4-FFF2-40B4-BE49-F238E27FC236}">
                  <a16:creationId xmlns:a16="http://schemas.microsoft.com/office/drawing/2014/main" id="{9D7CC635-C94F-8D95-CDE9-8D8AAAC1E53A}"/>
                </a:ext>
              </a:extLst>
            </p:cNvPr>
            <p:cNvSpPr/>
            <p:nvPr/>
          </p:nvSpPr>
          <p:spPr>
            <a:xfrm>
              <a:off x="-4268142" y="4141313"/>
              <a:ext cx="896954" cy="1095371"/>
            </a:xfrm>
            <a:prstGeom prst="callout1">
              <a:avLst>
                <a:gd name="adj1" fmla="val 122608"/>
                <a:gd name="adj2" fmla="val -37629"/>
                <a:gd name="adj3" fmla="val 387967"/>
                <a:gd name="adj4" fmla="val -3883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b="1"/>
            </a:p>
          </p:txBody>
        </p:sp>
        <p:sp>
          <p:nvSpPr>
            <p:cNvPr id="53" name="Speech Bubble: Rectangle with Corners Rounded 52">
              <a:extLst>
                <a:ext uri="{FF2B5EF4-FFF2-40B4-BE49-F238E27FC236}">
                  <a16:creationId xmlns:a16="http://schemas.microsoft.com/office/drawing/2014/main" id="{14029B21-C617-915C-F1FB-F206946A269A}"/>
                </a:ext>
              </a:extLst>
            </p:cNvPr>
            <p:cNvSpPr/>
            <p:nvPr/>
          </p:nvSpPr>
          <p:spPr>
            <a:xfrm>
              <a:off x="-6356365" y="1434441"/>
              <a:ext cx="2968162" cy="4113890"/>
            </a:xfrm>
            <a:prstGeom prst="wedgeRoundRectCallout">
              <a:avLst>
                <a:gd name="adj1" fmla="val 25232"/>
                <a:gd name="adj2" fmla="val -28923"/>
                <a:gd name="adj3" fmla="val 16667"/>
              </a:avLst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lang="en-DE" sz="1600" b="1"/>
                <a:t>Start measurement</a:t>
              </a:r>
              <a:br>
                <a:rPr lang="en-DE" sz="1600" b="1"/>
              </a:br>
              <a:r>
                <a:rPr lang="en-US" sz="1600" b="1"/>
                <a:t>SQIEN = 1 </a:t>
              </a:r>
              <a:r>
                <a:rPr lang="en-US" sz="1600"/>
                <a:t>(SQI Enable)</a:t>
              </a:r>
              <a:br>
                <a:rPr lang="en-US" sz="1600"/>
              </a:br>
              <a:r>
                <a:rPr lang="en-US" sz="1600"/>
                <a:t>in </a:t>
              </a:r>
              <a:r>
                <a:rPr lang="en-US" sz="1600" b="1"/>
                <a:t>SQICTL </a:t>
              </a:r>
              <a:r>
                <a:rPr lang="en-US" sz="1600"/>
                <a:t>(SQI Control)</a:t>
              </a:r>
            </a:p>
          </p:txBody>
        </p:sp>
      </p:grp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90A18EED-1E58-07B9-C6E0-311ADD72FBB1}"/>
              </a:ext>
            </a:extLst>
          </p:cNvPr>
          <p:cNvSpPr txBox="1">
            <a:spLocks/>
          </p:cNvSpPr>
          <p:nvPr/>
        </p:nvSpPr>
        <p:spPr>
          <a:xfrm>
            <a:off x="148380" y="696532"/>
            <a:ext cx="2692195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SQI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LAN8670/1/2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&amp;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LAN8650/1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93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sz="8800" i="1">
                <a:solidFill>
                  <a:schemeClr val="bg2"/>
                </a:solidFill>
              </a:rPr>
              <a:t>Thank You!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DC6EA2-FF97-40D2-845F-502AF9AFA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 descr="A ball with a question mark&#10;&#10;Description automatically generated">
            <a:extLst>
              <a:ext uri="{FF2B5EF4-FFF2-40B4-BE49-F238E27FC236}">
                <a16:creationId xmlns:a16="http://schemas.microsoft.com/office/drawing/2014/main" id="{5C43BEDB-42D5-5779-F4E9-8E8F75702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26" y="2769423"/>
            <a:ext cx="3542808" cy="353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1577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AUDIO_RECORDED" val="1"/>
  <p:tag name="ARTICULATE_HIDE_SLIDE" val="0"/>
  <p:tag name="ARTICULATE_LOCK_SLIDE" val="0"/>
  <p:tag name="ARTICULATE_NAV_LEVEL" val="1"/>
  <p:tag name="ARTICULATE_PLAYER_CONTROL_NEXT" val="True"/>
  <p:tag name="ARTICULATE_PLAYER_CONTROL_PREVIOUS" val="True"/>
  <p:tag name="ARTICULATE_PLAYLIST_ID" val="-1"/>
  <p:tag name="ARTICULATE_SLIDE_GUID" val="2f20085c-6b8f-4f86-9664-7f8d4615eece"/>
  <p:tag name="ARTICULATE_SLIDE_NAV" val="1"/>
  <p:tag name="ARTICULATE_SLIDE_PAUSE" val="0"/>
  <p:tag name="ARTICULATE_SLIDE_PRESENTER_GUID" val="cc1100b4-57bb-4ee6-9a95-5e8bd722df13"/>
  <p:tag name="ARTICULATE_SLIDE_THUMBNAIL_REFRESH" val="1"/>
  <p:tag name="ARTICULATE_USED_LAYOUT" val="1"/>
  <p:tag name="AUDIO_ID" val="274"/>
  <p:tag name="ELAPSEDTIME" val="11.6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BULLET_2" val="8226"/>
  <p:tag name="BULLET_3" val="8226"/>
  <p:tag name="BULLET_4" val="8226"/>
  <p:tag name="BULLET_5" val="8226"/>
  <p:tag name="FONT_SIZE" val="9"/>
  <p:tag name="MARGIN_1" val="0"/>
  <p:tag name="MARGIN_2" val="36"/>
  <p:tag name="MARGIN_3" val="72"/>
  <p:tag name="MARGIN_4" val="108"/>
  <p:tag name="MARGIN_5" val="144"/>
</p:tagLst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68CCC6BA744340B7BDD1B04AA6D09B" ma:contentTypeVersion="16" ma:contentTypeDescription="Create a new document." ma:contentTypeScope="" ma:versionID="ef0fd23e08d621dda0b30e95823e0910">
  <xsd:schema xmlns:xsd="http://www.w3.org/2001/XMLSchema" xmlns:xs="http://www.w3.org/2001/XMLSchema" xmlns:p="http://schemas.microsoft.com/office/2006/metadata/properties" xmlns:ns2="b620b847-2645-4358-96f3-240bfaa5dba9" xmlns:ns3="fabaaf3a-fd5f-4449-bc0f-2189a22f4476" targetNamespace="http://schemas.microsoft.com/office/2006/metadata/properties" ma:root="true" ma:fieldsID="62c34fceba1d752809c9c680cd1cb275" ns2:_="" ns3:_="">
    <xsd:import namespace="b620b847-2645-4358-96f3-240bfaa5dba9"/>
    <xsd:import namespace="fabaaf3a-fd5f-4449-bc0f-2189a22f4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20b847-2645-4358-96f3-240bfaa5db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05317c1-dc7b-42fe-8bc5-04171b90da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baaf3a-fd5f-4449-bc0f-2189a22f44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811623d-5cce-413f-ab6e-e90c16194a13}" ma:internalName="TaxCatchAll" ma:showField="CatchAllData" ma:web="fabaaf3a-fd5f-4449-bc0f-2189a22f4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baaf3a-fd5f-4449-bc0f-2189a22f4476" xsi:nil="true"/>
    <lcf76f155ced4ddcb4097134ff3c332f xmlns="b620b847-2645-4358-96f3-240bfaa5dba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D54796-7100-44DB-A435-9560BA36B2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20b847-2645-4358-96f3-240bfaa5dba9"/>
    <ds:schemaRef ds:uri="fabaaf3a-fd5f-4449-bc0f-2189a22f4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774815-801A-4D0C-AAC8-304A8EA5EAE0}">
  <ds:schemaRefs>
    <ds:schemaRef ds:uri="36c4dc9a-ddba-4844-a126-79f01b07fc4f"/>
    <ds:schemaRef ds:uri="38ef598d-997c-498b-b737-2f6b2c50ccab"/>
    <ds:schemaRef ds:uri="8b3a644f-b6bc-41ab-917b-f5ec1b55c767"/>
    <ds:schemaRef ds:uri="b620b847-2645-4358-96f3-240bfaa5dba9"/>
    <ds:schemaRef ds:uri="df7acb31-37ac-40e2-81bb-c44e3630f613"/>
    <ds:schemaRef ds:uri="fabaaf3a-fd5f-4449-bc0f-2189a22f44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47</Slides>
  <Notes>47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LAN8670/1/2  PHY</vt:lpstr>
      <vt:lpstr>Recommended Previous Knowledge for this Training</vt:lpstr>
      <vt:lpstr>Agenda  LAN8670/1/2  PHY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PLCA - Status 1 Register (MMD 31)</vt:lpstr>
      <vt:lpstr>PLCA - Status 1 Register (MMD 31) - continued</vt:lpstr>
      <vt:lpstr>Agenda  LAN8670/1/2  PHY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 LAN8670/1/2  PHY</vt:lpstr>
      <vt:lpstr>Wake / Sleep </vt:lpstr>
      <vt:lpstr>Simple System without Sleep Mode</vt:lpstr>
      <vt:lpstr>System with Sleep Mode and Advanced Features</vt:lpstr>
      <vt:lpstr>Host Configures Each Time before Going to SLEEP...</vt:lpstr>
      <vt:lpstr>Going to SLEEP – Two Ways</vt:lpstr>
      <vt:lpstr>Wake – Sleep Cycle</vt:lpstr>
      <vt:lpstr>Agenda  LAN8670/1/2  PHY</vt:lpstr>
      <vt:lpstr>PowerPoint Presentation</vt:lpstr>
      <vt:lpstr>PowerPoint Presentation</vt:lpstr>
      <vt:lpstr>PowerPoint Presentation</vt:lpstr>
      <vt:lpstr>Agenda  LAN8670/1/2  PHY</vt:lpstr>
      <vt:lpstr>PowerPoint Presentation</vt:lpstr>
      <vt:lpstr>PowerPoint Presentation</vt:lpstr>
      <vt:lpstr>PowerPoint Presentation</vt:lpstr>
      <vt:lpstr>Agenda  LAN8670/1/2  PHY</vt:lpstr>
      <vt:lpstr>PowerPoint Presentation</vt:lpstr>
      <vt:lpstr>PowerPoint Presentation</vt:lpstr>
      <vt:lpstr>IEEE 802.1AS Support – Packet Timestamping</vt:lpstr>
      <vt:lpstr>Pin Configuration – RMII Example</vt:lpstr>
      <vt:lpstr>Pattern Matcher – PTP SYNC Example</vt:lpstr>
      <vt:lpstr>IEEE 802.1AS  –  Clock Synchronization (Standard)</vt:lpstr>
      <vt:lpstr>IEEE 802.1AS  –  LAN8670/1/2 Configuration for Standard Clocksynchronization</vt:lpstr>
      <vt:lpstr>IEEE 802.1AS  –  Clock Synchronization (MAC Timestamping)</vt:lpstr>
      <vt:lpstr>IEEE 802.1AS  –  LAN8670/1/2 Configuration for MAC Timestamping</vt:lpstr>
      <vt:lpstr>Agenda  LAN8670/1/2  PHY</vt:lpstr>
      <vt:lpstr>PowerPoint Presentation</vt:lpstr>
      <vt:lpstr>SQI – Polling Mode  Single measurement used to compare SQI of different channels </vt:lpstr>
      <vt:lpstr>SQI – Threshold Alert Mode  SQI measured continuously,  MCU alerted via interrupt when SQI &lt;= threshold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10BASE-T1S</dc:title>
  <dc:creator>Wolfgang.Wittmer@microchip.com</dc:creator>
  <cp:revision>2</cp:revision>
  <dcterms:created xsi:type="dcterms:W3CDTF">2020-04-06T15:11:44Z</dcterms:created>
  <dcterms:modified xsi:type="dcterms:W3CDTF">2026-04-27T20:08:23Z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0x010100A468CCC6BA744340B7BDD1B04AA6D09B</vt:lpwstr>
  </property>
  <property fmtid="{D5CDD505-2E9C-101B-9397-08002B2CF9AE}" pid="3" name="MediaServiceImageTags">
    <vt:lpwstr/>
  </property>
</Properties>
</file>