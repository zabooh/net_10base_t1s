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737" r:id="rId5"/>
    <p:sldMasterId id="2147483741" r:id="rId6"/>
  </p:sldMasterIdLst>
  <p:notesMasterIdLst>
    <p:notesMasterId r:id="rId47"/>
  </p:notesMasterIdLst>
  <p:handoutMasterIdLst>
    <p:handoutMasterId r:id="rId48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88825" cy="6858000"/>
  <p:notesSz cx="6858000" cy="9144000"/>
  <p:defaultTextStyle>
    <a:defPPr>
      <a:defRPr lang="en-US"/>
    </a:defPPr>
    <a:lvl1pPr marL="0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80">
          <p15:clr>
            <a:srgbClr val="A4A3A4"/>
          </p15:clr>
        </p15:guide>
        <p15:guide id="4" pos="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77777"/>
    <a:srgbClr val="070707"/>
    <a:srgbClr val="0E3689"/>
    <a:srgbClr val="1D9CE4"/>
    <a:srgbClr val="FFD53A"/>
    <a:srgbClr val="702076"/>
    <a:srgbClr val="5EBF33"/>
    <a:srgbClr val="FD7F20"/>
    <a:srgbClr val="0E1454"/>
    <a:srgbClr val="CE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AF9FB-F829-BD99-DE61-C26AB8997BBB}" v="17" dt="2024-06-25T12:45:35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8" y="308"/>
      </p:cViewPr>
      <p:guideLst>
        <p:guide orient="horz" pos="60"/>
        <p:guide pos="24"/>
        <p:guide orient="horz" pos="80"/>
        <p:guide pos="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9C997-21E5-5348-AFE6-AB6F92264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7AC1D-5903-004B-A07D-BA6E3EE37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5C2D-FB91-8740-95C2-23C11A10F2F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9EA0-CF08-6C46-9B0C-7A703F62F2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23A1-2359-A341-AFD4-DCB4B7D00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837C5-E66E-4749-8D3A-655388B1E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73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E49F-5C3A-ED4E-A68A-CCB3AA3B5D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CB49-A7FB-5E4A-B599-DE2118135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6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36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0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872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4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80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75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4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165" y="2474260"/>
            <a:ext cx="6437455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1530" y="6331942"/>
            <a:ext cx="2777297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2849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7363" y="3799832"/>
            <a:ext cx="7411397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5143" y="6123667"/>
            <a:ext cx="6419850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5142" y="5763412"/>
            <a:ext cx="6420245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55" y="5139766"/>
            <a:ext cx="1630420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621" y="2635935"/>
            <a:ext cx="3584711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0606" y="2034289"/>
            <a:ext cx="790916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0606" y="3824300"/>
            <a:ext cx="790916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8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FD760F-7C5E-4E44-B69C-EB85837D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077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626375"/>
            <a:ext cx="1140066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D67FA37-0073-AF47-8F1C-C046BC1C2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FA29F-D3D1-B743-BF1F-4F74E9BFBE96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D98CAA-53AB-CA40-BB99-AC8568C9C965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93471D4-F779-B244-9C40-C480DA421F1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653C1-7F81-CF47-B063-A8C4BC3DF14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3EB453-955B-B940-9782-A882942161A9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71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8986A39-4957-2843-AFDE-E6160A6C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C2564-89A5-B045-B11D-EC2B6C4EF263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6810D8-1F1D-2E44-98D2-9655BDEBA9A9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5B9D91C-B319-6740-B041-91E92A828C26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D45905-001C-3245-A3FD-ABDBA73B7BBC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045E37-2F57-AB4C-8037-7C0BF70F4E15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1408546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D0980E6-4C36-ED4A-BBAC-FCB3FD47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4F5BD-A8B2-8A43-8F9D-27796637426D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AB45CE-9A16-9D42-B335-40FCBA3C7672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A8F7AB5-BFE5-D543-9ED3-50EAB714655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272549-DB7B-3E4B-A9DF-41399001725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593CC7-18E5-1E4B-B493-BCCB1352C41B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095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7" y="923075"/>
            <a:ext cx="5474569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5192" y="941660"/>
            <a:ext cx="5387630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561175"/>
            <a:ext cx="5474567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561175"/>
            <a:ext cx="5387630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884F7A06-CF40-064F-B9BE-F69B2DFE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839D-F08B-6B46-82B5-51DE2326DF5F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C1BBAD-8C56-A04F-899C-5B4188A5F5D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25B9A85-EE0A-E54F-AA18-41FF007C6B2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AC621-04E4-3B47-A37C-31D012718AE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66AC5E-3B4D-524B-B3AE-A5267FAD281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10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6087" y="6490880"/>
            <a:ext cx="129209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988634"/>
            <a:ext cx="5387630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099EDC09-5657-6C4E-AE82-350208BA5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DC922F-64A0-A245-9B54-7182667660D0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28C046-B8FC-994F-85A4-8FD25DF19D2F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B520446-FD47-794F-A313-0EC6DBF6114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B0F66-0524-644B-A3CD-BA2A1489128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5BC8B-986D-8044-8033-3156B5F78D3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731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4FF79-E97B-4A45-8531-09115531EF4A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C4752-EFF3-2B44-8E4B-F4DEFD9A25AA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3BFC65E3-DBEB-1842-AA6D-2998A3A3FD5B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21974-58F0-B847-85B6-BB315041D59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98491-2152-B244-BD39-4FE185E36846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212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29115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CCBDF1D-727A-8D40-8A82-92589DBB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604027-1BF3-C14F-877E-5C7EE39F69C0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4F8B5-2138-234E-903C-B35966BCD11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9AB5E9E-CCD6-9040-9CA1-3DCB3C4DE5FC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94146-079F-A945-B1E9-105CEE8A4D91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A5633-2AD4-2D44-AC80-6A32A00CAC6A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43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025A1E1-D99B-A04E-A12E-D4E8E63C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8A96F-9EB8-7740-A265-0BBDA7FB1BFC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354E03-A149-934A-8EE2-DADBA3C644C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7A855CC-F7C0-7640-82CB-E23B5A29FE53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3E9907-5B53-D94D-B91B-5D80BFCB4C3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318FC-FB83-DD43-9569-4DB052814862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8931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70970D-D44F-4FDE-934D-225B6FC5F4CE}"/>
              </a:ext>
            </a:extLst>
          </p:cNvPr>
          <p:cNvSpPr/>
          <p:nvPr userDrawn="1"/>
        </p:nvSpPr>
        <p:spPr>
          <a:xfrm>
            <a:off x="0" y="0"/>
            <a:ext cx="285225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222" y="1999957"/>
            <a:ext cx="7422132" cy="77724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12222" y="3028405"/>
            <a:ext cx="7422132" cy="2874948"/>
          </a:xfrm>
          <a:prstGeom prst="rect">
            <a:avLst/>
          </a:prstGeom>
        </p:spPr>
        <p:txBody>
          <a:bodyPr/>
          <a:lstStyle>
            <a:lvl1pPr marL="252000" indent="-360000">
              <a:defRPr>
                <a:solidFill>
                  <a:schemeClr val="accent1"/>
                </a:solidFill>
              </a:defRPr>
            </a:lvl1pPr>
            <a:lvl2pPr marL="720000" indent="-324000">
              <a:defRPr>
                <a:solidFill>
                  <a:schemeClr val="accent1"/>
                </a:solidFill>
              </a:defRPr>
            </a:lvl2pPr>
            <a:lvl3pPr marL="868680" indent="-468000">
              <a:defRPr>
                <a:solidFill>
                  <a:schemeClr val="accent1"/>
                </a:solidFill>
              </a:defRPr>
            </a:lvl3pPr>
            <a:lvl4pPr marL="1143000" indent="-468000">
              <a:defRPr>
                <a:solidFill>
                  <a:schemeClr val="accent1"/>
                </a:solidFill>
              </a:defRPr>
            </a:lvl4pPr>
            <a:lvl5pPr marL="1435608" indent="-468000"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42" y="1826084"/>
            <a:ext cx="2692195" cy="322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576072" indent="-274320">
              <a:defRPr sz="2000" b="1">
                <a:solidFill>
                  <a:schemeClr val="bg1"/>
                </a:solidFill>
              </a:defRPr>
            </a:lvl2pPr>
            <a:lvl3pPr marL="868680" indent="-274320">
              <a:defRPr sz="1800" b="1">
                <a:solidFill>
                  <a:schemeClr val="bg1"/>
                </a:solidFill>
              </a:defRPr>
            </a:lvl3pPr>
            <a:lvl4pPr marL="1143000" indent="-274320">
              <a:defRPr sz="1600" b="1">
                <a:solidFill>
                  <a:schemeClr val="bg1"/>
                </a:solidFill>
              </a:defRPr>
            </a:lvl4pPr>
            <a:lvl5pPr marL="1435608" indent="-274320"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A6798-DA08-638A-E64E-82051A669C0D}"/>
              </a:ext>
            </a:extLst>
          </p:cNvPr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64232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E19786-1C86-4015-82FB-2A4C31C0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5D80E8-9083-42EB-8610-CE895C692521}"/>
              </a:ext>
            </a:extLst>
          </p:cNvPr>
          <p:cNvSpPr/>
          <p:nvPr userDrawn="1"/>
        </p:nvSpPr>
        <p:spPr>
          <a:xfrm>
            <a:off x="869342" y="1153662"/>
            <a:ext cx="6092825" cy="473636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US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Introduction to 10BASE-T1S</a:t>
            </a: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/ PLCA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Collaterals (internal only)</a:t>
            </a:r>
            <a:endParaRPr lang="en-US" sz="2400" b="1" kern="120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LAN867x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LAN865x Overview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PLCA Summary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10BASE-T1S Demo</a:t>
            </a:r>
          </a:p>
          <a:p>
            <a:pPr marL="0" marR="0" lvl="0" indent="-307691" algn="l" defTabSz="609443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1D9CE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DE" sz="2400" b="1" kern="1200" err="1">
                <a:solidFill>
                  <a:srgbClr val="0070C0"/>
                </a:solidFill>
                <a:latin typeface="+mn-lt"/>
                <a:ea typeface="+mn-ea"/>
                <a:cs typeface="+mn-cs"/>
              </a:rPr>
              <a:t>PoDL</a:t>
            </a:r>
            <a:endParaRPr lang="en-DE" sz="2400" b="1" kern="120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endParaRPr lang="en-US" sz="2400" b="1" kern="120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232DDA7-7531-4324-A8CE-CB416029C864}"/>
              </a:ext>
            </a:extLst>
          </p:cNvPr>
          <p:cNvSpPr txBox="1">
            <a:spLocks/>
          </p:cNvSpPr>
          <p:nvPr userDrawn="1"/>
        </p:nvSpPr>
        <p:spPr>
          <a:xfrm>
            <a:off x="2414355" y="6492875"/>
            <a:ext cx="6903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10BASE-T1S Introduction      </a:t>
            </a:r>
            <a:r>
              <a:rPr lang="en-US"/>
              <a:t>© 202</a:t>
            </a:r>
            <a:r>
              <a:rPr lang="en-DE"/>
              <a:t>2</a:t>
            </a:r>
            <a:r>
              <a:rPr lang="en-US"/>
              <a:t>  Microchip Technology  Inc.     All Rights Reserved</a:t>
            </a:r>
            <a:r>
              <a:rPr lang="en-DE"/>
              <a:t>       CONFIDENTIAL</a:t>
            </a:r>
            <a:r>
              <a:rPr lang="en-US"/>
              <a:t> </a:t>
            </a:r>
            <a:endParaRPr lang="de-DE"/>
          </a:p>
        </p:txBody>
      </p:sp>
      <p:pic>
        <p:nvPicPr>
          <p:cNvPr id="7" name="Content Placeholder 6" descr="A picture containing yellow, several&#10;&#10;Description automatically generated">
            <a:extLst>
              <a:ext uri="{FF2B5EF4-FFF2-40B4-BE49-F238E27FC236}">
                <a16:creationId xmlns:a16="http://schemas.microsoft.com/office/drawing/2014/main" id="{52F92035-824C-1BA9-0BA5-88CAC2AA95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0121" y="2137770"/>
            <a:ext cx="4709534" cy="2768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4906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656474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851953"/>
            <a:ext cx="11400660" cy="5385963"/>
          </a:xfrm>
          <a:prstGeom prst="rect">
            <a:avLst/>
          </a:prstGeom>
        </p:spPr>
        <p:txBody>
          <a:bodyPr>
            <a:normAutofit/>
          </a:bodyPr>
          <a:lstStyle>
            <a:lvl1pPr marL="274201" indent="-274201">
              <a:defRPr sz="2000" b="0"/>
            </a:lvl1pPr>
            <a:lvl2pPr marL="576072" indent="-274320">
              <a:defRPr sz="2000"/>
            </a:lvl2pPr>
            <a:lvl3pPr marL="868680" indent="-274320">
              <a:defRPr sz="20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28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E691D0C-8067-4FA5-020F-F5402E50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4297" y="6457950"/>
            <a:ext cx="4735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6879F-7EC0-41E4-BD68-03C263C11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48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>
            <a:noAutofit/>
          </a:bodyPr>
          <a:lstStyle>
            <a:lvl1pPr marL="360000" indent="-360000">
              <a:defRPr sz="2000"/>
            </a:lvl1pPr>
            <a:lvl2pPr marL="720000" indent="-360000">
              <a:defRPr sz="2000"/>
            </a:lvl2pPr>
            <a:lvl3pPr marL="868680" indent="-274320">
              <a:defRPr sz="1600"/>
            </a:lvl3pPr>
            <a:lvl4pPr marL="1143000" indent="-274320">
              <a:defRPr sz="1400"/>
            </a:lvl4pPr>
            <a:lvl5pPr marL="1435608" indent="-274320">
              <a:defRPr sz="1400"/>
            </a:lvl5pPr>
          </a:lstStyle>
          <a:p>
            <a:pPr lvl="0"/>
            <a:r>
              <a:rPr lang="en-US"/>
              <a:t>First level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E19786-1C86-4015-82FB-2A4C31C0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0F1EA-8213-48AD-9872-F1D91E74D1F2}"/>
              </a:ext>
            </a:extLst>
          </p:cNvPr>
          <p:cNvSpPr txBox="1">
            <a:spLocks/>
          </p:cNvSpPr>
          <p:nvPr userDrawn="1"/>
        </p:nvSpPr>
        <p:spPr>
          <a:xfrm>
            <a:off x="2414355" y="6599583"/>
            <a:ext cx="6903815" cy="258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© 202</a:t>
            </a:r>
            <a:r>
              <a:rPr lang="en-DE" sz="1050"/>
              <a:t>3</a:t>
            </a:r>
            <a:r>
              <a:rPr lang="en-US" sz="1050"/>
              <a:t>  Microchip Technology  Inc.     All Rights Reserved</a:t>
            </a:r>
            <a:endParaRPr lang="de-DE" sz="1050"/>
          </a:p>
        </p:txBody>
      </p: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70970D-D44F-4FDE-934D-225B6FC5F4CE}"/>
              </a:ext>
            </a:extLst>
          </p:cNvPr>
          <p:cNvSpPr/>
          <p:nvPr userDrawn="1"/>
        </p:nvSpPr>
        <p:spPr>
          <a:xfrm>
            <a:off x="0" y="0"/>
            <a:ext cx="285225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222" y="1999957"/>
            <a:ext cx="7422132" cy="77724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12222" y="3028405"/>
            <a:ext cx="7422132" cy="2874948"/>
          </a:xfrm>
          <a:prstGeom prst="rect">
            <a:avLst/>
          </a:prstGeom>
        </p:spPr>
        <p:txBody>
          <a:bodyPr/>
          <a:lstStyle>
            <a:lvl1pPr marL="252000" indent="-360000">
              <a:defRPr>
                <a:solidFill>
                  <a:schemeClr val="accent1"/>
                </a:solidFill>
              </a:defRPr>
            </a:lvl1pPr>
            <a:lvl2pPr marL="720000" indent="-324000">
              <a:defRPr>
                <a:solidFill>
                  <a:schemeClr val="accent1"/>
                </a:solidFill>
              </a:defRPr>
            </a:lvl2pPr>
            <a:lvl3pPr marL="868680" indent="-468000">
              <a:defRPr>
                <a:solidFill>
                  <a:schemeClr val="accent1"/>
                </a:solidFill>
              </a:defRPr>
            </a:lvl3pPr>
            <a:lvl4pPr marL="1143000" indent="-468000">
              <a:defRPr>
                <a:solidFill>
                  <a:schemeClr val="accent1"/>
                </a:solidFill>
              </a:defRPr>
            </a:lvl4pPr>
            <a:lvl5pPr marL="1435608" indent="-468000"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42" y="1826084"/>
            <a:ext cx="2692195" cy="322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576072" indent="-274320">
              <a:defRPr sz="2000" b="1">
                <a:solidFill>
                  <a:schemeClr val="bg1"/>
                </a:solidFill>
              </a:defRPr>
            </a:lvl2pPr>
            <a:lvl3pPr marL="868680" indent="-274320">
              <a:defRPr sz="1800" b="1">
                <a:solidFill>
                  <a:schemeClr val="bg1"/>
                </a:solidFill>
              </a:defRPr>
            </a:lvl3pPr>
            <a:lvl4pPr marL="1143000" indent="-274320">
              <a:defRPr sz="1600" b="1">
                <a:solidFill>
                  <a:schemeClr val="bg1"/>
                </a:solidFill>
              </a:defRPr>
            </a:lvl4pPr>
            <a:lvl5pPr marL="1435608" indent="-274320"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A6798-DA08-638A-E64E-82051A669C0D}"/>
              </a:ext>
            </a:extLst>
          </p:cNvPr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21484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>
            <a:noAutofit/>
          </a:bodyPr>
          <a:lstStyle>
            <a:lvl1pPr marL="274201" indent="-274201">
              <a:defRPr sz="2000"/>
            </a:lvl1pPr>
            <a:lvl2pPr marL="576072" indent="-274320">
              <a:defRPr sz="2000"/>
            </a:lvl2pPr>
            <a:lvl3pPr marL="868680" indent="-274320">
              <a:defRPr sz="1600"/>
            </a:lvl3pPr>
            <a:lvl4pPr marL="1143000" indent="-274320">
              <a:defRPr sz="1400"/>
            </a:lvl4pPr>
            <a:lvl5pPr marL="1435608" indent="-274320">
              <a:defRPr sz="1400"/>
            </a:lvl5pPr>
          </a:lstStyle>
          <a:p>
            <a:pPr lvl="0"/>
            <a:r>
              <a:rPr lang="en-US"/>
              <a:t>First level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E19786-1C86-4015-82FB-2A4C31C0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0F1EA-8213-48AD-9872-F1D91E74D1F2}"/>
              </a:ext>
            </a:extLst>
          </p:cNvPr>
          <p:cNvSpPr txBox="1">
            <a:spLocks/>
          </p:cNvSpPr>
          <p:nvPr userDrawn="1"/>
        </p:nvSpPr>
        <p:spPr>
          <a:xfrm>
            <a:off x="2414355" y="6599583"/>
            <a:ext cx="6903815" cy="258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/>
              <a:t>LAN8650/1 </a:t>
            </a:r>
            <a:r>
              <a:rPr lang="en-DE" sz="1050"/>
              <a:t>MAC-PHY  </a:t>
            </a:r>
            <a:r>
              <a:rPr lang="en-US" sz="1050"/>
              <a:t>© 202</a:t>
            </a:r>
            <a:r>
              <a:rPr lang="en-DE" sz="1050"/>
              <a:t>3</a:t>
            </a:r>
            <a:r>
              <a:rPr lang="en-US" sz="1050"/>
              <a:t>  Microchip Technology  Inc.     All Rights Reserved</a:t>
            </a:r>
            <a:endParaRPr lang="de-DE" sz="1050"/>
          </a:p>
        </p:txBody>
      </p: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65650-0440-F143-8EFF-C6F819EF3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  <p:sldLayoutId id="2147483660" r:id="rId5"/>
    <p:sldLayoutId id="2147483652" r:id="rId6"/>
    <p:sldLayoutId id="2147483657" r:id="rId7"/>
    <p:sldLayoutId id="2147483653" r:id="rId8"/>
    <p:sldLayoutId id="2147483658" r:id="rId9"/>
    <p:sldLayoutId id="2147483654" r:id="rId10"/>
    <p:sldLayoutId id="2147483659" r:id="rId11"/>
    <p:sldLayoutId id="2147483655" r:id="rId12"/>
    <p:sldLayoutId id="2147483661" r:id="rId13"/>
    <p:sldLayoutId id="2147483662" r:id="rId14"/>
  </p:sldLayoutIdLst>
  <p:hf sldNum="0"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 userDrawn="1">
          <p15:clr>
            <a:srgbClr val="F26B43"/>
          </p15:clr>
        </p15:guide>
        <p15:guide id="2" pos="1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D6B1D-7121-53C0-C9F5-B99E7D8B2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3" y="6457950"/>
            <a:ext cx="4735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6879F-7EC0-41E4-BD68-03C263C11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63" y="6532886"/>
            <a:ext cx="1101725" cy="2774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6491" y="96296"/>
            <a:ext cx="11509679" cy="633617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6491" y="866693"/>
            <a:ext cx="11784072" cy="5584710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BCAF6-27B2-4B52-BA3B-D43D4F975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62200" y="6588183"/>
            <a:ext cx="6779870" cy="2594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202</a:t>
            </a:r>
            <a:r>
              <a:rPr lang="en-DE"/>
              <a:t>3</a:t>
            </a:r>
            <a:r>
              <a:rPr lang="en-US"/>
              <a:t>  Microchip Technology  Inc.     All Rights Reserved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4" r:id="rId2"/>
    <p:sldLayoutId id="2147483742" r:id="rId3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36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324000" indent="-288000" algn="l" defTabSz="609443" rtl="0" eaLnBrk="1" latinLnBrk="0" hangingPunct="1">
        <a:spcBef>
          <a:spcPts val="300"/>
        </a:spcBef>
        <a:buClr>
          <a:schemeClr val="bg2"/>
        </a:buClr>
        <a:buFont typeface="Arial"/>
        <a:buChar char="•"/>
        <a:defRPr sz="2000" b="0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Symbol" panose="05050102010706020507" pitchFamily="18" charset="2"/>
        <a:buChar char="-"/>
        <a:defRPr sz="20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16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14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14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ACMA + PTP + 10BASE-T1S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Drei Hardware-Garantien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Hardware-Grundlagen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Wie ACMA, PTP und TSU im LAN86xx implementiert sind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880360"/>
            <a:ext cx="10588825" cy="32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Was kommt jetzt:</a:t>
            </a:r>
          </a:p>
          <a:p>
            <a:pPr lvl="1"/>
            <a:r>
              <a:rPr sz="1500"/>
              <a:t>Microchip's eigene Architektur-Diagramme aus den</a:t>
            </a:r>
          </a:p>
          <a:p>
            <a:pPr lvl="1"/>
            <a:r>
              <a:rPr sz="1500"/>
              <a:t>Special-Features und LAN867x-PHY-Slide-Decks</a:t>
            </a:r>
          </a:p>
          <a:p>
            <a:r>
              <a:rPr sz="1500"/>
              <a:t>Themen:</a:t>
            </a:r>
          </a:p>
          <a:p>
            <a:pPr lvl="1"/>
            <a:r>
              <a:rPr sz="1500"/>
              <a:t>PTP-Standards &amp; Use Cases im Microchip-Verständnis</a:t>
            </a:r>
          </a:p>
          <a:p>
            <a:pPr lvl="1"/>
            <a:r>
              <a:rPr sz="1500"/>
              <a:t>IEEE-802.1AS-Support in beiden Chip-Familien</a:t>
            </a:r>
          </a:p>
          <a:p>
            <a:pPr lvl="1"/>
            <a:r>
              <a:rPr sz="1500"/>
              <a:t>ACMA-Block-Aufbau und Konfigurations-Beispiel</a:t>
            </a:r>
          </a:p>
          <a:p>
            <a:pPr lvl="1"/>
            <a:r>
              <a:rPr sz="1500"/>
              <a:t>Pattern-Matcher und RX-Timestamp-Pfad</a:t>
            </a:r>
          </a:p>
          <a:p>
            <a:pPr lvl="1"/>
            <a:r>
              <a:rPr sz="1500"/>
              <a:t>Two-Step gPTP-Frame-Sequenz auf LAN8670/1/2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r>
              <a:rPr lang="en-US" sz="4100" b="1" kern="1200" normalizeH="0" baseline="0">
                <a:latin typeface="+mj-lt"/>
                <a:ea typeface="+mj-ea"/>
                <a:cs typeface="+mj-cs"/>
              </a:rPr>
              <a:t>PTP Use Cases &amp; Standards (Microchip Übersicht)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</a:pPr>
            <a:r>
              <a:rPr lang="en-US" sz="2200" b="1" i="1" kern="1200">
                <a:solidFill>
                  <a:srgbClr val="45A8C4"/>
                </a:solidFill>
              </a:rPr>
              <a:t>Quelle: Microchip LAN867x PHY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Use Cases für Zeit-Synchronisation: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Sensor-Daten brauchen Timestamping für Fusion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Motor- und Bremsensteuerung: Maschinen-Sync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Audio / Beleuchtung: synchrone Wiedergabe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Standards: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IEEE 1588 (PTPv2) — fundamentales Protokoll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IEEE 802.1AS (gPTP) — TSN-Profil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Strenge Anforderungen für TSN-Anwendungen</a:t>
            </a:r>
          </a:p>
        </p:txBody>
      </p:sp>
      <p:pic>
        <p:nvPicPr>
          <p:cNvPr id="3" name="Picture 2" descr="phy_34_usecases_standards.jpg"/>
          <p:cNvPicPr>
            <a:picLocks noChangeAspect="1"/>
          </p:cNvPicPr>
          <p:nvPr/>
        </p:nvPicPr>
        <p:blipFill>
          <a:blip r:embed="rId2"/>
          <a:srcRect l="10421" r="26194"/>
          <a:stretch>
            <a:fillRect/>
          </a:stretch>
        </p:blipFill>
        <p:spPr>
          <a:xfrm>
            <a:off x="6250324" y="1408546"/>
            <a:ext cx="5505846" cy="49077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 kern="1200" normalizeH="0" baseline="0">
                <a:latin typeface="+mj-lt"/>
                <a:ea typeface="+mj-ea"/>
                <a:cs typeface="+mj-cs"/>
              </a:rPr>
              <a:t>IEEE 802.1AS Support — LAN8670/1/2 und LAN8650/1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</a:pPr>
            <a:r>
              <a:rPr lang="en-US" sz="2200" b="1" i="1" kern="1200">
                <a:solidFill>
                  <a:srgbClr val="45A8C4"/>
                </a:solidFill>
              </a:rPr>
              <a:t>Quelle: Microchip LAN867x PHY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Beide Familien unterstützen IEEE 802.1AS: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LAN8670/1/2 — separate PHY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LAN8650/1 — integrierter MAC-PHY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Identische TSU-Hardware: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94-bit Wall Clock (48s + 30ns + 16 sub-ns)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Pattern Matcher am End-of-SFD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4× Event Capture / Generator + 1PPS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Unterschied nur in der Architektur: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MAC integriert (LAN8650/1)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MAC im SoC (LAN8670/1/2)</a:t>
            </a:r>
          </a:p>
        </p:txBody>
      </p:sp>
      <p:pic>
        <p:nvPicPr>
          <p:cNvPr id="3" name="Picture 2" descr="phy_35_8021as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364" y="1408546"/>
            <a:ext cx="3631766" cy="49077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LAN8650/1 ACMA — Block-Diagramm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</a:pPr>
            <a:r>
              <a:rPr lang="en-US" sz="2200" b="1" i="1" kern="1200">
                <a:solidFill>
                  <a:srgbClr val="45A8C4"/>
                </a:solidFill>
              </a:rPr>
              <a:t>Quelle: Microchip Special-Features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ACMA = Application Controlled Media Access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Externe Source-Optionen: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GPIO-Pin DIO2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Interne Source-Option: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Event Generator 0 (EG0)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Wall-Clock-getrieben → PTP-synchron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Funktion: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ACMA-Signal gated den MAC-TXEN direkt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HIGH = senden erlaubt, LOW = gesperrt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Aktivierung: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ACMAEN-Bit in ACMACTL-Register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Polarität: ACMAPOL-Bit</a:t>
            </a:r>
          </a:p>
        </p:txBody>
      </p:sp>
      <p:pic>
        <p:nvPicPr>
          <p:cNvPr id="3" name="Picture 2" descr="ms_28_lan8650_acma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24" y="2183161"/>
            <a:ext cx="5505846" cy="33585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ACMA-Konfigurations-Beispiel (LAN8670/1/2)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</a:pPr>
            <a:r>
              <a:rPr lang="en-US" sz="2200" b="1" i="1" kern="1200">
                <a:solidFill>
                  <a:srgbClr val="45A8C4"/>
                </a:solidFill>
              </a:rPr>
              <a:t>Quelle: Microchip LAN867x PHY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Verfügbare Pins auf LAN8670 in RMII-Mode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Pin-Configuration definiert ACMA-Quelle: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Externer GPIO oder interner EG0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Software konfiguriert ACMA nach Reset: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ACMAEN = 1 in ACMACTL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ACMAPOL = 1 in PINCTRL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Source-Selektion in Pad-Control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Application monitort den Bus: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Detektion von Slot-Verletzungen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Fehler-Reaktions-Logik in Software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Custom Scheduled Access für TDMA</a:t>
            </a:r>
          </a:p>
        </p:txBody>
      </p:sp>
      <p:pic>
        <p:nvPicPr>
          <p:cNvPr id="3" name="Picture 2" descr="phy_27_acma_config_example.png"/>
          <p:cNvPicPr>
            <a:picLocks noChangeAspect="1"/>
          </p:cNvPicPr>
          <p:nvPr/>
        </p:nvPicPr>
        <p:blipFill>
          <a:blip r:embed="rId2"/>
          <a:srcRect t="290" r="3" b="1489"/>
          <a:stretch>
            <a:fillRect/>
          </a:stretch>
        </p:blipFill>
        <p:spPr>
          <a:xfrm>
            <a:off x="6250324" y="1408546"/>
            <a:ext cx="5505846" cy="49077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vert="horz" lIns="121888" tIns="60944" rIns="121888" bIns="60944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</a:pPr>
            <a:r>
              <a:rPr lang="en-US" b="1" i="1" u="sng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Quelle: Microchip Special-Features Deck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132F659-209F-09FF-9849-0FC0B32EE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LAN8650/1 RX-Timestamp-Konfiguration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3D0947E-06A5-0852-2008-89F937471B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603" y="831986"/>
            <a:ext cx="11400661" cy="428625"/>
          </a:xfrm>
        </p:spPr>
        <p:txBody>
          <a:bodyPr>
            <a:normAutofit fontScale="70000" lnSpcReduction="20000"/>
          </a:bodyPr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Pattern Matcher triggert Timestamp: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Frame-Pattern wird verglichen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Trigger am End-of-SFD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Register-Sequenz: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Erste 3 Writes: Pattern-Match-Konfig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Letzter Write: Trigger-Signal aktivieren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Standard-Konfiguration: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Trifft auf alle PTP-Frames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Über FTSE-Bit in OA_CONFIG0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Timestamp-Punkt nach Elastic Buffer: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→ unabhängig von PLCA-Slot-Wartezeit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200" b="1">
                <a:solidFill>
                  <a:srgbClr val="070707"/>
                </a:solidFill>
              </a:rPr>
              <a:t>→ deterministisch trotz Bus-Last</a:t>
            </a:r>
          </a:p>
        </p:txBody>
      </p:sp>
      <p:pic>
        <p:nvPicPr>
          <p:cNvPr id="3" name="Picture 2" descr="ms_37_rx_timestamp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193" y="3561886"/>
            <a:ext cx="5387630" cy="11811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IEEE 802.1AS — Clock-Sync-Config LAN8670/1/2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</a:pPr>
            <a:r>
              <a:rPr lang="en-US" sz="2200" b="1" i="1" kern="1200">
                <a:solidFill>
                  <a:srgbClr val="45A8C4"/>
                </a:solidFill>
              </a:rPr>
              <a:t>Quelle: Microchip Special-Features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Two-Step-Approach (IEEE-Standard):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Sync-Frame ohne Timestamp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Follow_up trägt den Sync-Timestamp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Vorteil Two-Step: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Präzises Hardware-Latching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Kein Echtzeit-Druck auf Software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Konfiguration analog LAN8650/1: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Aber über SMI/MDIO statt SPI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TSU-Block ist eigenständig (kein MAC)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Cross-Familie identisches Protokoll: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2500" b="1">
                <a:solidFill>
                  <a:srgbClr val="070707"/>
                </a:solidFill>
              </a:rPr>
              <a:t>Software-API kann unabhängig sein</a:t>
            </a:r>
          </a:p>
        </p:txBody>
      </p:sp>
      <p:pic>
        <p:nvPicPr>
          <p:cNvPr id="3" name="Picture 2" descr="ms_43_lan867x_8021as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24" y="3518328"/>
            <a:ext cx="5505846" cy="6882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Industrielle Steuerung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68603" y="831986"/>
            <a:ext cx="11400661" cy="428625"/>
          </a:xfr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u="sng" kern="1200">
                <a:solidFill>
                  <a:srgbClr val="45A8C4"/>
                </a:solidFill>
              </a:rPr>
              <a:t>Motion Control · Multi-Achs-Sampling · I/O Triggering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Industrielle Anwendungen brauchen: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Sub-Millisekunden-Latenz für Steuerschleifen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Synchron-Sampling über N verteilte Achsen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Garantierte Reaktion innerhalb fixer Deadline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Konkurrenz-Technologien: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EtherCAT, PROFINET-IRT, Sercos III auf 100 Mbit/s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ACMA + T1S = Low-Cost-Alternative für 10 Mbit/s</a:t>
            </a:r>
          </a:p>
          <a:p>
            <a:pPr marL="27420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Wirtschafts-Argument: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T1S-Verkabelung ist deutlich günstiger</a:t>
            </a:r>
          </a:p>
          <a:p>
            <a:pPr marL="274201" lvl="1" indent="-274201">
              <a:lnSpc>
                <a:spcPct val="90000"/>
              </a:lnSpc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Für mittlere Bandbreite-Anforderungen ausreichend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Verteilte SPS / Motion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Synchrones Multi-Achs-Sampling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Coordinated I/O Triggering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Sensor-Cluster und Datenerfassung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68603" y="831986"/>
            <a:ext cx="11400661" cy="428625"/>
          </a:xfr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45A8C4"/>
                </a:solidFill>
              </a:rPr>
              <a:t>ADC-Arrays · Beamforming · LiDAR-Cluster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Sensor-Cluster nutzen drei ACMA-Eigenschaften: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Synchrones Sampling über alle Kanäle (PTP-getrieben)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Garantierte Sende-Slots pro Sensor (kein Verlust)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Konstanter Phasen-Bezug zwischen Kanälen</a:t>
            </a:r>
          </a:p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Typische Konfiguration: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1 Master-Knoten als Daten-Aggregator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N = 4 bis 8 Sensor-Knoten am gleichen Bus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Sample-Raten von 1 kHz bis ~16 kHz typisch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Verteilte ADC-Arrays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Akustische Sensor-Arrays / Beamforming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LiDAR / ToF-Sensor-Cluster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Audio / Video / Multimedia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68603" y="831986"/>
            <a:ext cx="11400661" cy="428625"/>
          </a:xfr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45A8C4"/>
                </a:solidFill>
              </a:rPr>
              <a:t>Distributed Audio · Synchronized Lighting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Multimedia-Anwendungen brauchen: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Phasen-konstante Wiedergabe / Aufnahme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Niedrige End-to-End-Latenz unter ~10 ms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Skalierbarkeit auf viele räumlich verteilte Endpunkte</a:t>
            </a:r>
          </a:p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Konkurrenz-Standards: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AVB / IEEE 802.1BA auf 100 Mbit/s — etabliert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TSN auf 1 Gbit/s+ — Premium-Markt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ACMA + T1S = Low-Cost-Alternative für Sub-Premium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Audio (AVB-Light)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Synchronized Lighting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Automotive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68603" y="831986"/>
            <a:ext cx="11400661" cy="428625"/>
          </a:xfr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45A8C4"/>
                </a:solidFill>
              </a:rPr>
              <a:t>Sensor-Backbone · ADAS-Sync · In-Vehicle-Network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Automotive ist Microchip's primärer Markt für ACMA + T1S: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AEC-Q100 + ISO-26262 Qualifikation aller LAN86xx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Marketing-Push fokussiert auf Fahrzeug-Sensorik</a:t>
            </a:r>
          </a:p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Anforderungen: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Lange Lifecycle-Zeit (15+ Jahre Lieferbarkeit)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Funktional-sichere Designs (ASIL-B / ASIL-D)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Hohe Temperatur-Resistenz (-40 bis +125 °C)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Verkabelungs-Reduktion → Gewicht / Kosten</a:t>
            </a:r>
          </a:p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Konkurrenz: CAN-FD (1-8 Mbit/s) und LIN (max 20 Kbit/s)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Sensor-Backbone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ADAS-Sensor-Synchronisation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In-Vehicle-Network-Management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Avionik und Sicherheit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68603" y="831986"/>
            <a:ext cx="11400661" cy="428625"/>
          </a:xfr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45A8C4"/>
                </a:solidFill>
              </a:rPr>
              <a:t>Redundante Bus-Systeme · Verteilte Fehlertoleranz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Sicherheits-kritische Anwendungen verlangen: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Deterministisches Verhalten unter ALLEN Bedingungen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Fehler-Detektion innerhalb fixer Reaktionszeit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Redundanz auf Bus- und Knoten-Ebene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Zertifizierbarkeit (ISO 26262, ARP4761, IEC 61508)</a:t>
            </a:r>
          </a:p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Microchip Safety-Package: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FMEDA-Daten für Failure-Rate-Berechnung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Functional Safety Manual mit ASIL-D-Eignung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Built-in BIST und ECC-Mechanismen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Redundante Steuerungs-Bus-Systeme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Verteilte Fehlertoleranz (N+1-Redundanz)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Test- und Mess-Anwendungen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68603" y="831986"/>
            <a:ext cx="11400661" cy="428625"/>
          </a:xfr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45A8C4"/>
                </a:solidFill>
              </a:rPr>
              <a:t>Synchrone Mess-Knoten · HIL-Testbeds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Test- und Mess-Aufbauten brauchen: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Reproduzierbare Trigger-Sequenzen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Synchron-Sampling über N Mess-Punkte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Deterministische Test-Ausführung über Stunden / Tage</a:t>
            </a:r>
          </a:p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Vorteil gegenüber Trigger-Bus-Verkabelung: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Eine T1S-Leitung statt Stern-Trigger-Bus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Bidirektionale Daten + Trigger im selben Medium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Skalierbar von 2 auf 50 Knoten ohne Re-Verkabelung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Synchrone Mess-Knoten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Hardware-in-the-Loop (HIL) Testbeds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 vert="horz" lIns="121888" tIns="60944" rIns="121888" bIns="60944" rtlCol="0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normalizeH="0" baseline="0">
                <a:latin typeface="+mj-lt"/>
                <a:ea typeface="+mj-ea"/>
                <a:cs typeface="+mj-cs"/>
              </a:rPr>
              <a:t>Spezielle Anwendungsfälle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68603" y="831986"/>
            <a:ext cx="11400661" cy="428625"/>
          </a:xfrm>
        </p:spPr>
        <p:txBody>
          <a:bodyPr vert="horz" lIns="121888" tIns="60944" rIns="121888" bIns="60944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45A8C4"/>
                </a:solidFill>
              </a:rPr>
              <a:t>IIoT-Mesh · Smart-Building · Smart-Grid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Anwendungs-Klassen mit niedrigen Bandbreiten,</a:t>
            </a:r>
          </a:p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aber hoher Knoten-Anzahl und/oder PoDL-Bedarf: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Industrial IoT (IIoT) Sensor-Mesh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Smart-Building / Gebäude-Automatisierung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Smart-Grid-Edge / Power-Monitoring</a:t>
            </a:r>
          </a:p>
          <a:p>
            <a:pPr marL="27420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Gemeinsame Eigenschaften: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Bis zu 50 Knoten / 50 m mit AN60001829-Erweiterung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PoDL-Speisung möglich (Strom + Daten in einer Leitung)</a:t>
            </a:r>
          </a:p>
          <a:p>
            <a:pPr marL="274201" lvl="1" indent="-274201">
              <a:spcBef>
                <a:spcPts val="300"/>
              </a:spcBef>
              <a:buClr>
                <a:srgbClr val="0E3689"/>
              </a:buClr>
              <a:buFont typeface="Arial"/>
              <a:buChar char="•"/>
            </a:pPr>
            <a:r>
              <a:rPr lang="en-US" sz="3200" b="1">
                <a:solidFill>
                  <a:srgbClr val="070707"/>
                </a:solidFill>
              </a:rPr>
              <a:t>Determinismus für sicherheits-relevante Funktionen wichtig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Backbone für IIoT-Sensor-Mesh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Smart-Building / Gebäude-Automatisierung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Energiemanagement / Smart-Grid-Edge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Anwendungs-Übersicht — kompakte Tabelle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ACMA + T1S nicht kann — die Grenzen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Microchip's Markt-Strategie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Zusammenfassung &amp; nächste Schritte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Vielen Dank — Fragen &amp; Diskussion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CHP-Corporate PowerPointTemplate-16x9-2020(2).pptx" id="{DAE3D200-487A-4171-998D-C02AAC794F46}" vid="{A0EB0502-FF59-4646-9FEC-9433E94D18D0}"/>
    </a:ext>
  </a:extLst>
</a:theme>
</file>

<file path=ppt/theme/theme2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68CCC6BA744340B7BDD1B04AA6D09B" ma:contentTypeVersion="15" ma:contentTypeDescription="Create a new document." ma:contentTypeScope="" ma:versionID="86d4ba458c4525dca54f7ef1f867b86d">
  <xsd:schema xmlns:xsd="http://www.w3.org/2001/XMLSchema" xmlns:xs="http://www.w3.org/2001/XMLSchema" xmlns:p="http://schemas.microsoft.com/office/2006/metadata/properties" xmlns:ns2="b620b847-2645-4358-96f3-240bfaa5dba9" xmlns:ns3="fabaaf3a-fd5f-4449-bc0f-2189a22f4476" targetNamespace="http://schemas.microsoft.com/office/2006/metadata/properties" ma:root="true" ma:fieldsID="a74423e8e7515a972565cf9ef80297c5" ns2:_="" ns3:_="">
    <xsd:import namespace="b620b847-2645-4358-96f3-240bfaa5dba9"/>
    <xsd:import namespace="fabaaf3a-fd5f-4449-bc0f-2189a22f4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20b847-2645-4358-96f3-240bfaa5db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05317c1-dc7b-42fe-8bc5-04171b90da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baaf3a-fd5f-4449-bc0f-2189a22f44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811623d-5cce-413f-ab6e-e90c16194a13}" ma:internalName="TaxCatchAll" ma:showField="CatchAllData" ma:web="fabaaf3a-fd5f-4449-bc0f-2189a22f4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baaf3a-fd5f-4449-bc0f-2189a22f4476" xsi:nil="true"/>
    <lcf76f155ced4ddcb4097134ff3c332f xmlns="b620b847-2645-4358-96f3-240bfaa5dba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CE24DD7-9317-4AD8-82D4-5A6998DA79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8CBB35-2E64-41B1-99EA-97375F5683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20b847-2645-4358-96f3-240bfaa5dba9"/>
    <ds:schemaRef ds:uri="fabaaf3a-fd5f-4449-bc0f-2189a22f4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774815-801A-4D0C-AAC8-304A8EA5EAE0}">
  <ds:schemaRefs>
    <ds:schemaRef ds:uri="http://schemas.microsoft.com/office/2006/metadata/properties"/>
    <ds:schemaRef ds:uri="http://schemas.microsoft.com/office/infopath/2007/PartnerControls"/>
    <ds:schemaRef ds:uri="fabaaf3a-fd5f-4449-bc0f-2189a22f4476"/>
    <ds:schemaRef ds:uri="b620b847-2645-4358-96f3-240bfaa5dba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MCHP-Corporate PowerPointTemplate-16x9-2020(2)</Template>
  <TotalTime>0</TotalTime>
  <Words>899</Words>
  <Application>Microsoft Office PowerPoint</Application>
  <PresentationFormat>Custom</PresentationFormat>
  <Paragraphs>188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Symbol</vt:lpstr>
      <vt:lpstr>Office Theme</vt:lpstr>
      <vt:lpstr>Office Theme</vt:lpstr>
      <vt:lpstr>Office Theme</vt:lpstr>
      <vt:lpstr>ACMA + PTP + 10BASE-T1S</vt:lpstr>
      <vt:lpstr>Agenda</vt:lpstr>
      <vt:lpstr>Drei Hardware-Garantien</vt:lpstr>
      <vt:lpstr>Hardware-Grundlagen</vt:lpstr>
      <vt:lpstr>PTP Use Cases &amp; Standards (Microchip Übersicht)</vt:lpstr>
      <vt:lpstr>IEEE 802.1AS Support — LAN8670/1/2 und LAN8650/1</vt:lpstr>
      <vt:lpstr>LAN8650/1 ACMA — Block-Diagramm</vt:lpstr>
      <vt:lpstr>ACMA-Konfigurations-Beispiel (LAN8670/1/2)</vt:lpstr>
      <vt:lpstr>LAN8650/1 RX-Timestamp-Konfiguration</vt:lpstr>
      <vt:lpstr>IEEE 802.1AS — Clock-Sync-Config LAN8670/1/2</vt:lpstr>
      <vt:lpstr>Industrielle Steuerung</vt:lpstr>
      <vt:lpstr>Verteilte SPS / Motion Control</vt:lpstr>
      <vt:lpstr>Synchrones Multi-Achs-Sampling</vt:lpstr>
      <vt:lpstr>Coordinated I/O Triggering</vt:lpstr>
      <vt:lpstr>Sensor-Cluster und Datenerfassung</vt:lpstr>
      <vt:lpstr>Verteilte ADC-Arrays</vt:lpstr>
      <vt:lpstr>Akustische Sensor-Arrays / Beamforming</vt:lpstr>
      <vt:lpstr>LiDAR / ToF-Sensor-Cluster</vt:lpstr>
      <vt:lpstr>Audio / Video / Multimedia</vt:lpstr>
      <vt:lpstr>Distributed Audio (AVB-Light)</vt:lpstr>
      <vt:lpstr>Synchronized Lighting</vt:lpstr>
      <vt:lpstr>Automotive</vt:lpstr>
      <vt:lpstr>Sensor-Backbone</vt:lpstr>
      <vt:lpstr>ADAS-Sensor-Synchronisation</vt:lpstr>
      <vt:lpstr>In-Vehicle-Network-Management</vt:lpstr>
      <vt:lpstr>Avionik und Sicherheit</vt:lpstr>
      <vt:lpstr>Redundante Steuerungs-Bus-Systeme</vt:lpstr>
      <vt:lpstr>Verteilte Fehlertoleranz (N+1-Redundanz)</vt:lpstr>
      <vt:lpstr>Test- und Mess-Anwendungen</vt:lpstr>
      <vt:lpstr>Synchrone Mess-Knoten</vt:lpstr>
      <vt:lpstr>Hardware-in-the-Loop (HIL) Testbeds</vt:lpstr>
      <vt:lpstr>Spezielle Anwendungsfälle</vt:lpstr>
      <vt:lpstr>Backbone für IIoT-Sensor-Mesh</vt:lpstr>
      <vt:lpstr>Smart-Building / Gebäude-Automatisierung</vt:lpstr>
      <vt:lpstr>Energiemanagement / Smart-Grid-Edge</vt:lpstr>
      <vt:lpstr>Anwendungs-Übersicht — kompakte Tabelle</vt:lpstr>
      <vt:lpstr>Was ACMA + T1S nicht kann — die Grenzen</vt:lpstr>
      <vt:lpstr>Microchip's Markt-Strategie</vt:lpstr>
      <vt:lpstr>Zusammenfassung &amp; nächste Schritte</vt:lpstr>
      <vt:lpstr>Vielen Dank — Fragen &amp; Diskussion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Proprietary Features of LAN8670/1/2 and LAN8650/1</dc:title>
  <dc:creator>Mary Sue Haydt - M70043</dc:creator>
  <cp:lastModifiedBy>Martin Ruppert - M91221</cp:lastModifiedBy>
  <cp:revision>3</cp:revision>
  <dcterms:created xsi:type="dcterms:W3CDTF">2024-05-26T15:44:34Z</dcterms:created>
  <dcterms:modified xsi:type="dcterms:W3CDTF">2026-04-27T22:25:12Z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8fbba442-8e62-441a-8a37-77e419e57804</vt:lpwstr>
  </property>
  <property fmtid="{D5CDD505-2E9C-101B-9397-08002B2CF9AE}" pid="3" name="ContentTypeId">
    <vt:lpwstr>0x0101006F2FBDE82520C946BD19273829A3FFFC</vt:lpwstr>
  </property>
</Properties>
</file>